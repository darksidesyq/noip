
<file path=[Content_Types].xml><?xml version="1.0" encoding="utf-8"?>
<Types xmlns="http://schemas.openxmlformats.org/package/2006/content-types">
  <Default Extension="GIF" ContentType="image/gi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slideLayouts/slideLayout5.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51" r:id="rId2"/>
    <p:sldMasterId id="2147483654" r:id="rId3"/>
  </p:sldMasterIdLst>
  <p:notesMasterIdLst>
    <p:notesMasterId r:id="rId21"/>
  </p:notesMasterIdLst>
  <p:handoutMasterIdLst>
    <p:handoutMasterId r:id="rId22"/>
  </p:handoutMasterIdLst>
  <p:sldIdLst>
    <p:sldId id="320" r:id="rId4"/>
    <p:sldId id="330" r:id="rId5"/>
    <p:sldId id="331" r:id="rId6"/>
    <p:sldId id="332" r:id="rId7"/>
    <p:sldId id="333" r:id="rId8"/>
    <p:sldId id="334" r:id="rId9"/>
    <p:sldId id="335" r:id="rId10"/>
    <p:sldId id="336" r:id="rId11"/>
    <p:sldId id="337" r:id="rId12"/>
    <p:sldId id="338" r:id="rId13"/>
    <p:sldId id="339" r:id="rId14"/>
    <p:sldId id="340" r:id="rId15"/>
    <p:sldId id="341" r:id="rId16"/>
    <p:sldId id="343" r:id="rId17"/>
    <p:sldId id="342" r:id="rId18"/>
    <p:sldId id="344" r:id="rId19"/>
    <p:sldId id="345" r:id="rId20"/>
  </p:sldIdLst>
  <p:sldSz cx="12192000" cy="6858000"/>
  <p:notesSz cx="6858000" cy="9144000"/>
  <p:defaultTextStyle>
    <a:defPPr>
      <a:defRPr lang="zh-CN"/>
    </a:defPPr>
    <a:lvl1pPr marL="0" algn="l" defTabSz="1218565" rtl="0" eaLnBrk="1" latinLnBrk="0" hangingPunct="1">
      <a:defRPr sz="2400" kern="1200">
        <a:solidFill>
          <a:schemeClr val="tx1"/>
        </a:solidFill>
        <a:latin typeface="+mn-lt"/>
        <a:ea typeface="+mn-ea"/>
        <a:cs typeface="+mn-cs"/>
      </a:defRPr>
    </a:lvl1pPr>
    <a:lvl2pPr marL="609600" algn="l" defTabSz="1218565" rtl="0" eaLnBrk="1" latinLnBrk="0" hangingPunct="1">
      <a:defRPr sz="2400" kern="1200">
        <a:solidFill>
          <a:schemeClr val="tx1"/>
        </a:solidFill>
        <a:latin typeface="+mn-lt"/>
        <a:ea typeface="+mn-ea"/>
        <a:cs typeface="+mn-cs"/>
      </a:defRPr>
    </a:lvl2pPr>
    <a:lvl3pPr marL="1219200" algn="l" defTabSz="1218565" rtl="0" eaLnBrk="1" latinLnBrk="0" hangingPunct="1">
      <a:defRPr sz="2400" kern="1200">
        <a:solidFill>
          <a:schemeClr val="tx1"/>
        </a:solidFill>
        <a:latin typeface="+mn-lt"/>
        <a:ea typeface="+mn-ea"/>
        <a:cs typeface="+mn-cs"/>
      </a:defRPr>
    </a:lvl3pPr>
    <a:lvl4pPr marL="1828800" algn="l" defTabSz="1218565" rtl="0" eaLnBrk="1" latinLnBrk="0" hangingPunct="1">
      <a:defRPr sz="2400" kern="1200">
        <a:solidFill>
          <a:schemeClr val="tx1"/>
        </a:solidFill>
        <a:latin typeface="+mn-lt"/>
        <a:ea typeface="+mn-ea"/>
        <a:cs typeface="+mn-cs"/>
      </a:defRPr>
    </a:lvl4pPr>
    <a:lvl5pPr marL="2438400" algn="l" defTabSz="1218565" rtl="0" eaLnBrk="1" latinLnBrk="0" hangingPunct="1">
      <a:defRPr sz="2400" kern="1200">
        <a:solidFill>
          <a:schemeClr val="tx1"/>
        </a:solidFill>
        <a:latin typeface="+mn-lt"/>
        <a:ea typeface="+mn-ea"/>
        <a:cs typeface="+mn-cs"/>
      </a:defRPr>
    </a:lvl5pPr>
    <a:lvl6pPr marL="3048000" algn="l" defTabSz="1218565" rtl="0" eaLnBrk="1" latinLnBrk="0" hangingPunct="1">
      <a:defRPr sz="2400" kern="1200">
        <a:solidFill>
          <a:schemeClr val="tx1"/>
        </a:solidFill>
        <a:latin typeface="+mn-lt"/>
        <a:ea typeface="+mn-ea"/>
        <a:cs typeface="+mn-cs"/>
      </a:defRPr>
    </a:lvl6pPr>
    <a:lvl7pPr marL="3657600" algn="l" defTabSz="1218565" rtl="0" eaLnBrk="1" latinLnBrk="0" hangingPunct="1">
      <a:defRPr sz="2400" kern="1200">
        <a:solidFill>
          <a:schemeClr val="tx1"/>
        </a:solidFill>
        <a:latin typeface="+mn-lt"/>
        <a:ea typeface="+mn-ea"/>
        <a:cs typeface="+mn-cs"/>
      </a:defRPr>
    </a:lvl7pPr>
    <a:lvl8pPr marL="4267200" algn="l" defTabSz="1218565" rtl="0" eaLnBrk="1" latinLnBrk="0" hangingPunct="1">
      <a:defRPr sz="2400" kern="1200">
        <a:solidFill>
          <a:schemeClr val="tx1"/>
        </a:solidFill>
        <a:latin typeface="+mn-lt"/>
        <a:ea typeface="+mn-ea"/>
        <a:cs typeface="+mn-cs"/>
      </a:defRPr>
    </a:lvl8pPr>
    <a:lvl9pPr marL="4876800" algn="l" defTabSz="1218565" rtl="0" eaLnBrk="1" latinLnBrk="0" hangingPunct="1">
      <a:defRPr sz="24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E122C"/>
    <a:srgbClr val="2DAFCF"/>
    <a:srgbClr val="76CBE0"/>
    <a:srgbClr val="FF40FF"/>
    <a:srgbClr val="F46B34"/>
    <a:srgbClr val="FF7E79"/>
    <a:srgbClr val="F57D4D"/>
    <a:srgbClr val="ED939C"/>
    <a:srgbClr val="F6CACE"/>
    <a:srgbClr val="449E6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0095" autoAdjust="0"/>
    <p:restoredTop sz="96838" autoAdjust="0"/>
  </p:normalViewPr>
  <p:slideViewPr>
    <p:cSldViewPr snapToGrid="0">
      <p:cViewPr varScale="1">
        <p:scale>
          <a:sx n="72" d="100"/>
          <a:sy n="72" d="100"/>
        </p:scale>
        <p:origin x="858" y="72"/>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sorterViewPr>
    <p:cViewPr varScale="1">
      <p:scale>
        <a:sx n="100" d="100"/>
        <a:sy n="100" d="100"/>
      </p:scale>
      <p:origin x="0" y="0"/>
    </p:cViewPr>
  </p:sorterViewPr>
  <p:notesViewPr>
    <p:cSldViewPr snapToGrid="0">
      <p:cViewPr varScale="1">
        <p:scale>
          <a:sx n="86" d="100"/>
          <a:sy n="86" d="100"/>
        </p:scale>
        <p:origin x="3012" y="10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tableStyles" Target="tableStyles.xml"/><Relationship Id="rId3" Type="http://schemas.openxmlformats.org/officeDocument/2006/relationships/slideMaster" Target="slideMasters/slideMaster3.xml"/><Relationship Id="rId21" Type="http://schemas.openxmlformats.org/officeDocument/2006/relationships/notesMaster" Target="notesMasters/notesMaster1.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viewProps" Target="viewProps.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presProps" Target="presProps.xml"/><Relationship Id="rId10" Type="http://schemas.openxmlformats.org/officeDocument/2006/relationships/slide" Target="slides/slide7.xml"/><Relationship Id="rId19" Type="http://schemas.openxmlformats.org/officeDocument/2006/relationships/slide" Target="slides/slide16.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E46A36E-8CE9-4233-9D17-03EBF3D3C3EA}" type="datetimeFigureOut">
              <a:rPr lang="zh-CN" altLang="en-US" smtClean="0"/>
              <a:t>2018/12/14 Friday</a:t>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9ED53AB-73E4-496E-889A-60B59C3079AE}" type="slidenum">
              <a:rPr lang="zh-CN" altLang="en-US" smtClean="0"/>
              <a:t>‹#›</a:t>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1"/>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1"/>
            <a:ext cx="2971800" cy="458788"/>
          </a:xfrm>
          <a:prstGeom prst="rect">
            <a:avLst/>
          </a:prstGeom>
        </p:spPr>
        <p:txBody>
          <a:bodyPr vert="horz" lIns="91440" tIns="45720" rIns="91440" bIns="45720" rtlCol="0"/>
          <a:lstStyle>
            <a:lvl1pPr algn="r">
              <a:defRPr sz="1200"/>
            </a:lvl1pPr>
          </a:lstStyle>
          <a:p>
            <a:fld id="{88BAF574-9E5E-4479-A694-7B0504769AE1}" type="datetimeFigureOut">
              <a:rPr lang="zh-CN" altLang="en-US" smtClean="0"/>
              <a:t>2018/12/14 Friday</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49"/>
            <a:ext cx="5486400" cy="3600451"/>
          </a:xfrm>
          <a:prstGeom prst="rect">
            <a:avLst/>
          </a:prstGeom>
        </p:spPr>
        <p:txBody>
          <a:bodyPr vert="horz" lIns="91440" tIns="45720" rIns="91440" bIns="45720" rtlCol="0"/>
          <a:lstStyle/>
          <a:p>
            <a:pPr lvl="0"/>
            <a:r>
              <a:rPr lang="zh-CN" altLang="en-US" dirty="0"/>
              <a:t>模板来自于 </a:t>
            </a:r>
            <a:r>
              <a:rPr lang="en-US" altLang="zh-CN" dirty="0"/>
              <a:t>http://docer.mysoeasy.com</a:t>
            </a:r>
            <a:endParaRPr lang="zh-CN" altLang="en-US" dirty="0"/>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E38F04A-84B0-4E5D-A1A7-EE43D6EF2A66}"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indent="0" algn="l" defTabSz="1218565" rtl="0" eaLnBrk="1" latinLnBrk="0" hangingPunct="1">
      <a:buFont typeface="Arial" panose="020B0604020202020204" pitchFamily="34" charset="0"/>
      <a:buNone/>
      <a:defRPr sz="1865" kern="1200" baseline="0">
        <a:solidFill>
          <a:srgbClr val="FF0000"/>
        </a:solidFill>
        <a:latin typeface="+mn-lt"/>
        <a:ea typeface="+mn-ea"/>
        <a:cs typeface="+mn-cs"/>
      </a:defRPr>
    </a:lvl1pPr>
    <a:lvl2pPr marL="609600" algn="l" defTabSz="1218565" rtl="0" eaLnBrk="1" latinLnBrk="0" hangingPunct="1">
      <a:defRPr sz="1600" kern="1200">
        <a:solidFill>
          <a:schemeClr val="tx1"/>
        </a:solidFill>
        <a:latin typeface="+mn-lt"/>
        <a:ea typeface="+mn-ea"/>
        <a:cs typeface="+mn-cs"/>
      </a:defRPr>
    </a:lvl2pPr>
    <a:lvl3pPr marL="1219200" algn="l" defTabSz="1218565" rtl="0" eaLnBrk="1" latinLnBrk="0" hangingPunct="1">
      <a:defRPr sz="1600" kern="1200">
        <a:solidFill>
          <a:schemeClr val="tx1"/>
        </a:solidFill>
        <a:latin typeface="+mn-lt"/>
        <a:ea typeface="+mn-ea"/>
        <a:cs typeface="+mn-cs"/>
      </a:defRPr>
    </a:lvl3pPr>
    <a:lvl4pPr marL="1828800" algn="l" defTabSz="1218565" rtl="0" eaLnBrk="1" latinLnBrk="0" hangingPunct="1">
      <a:defRPr sz="1600" kern="1200">
        <a:solidFill>
          <a:schemeClr val="tx1"/>
        </a:solidFill>
        <a:latin typeface="+mn-lt"/>
        <a:ea typeface="+mn-ea"/>
        <a:cs typeface="+mn-cs"/>
      </a:defRPr>
    </a:lvl4pPr>
    <a:lvl5pPr marL="2438400" algn="l" defTabSz="1218565" rtl="0" eaLnBrk="1" latinLnBrk="0" hangingPunct="1">
      <a:defRPr sz="1600" kern="1200">
        <a:solidFill>
          <a:schemeClr val="tx1"/>
        </a:solidFill>
        <a:latin typeface="+mn-lt"/>
        <a:ea typeface="+mn-ea"/>
        <a:cs typeface="+mn-cs"/>
      </a:defRPr>
    </a:lvl5pPr>
    <a:lvl6pPr marL="3048000" algn="l" defTabSz="1218565" rtl="0" eaLnBrk="1" latinLnBrk="0" hangingPunct="1">
      <a:defRPr sz="1600" kern="1200">
        <a:solidFill>
          <a:schemeClr val="tx1"/>
        </a:solidFill>
        <a:latin typeface="+mn-lt"/>
        <a:ea typeface="+mn-ea"/>
        <a:cs typeface="+mn-cs"/>
      </a:defRPr>
    </a:lvl6pPr>
    <a:lvl7pPr marL="3657600" algn="l" defTabSz="1218565" rtl="0" eaLnBrk="1" latinLnBrk="0" hangingPunct="1">
      <a:defRPr sz="1600" kern="1200">
        <a:solidFill>
          <a:schemeClr val="tx1"/>
        </a:solidFill>
        <a:latin typeface="+mn-lt"/>
        <a:ea typeface="+mn-ea"/>
        <a:cs typeface="+mn-cs"/>
      </a:defRPr>
    </a:lvl7pPr>
    <a:lvl8pPr marL="4267200" algn="l" defTabSz="1218565" rtl="0" eaLnBrk="1" latinLnBrk="0" hangingPunct="1">
      <a:defRPr sz="1600" kern="1200">
        <a:solidFill>
          <a:schemeClr val="tx1"/>
        </a:solidFill>
        <a:latin typeface="+mn-lt"/>
        <a:ea typeface="+mn-ea"/>
        <a:cs typeface="+mn-cs"/>
      </a:defRPr>
    </a:lvl8pPr>
    <a:lvl9pPr marL="4876800" algn="l" defTabSz="1218565"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4E38F04A-84B0-4E5D-A1A7-EE43D6EF2A66}" type="slidenum">
              <a:rPr lang="zh-CN" altLang="en-US" smtClean="0">
                <a:solidFill>
                  <a:prstClr val="black"/>
                </a:solidFill>
              </a:rPr>
              <a:t>1</a:t>
            </a:fld>
            <a:endParaRPr lang="zh-CN" altLang="en-US">
              <a:solidFill>
                <a:prstClr val="black"/>
              </a:solidFil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1218565" rtl="0" eaLnBrk="1" fontAlgn="auto" latinLnBrk="0" hangingPunct="1">
              <a:lnSpc>
                <a:spcPct val="100000"/>
              </a:lnSpc>
              <a:spcBef>
                <a:spcPts val="0"/>
              </a:spcBef>
              <a:spcAft>
                <a:spcPts val="0"/>
              </a:spcAft>
              <a:buClrTx/>
              <a:buSzTx/>
              <a:buFont typeface="Arial" panose="020B0604020202020204" pitchFamily="34" charset="0"/>
              <a:buNone/>
              <a:defRPr/>
            </a:pPr>
            <a:r>
              <a:rPr lang="zh-CN" altLang="en-US" sz="1800" b="1" kern="1200" baseline="0" dirty="0">
                <a:solidFill>
                  <a:schemeClr val="accent3">
                    <a:lumMod val="75000"/>
                  </a:schemeClr>
                </a:solidFill>
                <a:latin typeface="微软雅黑" panose="020B0503020204020204" pitchFamily="34" charset="-122"/>
                <a:ea typeface="微软雅黑" panose="020B0503020204020204" pitchFamily="34" charset="-122"/>
                <a:cs typeface="+mn-cs"/>
              </a:rPr>
              <a:t>全国青少年信息学奥林匹克（</a:t>
            </a:r>
            <a:r>
              <a:rPr lang="en-US" altLang="zh-CN" sz="1800" b="1" kern="1200" baseline="0" dirty="0">
                <a:solidFill>
                  <a:schemeClr val="accent3">
                    <a:lumMod val="75000"/>
                  </a:schemeClr>
                </a:solidFill>
                <a:latin typeface="微软雅黑" panose="020B0503020204020204" pitchFamily="34" charset="-122"/>
                <a:ea typeface="微软雅黑" panose="020B0503020204020204" pitchFamily="34" charset="-122"/>
                <a:cs typeface="+mn-cs"/>
              </a:rPr>
              <a:t>NOI</a:t>
            </a:r>
            <a:r>
              <a:rPr lang="zh-CN" altLang="en-US" sz="1800" b="1" kern="1200" baseline="0" dirty="0">
                <a:solidFill>
                  <a:schemeClr val="accent3">
                    <a:lumMod val="75000"/>
                  </a:schemeClr>
                </a:solidFill>
                <a:latin typeface="微软雅黑" panose="020B0503020204020204" pitchFamily="34" charset="-122"/>
                <a:ea typeface="微软雅黑" panose="020B0503020204020204" pitchFamily="34" charset="-122"/>
                <a:cs typeface="+mn-cs"/>
              </a:rPr>
              <a:t>）是国内包括港澳在内的省级代表队最高水平的大赛，自</a:t>
            </a:r>
            <a:r>
              <a:rPr lang="en-US" altLang="zh-CN" sz="1800" b="1" kern="1200" baseline="0" dirty="0">
                <a:solidFill>
                  <a:schemeClr val="accent3">
                    <a:lumMod val="75000"/>
                  </a:schemeClr>
                </a:solidFill>
                <a:latin typeface="微软雅黑" panose="020B0503020204020204" pitchFamily="34" charset="-122"/>
                <a:ea typeface="微软雅黑" panose="020B0503020204020204" pitchFamily="34" charset="-122"/>
                <a:cs typeface="+mn-cs"/>
              </a:rPr>
              <a:t>1984</a:t>
            </a:r>
            <a:r>
              <a:rPr lang="zh-CN" altLang="en-US" sz="1800" b="1" kern="1200" baseline="0" dirty="0">
                <a:solidFill>
                  <a:schemeClr val="accent3">
                    <a:lumMod val="75000"/>
                  </a:schemeClr>
                </a:solidFill>
                <a:latin typeface="微软雅黑" panose="020B0503020204020204" pitchFamily="34" charset="-122"/>
                <a:ea typeface="微软雅黑" panose="020B0503020204020204" pitchFamily="34" charset="-122"/>
                <a:cs typeface="+mn-cs"/>
              </a:rPr>
              <a:t>年至今，在国内包括香港、澳门组织竞赛活动。每年经各省选拔产生</a:t>
            </a:r>
            <a:r>
              <a:rPr lang="en-US" altLang="zh-CN" sz="1800" b="1" kern="1200" baseline="0" dirty="0">
                <a:solidFill>
                  <a:schemeClr val="accent3">
                    <a:lumMod val="75000"/>
                  </a:schemeClr>
                </a:solidFill>
                <a:latin typeface="微软雅黑" panose="020B0503020204020204" pitchFamily="34" charset="-122"/>
                <a:ea typeface="微软雅黑" panose="020B0503020204020204" pitchFamily="34" charset="-122"/>
                <a:cs typeface="+mn-cs"/>
              </a:rPr>
              <a:t>5</a:t>
            </a:r>
            <a:r>
              <a:rPr lang="zh-CN" altLang="en-US" sz="1800" b="1" kern="1200" baseline="0" dirty="0">
                <a:solidFill>
                  <a:schemeClr val="accent3">
                    <a:lumMod val="75000"/>
                  </a:schemeClr>
                </a:solidFill>
                <a:latin typeface="微软雅黑" panose="020B0503020204020204" pitchFamily="34" charset="-122"/>
                <a:ea typeface="微软雅黑" panose="020B0503020204020204" pitchFamily="34" charset="-122"/>
                <a:cs typeface="+mn-cs"/>
              </a:rPr>
              <a:t>名选手（其中一名是女选手），由中国计算机学会在计算机普及较好的城市组织进行比赛。这一竞赛记个人成绩，同时记团体总分。</a:t>
            </a:r>
            <a:endParaRPr lang="en-US" altLang="zh-CN" sz="1800" b="1" kern="1200" baseline="0" dirty="0">
              <a:solidFill>
                <a:schemeClr val="accent3">
                  <a:lumMod val="75000"/>
                </a:schemeClr>
              </a:solidFill>
              <a:latin typeface="微软雅黑" panose="020B0503020204020204" pitchFamily="34" charset="-122"/>
              <a:ea typeface="微软雅黑" panose="020B0503020204020204" pitchFamily="34" charset="-122"/>
              <a:cs typeface="+mn-cs"/>
            </a:endParaRPr>
          </a:p>
          <a:p>
            <a:pPr defTabSz="914400">
              <a:spcBef>
                <a:spcPct val="0"/>
              </a:spcBef>
            </a:pPr>
            <a:r>
              <a:rPr lang="en-US" altLang="zh-CN" sz="2000" b="1" kern="1200" baseline="0" dirty="0">
                <a:solidFill>
                  <a:schemeClr val="accent3">
                    <a:lumMod val="75000"/>
                  </a:schemeClr>
                </a:solidFill>
                <a:latin typeface="微软雅黑" panose="020B0503020204020204" pitchFamily="34" charset="-122"/>
                <a:ea typeface="微软雅黑" panose="020B0503020204020204" pitchFamily="34" charset="-122"/>
                <a:cs typeface="+mn-cs"/>
              </a:rPr>
              <a:t>NOIP</a:t>
            </a:r>
            <a:r>
              <a:rPr lang="zh-CN" altLang="en-US" sz="2000" b="1" kern="1200" baseline="0" dirty="0">
                <a:solidFill>
                  <a:schemeClr val="accent3">
                    <a:lumMod val="75000"/>
                  </a:schemeClr>
                </a:solidFill>
                <a:latin typeface="微软雅黑" panose="020B0503020204020204" pitchFamily="34" charset="-122"/>
                <a:ea typeface="微软雅黑" panose="020B0503020204020204" pitchFamily="34" charset="-122"/>
                <a:cs typeface="+mn-cs"/>
              </a:rPr>
              <a:t>是全国青少年信息学奥林匹克联赛。每年由中国计算机学会统一组织比赛。</a:t>
            </a:r>
            <a:endParaRPr lang="en-US" altLang="zh-CN" sz="2000" b="1" kern="1200" baseline="0" dirty="0">
              <a:solidFill>
                <a:schemeClr val="accent3">
                  <a:lumMod val="75000"/>
                </a:schemeClr>
              </a:solidFill>
              <a:latin typeface="微软雅黑" panose="020B0503020204020204" pitchFamily="34" charset="-122"/>
              <a:ea typeface="微软雅黑" panose="020B0503020204020204" pitchFamily="34" charset="-122"/>
              <a:cs typeface="+mn-cs"/>
            </a:endParaRPr>
          </a:p>
          <a:p>
            <a:pPr defTabSz="914400">
              <a:spcBef>
                <a:spcPct val="0"/>
              </a:spcBef>
            </a:pPr>
            <a:endParaRPr lang="en-US" altLang="zh-CN" sz="2000" b="1" kern="1200" baseline="0" dirty="0">
              <a:solidFill>
                <a:schemeClr val="accent3">
                  <a:lumMod val="75000"/>
                </a:schemeClr>
              </a:solidFill>
              <a:latin typeface="微软雅黑" panose="020B0503020204020204" pitchFamily="34" charset="-122"/>
              <a:ea typeface="微软雅黑" panose="020B0503020204020204" pitchFamily="34" charset="-122"/>
              <a:cs typeface="+mn-cs"/>
            </a:endParaRPr>
          </a:p>
          <a:p>
            <a:pPr defTabSz="914400">
              <a:spcBef>
                <a:spcPct val="0"/>
              </a:spcBef>
            </a:pPr>
            <a:r>
              <a:rPr lang="en-US" altLang="zh-CN" sz="2000" b="1" kern="1200" baseline="0" dirty="0">
                <a:solidFill>
                  <a:schemeClr val="accent3">
                    <a:lumMod val="75000"/>
                  </a:schemeClr>
                </a:solidFill>
                <a:latin typeface="微软雅黑" panose="020B0503020204020204" pitchFamily="34" charset="-122"/>
                <a:ea typeface="微软雅黑" panose="020B0503020204020204" pitchFamily="34" charset="-122"/>
                <a:cs typeface="+mn-cs"/>
              </a:rPr>
              <a:t>NOIP</a:t>
            </a:r>
            <a:r>
              <a:rPr lang="zh-CN" altLang="en-US" sz="2000" b="1" kern="1200" baseline="0" dirty="0">
                <a:solidFill>
                  <a:schemeClr val="accent3">
                    <a:lumMod val="75000"/>
                  </a:schemeClr>
                </a:solidFill>
                <a:latin typeface="微软雅黑" panose="020B0503020204020204" pitchFamily="34" charset="-122"/>
                <a:ea typeface="微软雅黑" panose="020B0503020204020204" pitchFamily="34" charset="-122"/>
                <a:cs typeface="+mn-cs"/>
              </a:rPr>
              <a:t>。全国统一大纲、统一试卷。初、高中或其他中等专业学校的学生可报名参加联赛。</a:t>
            </a:r>
            <a:endParaRPr lang="en-US" altLang="zh-CN" sz="2000" b="1" kern="1200" baseline="0" dirty="0">
              <a:solidFill>
                <a:schemeClr val="accent3">
                  <a:lumMod val="75000"/>
                </a:schemeClr>
              </a:solidFill>
              <a:latin typeface="微软雅黑" panose="020B0503020204020204" pitchFamily="34" charset="-122"/>
              <a:ea typeface="微软雅黑" panose="020B0503020204020204" pitchFamily="34" charset="-122"/>
              <a:cs typeface="+mn-cs"/>
            </a:endParaRPr>
          </a:p>
          <a:p>
            <a:pPr defTabSz="914400">
              <a:spcBef>
                <a:spcPct val="0"/>
              </a:spcBef>
            </a:pPr>
            <a:endParaRPr lang="en-US" altLang="zh-CN" sz="2000" b="1" kern="1200" baseline="0" dirty="0">
              <a:solidFill>
                <a:schemeClr val="accent3">
                  <a:lumMod val="75000"/>
                </a:schemeClr>
              </a:solidFill>
              <a:latin typeface="微软雅黑" panose="020B0503020204020204" pitchFamily="34" charset="-122"/>
              <a:ea typeface="微软雅黑" panose="020B0503020204020204" pitchFamily="34" charset="-122"/>
              <a:cs typeface="+mn-cs"/>
            </a:endParaRPr>
          </a:p>
          <a:p>
            <a:pPr defTabSz="914400">
              <a:spcBef>
                <a:spcPct val="0"/>
              </a:spcBef>
            </a:pPr>
            <a:r>
              <a:rPr lang="zh-CN" altLang="en-US" sz="2000" b="1" kern="1200" baseline="0" dirty="0">
                <a:solidFill>
                  <a:schemeClr val="accent3">
                    <a:lumMod val="75000"/>
                  </a:schemeClr>
                </a:solidFill>
                <a:latin typeface="微软雅黑" panose="020B0503020204020204" pitchFamily="34" charset="-122"/>
                <a:ea typeface="微软雅黑" panose="020B0503020204020204" pitchFamily="34" charset="-122"/>
                <a:cs typeface="+mn-cs"/>
              </a:rPr>
              <a:t>联赛分初赛和复赛两个阶段。初赛考察计算机科学基础知识，以笔试形式（做试卷）进行。复赛为编程，须在计算机上编程完成。参加初赛者须达到一定分数线后才有资格参加复赛。联赛分普及组和提高组两个组别，难度不同，分别面向初中和高中阶段的学生，也就是一般初中生参加普及组，高中生参加提高组。有些省市小学生也可以向特派员报名参赛。</a:t>
            </a:r>
          </a:p>
          <a:p>
            <a:endParaRPr lang="zh-CN" altLang="en-US" dirty="0"/>
          </a:p>
        </p:txBody>
      </p:sp>
      <p:sp>
        <p:nvSpPr>
          <p:cNvPr id="4" name="灯片编号占位符 3"/>
          <p:cNvSpPr>
            <a:spLocks noGrp="1"/>
          </p:cNvSpPr>
          <p:nvPr>
            <p:ph type="sldNum" sz="quarter" idx="10"/>
          </p:nvPr>
        </p:nvSpPr>
        <p:spPr/>
        <p:txBody>
          <a:bodyPr/>
          <a:lstStyle/>
          <a:p>
            <a:fld id="{4E38F04A-84B0-4E5D-A1A7-EE43D6EF2A66}" type="slidenum">
              <a:rPr lang="zh-CN" altLang="en-US" smtClean="0"/>
              <a:t>2</a:t>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1218565" rtl="0" eaLnBrk="1" fontAlgn="auto" latinLnBrk="0" hangingPunct="1">
              <a:lnSpc>
                <a:spcPct val="100000"/>
              </a:lnSpc>
              <a:spcBef>
                <a:spcPts val="0"/>
              </a:spcBef>
              <a:spcAft>
                <a:spcPts val="0"/>
              </a:spcAft>
              <a:buClrTx/>
              <a:buSzTx/>
              <a:buFont typeface="Arial" panose="020B0604020202020204" pitchFamily="34" charset="0"/>
              <a:buNone/>
              <a:defRPr/>
            </a:pPr>
            <a:r>
              <a:rPr lang="zh-CN" altLang="en-US" sz="1800" b="1" kern="1200" baseline="0" dirty="0">
                <a:solidFill>
                  <a:schemeClr val="accent3">
                    <a:lumMod val="75000"/>
                  </a:schemeClr>
                </a:solidFill>
                <a:latin typeface="微软雅黑" panose="020B0503020204020204" pitchFamily="34" charset="-122"/>
                <a:ea typeface="微软雅黑" panose="020B0503020204020204" pitchFamily="34" charset="-122"/>
                <a:cs typeface="+mn-cs"/>
              </a:rPr>
              <a:t>全国青少年信息学奥林匹克（</a:t>
            </a:r>
            <a:r>
              <a:rPr lang="en-US" altLang="zh-CN" sz="1800" b="1" kern="1200" baseline="0" dirty="0">
                <a:solidFill>
                  <a:schemeClr val="accent3">
                    <a:lumMod val="75000"/>
                  </a:schemeClr>
                </a:solidFill>
                <a:latin typeface="微软雅黑" panose="020B0503020204020204" pitchFamily="34" charset="-122"/>
                <a:ea typeface="微软雅黑" panose="020B0503020204020204" pitchFamily="34" charset="-122"/>
                <a:cs typeface="+mn-cs"/>
              </a:rPr>
              <a:t>NOI</a:t>
            </a:r>
            <a:r>
              <a:rPr lang="zh-CN" altLang="en-US" sz="1800" b="1" kern="1200" baseline="0" dirty="0">
                <a:solidFill>
                  <a:schemeClr val="accent3">
                    <a:lumMod val="75000"/>
                  </a:schemeClr>
                </a:solidFill>
                <a:latin typeface="微软雅黑" panose="020B0503020204020204" pitchFamily="34" charset="-122"/>
                <a:ea typeface="微软雅黑" panose="020B0503020204020204" pitchFamily="34" charset="-122"/>
                <a:cs typeface="+mn-cs"/>
              </a:rPr>
              <a:t>）是国内包括港澳在内的省级代表队最高水平的大赛，自</a:t>
            </a:r>
            <a:r>
              <a:rPr lang="en-US" altLang="zh-CN" sz="1800" b="1" kern="1200" baseline="0" dirty="0">
                <a:solidFill>
                  <a:schemeClr val="accent3">
                    <a:lumMod val="75000"/>
                  </a:schemeClr>
                </a:solidFill>
                <a:latin typeface="微软雅黑" panose="020B0503020204020204" pitchFamily="34" charset="-122"/>
                <a:ea typeface="微软雅黑" panose="020B0503020204020204" pitchFamily="34" charset="-122"/>
                <a:cs typeface="+mn-cs"/>
              </a:rPr>
              <a:t>1984</a:t>
            </a:r>
            <a:r>
              <a:rPr lang="zh-CN" altLang="en-US" sz="1800" b="1" kern="1200" baseline="0" dirty="0">
                <a:solidFill>
                  <a:schemeClr val="accent3">
                    <a:lumMod val="75000"/>
                  </a:schemeClr>
                </a:solidFill>
                <a:latin typeface="微软雅黑" panose="020B0503020204020204" pitchFamily="34" charset="-122"/>
                <a:ea typeface="微软雅黑" panose="020B0503020204020204" pitchFamily="34" charset="-122"/>
                <a:cs typeface="+mn-cs"/>
              </a:rPr>
              <a:t>年至今，在国内包括香港、澳门组织竞赛活动。每年经各省选拔产生</a:t>
            </a:r>
            <a:r>
              <a:rPr lang="en-US" altLang="zh-CN" sz="1800" b="1" kern="1200" baseline="0" dirty="0">
                <a:solidFill>
                  <a:schemeClr val="accent3">
                    <a:lumMod val="75000"/>
                  </a:schemeClr>
                </a:solidFill>
                <a:latin typeface="微软雅黑" panose="020B0503020204020204" pitchFamily="34" charset="-122"/>
                <a:ea typeface="微软雅黑" panose="020B0503020204020204" pitchFamily="34" charset="-122"/>
                <a:cs typeface="+mn-cs"/>
              </a:rPr>
              <a:t>5</a:t>
            </a:r>
            <a:r>
              <a:rPr lang="zh-CN" altLang="en-US" sz="1800" b="1" kern="1200" baseline="0" dirty="0">
                <a:solidFill>
                  <a:schemeClr val="accent3">
                    <a:lumMod val="75000"/>
                  </a:schemeClr>
                </a:solidFill>
                <a:latin typeface="微软雅黑" panose="020B0503020204020204" pitchFamily="34" charset="-122"/>
                <a:ea typeface="微软雅黑" panose="020B0503020204020204" pitchFamily="34" charset="-122"/>
                <a:cs typeface="+mn-cs"/>
              </a:rPr>
              <a:t>名选手（其中一名是女选手），由中国计算机学会在计算机普及较好的城市组织进行比赛。这一竞赛记个人成绩，同时记团体总分。</a:t>
            </a:r>
            <a:endParaRPr lang="en-US" altLang="zh-CN" sz="1800" b="1" kern="1200" baseline="0" dirty="0">
              <a:solidFill>
                <a:schemeClr val="accent3">
                  <a:lumMod val="75000"/>
                </a:schemeClr>
              </a:solidFill>
              <a:latin typeface="微软雅黑" panose="020B0503020204020204" pitchFamily="34" charset="-122"/>
              <a:ea typeface="微软雅黑" panose="020B0503020204020204" pitchFamily="34" charset="-122"/>
              <a:cs typeface="+mn-cs"/>
            </a:endParaRPr>
          </a:p>
          <a:p>
            <a:pPr defTabSz="914400">
              <a:spcBef>
                <a:spcPct val="0"/>
              </a:spcBef>
            </a:pPr>
            <a:r>
              <a:rPr lang="en-US" altLang="zh-CN" sz="2000" b="1" kern="1200" baseline="0" dirty="0">
                <a:solidFill>
                  <a:schemeClr val="accent3">
                    <a:lumMod val="75000"/>
                  </a:schemeClr>
                </a:solidFill>
                <a:latin typeface="微软雅黑" panose="020B0503020204020204" pitchFamily="34" charset="-122"/>
                <a:ea typeface="微软雅黑" panose="020B0503020204020204" pitchFamily="34" charset="-122"/>
                <a:cs typeface="+mn-cs"/>
              </a:rPr>
              <a:t>NOIP</a:t>
            </a:r>
            <a:r>
              <a:rPr lang="zh-CN" altLang="en-US" sz="2000" b="1" kern="1200" baseline="0" dirty="0">
                <a:solidFill>
                  <a:schemeClr val="accent3">
                    <a:lumMod val="75000"/>
                  </a:schemeClr>
                </a:solidFill>
                <a:latin typeface="微软雅黑" panose="020B0503020204020204" pitchFamily="34" charset="-122"/>
                <a:ea typeface="微软雅黑" panose="020B0503020204020204" pitchFamily="34" charset="-122"/>
                <a:cs typeface="+mn-cs"/>
              </a:rPr>
              <a:t>是全国青少年信息学奥林匹克联赛。每年由中国计算机学会统一组织比赛。</a:t>
            </a:r>
            <a:endParaRPr lang="en-US" altLang="zh-CN" sz="2000" b="1" kern="1200" baseline="0" dirty="0">
              <a:solidFill>
                <a:schemeClr val="accent3">
                  <a:lumMod val="75000"/>
                </a:schemeClr>
              </a:solidFill>
              <a:latin typeface="微软雅黑" panose="020B0503020204020204" pitchFamily="34" charset="-122"/>
              <a:ea typeface="微软雅黑" panose="020B0503020204020204" pitchFamily="34" charset="-122"/>
              <a:cs typeface="+mn-cs"/>
            </a:endParaRPr>
          </a:p>
          <a:p>
            <a:pPr defTabSz="914400">
              <a:spcBef>
                <a:spcPct val="0"/>
              </a:spcBef>
            </a:pPr>
            <a:endParaRPr lang="en-US" altLang="zh-CN" sz="2000" b="1" kern="1200" baseline="0" dirty="0">
              <a:solidFill>
                <a:schemeClr val="accent3">
                  <a:lumMod val="75000"/>
                </a:schemeClr>
              </a:solidFill>
              <a:latin typeface="微软雅黑" panose="020B0503020204020204" pitchFamily="34" charset="-122"/>
              <a:ea typeface="微软雅黑" panose="020B0503020204020204" pitchFamily="34" charset="-122"/>
              <a:cs typeface="+mn-cs"/>
            </a:endParaRPr>
          </a:p>
          <a:p>
            <a:pPr defTabSz="914400">
              <a:spcBef>
                <a:spcPct val="0"/>
              </a:spcBef>
            </a:pPr>
            <a:r>
              <a:rPr lang="en-US" altLang="zh-CN" sz="2000" b="1" kern="1200" baseline="0" dirty="0">
                <a:solidFill>
                  <a:schemeClr val="accent3">
                    <a:lumMod val="75000"/>
                  </a:schemeClr>
                </a:solidFill>
                <a:latin typeface="微软雅黑" panose="020B0503020204020204" pitchFamily="34" charset="-122"/>
                <a:ea typeface="微软雅黑" panose="020B0503020204020204" pitchFamily="34" charset="-122"/>
                <a:cs typeface="+mn-cs"/>
              </a:rPr>
              <a:t>NOIP</a:t>
            </a:r>
            <a:r>
              <a:rPr lang="zh-CN" altLang="en-US" sz="2000" b="1" kern="1200" baseline="0" dirty="0">
                <a:solidFill>
                  <a:schemeClr val="accent3">
                    <a:lumMod val="75000"/>
                  </a:schemeClr>
                </a:solidFill>
                <a:latin typeface="微软雅黑" panose="020B0503020204020204" pitchFamily="34" charset="-122"/>
                <a:ea typeface="微软雅黑" panose="020B0503020204020204" pitchFamily="34" charset="-122"/>
                <a:cs typeface="+mn-cs"/>
              </a:rPr>
              <a:t>。全国统一大纲、统一试卷。初、高中或其他中等专业学校的学生可报名参加联赛。</a:t>
            </a:r>
            <a:endParaRPr lang="en-US" altLang="zh-CN" sz="2000" b="1" kern="1200" baseline="0" dirty="0">
              <a:solidFill>
                <a:schemeClr val="accent3">
                  <a:lumMod val="75000"/>
                </a:schemeClr>
              </a:solidFill>
              <a:latin typeface="微软雅黑" panose="020B0503020204020204" pitchFamily="34" charset="-122"/>
              <a:ea typeface="微软雅黑" panose="020B0503020204020204" pitchFamily="34" charset="-122"/>
              <a:cs typeface="+mn-cs"/>
            </a:endParaRPr>
          </a:p>
          <a:p>
            <a:pPr defTabSz="914400">
              <a:spcBef>
                <a:spcPct val="0"/>
              </a:spcBef>
            </a:pPr>
            <a:endParaRPr lang="en-US" altLang="zh-CN" sz="2000" b="1" kern="1200" baseline="0" dirty="0">
              <a:solidFill>
                <a:schemeClr val="accent3">
                  <a:lumMod val="75000"/>
                </a:schemeClr>
              </a:solidFill>
              <a:latin typeface="微软雅黑" panose="020B0503020204020204" pitchFamily="34" charset="-122"/>
              <a:ea typeface="微软雅黑" panose="020B0503020204020204" pitchFamily="34" charset="-122"/>
              <a:cs typeface="+mn-cs"/>
            </a:endParaRPr>
          </a:p>
          <a:p>
            <a:pPr defTabSz="914400">
              <a:spcBef>
                <a:spcPct val="0"/>
              </a:spcBef>
            </a:pPr>
            <a:r>
              <a:rPr lang="zh-CN" altLang="en-US" sz="2000" b="1" kern="1200" baseline="0" dirty="0">
                <a:solidFill>
                  <a:schemeClr val="accent3">
                    <a:lumMod val="75000"/>
                  </a:schemeClr>
                </a:solidFill>
                <a:latin typeface="微软雅黑" panose="020B0503020204020204" pitchFamily="34" charset="-122"/>
                <a:ea typeface="微软雅黑" panose="020B0503020204020204" pitchFamily="34" charset="-122"/>
                <a:cs typeface="+mn-cs"/>
              </a:rPr>
              <a:t>联赛分初赛和复赛两个阶段。初赛考察计算机科学基础知识，以笔试形式（做试卷）进行。复赛为编程，须在计算机上编程完成。参加初赛者须达到一定分数线后才有资格参加复赛。联赛分普及组和提高组两个组别，难度不同，分别面向初中和高中阶段的学生，也就是一般初中生参加普及组，高中生参加提高组。有些省市小学生也可以向特派员报名参赛。</a:t>
            </a:r>
          </a:p>
          <a:p>
            <a:endParaRPr lang="zh-CN" altLang="en-US" dirty="0"/>
          </a:p>
        </p:txBody>
      </p:sp>
      <p:sp>
        <p:nvSpPr>
          <p:cNvPr id="4" name="灯片编号占位符 3"/>
          <p:cNvSpPr>
            <a:spLocks noGrp="1"/>
          </p:cNvSpPr>
          <p:nvPr>
            <p:ph type="sldNum" sz="quarter" idx="10"/>
          </p:nvPr>
        </p:nvSpPr>
        <p:spPr/>
        <p:txBody>
          <a:bodyPr/>
          <a:lstStyle/>
          <a:p>
            <a:fld id="{4E38F04A-84B0-4E5D-A1A7-EE43D6EF2A66}" type="slidenum">
              <a:rPr lang="zh-CN" altLang="en-US" smtClean="0"/>
              <a:t>3</a:t>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1218565" rtl="0" eaLnBrk="1" fontAlgn="auto" latinLnBrk="0" hangingPunct="1">
              <a:lnSpc>
                <a:spcPct val="100000"/>
              </a:lnSpc>
              <a:spcBef>
                <a:spcPts val="0"/>
              </a:spcBef>
              <a:spcAft>
                <a:spcPts val="0"/>
              </a:spcAft>
              <a:buClrTx/>
              <a:buSzTx/>
              <a:buFont typeface="Arial" panose="020B0604020202020204" pitchFamily="34" charset="0"/>
              <a:buNone/>
              <a:defRPr/>
            </a:pPr>
            <a:r>
              <a:rPr lang="zh-CN" altLang="en-US" sz="1800" b="1" kern="1200" baseline="0" dirty="0">
                <a:solidFill>
                  <a:schemeClr val="accent3">
                    <a:lumMod val="75000"/>
                  </a:schemeClr>
                </a:solidFill>
                <a:latin typeface="微软雅黑" panose="020B0503020204020204" pitchFamily="34" charset="-122"/>
                <a:ea typeface="微软雅黑" panose="020B0503020204020204" pitchFamily="34" charset="-122"/>
                <a:cs typeface="+mn-cs"/>
              </a:rPr>
              <a:t>全国青少年信息学奥林匹克（</a:t>
            </a:r>
            <a:r>
              <a:rPr lang="en-US" altLang="zh-CN" sz="1800" b="1" kern="1200" baseline="0" dirty="0">
                <a:solidFill>
                  <a:schemeClr val="accent3">
                    <a:lumMod val="75000"/>
                  </a:schemeClr>
                </a:solidFill>
                <a:latin typeface="微软雅黑" panose="020B0503020204020204" pitchFamily="34" charset="-122"/>
                <a:ea typeface="微软雅黑" panose="020B0503020204020204" pitchFamily="34" charset="-122"/>
                <a:cs typeface="+mn-cs"/>
              </a:rPr>
              <a:t>NOI</a:t>
            </a:r>
            <a:r>
              <a:rPr lang="zh-CN" altLang="en-US" sz="1800" b="1" kern="1200" baseline="0" dirty="0">
                <a:solidFill>
                  <a:schemeClr val="accent3">
                    <a:lumMod val="75000"/>
                  </a:schemeClr>
                </a:solidFill>
                <a:latin typeface="微软雅黑" panose="020B0503020204020204" pitchFamily="34" charset="-122"/>
                <a:ea typeface="微软雅黑" panose="020B0503020204020204" pitchFamily="34" charset="-122"/>
                <a:cs typeface="+mn-cs"/>
              </a:rPr>
              <a:t>）是国内包括港澳在内的省级代表队最高水平的大赛，自</a:t>
            </a:r>
            <a:r>
              <a:rPr lang="en-US" altLang="zh-CN" sz="1800" b="1" kern="1200" baseline="0" dirty="0">
                <a:solidFill>
                  <a:schemeClr val="accent3">
                    <a:lumMod val="75000"/>
                  </a:schemeClr>
                </a:solidFill>
                <a:latin typeface="微软雅黑" panose="020B0503020204020204" pitchFamily="34" charset="-122"/>
                <a:ea typeface="微软雅黑" panose="020B0503020204020204" pitchFamily="34" charset="-122"/>
                <a:cs typeface="+mn-cs"/>
              </a:rPr>
              <a:t>1984</a:t>
            </a:r>
            <a:r>
              <a:rPr lang="zh-CN" altLang="en-US" sz="1800" b="1" kern="1200" baseline="0" dirty="0">
                <a:solidFill>
                  <a:schemeClr val="accent3">
                    <a:lumMod val="75000"/>
                  </a:schemeClr>
                </a:solidFill>
                <a:latin typeface="微软雅黑" panose="020B0503020204020204" pitchFamily="34" charset="-122"/>
                <a:ea typeface="微软雅黑" panose="020B0503020204020204" pitchFamily="34" charset="-122"/>
                <a:cs typeface="+mn-cs"/>
              </a:rPr>
              <a:t>年至今，在国内包括香港、澳门组织竞赛活动。每年经各省选拔产生</a:t>
            </a:r>
            <a:r>
              <a:rPr lang="en-US" altLang="zh-CN" sz="1800" b="1" kern="1200" baseline="0" dirty="0">
                <a:solidFill>
                  <a:schemeClr val="accent3">
                    <a:lumMod val="75000"/>
                  </a:schemeClr>
                </a:solidFill>
                <a:latin typeface="微软雅黑" panose="020B0503020204020204" pitchFamily="34" charset="-122"/>
                <a:ea typeface="微软雅黑" panose="020B0503020204020204" pitchFamily="34" charset="-122"/>
                <a:cs typeface="+mn-cs"/>
              </a:rPr>
              <a:t>5</a:t>
            </a:r>
            <a:r>
              <a:rPr lang="zh-CN" altLang="en-US" sz="1800" b="1" kern="1200" baseline="0" dirty="0">
                <a:solidFill>
                  <a:schemeClr val="accent3">
                    <a:lumMod val="75000"/>
                  </a:schemeClr>
                </a:solidFill>
                <a:latin typeface="微软雅黑" panose="020B0503020204020204" pitchFamily="34" charset="-122"/>
                <a:ea typeface="微软雅黑" panose="020B0503020204020204" pitchFamily="34" charset="-122"/>
                <a:cs typeface="+mn-cs"/>
              </a:rPr>
              <a:t>名选手（其中一名是女选手），由中国计算机学会在计算机普及较好的城市组织进行比赛。这一竞赛记个人成绩，同时记团体总分。</a:t>
            </a:r>
            <a:endParaRPr lang="en-US" altLang="zh-CN" sz="1800" b="1" kern="1200" baseline="0" dirty="0">
              <a:solidFill>
                <a:schemeClr val="accent3">
                  <a:lumMod val="75000"/>
                </a:schemeClr>
              </a:solidFill>
              <a:latin typeface="微软雅黑" panose="020B0503020204020204" pitchFamily="34" charset="-122"/>
              <a:ea typeface="微软雅黑" panose="020B0503020204020204" pitchFamily="34" charset="-122"/>
              <a:cs typeface="+mn-cs"/>
            </a:endParaRPr>
          </a:p>
          <a:p>
            <a:pPr defTabSz="914400">
              <a:spcBef>
                <a:spcPct val="0"/>
              </a:spcBef>
            </a:pPr>
            <a:r>
              <a:rPr lang="en-US" altLang="zh-CN" sz="2000" b="1" kern="1200" baseline="0" dirty="0">
                <a:solidFill>
                  <a:schemeClr val="accent3">
                    <a:lumMod val="75000"/>
                  </a:schemeClr>
                </a:solidFill>
                <a:latin typeface="微软雅黑" panose="020B0503020204020204" pitchFamily="34" charset="-122"/>
                <a:ea typeface="微软雅黑" panose="020B0503020204020204" pitchFamily="34" charset="-122"/>
                <a:cs typeface="+mn-cs"/>
              </a:rPr>
              <a:t>NOIP</a:t>
            </a:r>
            <a:r>
              <a:rPr lang="zh-CN" altLang="en-US" sz="2000" b="1" kern="1200" baseline="0" dirty="0">
                <a:solidFill>
                  <a:schemeClr val="accent3">
                    <a:lumMod val="75000"/>
                  </a:schemeClr>
                </a:solidFill>
                <a:latin typeface="微软雅黑" panose="020B0503020204020204" pitchFamily="34" charset="-122"/>
                <a:ea typeface="微软雅黑" panose="020B0503020204020204" pitchFamily="34" charset="-122"/>
                <a:cs typeface="+mn-cs"/>
              </a:rPr>
              <a:t>是全国青少年信息学奥林匹克联赛。每年由中国计算机学会统一组织比赛。</a:t>
            </a:r>
            <a:endParaRPr lang="en-US" altLang="zh-CN" sz="2000" b="1" kern="1200" baseline="0" dirty="0">
              <a:solidFill>
                <a:schemeClr val="accent3">
                  <a:lumMod val="75000"/>
                </a:schemeClr>
              </a:solidFill>
              <a:latin typeface="微软雅黑" panose="020B0503020204020204" pitchFamily="34" charset="-122"/>
              <a:ea typeface="微软雅黑" panose="020B0503020204020204" pitchFamily="34" charset="-122"/>
              <a:cs typeface="+mn-cs"/>
            </a:endParaRPr>
          </a:p>
          <a:p>
            <a:pPr defTabSz="914400">
              <a:spcBef>
                <a:spcPct val="0"/>
              </a:spcBef>
            </a:pPr>
            <a:endParaRPr lang="en-US" altLang="zh-CN" sz="2000" b="1" kern="1200" baseline="0" dirty="0">
              <a:solidFill>
                <a:schemeClr val="accent3">
                  <a:lumMod val="75000"/>
                </a:schemeClr>
              </a:solidFill>
              <a:latin typeface="微软雅黑" panose="020B0503020204020204" pitchFamily="34" charset="-122"/>
              <a:ea typeface="微软雅黑" panose="020B0503020204020204" pitchFamily="34" charset="-122"/>
              <a:cs typeface="+mn-cs"/>
            </a:endParaRPr>
          </a:p>
          <a:p>
            <a:pPr defTabSz="914400">
              <a:spcBef>
                <a:spcPct val="0"/>
              </a:spcBef>
            </a:pPr>
            <a:r>
              <a:rPr lang="en-US" altLang="zh-CN" sz="2000" b="1" kern="1200" baseline="0" dirty="0">
                <a:solidFill>
                  <a:schemeClr val="accent3">
                    <a:lumMod val="75000"/>
                  </a:schemeClr>
                </a:solidFill>
                <a:latin typeface="微软雅黑" panose="020B0503020204020204" pitchFamily="34" charset="-122"/>
                <a:ea typeface="微软雅黑" panose="020B0503020204020204" pitchFamily="34" charset="-122"/>
                <a:cs typeface="+mn-cs"/>
              </a:rPr>
              <a:t>NOIP</a:t>
            </a:r>
            <a:r>
              <a:rPr lang="zh-CN" altLang="en-US" sz="2000" b="1" kern="1200" baseline="0" dirty="0">
                <a:solidFill>
                  <a:schemeClr val="accent3">
                    <a:lumMod val="75000"/>
                  </a:schemeClr>
                </a:solidFill>
                <a:latin typeface="微软雅黑" panose="020B0503020204020204" pitchFamily="34" charset="-122"/>
                <a:ea typeface="微软雅黑" panose="020B0503020204020204" pitchFamily="34" charset="-122"/>
                <a:cs typeface="+mn-cs"/>
              </a:rPr>
              <a:t>。全国统一大纲、统一试卷。初、高中或其他中等专业学校的学生可报名参加联赛。</a:t>
            </a:r>
            <a:endParaRPr lang="en-US" altLang="zh-CN" sz="2000" b="1" kern="1200" baseline="0" dirty="0">
              <a:solidFill>
                <a:schemeClr val="accent3">
                  <a:lumMod val="75000"/>
                </a:schemeClr>
              </a:solidFill>
              <a:latin typeface="微软雅黑" panose="020B0503020204020204" pitchFamily="34" charset="-122"/>
              <a:ea typeface="微软雅黑" panose="020B0503020204020204" pitchFamily="34" charset="-122"/>
              <a:cs typeface="+mn-cs"/>
            </a:endParaRPr>
          </a:p>
          <a:p>
            <a:pPr defTabSz="914400">
              <a:spcBef>
                <a:spcPct val="0"/>
              </a:spcBef>
            </a:pPr>
            <a:endParaRPr lang="en-US" altLang="zh-CN" sz="2000" b="1" kern="1200" baseline="0" dirty="0">
              <a:solidFill>
                <a:schemeClr val="accent3">
                  <a:lumMod val="75000"/>
                </a:schemeClr>
              </a:solidFill>
              <a:latin typeface="微软雅黑" panose="020B0503020204020204" pitchFamily="34" charset="-122"/>
              <a:ea typeface="微软雅黑" panose="020B0503020204020204" pitchFamily="34" charset="-122"/>
              <a:cs typeface="+mn-cs"/>
            </a:endParaRPr>
          </a:p>
          <a:p>
            <a:pPr defTabSz="914400">
              <a:spcBef>
                <a:spcPct val="0"/>
              </a:spcBef>
            </a:pPr>
            <a:r>
              <a:rPr lang="zh-CN" altLang="en-US" sz="2000" b="1" kern="1200" baseline="0" dirty="0">
                <a:solidFill>
                  <a:schemeClr val="accent3">
                    <a:lumMod val="75000"/>
                  </a:schemeClr>
                </a:solidFill>
                <a:latin typeface="微软雅黑" panose="020B0503020204020204" pitchFamily="34" charset="-122"/>
                <a:ea typeface="微软雅黑" panose="020B0503020204020204" pitchFamily="34" charset="-122"/>
                <a:cs typeface="+mn-cs"/>
              </a:rPr>
              <a:t>联赛分初赛和复赛两个阶段。初赛考察计算机科学基础知识，以笔试形式（做试卷）进行。复赛为编程，须在计算机上编程完成。参加初赛者须达到一定分数线后才有资格参加复赛。联赛分普及组和提高组两个组别，难度不同，分别面向初中和高中阶段的学生，也就是一般初中生参加普及组，高中生参加提高组。有些省市小学生也可以向特派员报名参赛。</a:t>
            </a:r>
          </a:p>
          <a:p>
            <a:endParaRPr lang="zh-CN" altLang="en-US" dirty="0"/>
          </a:p>
        </p:txBody>
      </p:sp>
      <p:sp>
        <p:nvSpPr>
          <p:cNvPr id="4" name="灯片编号占位符 3"/>
          <p:cNvSpPr>
            <a:spLocks noGrp="1"/>
          </p:cNvSpPr>
          <p:nvPr>
            <p:ph type="sldNum" sz="quarter" idx="10"/>
          </p:nvPr>
        </p:nvSpPr>
        <p:spPr/>
        <p:txBody>
          <a:bodyPr/>
          <a:lstStyle/>
          <a:p>
            <a:fld id="{4E38F04A-84B0-4E5D-A1A7-EE43D6EF2A66}" type="slidenum">
              <a:rPr lang="zh-CN" altLang="en-US" smtClean="0"/>
              <a:t>4</a:t>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1218565" rtl="0" eaLnBrk="1" fontAlgn="auto" latinLnBrk="0" hangingPunct="1">
              <a:lnSpc>
                <a:spcPct val="100000"/>
              </a:lnSpc>
              <a:spcBef>
                <a:spcPts val="0"/>
              </a:spcBef>
              <a:spcAft>
                <a:spcPts val="0"/>
              </a:spcAft>
              <a:buClrTx/>
              <a:buSzTx/>
              <a:buFont typeface="Arial" panose="020B0604020202020204" pitchFamily="34" charset="0"/>
              <a:buNone/>
              <a:defRPr/>
            </a:pPr>
            <a:r>
              <a:rPr lang="zh-CN" altLang="en-US" sz="1800" b="1" kern="1200" baseline="0" dirty="0">
                <a:solidFill>
                  <a:schemeClr val="accent3">
                    <a:lumMod val="75000"/>
                  </a:schemeClr>
                </a:solidFill>
                <a:latin typeface="微软雅黑" panose="020B0503020204020204" pitchFamily="34" charset="-122"/>
                <a:ea typeface="微软雅黑" panose="020B0503020204020204" pitchFamily="34" charset="-122"/>
                <a:cs typeface="+mn-cs"/>
              </a:rPr>
              <a:t>全国青少年信息学奥林匹克（</a:t>
            </a:r>
            <a:r>
              <a:rPr lang="en-US" altLang="zh-CN" sz="1800" b="1" kern="1200" baseline="0" dirty="0">
                <a:solidFill>
                  <a:schemeClr val="accent3">
                    <a:lumMod val="75000"/>
                  </a:schemeClr>
                </a:solidFill>
                <a:latin typeface="微软雅黑" panose="020B0503020204020204" pitchFamily="34" charset="-122"/>
                <a:ea typeface="微软雅黑" panose="020B0503020204020204" pitchFamily="34" charset="-122"/>
                <a:cs typeface="+mn-cs"/>
              </a:rPr>
              <a:t>NOI</a:t>
            </a:r>
            <a:r>
              <a:rPr lang="zh-CN" altLang="en-US" sz="1800" b="1" kern="1200" baseline="0" dirty="0">
                <a:solidFill>
                  <a:schemeClr val="accent3">
                    <a:lumMod val="75000"/>
                  </a:schemeClr>
                </a:solidFill>
                <a:latin typeface="微软雅黑" panose="020B0503020204020204" pitchFamily="34" charset="-122"/>
                <a:ea typeface="微软雅黑" panose="020B0503020204020204" pitchFamily="34" charset="-122"/>
                <a:cs typeface="+mn-cs"/>
              </a:rPr>
              <a:t>）是国内包括港澳在内的省级代表队最高水平的大赛，自</a:t>
            </a:r>
            <a:r>
              <a:rPr lang="en-US" altLang="zh-CN" sz="1800" b="1" kern="1200" baseline="0" dirty="0">
                <a:solidFill>
                  <a:schemeClr val="accent3">
                    <a:lumMod val="75000"/>
                  </a:schemeClr>
                </a:solidFill>
                <a:latin typeface="微软雅黑" panose="020B0503020204020204" pitchFamily="34" charset="-122"/>
                <a:ea typeface="微软雅黑" panose="020B0503020204020204" pitchFamily="34" charset="-122"/>
                <a:cs typeface="+mn-cs"/>
              </a:rPr>
              <a:t>1984</a:t>
            </a:r>
            <a:r>
              <a:rPr lang="zh-CN" altLang="en-US" sz="1800" b="1" kern="1200" baseline="0" dirty="0">
                <a:solidFill>
                  <a:schemeClr val="accent3">
                    <a:lumMod val="75000"/>
                  </a:schemeClr>
                </a:solidFill>
                <a:latin typeface="微软雅黑" panose="020B0503020204020204" pitchFamily="34" charset="-122"/>
                <a:ea typeface="微软雅黑" panose="020B0503020204020204" pitchFamily="34" charset="-122"/>
                <a:cs typeface="+mn-cs"/>
              </a:rPr>
              <a:t>年至今，在国内包括香港、澳门组织竞赛活动。每年经各省选拔产生</a:t>
            </a:r>
            <a:r>
              <a:rPr lang="en-US" altLang="zh-CN" sz="1800" b="1" kern="1200" baseline="0" dirty="0">
                <a:solidFill>
                  <a:schemeClr val="accent3">
                    <a:lumMod val="75000"/>
                  </a:schemeClr>
                </a:solidFill>
                <a:latin typeface="微软雅黑" panose="020B0503020204020204" pitchFamily="34" charset="-122"/>
                <a:ea typeface="微软雅黑" panose="020B0503020204020204" pitchFamily="34" charset="-122"/>
                <a:cs typeface="+mn-cs"/>
              </a:rPr>
              <a:t>5</a:t>
            </a:r>
            <a:r>
              <a:rPr lang="zh-CN" altLang="en-US" sz="1800" b="1" kern="1200" baseline="0" dirty="0">
                <a:solidFill>
                  <a:schemeClr val="accent3">
                    <a:lumMod val="75000"/>
                  </a:schemeClr>
                </a:solidFill>
                <a:latin typeface="微软雅黑" panose="020B0503020204020204" pitchFamily="34" charset="-122"/>
                <a:ea typeface="微软雅黑" panose="020B0503020204020204" pitchFamily="34" charset="-122"/>
                <a:cs typeface="+mn-cs"/>
              </a:rPr>
              <a:t>名选手（其中一名是女选手），由中国计算机学会在计算机普及较好的城市组织进行比赛。这一竞赛记个人成绩，同时记团体总分。</a:t>
            </a:r>
            <a:endParaRPr lang="en-US" altLang="zh-CN" sz="1800" b="1" kern="1200" baseline="0" dirty="0">
              <a:solidFill>
                <a:schemeClr val="accent3">
                  <a:lumMod val="75000"/>
                </a:schemeClr>
              </a:solidFill>
              <a:latin typeface="微软雅黑" panose="020B0503020204020204" pitchFamily="34" charset="-122"/>
              <a:ea typeface="微软雅黑" panose="020B0503020204020204" pitchFamily="34" charset="-122"/>
              <a:cs typeface="+mn-cs"/>
            </a:endParaRPr>
          </a:p>
          <a:p>
            <a:pPr defTabSz="914400">
              <a:spcBef>
                <a:spcPct val="0"/>
              </a:spcBef>
            </a:pPr>
            <a:r>
              <a:rPr lang="en-US" altLang="zh-CN" sz="2000" b="1" kern="1200" baseline="0" dirty="0">
                <a:solidFill>
                  <a:schemeClr val="accent3">
                    <a:lumMod val="75000"/>
                  </a:schemeClr>
                </a:solidFill>
                <a:latin typeface="微软雅黑" panose="020B0503020204020204" pitchFamily="34" charset="-122"/>
                <a:ea typeface="微软雅黑" panose="020B0503020204020204" pitchFamily="34" charset="-122"/>
                <a:cs typeface="+mn-cs"/>
              </a:rPr>
              <a:t>NOIP</a:t>
            </a:r>
            <a:r>
              <a:rPr lang="zh-CN" altLang="en-US" sz="2000" b="1" kern="1200" baseline="0" dirty="0">
                <a:solidFill>
                  <a:schemeClr val="accent3">
                    <a:lumMod val="75000"/>
                  </a:schemeClr>
                </a:solidFill>
                <a:latin typeface="微软雅黑" panose="020B0503020204020204" pitchFamily="34" charset="-122"/>
                <a:ea typeface="微软雅黑" panose="020B0503020204020204" pitchFamily="34" charset="-122"/>
                <a:cs typeface="+mn-cs"/>
              </a:rPr>
              <a:t>是全国青少年信息学奥林匹克联赛。每年由中国计算机学会统一组织比赛。</a:t>
            </a:r>
            <a:endParaRPr lang="en-US" altLang="zh-CN" sz="2000" b="1" kern="1200" baseline="0" dirty="0">
              <a:solidFill>
                <a:schemeClr val="accent3">
                  <a:lumMod val="75000"/>
                </a:schemeClr>
              </a:solidFill>
              <a:latin typeface="微软雅黑" panose="020B0503020204020204" pitchFamily="34" charset="-122"/>
              <a:ea typeface="微软雅黑" panose="020B0503020204020204" pitchFamily="34" charset="-122"/>
              <a:cs typeface="+mn-cs"/>
            </a:endParaRPr>
          </a:p>
          <a:p>
            <a:pPr defTabSz="914400">
              <a:spcBef>
                <a:spcPct val="0"/>
              </a:spcBef>
            </a:pPr>
            <a:endParaRPr lang="en-US" altLang="zh-CN" sz="2000" b="1" kern="1200" baseline="0" dirty="0">
              <a:solidFill>
                <a:schemeClr val="accent3">
                  <a:lumMod val="75000"/>
                </a:schemeClr>
              </a:solidFill>
              <a:latin typeface="微软雅黑" panose="020B0503020204020204" pitchFamily="34" charset="-122"/>
              <a:ea typeface="微软雅黑" panose="020B0503020204020204" pitchFamily="34" charset="-122"/>
              <a:cs typeface="+mn-cs"/>
            </a:endParaRPr>
          </a:p>
          <a:p>
            <a:pPr defTabSz="914400">
              <a:spcBef>
                <a:spcPct val="0"/>
              </a:spcBef>
            </a:pPr>
            <a:r>
              <a:rPr lang="en-US" altLang="zh-CN" sz="2000" b="1" kern="1200" baseline="0" dirty="0">
                <a:solidFill>
                  <a:schemeClr val="accent3">
                    <a:lumMod val="75000"/>
                  </a:schemeClr>
                </a:solidFill>
                <a:latin typeface="微软雅黑" panose="020B0503020204020204" pitchFamily="34" charset="-122"/>
                <a:ea typeface="微软雅黑" panose="020B0503020204020204" pitchFamily="34" charset="-122"/>
                <a:cs typeface="+mn-cs"/>
              </a:rPr>
              <a:t>NOIP</a:t>
            </a:r>
            <a:r>
              <a:rPr lang="zh-CN" altLang="en-US" sz="2000" b="1" kern="1200" baseline="0" dirty="0">
                <a:solidFill>
                  <a:schemeClr val="accent3">
                    <a:lumMod val="75000"/>
                  </a:schemeClr>
                </a:solidFill>
                <a:latin typeface="微软雅黑" panose="020B0503020204020204" pitchFamily="34" charset="-122"/>
                <a:ea typeface="微软雅黑" panose="020B0503020204020204" pitchFamily="34" charset="-122"/>
                <a:cs typeface="+mn-cs"/>
              </a:rPr>
              <a:t>。全国统一大纲、统一试卷。初、高中或其他中等专业学校的学生可报名参加联赛。</a:t>
            </a:r>
            <a:endParaRPr lang="en-US" altLang="zh-CN" sz="2000" b="1" kern="1200" baseline="0" dirty="0">
              <a:solidFill>
                <a:schemeClr val="accent3">
                  <a:lumMod val="75000"/>
                </a:schemeClr>
              </a:solidFill>
              <a:latin typeface="微软雅黑" panose="020B0503020204020204" pitchFamily="34" charset="-122"/>
              <a:ea typeface="微软雅黑" panose="020B0503020204020204" pitchFamily="34" charset="-122"/>
              <a:cs typeface="+mn-cs"/>
            </a:endParaRPr>
          </a:p>
          <a:p>
            <a:pPr defTabSz="914400">
              <a:spcBef>
                <a:spcPct val="0"/>
              </a:spcBef>
            </a:pPr>
            <a:endParaRPr lang="en-US" altLang="zh-CN" sz="2000" b="1" kern="1200" baseline="0" dirty="0">
              <a:solidFill>
                <a:schemeClr val="accent3">
                  <a:lumMod val="75000"/>
                </a:schemeClr>
              </a:solidFill>
              <a:latin typeface="微软雅黑" panose="020B0503020204020204" pitchFamily="34" charset="-122"/>
              <a:ea typeface="微软雅黑" panose="020B0503020204020204" pitchFamily="34" charset="-122"/>
              <a:cs typeface="+mn-cs"/>
            </a:endParaRPr>
          </a:p>
          <a:p>
            <a:pPr defTabSz="914400">
              <a:spcBef>
                <a:spcPct val="0"/>
              </a:spcBef>
            </a:pPr>
            <a:r>
              <a:rPr lang="zh-CN" altLang="en-US" sz="2000" b="1" kern="1200" baseline="0" dirty="0">
                <a:solidFill>
                  <a:schemeClr val="accent3">
                    <a:lumMod val="75000"/>
                  </a:schemeClr>
                </a:solidFill>
                <a:latin typeface="微软雅黑" panose="020B0503020204020204" pitchFamily="34" charset="-122"/>
                <a:ea typeface="微软雅黑" panose="020B0503020204020204" pitchFamily="34" charset="-122"/>
                <a:cs typeface="+mn-cs"/>
              </a:rPr>
              <a:t>联赛分初赛和复赛两个阶段。初赛考察计算机科学基础知识，以笔试形式（做试卷）进行。复赛为编程，须在计算机上编程完成。参加初赛者须达到一定分数线后才有资格参加复赛。联赛分普及组和提高组两个组别，难度不同，分别面向初中和高中阶段的学生，也就是一般初中生参加普及组，高中生参加提高组。有些省市小学生也可以向特派员报名参赛。</a:t>
            </a:r>
          </a:p>
          <a:p>
            <a:endParaRPr lang="zh-CN" altLang="en-US" dirty="0"/>
          </a:p>
        </p:txBody>
      </p:sp>
      <p:sp>
        <p:nvSpPr>
          <p:cNvPr id="4" name="灯片编号占位符 3"/>
          <p:cNvSpPr>
            <a:spLocks noGrp="1"/>
          </p:cNvSpPr>
          <p:nvPr>
            <p:ph type="sldNum" sz="quarter" idx="10"/>
          </p:nvPr>
        </p:nvSpPr>
        <p:spPr/>
        <p:txBody>
          <a:bodyPr/>
          <a:lstStyle/>
          <a:p>
            <a:fld id="{4E38F04A-84B0-4E5D-A1A7-EE43D6EF2A66}" type="slidenum">
              <a:rPr lang="zh-CN" altLang="en-US" smtClean="0"/>
              <a:t>5</a:t>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1218565" rtl="0" eaLnBrk="1" fontAlgn="auto" latinLnBrk="0" hangingPunct="1">
              <a:lnSpc>
                <a:spcPct val="100000"/>
              </a:lnSpc>
              <a:spcBef>
                <a:spcPts val="0"/>
              </a:spcBef>
              <a:spcAft>
                <a:spcPts val="0"/>
              </a:spcAft>
              <a:buClrTx/>
              <a:buSzTx/>
              <a:buFont typeface="Arial" panose="020B0604020202020204" pitchFamily="34" charset="0"/>
              <a:buNone/>
              <a:defRPr/>
            </a:pPr>
            <a:r>
              <a:rPr lang="zh-CN" altLang="en-US" sz="1800" b="1" kern="1200" baseline="0" dirty="0">
                <a:solidFill>
                  <a:schemeClr val="accent3">
                    <a:lumMod val="75000"/>
                  </a:schemeClr>
                </a:solidFill>
                <a:latin typeface="微软雅黑" panose="020B0503020204020204" pitchFamily="34" charset="-122"/>
                <a:ea typeface="微软雅黑" panose="020B0503020204020204" pitchFamily="34" charset="-122"/>
                <a:cs typeface="+mn-cs"/>
              </a:rPr>
              <a:t>全国青少年信息学奥林匹克（</a:t>
            </a:r>
            <a:r>
              <a:rPr lang="en-US" altLang="zh-CN" sz="1800" b="1" kern="1200" baseline="0" dirty="0">
                <a:solidFill>
                  <a:schemeClr val="accent3">
                    <a:lumMod val="75000"/>
                  </a:schemeClr>
                </a:solidFill>
                <a:latin typeface="微软雅黑" panose="020B0503020204020204" pitchFamily="34" charset="-122"/>
                <a:ea typeface="微软雅黑" panose="020B0503020204020204" pitchFamily="34" charset="-122"/>
                <a:cs typeface="+mn-cs"/>
              </a:rPr>
              <a:t>NOI</a:t>
            </a:r>
            <a:r>
              <a:rPr lang="zh-CN" altLang="en-US" sz="1800" b="1" kern="1200" baseline="0" dirty="0">
                <a:solidFill>
                  <a:schemeClr val="accent3">
                    <a:lumMod val="75000"/>
                  </a:schemeClr>
                </a:solidFill>
                <a:latin typeface="微软雅黑" panose="020B0503020204020204" pitchFamily="34" charset="-122"/>
                <a:ea typeface="微软雅黑" panose="020B0503020204020204" pitchFamily="34" charset="-122"/>
                <a:cs typeface="+mn-cs"/>
              </a:rPr>
              <a:t>）是国内包括港澳在内的省级代表队最高水平的大赛，自</a:t>
            </a:r>
            <a:r>
              <a:rPr lang="en-US" altLang="zh-CN" sz="1800" b="1" kern="1200" baseline="0" dirty="0">
                <a:solidFill>
                  <a:schemeClr val="accent3">
                    <a:lumMod val="75000"/>
                  </a:schemeClr>
                </a:solidFill>
                <a:latin typeface="微软雅黑" panose="020B0503020204020204" pitchFamily="34" charset="-122"/>
                <a:ea typeface="微软雅黑" panose="020B0503020204020204" pitchFamily="34" charset="-122"/>
                <a:cs typeface="+mn-cs"/>
              </a:rPr>
              <a:t>1984</a:t>
            </a:r>
            <a:r>
              <a:rPr lang="zh-CN" altLang="en-US" sz="1800" b="1" kern="1200" baseline="0" dirty="0">
                <a:solidFill>
                  <a:schemeClr val="accent3">
                    <a:lumMod val="75000"/>
                  </a:schemeClr>
                </a:solidFill>
                <a:latin typeface="微软雅黑" panose="020B0503020204020204" pitchFamily="34" charset="-122"/>
                <a:ea typeface="微软雅黑" panose="020B0503020204020204" pitchFamily="34" charset="-122"/>
                <a:cs typeface="+mn-cs"/>
              </a:rPr>
              <a:t>年至今，在国内包括香港、澳门组织竞赛活动。每年经各省选拔产生</a:t>
            </a:r>
            <a:r>
              <a:rPr lang="en-US" altLang="zh-CN" sz="1800" b="1" kern="1200" baseline="0" dirty="0">
                <a:solidFill>
                  <a:schemeClr val="accent3">
                    <a:lumMod val="75000"/>
                  </a:schemeClr>
                </a:solidFill>
                <a:latin typeface="微软雅黑" panose="020B0503020204020204" pitchFamily="34" charset="-122"/>
                <a:ea typeface="微软雅黑" panose="020B0503020204020204" pitchFamily="34" charset="-122"/>
                <a:cs typeface="+mn-cs"/>
              </a:rPr>
              <a:t>5</a:t>
            </a:r>
            <a:r>
              <a:rPr lang="zh-CN" altLang="en-US" sz="1800" b="1" kern="1200" baseline="0" dirty="0">
                <a:solidFill>
                  <a:schemeClr val="accent3">
                    <a:lumMod val="75000"/>
                  </a:schemeClr>
                </a:solidFill>
                <a:latin typeface="微软雅黑" panose="020B0503020204020204" pitchFamily="34" charset="-122"/>
                <a:ea typeface="微软雅黑" panose="020B0503020204020204" pitchFamily="34" charset="-122"/>
                <a:cs typeface="+mn-cs"/>
              </a:rPr>
              <a:t>名选手（其中一名是女选手），由中国计算机学会在计算机普及较好的城市组织进行比赛。这一竞赛记个人成绩，同时记团体总分。</a:t>
            </a:r>
            <a:endParaRPr lang="en-US" altLang="zh-CN" sz="1800" b="1" kern="1200" baseline="0" dirty="0">
              <a:solidFill>
                <a:schemeClr val="accent3">
                  <a:lumMod val="75000"/>
                </a:schemeClr>
              </a:solidFill>
              <a:latin typeface="微软雅黑" panose="020B0503020204020204" pitchFamily="34" charset="-122"/>
              <a:ea typeface="微软雅黑" panose="020B0503020204020204" pitchFamily="34" charset="-122"/>
              <a:cs typeface="+mn-cs"/>
            </a:endParaRPr>
          </a:p>
          <a:p>
            <a:pPr defTabSz="914400">
              <a:spcBef>
                <a:spcPct val="0"/>
              </a:spcBef>
            </a:pPr>
            <a:r>
              <a:rPr lang="en-US" altLang="zh-CN" sz="2000" b="1" kern="1200" baseline="0" dirty="0">
                <a:solidFill>
                  <a:schemeClr val="accent3">
                    <a:lumMod val="75000"/>
                  </a:schemeClr>
                </a:solidFill>
                <a:latin typeface="微软雅黑" panose="020B0503020204020204" pitchFamily="34" charset="-122"/>
                <a:ea typeface="微软雅黑" panose="020B0503020204020204" pitchFamily="34" charset="-122"/>
                <a:cs typeface="+mn-cs"/>
              </a:rPr>
              <a:t>NOIP</a:t>
            </a:r>
            <a:r>
              <a:rPr lang="zh-CN" altLang="en-US" sz="2000" b="1" kern="1200" baseline="0" dirty="0">
                <a:solidFill>
                  <a:schemeClr val="accent3">
                    <a:lumMod val="75000"/>
                  </a:schemeClr>
                </a:solidFill>
                <a:latin typeface="微软雅黑" panose="020B0503020204020204" pitchFamily="34" charset="-122"/>
                <a:ea typeface="微软雅黑" panose="020B0503020204020204" pitchFamily="34" charset="-122"/>
                <a:cs typeface="+mn-cs"/>
              </a:rPr>
              <a:t>是全国青少年信息学奥林匹克联赛。每年由中国计算机学会统一组织比赛。</a:t>
            </a:r>
            <a:endParaRPr lang="en-US" altLang="zh-CN" sz="2000" b="1" kern="1200" baseline="0" dirty="0">
              <a:solidFill>
                <a:schemeClr val="accent3">
                  <a:lumMod val="75000"/>
                </a:schemeClr>
              </a:solidFill>
              <a:latin typeface="微软雅黑" panose="020B0503020204020204" pitchFamily="34" charset="-122"/>
              <a:ea typeface="微软雅黑" panose="020B0503020204020204" pitchFamily="34" charset="-122"/>
              <a:cs typeface="+mn-cs"/>
            </a:endParaRPr>
          </a:p>
          <a:p>
            <a:pPr defTabSz="914400">
              <a:spcBef>
                <a:spcPct val="0"/>
              </a:spcBef>
            </a:pPr>
            <a:endParaRPr lang="en-US" altLang="zh-CN" sz="2000" b="1" kern="1200" baseline="0" dirty="0">
              <a:solidFill>
                <a:schemeClr val="accent3">
                  <a:lumMod val="75000"/>
                </a:schemeClr>
              </a:solidFill>
              <a:latin typeface="微软雅黑" panose="020B0503020204020204" pitchFamily="34" charset="-122"/>
              <a:ea typeface="微软雅黑" panose="020B0503020204020204" pitchFamily="34" charset="-122"/>
              <a:cs typeface="+mn-cs"/>
            </a:endParaRPr>
          </a:p>
          <a:p>
            <a:pPr defTabSz="914400">
              <a:spcBef>
                <a:spcPct val="0"/>
              </a:spcBef>
            </a:pPr>
            <a:r>
              <a:rPr lang="en-US" altLang="zh-CN" sz="2000" b="1" kern="1200" baseline="0" dirty="0">
                <a:solidFill>
                  <a:schemeClr val="accent3">
                    <a:lumMod val="75000"/>
                  </a:schemeClr>
                </a:solidFill>
                <a:latin typeface="微软雅黑" panose="020B0503020204020204" pitchFamily="34" charset="-122"/>
                <a:ea typeface="微软雅黑" panose="020B0503020204020204" pitchFamily="34" charset="-122"/>
                <a:cs typeface="+mn-cs"/>
              </a:rPr>
              <a:t>NOIP</a:t>
            </a:r>
            <a:r>
              <a:rPr lang="zh-CN" altLang="en-US" sz="2000" b="1" kern="1200" baseline="0" dirty="0">
                <a:solidFill>
                  <a:schemeClr val="accent3">
                    <a:lumMod val="75000"/>
                  </a:schemeClr>
                </a:solidFill>
                <a:latin typeface="微软雅黑" panose="020B0503020204020204" pitchFamily="34" charset="-122"/>
                <a:ea typeface="微软雅黑" panose="020B0503020204020204" pitchFamily="34" charset="-122"/>
                <a:cs typeface="+mn-cs"/>
              </a:rPr>
              <a:t>。全国统一大纲、统一试卷。初、高中或其他中等专业学校的学生可报名参加联赛。</a:t>
            </a:r>
            <a:endParaRPr lang="en-US" altLang="zh-CN" sz="2000" b="1" kern="1200" baseline="0" dirty="0">
              <a:solidFill>
                <a:schemeClr val="accent3">
                  <a:lumMod val="75000"/>
                </a:schemeClr>
              </a:solidFill>
              <a:latin typeface="微软雅黑" panose="020B0503020204020204" pitchFamily="34" charset="-122"/>
              <a:ea typeface="微软雅黑" panose="020B0503020204020204" pitchFamily="34" charset="-122"/>
              <a:cs typeface="+mn-cs"/>
            </a:endParaRPr>
          </a:p>
          <a:p>
            <a:pPr defTabSz="914400">
              <a:spcBef>
                <a:spcPct val="0"/>
              </a:spcBef>
            </a:pPr>
            <a:endParaRPr lang="en-US" altLang="zh-CN" sz="2000" b="1" kern="1200" baseline="0" dirty="0">
              <a:solidFill>
                <a:schemeClr val="accent3">
                  <a:lumMod val="75000"/>
                </a:schemeClr>
              </a:solidFill>
              <a:latin typeface="微软雅黑" panose="020B0503020204020204" pitchFamily="34" charset="-122"/>
              <a:ea typeface="微软雅黑" panose="020B0503020204020204" pitchFamily="34" charset="-122"/>
              <a:cs typeface="+mn-cs"/>
            </a:endParaRPr>
          </a:p>
          <a:p>
            <a:pPr defTabSz="914400">
              <a:spcBef>
                <a:spcPct val="0"/>
              </a:spcBef>
            </a:pPr>
            <a:r>
              <a:rPr lang="zh-CN" altLang="en-US" sz="2000" b="1" kern="1200" baseline="0" dirty="0">
                <a:solidFill>
                  <a:schemeClr val="accent3">
                    <a:lumMod val="75000"/>
                  </a:schemeClr>
                </a:solidFill>
                <a:latin typeface="微软雅黑" panose="020B0503020204020204" pitchFamily="34" charset="-122"/>
                <a:ea typeface="微软雅黑" panose="020B0503020204020204" pitchFamily="34" charset="-122"/>
                <a:cs typeface="+mn-cs"/>
              </a:rPr>
              <a:t>联赛分初赛和复赛两个阶段。初赛考察计算机科学基础知识，以笔试形式（做试卷）进行。复赛为编程，须在计算机上编程完成。参加初赛者须达到一定分数线后才有资格参加复赛。联赛分普及组和提高组两个组别，难度不同，分别面向初中和高中阶段的学生，也就是一般初中生参加普及组，高中生参加提高组。有些省市小学生也可以向特派员报名参赛。</a:t>
            </a:r>
          </a:p>
          <a:p>
            <a:endParaRPr lang="zh-CN" altLang="en-US" dirty="0"/>
          </a:p>
        </p:txBody>
      </p:sp>
      <p:sp>
        <p:nvSpPr>
          <p:cNvPr id="4" name="灯片编号占位符 3"/>
          <p:cNvSpPr>
            <a:spLocks noGrp="1"/>
          </p:cNvSpPr>
          <p:nvPr>
            <p:ph type="sldNum" sz="quarter" idx="10"/>
          </p:nvPr>
        </p:nvSpPr>
        <p:spPr/>
        <p:txBody>
          <a:bodyPr/>
          <a:lstStyle/>
          <a:p>
            <a:fld id="{4E38F04A-84B0-4E5D-A1A7-EE43D6EF2A66}" type="slidenum">
              <a:rPr lang="zh-CN" altLang="en-US" smtClean="0"/>
              <a:t>6</a:t>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1218565" rtl="0" eaLnBrk="1" fontAlgn="auto" latinLnBrk="0" hangingPunct="1">
              <a:lnSpc>
                <a:spcPct val="100000"/>
              </a:lnSpc>
              <a:spcBef>
                <a:spcPts val="0"/>
              </a:spcBef>
              <a:spcAft>
                <a:spcPts val="0"/>
              </a:spcAft>
              <a:buClrTx/>
              <a:buSzTx/>
              <a:buFont typeface="Arial" panose="020B0604020202020204" pitchFamily="34" charset="0"/>
              <a:buNone/>
              <a:defRPr/>
            </a:pPr>
            <a:r>
              <a:rPr lang="zh-CN" altLang="en-US" sz="1800" b="1" kern="1200" baseline="0" dirty="0">
                <a:solidFill>
                  <a:schemeClr val="accent3">
                    <a:lumMod val="75000"/>
                  </a:schemeClr>
                </a:solidFill>
                <a:latin typeface="微软雅黑" panose="020B0503020204020204" pitchFamily="34" charset="-122"/>
                <a:ea typeface="微软雅黑" panose="020B0503020204020204" pitchFamily="34" charset="-122"/>
                <a:cs typeface="+mn-cs"/>
              </a:rPr>
              <a:t>全国青少年信息学奥林匹克（</a:t>
            </a:r>
            <a:r>
              <a:rPr lang="en-US" altLang="zh-CN" sz="1800" b="1" kern="1200" baseline="0" dirty="0">
                <a:solidFill>
                  <a:schemeClr val="accent3">
                    <a:lumMod val="75000"/>
                  </a:schemeClr>
                </a:solidFill>
                <a:latin typeface="微软雅黑" panose="020B0503020204020204" pitchFamily="34" charset="-122"/>
                <a:ea typeface="微软雅黑" panose="020B0503020204020204" pitchFamily="34" charset="-122"/>
                <a:cs typeface="+mn-cs"/>
              </a:rPr>
              <a:t>NOI</a:t>
            </a:r>
            <a:r>
              <a:rPr lang="zh-CN" altLang="en-US" sz="1800" b="1" kern="1200" baseline="0" dirty="0">
                <a:solidFill>
                  <a:schemeClr val="accent3">
                    <a:lumMod val="75000"/>
                  </a:schemeClr>
                </a:solidFill>
                <a:latin typeface="微软雅黑" panose="020B0503020204020204" pitchFamily="34" charset="-122"/>
                <a:ea typeface="微软雅黑" panose="020B0503020204020204" pitchFamily="34" charset="-122"/>
                <a:cs typeface="+mn-cs"/>
              </a:rPr>
              <a:t>）是国内包括港澳在内的省级代表队最高水平的大赛，自</a:t>
            </a:r>
            <a:r>
              <a:rPr lang="en-US" altLang="zh-CN" sz="1800" b="1" kern="1200" baseline="0" dirty="0">
                <a:solidFill>
                  <a:schemeClr val="accent3">
                    <a:lumMod val="75000"/>
                  </a:schemeClr>
                </a:solidFill>
                <a:latin typeface="微软雅黑" panose="020B0503020204020204" pitchFamily="34" charset="-122"/>
                <a:ea typeface="微软雅黑" panose="020B0503020204020204" pitchFamily="34" charset="-122"/>
                <a:cs typeface="+mn-cs"/>
              </a:rPr>
              <a:t>1984</a:t>
            </a:r>
            <a:r>
              <a:rPr lang="zh-CN" altLang="en-US" sz="1800" b="1" kern="1200" baseline="0" dirty="0">
                <a:solidFill>
                  <a:schemeClr val="accent3">
                    <a:lumMod val="75000"/>
                  </a:schemeClr>
                </a:solidFill>
                <a:latin typeface="微软雅黑" panose="020B0503020204020204" pitchFamily="34" charset="-122"/>
                <a:ea typeface="微软雅黑" panose="020B0503020204020204" pitchFamily="34" charset="-122"/>
                <a:cs typeface="+mn-cs"/>
              </a:rPr>
              <a:t>年至今，在国内包括香港、澳门组织竞赛活动。每年经各省选拔产生</a:t>
            </a:r>
            <a:r>
              <a:rPr lang="en-US" altLang="zh-CN" sz="1800" b="1" kern="1200" baseline="0" dirty="0">
                <a:solidFill>
                  <a:schemeClr val="accent3">
                    <a:lumMod val="75000"/>
                  </a:schemeClr>
                </a:solidFill>
                <a:latin typeface="微软雅黑" panose="020B0503020204020204" pitchFamily="34" charset="-122"/>
                <a:ea typeface="微软雅黑" panose="020B0503020204020204" pitchFamily="34" charset="-122"/>
                <a:cs typeface="+mn-cs"/>
              </a:rPr>
              <a:t>5</a:t>
            </a:r>
            <a:r>
              <a:rPr lang="zh-CN" altLang="en-US" sz="1800" b="1" kern="1200" baseline="0" dirty="0">
                <a:solidFill>
                  <a:schemeClr val="accent3">
                    <a:lumMod val="75000"/>
                  </a:schemeClr>
                </a:solidFill>
                <a:latin typeface="微软雅黑" panose="020B0503020204020204" pitchFamily="34" charset="-122"/>
                <a:ea typeface="微软雅黑" panose="020B0503020204020204" pitchFamily="34" charset="-122"/>
                <a:cs typeface="+mn-cs"/>
              </a:rPr>
              <a:t>名选手（其中一名是女选手），由中国计算机学会在计算机普及较好的城市组织进行比赛。这一竞赛记个人成绩，同时记团体总分。</a:t>
            </a:r>
            <a:endParaRPr lang="en-US" altLang="zh-CN" sz="1800" b="1" kern="1200" baseline="0" dirty="0">
              <a:solidFill>
                <a:schemeClr val="accent3">
                  <a:lumMod val="75000"/>
                </a:schemeClr>
              </a:solidFill>
              <a:latin typeface="微软雅黑" panose="020B0503020204020204" pitchFamily="34" charset="-122"/>
              <a:ea typeface="微软雅黑" panose="020B0503020204020204" pitchFamily="34" charset="-122"/>
              <a:cs typeface="+mn-cs"/>
            </a:endParaRPr>
          </a:p>
          <a:p>
            <a:pPr defTabSz="914400">
              <a:spcBef>
                <a:spcPct val="0"/>
              </a:spcBef>
            </a:pPr>
            <a:r>
              <a:rPr lang="en-US" altLang="zh-CN" sz="2000" b="1" kern="1200" baseline="0" dirty="0">
                <a:solidFill>
                  <a:schemeClr val="accent3">
                    <a:lumMod val="75000"/>
                  </a:schemeClr>
                </a:solidFill>
                <a:latin typeface="微软雅黑" panose="020B0503020204020204" pitchFamily="34" charset="-122"/>
                <a:ea typeface="微软雅黑" panose="020B0503020204020204" pitchFamily="34" charset="-122"/>
                <a:cs typeface="+mn-cs"/>
              </a:rPr>
              <a:t>NOIP</a:t>
            </a:r>
            <a:r>
              <a:rPr lang="zh-CN" altLang="en-US" sz="2000" b="1" kern="1200" baseline="0" dirty="0">
                <a:solidFill>
                  <a:schemeClr val="accent3">
                    <a:lumMod val="75000"/>
                  </a:schemeClr>
                </a:solidFill>
                <a:latin typeface="微软雅黑" panose="020B0503020204020204" pitchFamily="34" charset="-122"/>
                <a:ea typeface="微软雅黑" panose="020B0503020204020204" pitchFamily="34" charset="-122"/>
                <a:cs typeface="+mn-cs"/>
              </a:rPr>
              <a:t>是全国青少年信息学奥林匹克联赛。每年由中国计算机学会统一组织比赛。</a:t>
            </a:r>
            <a:endParaRPr lang="en-US" altLang="zh-CN" sz="2000" b="1" kern="1200" baseline="0" dirty="0">
              <a:solidFill>
                <a:schemeClr val="accent3">
                  <a:lumMod val="75000"/>
                </a:schemeClr>
              </a:solidFill>
              <a:latin typeface="微软雅黑" panose="020B0503020204020204" pitchFamily="34" charset="-122"/>
              <a:ea typeface="微软雅黑" panose="020B0503020204020204" pitchFamily="34" charset="-122"/>
              <a:cs typeface="+mn-cs"/>
            </a:endParaRPr>
          </a:p>
          <a:p>
            <a:pPr defTabSz="914400">
              <a:spcBef>
                <a:spcPct val="0"/>
              </a:spcBef>
            </a:pPr>
            <a:endParaRPr lang="en-US" altLang="zh-CN" sz="2000" b="1" kern="1200" baseline="0" dirty="0">
              <a:solidFill>
                <a:schemeClr val="accent3">
                  <a:lumMod val="75000"/>
                </a:schemeClr>
              </a:solidFill>
              <a:latin typeface="微软雅黑" panose="020B0503020204020204" pitchFamily="34" charset="-122"/>
              <a:ea typeface="微软雅黑" panose="020B0503020204020204" pitchFamily="34" charset="-122"/>
              <a:cs typeface="+mn-cs"/>
            </a:endParaRPr>
          </a:p>
          <a:p>
            <a:pPr defTabSz="914400">
              <a:spcBef>
                <a:spcPct val="0"/>
              </a:spcBef>
            </a:pPr>
            <a:r>
              <a:rPr lang="en-US" altLang="zh-CN" sz="2000" b="1" kern="1200" baseline="0" dirty="0">
                <a:solidFill>
                  <a:schemeClr val="accent3">
                    <a:lumMod val="75000"/>
                  </a:schemeClr>
                </a:solidFill>
                <a:latin typeface="微软雅黑" panose="020B0503020204020204" pitchFamily="34" charset="-122"/>
                <a:ea typeface="微软雅黑" panose="020B0503020204020204" pitchFamily="34" charset="-122"/>
                <a:cs typeface="+mn-cs"/>
              </a:rPr>
              <a:t>NOIP</a:t>
            </a:r>
            <a:r>
              <a:rPr lang="zh-CN" altLang="en-US" sz="2000" b="1" kern="1200" baseline="0" dirty="0">
                <a:solidFill>
                  <a:schemeClr val="accent3">
                    <a:lumMod val="75000"/>
                  </a:schemeClr>
                </a:solidFill>
                <a:latin typeface="微软雅黑" panose="020B0503020204020204" pitchFamily="34" charset="-122"/>
                <a:ea typeface="微软雅黑" panose="020B0503020204020204" pitchFamily="34" charset="-122"/>
                <a:cs typeface="+mn-cs"/>
              </a:rPr>
              <a:t>。全国统一大纲、统一试卷。初、高中或其他中等专业学校的学生可报名参加联赛。</a:t>
            </a:r>
            <a:endParaRPr lang="en-US" altLang="zh-CN" sz="2000" b="1" kern="1200" baseline="0" dirty="0">
              <a:solidFill>
                <a:schemeClr val="accent3">
                  <a:lumMod val="75000"/>
                </a:schemeClr>
              </a:solidFill>
              <a:latin typeface="微软雅黑" panose="020B0503020204020204" pitchFamily="34" charset="-122"/>
              <a:ea typeface="微软雅黑" panose="020B0503020204020204" pitchFamily="34" charset="-122"/>
              <a:cs typeface="+mn-cs"/>
            </a:endParaRPr>
          </a:p>
          <a:p>
            <a:pPr defTabSz="914400">
              <a:spcBef>
                <a:spcPct val="0"/>
              </a:spcBef>
            </a:pPr>
            <a:endParaRPr lang="en-US" altLang="zh-CN" sz="2000" b="1" kern="1200" baseline="0" dirty="0">
              <a:solidFill>
                <a:schemeClr val="accent3">
                  <a:lumMod val="75000"/>
                </a:schemeClr>
              </a:solidFill>
              <a:latin typeface="微软雅黑" panose="020B0503020204020204" pitchFamily="34" charset="-122"/>
              <a:ea typeface="微软雅黑" panose="020B0503020204020204" pitchFamily="34" charset="-122"/>
              <a:cs typeface="+mn-cs"/>
            </a:endParaRPr>
          </a:p>
          <a:p>
            <a:pPr defTabSz="914400">
              <a:spcBef>
                <a:spcPct val="0"/>
              </a:spcBef>
            </a:pPr>
            <a:r>
              <a:rPr lang="zh-CN" altLang="en-US" sz="2000" b="1" kern="1200" baseline="0" dirty="0">
                <a:solidFill>
                  <a:schemeClr val="accent3">
                    <a:lumMod val="75000"/>
                  </a:schemeClr>
                </a:solidFill>
                <a:latin typeface="微软雅黑" panose="020B0503020204020204" pitchFamily="34" charset="-122"/>
                <a:ea typeface="微软雅黑" panose="020B0503020204020204" pitchFamily="34" charset="-122"/>
                <a:cs typeface="+mn-cs"/>
              </a:rPr>
              <a:t>联赛分初赛和复赛两个阶段。初赛考察计算机科学基础知识，以笔试形式（做试卷）进行。复赛为编程，须在计算机上编程完成。参加初赛者须达到一定分数线后才有资格参加复赛。联赛分普及组和提高组两个组别，难度不同，分别面向初中和高中阶段的学生，也就是一般初中生参加普及组，高中生参加提高组。有些省市小学生也可以向特派员报名参赛。</a:t>
            </a:r>
          </a:p>
          <a:p>
            <a:endParaRPr lang="zh-CN" altLang="en-US" dirty="0"/>
          </a:p>
        </p:txBody>
      </p:sp>
      <p:sp>
        <p:nvSpPr>
          <p:cNvPr id="4" name="灯片编号占位符 3"/>
          <p:cNvSpPr>
            <a:spLocks noGrp="1"/>
          </p:cNvSpPr>
          <p:nvPr>
            <p:ph type="sldNum" sz="quarter" idx="10"/>
          </p:nvPr>
        </p:nvSpPr>
        <p:spPr/>
        <p:txBody>
          <a:bodyPr/>
          <a:lstStyle/>
          <a:p>
            <a:fld id="{4E38F04A-84B0-4E5D-A1A7-EE43D6EF2A66}" type="slidenum">
              <a:rPr lang="zh-CN" altLang="en-US" smtClean="0"/>
              <a:t>7</a:t>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1218565" rtl="0" eaLnBrk="1" fontAlgn="auto" latinLnBrk="0" hangingPunct="1">
              <a:lnSpc>
                <a:spcPct val="100000"/>
              </a:lnSpc>
              <a:spcBef>
                <a:spcPts val="0"/>
              </a:spcBef>
              <a:spcAft>
                <a:spcPts val="0"/>
              </a:spcAft>
              <a:buClrTx/>
              <a:buSzTx/>
              <a:buFont typeface="Arial" panose="020B0604020202020204" pitchFamily="34" charset="0"/>
              <a:buNone/>
              <a:defRPr/>
            </a:pPr>
            <a:r>
              <a:rPr lang="zh-CN" altLang="en-US" sz="1800" b="1" kern="1200" baseline="0" dirty="0">
                <a:solidFill>
                  <a:schemeClr val="accent3">
                    <a:lumMod val="75000"/>
                  </a:schemeClr>
                </a:solidFill>
                <a:latin typeface="微软雅黑" panose="020B0503020204020204" pitchFamily="34" charset="-122"/>
                <a:ea typeface="微软雅黑" panose="020B0503020204020204" pitchFamily="34" charset="-122"/>
                <a:cs typeface="+mn-cs"/>
              </a:rPr>
              <a:t>全国青少年信息学奥林匹克（</a:t>
            </a:r>
            <a:r>
              <a:rPr lang="en-US" altLang="zh-CN" sz="1800" b="1" kern="1200" baseline="0" dirty="0">
                <a:solidFill>
                  <a:schemeClr val="accent3">
                    <a:lumMod val="75000"/>
                  </a:schemeClr>
                </a:solidFill>
                <a:latin typeface="微软雅黑" panose="020B0503020204020204" pitchFamily="34" charset="-122"/>
                <a:ea typeface="微软雅黑" panose="020B0503020204020204" pitchFamily="34" charset="-122"/>
                <a:cs typeface="+mn-cs"/>
              </a:rPr>
              <a:t>NOI</a:t>
            </a:r>
            <a:r>
              <a:rPr lang="zh-CN" altLang="en-US" sz="1800" b="1" kern="1200" baseline="0" dirty="0">
                <a:solidFill>
                  <a:schemeClr val="accent3">
                    <a:lumMod val="75000"/>
                  </a:schemeClr>
                </a:solidFill>
                <a:latin typeface="微软雅黑" panose="020B0503020204020204" pitchFamily="34" charset="-122"/>
                <a:ea typeface="微软雅黑" panose="020B0503020204020204" pitchFamily="34" charset="-122"/>
                <a:cs typeface="+mn-cs"/>
              </a:rPr>
              <a:t>）是国内包括港澳在内的省级代表队最高水平的大赛，自</a:t>
            </a:r>
            <a:r>
              <a:rPr lang="en-US" altLang="zh-CN" sz="1800" b="1" kern="1200" baseline="0" dirty="0">
                <a:solidFill>
                  <a:schemeClr val="accent3">
                    <a:lumMod val="75000"/>
                  </a:schemeClr>
                </a:solidFill>
                <a:latin typeface="微软雅黑" panose="020B0503020204020204" pitchFamily="34" charset="-122"/>
                <a:ea typeface="微软雅黑" panose="020B0503020204020204" pitchFamily="34" charset="-122"/>
                <a:cs typeface="+mn-cs"/>
              </a:rPr>
              <a:t>1984</a:t>
            </a:r>
            <a:r>
              <a:rPr lang="zh-CN" altLang="en-US" sz="1800" b="1" kern="1200" baseline="0" dirty="0">
                <a:solidFill>
                  <a:schemeClr val="accent3">
                    <a:lumMod val="75000"/>
                  </a:schemeClr>
                </a:solidFill>
                <a:latin typeface="微软雅黑" panose="020B0503020204020204" pitchFamily="34" charset="-122"/>
                <a:ea typeface="微软雅黑" panose="020B0503020204020204" pitchFamily="34" charset="-122"/>
                <a:cs typeface="+mn-cs"/>
              </a:rPr>
              <a:t>年至今，在国内包括香港、澳门组织竞赛活动。每年经各省选拔产生</a:t>
            </a:r>
            <a:r>
              <a:rPr lang="en-US" altLang="zh-CN" sz="1800" b="1" kern="1200" baseline="0" dirty="0">
                <a:solidFill>
                  <a:schemeClr val="accent3">
                    <a:lumMod val="75000"/>
                  </a:schemeClr>
                </a:solidFill>
                <a:latin typeface="微软雅黑" panose="020B0503020204020204" pitchFamily="34" charset="-122"/>
                <a:ea typeface="微软雅黑" panose="020B0503020204020204" pitchFamily="34" charset="-122"/>
                <a:cs typeface="+mn-cs"/>
              </a:rPr>
              <a:t>5</a:t>
            </a:r>
            <a:r>
              <a:rPr lang="zh-CN" altLang="en-US" sz="1800" b="1" kern="1200" baseline="0" dirty="0">
                <a:solidFill>
                  <a:schemeClr val="accent3">
                    <a:lumMod val="75000"/>
                  </a:schemeClr>
                </a:solidFill>
                <a:latin typeface="微软雅黑" panose="020B0503020204020204" pitchFamily="34" charset="-122"/>
                <a:ea typeface="微软雅黑" panose="020B0503020204020204" pitchFamily="34" charset="-122"/>
                <a:cs typeface="+mn-cs"/>
              </a:rPr>
              <a:t>名选手（其中一名是女选手），由中国计算机学会在计算机普及较好的城市组织进行比赛。这一竞赛记个人成绩，同时记团体总分。</a:t>
            </a:r>
            <a:endParaRPr lang="en-US" altLang="zh-CN" sz="1800" b="1" kern="1200" baseline="0" dirty="0">
              <a:solidFill>
                <a:schemeClr val="accent3">
                  <a:lumMod val="75000"/>
                </a:schemeClr>
              </a:solidFill>
              <a:latin typeface="微软雅黑" panose="020B0503020204020204" pitchFamily="34" charset="-122"/>
              <a:ea typeface="微软雅黑" panose="020B0503020204020204" pitchFamily="34" charset="-122"/>
              <a:cs typeface="+mn-cs"/>
            </a:endParaRPr>
          </a:p>
          <a:p>
            <a:pPr defTabSz="914400">
              <a:spcBef>
                <a:spcPct val="0"/>
              </a:spcBef>
            </a:pPr>
            <a:r>
              <a:rPr lang="en-US" altLang="zh-CN" sz="2000" b="1" kern="1200" baseline="0" dirty="0">
                <a:solidFill>
                  <a:schemeClr val="accent3">
                    <a:lumMod val="75000"/>
                  </a:schemeClr>
                </a:solidFill>
                <a:latin typeface="微软雅黑" panose="020B0503020204020204" pitchFamily="34" charset="-122"/>
                <a:ea typeface="微软雅黑" panose="020B0503020204020204" pitchFamily="34" charset="-122"/>
                <a:cs typeface="+mn-cs"/>
              </a:rPr>
              <a:t>NOIP</a:t>
            </a:r>
            <a:r>
              <a:rPr lang="zh-CN" altLang="en-US" sz="2000" b="1" kern="1200" baseline="0" dirty="0">
                <a:solidFill>
                  <a:schemeClr val="accent3">
                    <a:lumMod val="75000"/>
                  </a:schemeClr>
                </a:solidFill>
                <a:latin typeface="微软雅黑" panose="020B0503020204020204" pitchFamily="34" charset="-122"/>
                <a:ea typeface="微软雅黑" panose="020B0503020204020204" pitchFamily="34" charset="-122"/>
                <a:cs typeface="+mn-cs"/>
              </a:rPr>
              <a:t>是全国青少年信息学奥林匹克联赛。每年由中国计算机学会统一组织比赛。</a:t>
            </a:r>
            <a:endParaRPr lang="en-US" altLang="zh-CN" sz="2000" b="1" kern="1200" baseline="0" dirty="0">
              <a:solidFill>
                <a:schemeClr val="accent3">
                  <a:lumMod val="75000"/>
                </a:schemeClr>
              </a:solidFill>
              <a:latin typeface="微软雅黑" panose="020B0503020204020204" pitchFamily="34" charset="-122"/>
              <a:ea typeface="微软雅黑" panose="020B0503020204020204" pitchFamily="34" charset="-122"/>
              <a:cs typeface="+mn-cs"/>
            </a:endParaRPr>
          </a:p>
          <a:p>
            <a:pPr defTabSz="914400">
              <a:spcBef>
                <a:spcPct val="0"/>
              </a:spcBef>
            </a:pPr>
            <a:endParaRPr lang="en-US" altLang="zh-CN" sz="2000" b="1" kern="1200" baseline="0" dirty="0">
              <a:solidFill>
                <a:schemeClr val="accent3">
                  <a:lumMod val="75000"/>
                </a:schemeClr>
              </a:solidFill>
              <a:latin typeface="微软雅黑" panose="020B0503020204020204" pitchFamily="34" charset="-122"/>
              <a:ea typeface="微软雅黑" panose="020B0503020204020204" pitchFamily="34" charset="-122"/>
              <a:cs typeface="+mn-cs"/>
            </a:endParaRPr>
          </a:p>
          <a:p>
            <a:pPr defTabSz="914400">
              <a:spcBef>
                <a:spcPct val="0"/>
              </a:spcBef>
            </a:pPr>
            <a:r>
              <a:rPr lang="en-US" altLang="zh-CN" sz="2000" b="1" kern="1200" baseline="0" dirty="0">
                <a:solidFill>
                  <a:schemeClr val="accent3">
                    <a:lumMod val="75000"/>
                  </a:schemeClr>
                </a:solidFill>
                <a:latin typeface="微软雅黑" panose="020B0503020204020204" pitchFamily="34" charset="-122"/>
                <a:ea typeface="微软雅黑" panose="020B0503020204020204" pitchFamily="34" charset="-122"/>
                <a:cs typeface="+mn-cs"/>
              </a:rPr>
              <a:t>NOIP</a:t>
            </a:r>
            <a:r>
              <a:rPr lang="zh-CN" altLang="en-US" sz="2000" b="1" kern="1200" baseline="0" dirty="0">
                <a:solidFill>
                  <a:schemeClr val="accent3">
                    <a:lumMod val="75000"/>
                  </a:schemeClr>
                </a:solidFill>
                <a:latin typeface="微软雅黑" panose="020B0503020204020204" pitchFamily="34" charset="-122"/>
                <a:ea typeface="微软雅黑" panose="020B0503020204020204" pitchFamily="34" charset="-122"/>
                <a:cs typeface="+mn-cs"/>
              </a:rPr>
              <a:t>。全国统一大纲、统一试卷。初、高中或其他中等专业学校的学生可报名参加联赛。</a:t>
            </a:r>
            <a:endParaRPr lang="en-US" altLang="zh-CN" sz="2000" b="1" kern="1200" baseline="0" dirty="0">
              <a:solidFill>
                <a:schemeClr val="accent3">
                  <a:lumMod val="75000"/>
                </a:schemeClr>
              </a:solidFill>
              <a:latin typeface="微软雅黑" panose="020B0503020204020204" pitchFamily="34" charset="-122"/>
              <a:ea typeface="微软雅黑" panose="020B0503020204020204" pitchFamily="34" charset="-122"/>
              <a:cs typeface="+mn-cs"/>
            </a:endParaRPr>
          </a:p>
          <a:p>
            <a:pPr defTabSz="914400">
              <a:spcBef>
                <a:spcPct val="0"/>
              </a:spcBef>
            </a:pPr>
            <a:endParaRPr lang="en-US" altLang="zh-CN" sz="2000" b="1" kern="1200" baseline="0" dirty="0">
              <a:solidFill>
                <a:schemeClr val="accent3">
                  <a:lumMod val="75000"/>
                </a:schemeClr>
              </a:solidFill>
              <a:latin typeface="微软雅黑" panose="020B0503020204020204" pitchFamily="34" charset="-122"/>
              <a:ea typeface="微软雅黑" panose="020B0503020204020204" pitchFamily="34" charset="-122"/>
              <a:cs typeface="+mn-cs"/>
            </a:endParaRPr>
          </a:p>
          <a:p>
            <a:pPr defTabSz="914400">
              <a:spcBef>
                <a:spcPct val="0"/>
              </a:spcBef>
            </a:pPr>
            <a:r>
              <a:rPr lang="zh-CN" altLang="en-US" sz="2000" b="1" kern="1200" baseline="0" dirty="0">
                <a:solidFill>
                  <a:schemeClr val="accent3">
                    <a:lumMod val="75000"/>
                  </a:schemeClr>
                </a:solidFill>
                <a:latin typeface="微软雅黑" panose="020B0503020204020204" pitchFamily="34" charset="-122"/>
                <a:ea typeface="微软雅黑" panose="020B0503020204020204" pitchFamily="34" charset="-122"/>
                <a:cs typeface="+mn-cs"/>
              </a:rPr>
              <a:t>联赛分初赛和复赛两个阶段。初赛考察计算机科学基础知识，以笔试形式（做试卷）进行。复赛为编程，须在计算机上编程完成。参加初赛者须达到一定分数线后才有资格参加复赛。联赛分普及组和提高组两个组别，难度不同，分别面向初中和高中阶段的学生，也就是一般初中生参加普及组，高中生参加提高组。有些省市小学生也可以向特派员报名参赛。</a:t>
            </a:r>
          </a:p>
          <a:p>
            <a:endParaRPr lang="zh-CN" altLang="en-US" dirty="0"/>
          </a:p>
        </p:txBody>
      </p:sp>
      <p:sp>
        <p:nvSpPr>
          <p:cNvPr id="4" name="灯片编号占位符 3"/>
          <p:cNvSpPr>
            <a:spLocks noGrp="1"/>
          </p:cNvSpPr>
          <p:nvPr>
            <p:ph type="sldNum" sz="quarter" idx="10"/>
          </p:nvPr>
        </p:nvSpPr>
        <p:spPr/>
        <p:txBody>
          <a:bodyPr/>
          <a:lstStyle/>
          <a:p>
            <a:fld id="{4E38F04A-84B0-4E5D-A1A7-EE43D6EF2A66}" type="slidenum">
              <a:rPr lang="zh-CN" altLang="en-US" smtClean="0"/>
              <a:t>8</a:t>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1218565" rtl="0" eaLnBrk="1" fontAlgn="auto" latinLnBrk="0" hangingPunct="1">
              <a:lnSpc>
                <a:spcPct val="100000"/>
              </a:lnSpc>
              <a:spcBef>
                <a:spcPts val="0"/>
              </a:spcBef>
              <a:spcAft>
                <a:spcPts val="0"/>
              </a:spcAft>
              <a:buClrTx/>
              <a:buSzTx/>
              <a:buFont typeface="Arial" panose="020B0604020202020204" pitchFamily="34" charset="0"/>
              <a:buNone/>
              <a:defRPr/>
            </a:pPr>
            <a:r>
              <a:rPr lang="zh-CN" altLang="en-US" sz="1800" b="1" kern="1200" baseline="0" dirty="0">
                <a:solidFill>
                  <a:schemeClr val="accent3">
                    <a:lumMod val="75000"/>
                  </a:schemeClr>
                </a:solidFill>
                <a:latin typeface="微软雅黑" panose="020B0503020204020204" pitchFamily="34" charset="-122"/>
                <a:ea typeface="微软雅黑" panose="020B0503020204020204" pitchFamily="34" charset="-122"/>
                <a:cs typeface="+mn-cs"/>
              </a:rPr>
              <a:t>全国青少年信息学奥林匹克（</a:t>
            </a:r>
            <a:r>
              <a:rPr lang="en-US" altLang="zh-CN" sz="1800" b="1" kern="1200" baseline="0" dirty="0">
                <a:solidFill>
                  <a:schemeClr val="accent3">
                    <a:lumMod val="75000"/>
                  </a:schemeClr>
                </a:solidFill>
                <a:latin typeface="微软雅黑" panose="020B0503020204020204" pitchFamily="34" charset="-122"/>
                <a:ea typeface="微软雅黑" panose="020B0503020204020204" pitchFamily="34" charset="-122"/>
                <a:cs typeface="+mn-cs"/>
              </a:rPr>
              <a:t>NOI</a:t>
            </a:r>
            <a:r>
              <a:rPr lang="zh-CN" altLang="en-US" sz="1800" b="1" kern="1200" baseline="0" dirty="0">
                <a:solidFill>
                  <a:schemeClr val="accent3">
                    <a:lumMod val="75000"/>
                  </a:schemeClr>
                </a:solidFill>
                <a:latin typeface="微软雅黑" panose="020B0503020204020204" pitchFamily="34" charset="-122"/>
                <a:ea typeface="微软雅黑" panose="020B0503020204020204" pitchFamily="34" charset="-122"/>
                <a:cs typeface="+mn-cs"/>
              </a:rPr>
              <a:t>）是国内包括港澳在内的省级代表队最高水平的大赛，自</a:t>
            </a:r>
            <a:r>
              <a:rPr lang="en-US" altLang="zh-CN" sz="1800" b="1" kern="1200" baseline="0" dirty="0">
                <a:solidFill>
                  <a:schemeClr val="accent3">
                    <a:lumMod val="75000"/>
                  </a:schemeClr>
                </a:solidFill>
                <a:latin typeface="微软雅黑" panose="020B0503020204020204" pitchFamily="34" charset="-122"/>
                <a:ea typeface="微软雅黑" panose="020B0503020204020204" pitchFamily="34" charset="-122"/>
                <a:cs typeface="+mn-cs"/>
              </a:rPr>
              <a:t>1984</a:t>
            </a:r>
            <a:r>
              <a:rPr lang="zh-CN" altLang="en-US" sz="1800" b="1" kern="1200" baseline="0" dirty="0">
                <a:solidFill>
                  <a:schemeClr val="accent3">
                    <a:lumMod val="75000"/>
                  </a:schemeClr>
                </a:solidFill>
                <a:latin typeface="微软雅黑" panose="020B0503020204020204" pitchFamily="34" charset="-122"/>
                <a:ea typeface="微软雅黑" panose="020B0503020204020204" pitchFamily="34" charset="-122"/>
                <a:cs typeface="+mn-cs"/>
              </a:rPr>
              <a:t>年至今，在国内包括香港、澳门组织竞赛活动。每年经各省选拔产生</a:t>
            </a:r>
            <a:r>
              <a:rPr lang="en-US" altLang="zh-CN" sz="1800" b="1" kern="1200" baseline="0" dirty="0">
                <a:solidFill>
                  <a:schemeClr val="accent3">
                    <a:lumMod val="75000"/>
                  </a:schemeClr>
                </a:solidFill>
                <a:latin typeface="微软雅黑" panose="020B0503020204020204" pitchFamily="34" charset="-122"/>
                <a:ea typeface="微软雅黑" panose="020B0503020204020204" pitchFamily="34" charset="-122"/>
                <a:cs typeface="+mn-cs"/>
              </a:rPr>
              <a:t>5</a:t>
            </a:r>
            <a:r>
              <a:rPr lang="zh-CN" altLang="en-US" sz="1800" b="1" kern="1200" baseline="0" dirty="0">
                <a:solidFill>
                  <a:schemeClr val="accent3">
                    <a:lumMod val="75000"/>
                  </a:schemeClr>
                </a:solidFill>
                <a:latin typeface="微软雅黑" panose="020B0503020204020204" pitchFamily="34" charset="-122"/>
                <a:ea typeface="微软雅黑" panose="020B0503020204020204" pitchFamily="34" charset="-122"/>
                <a:cs typeface="+mn-cs"/>
              </a:rPr>
              <a:t>名选手（其中一名是女选手），由中国计算机学会在计算机普及较好的城市组织进行比赛。这一竞赛记个人成绩，同时记团体总分。</a:t>
            </a:r>
            <a:endParaRPr lang="en-US" altLang="zh-CN" sz="1800" b="1" kern="1200" baseline="0" dirty="0">
              <a:solidFill>
                <a:schemeClr val="accent3">
                  <a:lumMod val="75000"/>
                </a:schemeClr>
              </a:solidFill>
              <a:latin typeface="微软雅黑" panose="020B0503020204020204" pitchFamily="34" charset="-122"/>
              <a:ea typeface="微软雅黑" panose="020B0503020204020204" pitchFamily="34" charset="-122"/>
              <a:cs typeface="+mn-cs"/>
            </a:endParaRPr>
          </a:p>
          <a:p>
            <a:pPr defTabSz="914400">
              <a:spcBef>
                <a:spcPct val="0"/>
              </a:spcBef>
            </a:pPr>
            <a:r>
              <a:rPr lang="en-US" altLang="zh-CN" sz="2000" b="1" kern="1200" baseline="0" dirty="0">
                <a:solidFill>
                  <a:schemeClr val="accent3">
                    <a:lumMod val="75000"/>
                  </a:schemeClr>
                </a:solidFill>
                <a:latin typeface="微软雅黑" panose="020B0503020204020204" pitchFamily="34" charset="-122"/>
                <a:ea typeface="微软雅黑" panose="020B0503020204020204" pitchFamily="34" charset="-122"/>
                <a:cs typeface="+mn-cs"/>
              </a:rPr>
              <a:t>NOIP</a:t>
            </a:r>
            <a:r>
              <a:rPr lang="zh-CN" altLang="en-US" sz="2000" b="1" kern="1200" baseline="0" dirty="0">
                <a:solidFill>
                  <a:schemeClr val="accent3">
                    <a:lumMod val="75000"/>
                  </a:schemeClr>
                </a:solidFill>
                <a:latin typeface="微软雅黑" panose="020B0503020204020204" pitchFamily="34" charset="-122"/>
                <a:ea typeface="微软雅黑" panose="020B0503020204020204" pitchFamily="34" charset="-122"/>
                <a:cs typeface="+mn-cs"/>
              </a:rPr>
              <a:t>是全国青少年信息学奥林匹克联赛。每年由中国计算机学会统一组织比赛。</a:t>
            </a:r>
            <a:endParaRPr lang="en-US" altLang="zh-CN" sz="2000" b="1" kern="1200" baseline="0" dirty="0">
              <a:solidFill>
                <a:schemeClr val="accent3">
                  <a:lumMod val="75000"/>
                </a:schemeClr>
              </a:solidFill>
              <a:latin typeface="微软雅黑" panose="020B0503020204020204" pitchFamily="34" charset="-122"/>
              <a:ea typeface="微软雅黑" panose="020B0503020204020204" pitchFamily="34" charset="-122"/>
              <a:cs typeface="+mn-cs"/>
            </a:endParaRPr>
          </a:p>
          <a:p>
            <a:pPr defTabSz="914400">
              <a:spcBef>
                <a:spcPct val="0"/>
              </a:spcBef>
            </a:pPr>
            <a:endParaRPr lang="en-US" altLang="zh-CN" sz="2000" b="1" kern="1200" baseline="0" dirty="0">
              <a:solidFill>
                <a:schemeClr val="accent3">
                  <a:lumMod val="75000"/>
                </a:schemeClr>
              </a:solidFill>
              <a:latin typeface="微软雅黑" panose="020B0503020204020204" pitchFamily="34" charset="-122"/>
              <a:ea typeface="微软雅黑" panose="020B0503020204020204" pitchFamily="34" charset="-122"/>
              <a:cs typeface="+mn-cs"/>
            </a:endParaRPr>
          </a:p>
          <a:p>
            <a:pPr defTabSz="914400">
              <a:spcBef>
                <a:spcPct val="0"/>
              </a:spcBef>
            </a:pPr>
            <a:r>
              <a:rPr lang="en-US" altLang="zh-CN" sz="2000" b="1" kern="1200" baseline="0" dirty="0">
                <a:solidFill>
                  <a:schemeClr val="accent3">
                    <a:lumMod val="75000"/>
                  </a:schemeClr>
                </a:solidFill>
                <a:latin typeface="微软雅黑" panose="020B0503020204020204" pitchFamily="34" charset="-122"/>
                <a:ea typeface="微软雅黑" panose="020B0503020204020204" pitchFamily="34" charset="-122"/>
                <a:cs typeface="+mn-cs"/>
              </a:rPr>
              <a:t>NOIP</a:t>
            </a:r>
            <a:r>
              <a:rPr lang="zh-CN" altLang="en-US" sz="2000" b="1" kern="1200" baseline="0" dirty="0">
                <a:solidFill>
                  <a:schemeClr val="accent3">
                    <a:lumMod val="75000"/>
                  </a:schemeClr>
                </a:solidFill>
                <a:latin typeface="微软雅黑" panose="020B0503020204020204" pitchFamily="34" charset="-122"/>
                <a:ea typeface="微软雅黑" panose="020B0503020204020204" pitchFamily="34" charset="-122"/>
                <a:cs typeface="+mn-cs"/>
              </a:rPr>
              <a:t>。全国统一大纲、统一试卷。初、高中或其他中等专业学校的学生可报名参加联赛。</a:t>
            </a:r>
            <a:endParaRPr lang="en-US" altLang="zh-CN" sz="2000" b="1" kern="1200" baseline="0" dirty="0">
              <a:solidFill>
                <a:schemeClr val="accent3">
                  <a:lumMod val="75000"/>
                </a:schemeClr>
              </a:solidFill>
              <a:latin typeface="微软雅黑" panose="020B0503020204020204" pitchFamily="34" charset="-122"/>
              <a:ea typeface="微软雅黑" panose="020B0503020204020204" pitchFamily="34" charset="-122"/>
              <a:cs typeface="+mn-cs"/>
            </a:endParaRPr>
          </a:p>
          <a:p>
            <a:pPr defTabSz="914400">
              <a:spcBef>
                <a:spcPct val="0"/>
              </a:spcBef>
            </a:pPr>
            <a:endParaRPr lang="en-US" altLang="zh-CN" sz="2000" b="1" kern="1200" baseline="0" dirty="0">
              <a:solidFill>
                <a:schemeClr val="accent3">
                  <a:lumMod val="75000"/>
                </a:schemeClr>
              </a:solidFill>
              <a:latin typeface="微软雅黑" panose="020B0503020204020204" pitchFamily="34" charset="-122"/>
              <a:ea typeface="微软雅黑" panose="020B0503020204020204" pitchFamily="34" charset="-122"/>
              <a:cs typeface="+mn-cs"/>
            </a:endParaRPr>
          </a:p>
          <a:p>
            <a:pPr defTabSz="914400">
              <a:spcBef>
                <a:spcPct val="0"/>
              </a:spcBef>
            </a:pPr>
            <a:r>
              <a:rPr lang="zh-CN" altLang="en-US" sz="2000" b="1" kern="1200" baseline="0" dirty="0">
                <a:solidFill>
                  <a:schemeClr val="accent3">
                    <a:lumMod val="75000"/>
                  </a:schemeClr>
                </a:solidFill>
                <a:latin typeface="微软雅黑" panose="020B0503020204020204" pitchFamily="34" charset="-122"/>
                <a:ea typeface="微软雅黑" panose="020B0503020204020204" pitchFamily="34" charset="-122"/>
                <a:cs typeface="+mn-cs"/>
              </a:rPr>
              <a:t>联赛分初赛和复赛两个阶段。初赛考察计算机科学基础知识，以笔试形式（做试卷）进行。复赛为编程，须在计算机上编程完成。参加初赛者须达到一定分数线后才有资格参加复赛。联赛分普及组和提高组两个组别，难度不同，分别面向初中和高中阶段的学生，也就是一般初中生参加普及组，高中生参加提高组。有些省市小学生也可以向特派员报名参赛。</a:t>
            </a:r>
          </a:p>
          <a:p>
            <a:endParaRPr lang="zh-CN" altLang="en-US" dirty="0"/>
          </a:p>
        </p:txBody>
      </p:sp>
      <p:sp>
        <p:nvSpPr>
          <p:cNvPr id="4" name="灯片编号占位符 3"/>
          <p:cNvSpPr>
            <a:spLocks noGrp="1"/>
          </p:cNvSpPr>
          <p:nvPr>
            <p:ph type="sldNum" sz="quarter" idx="10"/>
          </p:nvPr>
        </p:nvSpPr>
        <p:spPr/>
        <p:txBody>
          <a:bodyPr/>
          <a:lstStyle/>
          <a:p>
            <a:fld id="{4E38F04A-84B0-4E5D-A1A7-EE43D6EF2A66}" type="slidenum">
              <a:rPr lang="zh-CN" altLang="en-US" smtClean="0"/>
              <a:t>9</a:t>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1218565" rtl="0" eaLnBrk="1" fontAlgn="auto" latinLnBrk="0" hangingPunct="1">
              <a:lnSpc>
                <a:spcPct val="100000"/>
              </a:lnSpc>
              <a:spcBef>
                <a:spcPts val="0"/>
              </a:spcBef>
              <a:spcAft>
                <a:spcPts val="0"/>
              </a:spcAft>
              <a:buClrTx/>
              <a:buSzTx/>
              <a:buFont typeface="Arial" panose="020B0604020202020204" pitchFamily="34" charset="0"/>
              <a:buNone/>
              <a:defRPr/>
            </a:pPr>
            <a:r>
              <a:rPr lang="zh-CN" altLang="en-US" sz="1800" b="1" kern="1200" baseline="0" dirty="0">
                <a:solidFill>
                  <a:schemeClr val="accent3">
                    <a:lumMod val="75000"/>
                  </a:schemeClr>
                </a:solidFill>
                <a:latin typeface="微软雅黑" panose="020B0503020204020204" pitchFamily="34" charset="-122"/>
                <a:ea typeface="微软雅黑" panose="020B0503020204020204" pitchFamily="34" charset="-122"/>
                <a:cs typeface="+mn-cs"/>
              </a:rPr>
              <a:t>全国青少年信息学奥林匹克（</a:t>
            </a:r>
            <a:r>
              <a:rPr lang="en-US" altLang="zh-CN" sz="1800" b="1" kern="1200" baseline="0" dirty="0">
                <a:solidFill>
                  <a:schemeClr val="accent3">
                    <a:lumMod val="75000"/>
                  </a:schemeClr>
                </a:solidFill>
                <a:latin typeface="微软雅黑" panose="020B0503020204020204" pitchFamily="34" charset="-122"/>
                <a:ea typeface="微软雅黑" panose="020B0503020204020204" pitchFamily="34" charset="-122"/>
                <a:cs typeface="+mn-cs"/>
              </a:rPr>
              <a:t>NOI</a:t>
            </a:r>
            <a:r>
              <a:rPr lang="zh-CN" altLang="en-US" sz="1800" b="1" kern="1200" baseline="0" dirty="0">
                <a:solidFill>
                  <a:schemeClr val="accent3">
                    <a:lumMod val="75000"/>
                  </a:schemeClr>
                </a:solidFill>
                <a:latin typeface="微软雅黑" panose="020B0503020204020204" pitchFamily="34" charset="-122"/>
                <a:ea typeface="微软雅黑" panose="020B0503020204020204" pitchFamily="34" charset="-122"/>
                <a:cs typeface="+mn-cs"/>
              </a:rPr>
              <a:t>）是国内包括港澳在内的省级代表队最高水平的大赛，自</a:t>
            </a:r>
            <a:r>
              <a:rPr lang="en-US" altLang="zh-CN" sz="1800" b="1" kern="1200" baseline="0" dirty="0">
                <a:solidFill>
                  <a:schemeClr val="accent3">
                    <a:lumMod val="75000"/>
                  </a:schemeClr>
                </a:solidFill>
                <a:latin typeface="微软雅黑" panose="020B0503020204020204" pitchFamily="34" charset="-122"/>
                <a:ea typeface="微软雅黑" panose="020B0503020204020204" pitchFamily="34" charset="-122"/>
                <a:cs typeface="+mn-cs"/>
              </a:rPr>
              <a:t>1984</a:t>
            </a:r>
            <a:r>
              <a:rPr lang="zh-CN" altLang="en-US" sz="1800" b="1" kern="1200" baseline="0" dirty="0">
                <a:solidFill>
                  <a:schemeClr val="accent3">
                    <a:lumMod val="75000"/>
                  </a:schemeClr>
                </a:solidFill>
                <a:latin typeface="微软雅黑" panose="020B0503020204020204" pitchFamily="34" charset="-122"/>
                <a:ea typeface="微软雅黑" panose="020B0503020204020204" pitchFamily="34" charset="-122"/>
                <a:cs typeface="+mn-cs"/>
              </a:rPr>
              <a:t>年至今，在国内包括香港、澳门组织竞赛活动。每年经各省选拔产生</a:t>
            </a:r>
            <a:r>
              <a:rPr lang="en-US" altLang="zh-CN" sz="1800" b="1" kern="1200" baseline="0" dirty="0">
                <a:solidFill>
                  <a:schemeClr val="accent3">
                    <a:lumMod val="75000"/>
                  </a:schemeClr>
                </a:solidFill>
                <a:latin typeface="微软雅黑" panose="020B0503020204020204" pitchFamily="34" charset="-122"/>
                <a:ea typeface="微软雅黑" panose="020B0503020204020204" pitchFamily="34" charset="-122"/>
                <a:cs typeface="+mn-cs"/>
              </a:rPr>
              <a:t>5</a:t>
            </a:r>
            <a:r>
              <a:rPr lang="zh-CN" altLang="en-US" sz="1800" b="1" kern="1200" baseline="0" dirty="0">
                <a:solidFill>
                  <a:schemeClr val="accent3">
                    <a:lumMod val="75000"/>
                  </a:schemeClr>
                </a:solidFill>
                <a:latin typeface="微软雅黑" panose="020B0503020204020204" pitchFamily="34" charset="-122"/>
                <a:ea typeface="微软雅黑" panose="020B0503020204020204" pitchFamily="34" charset="-122"/>
                <a:cs typeface="+mn-cs"/>
              </a:rPr>
              <a:t>名选手（其中一名是女选手），由中国计算机学会在计算机普及较好的城市组织进行比赛。这一竞赛记个人成绩，同时记团体总分。</a:t>
            </a:r>
            <a:endParaRPr lang="en-US" altLang="zh-CN" sz="1800" b="1" kern="1200" baseline="0" dirty="0">
              <a:solidFill>
                <a:schemeClr val="accent3">
                  <a:lumMod val="75000"/>
                </a:schemeClr>
              </a:solidFill>
              <a:latin typeface="微软雅黑" panose="020B0503020204020204" pitchFamily="34" charset="-122"/>
              <a:ea typeface="微软雅黑" panose="020B0503020204020204" pitchFamily="34" charset="-122"/>
              <a:cs typeface="+mn-cs"/>
            </a:endParaRPr>
          </a:p>
          <a:p>
            <a:pPr defTabSz="914400">
              <a:spcBef>
                <a:spcPct val="0"/>
              </a:spcBef>
            </a:pPr>
            <a:r>
              <a:rPr lang="en-US" altLang="zh-CN" sz="2000" b="1" kern="1200" baseline="0" dirty="0">
                <a:solidFill>
                  <a:schemeClr val="accent3">
                    <a:lumMod val="75000"/>
                  </a:schemeClr>
                </a:solidFill>
                <a:latin typeface="微软雅黑" panose="020B0503020204020204" pitchFamily="34" charset="-122"/>
                <a:ea typeface="微软雅黑" panose="020B0503020204020204" pitchFamily="34" charset="-122"/>
                <a:cs typeface="+mn-cs"/>
              </a:rPr>
              <a:t>NOIP</a:t>
            </a:r>
            <a:r>
              <a:rPr lang="zh-CN" altLang="en-US" sz="2000" b="1" kern="1200" baseline="0" dirty="0">
                <a:solidFill>
                  <a:schemeClr val="accent3">
                    <a:lumMod val="75000"/>
                  </a:schemeClr>
                </a:solidFill>
                <a:latin typeface="微软雅黑" panose="020B0503020204020204" pitchFamily="34" charset="-122"/>
                <a:ea typeface="微软雅黑" panose="020B0503020204020204" pitchFamily="34" charset="-122"/>
                <a:cs typeface="+mn-cs"/>
              </a:rPr>
              <a:t>是全国青少年信息学奥林匹克联赛。每年由中国计算机学会统一组织比赛。</a:t>
            </a:r>
            <a:endParaRPr lang="en-US" altLang="zh-CN" sz="2000" b="1" kern="1200" baseline="0" dirty="0">
              <a:solidFill>
                <a:schemeClr val="accent3">
                  <a:lumMod val="75000"/>
                </a:schemeClr>
              </a:solidFill>
              <a:latin typeface="微软雅黑" panose="020B0503020204020204" pitchFamily="34" charset="-122"/>
              <a:ea typeface="微软雅黑" panose="020B0503020204020204" pitchFamily="34" charset="-122"/>
              <a:cs typeface="+mn-cs"/>
            </a:endParaRPr>
          </a:p>
          <a:p>
            <a:pPr defTabSz="914400">
              <a:spcBef>
                <a:spcPct val="0"/>
              </a:spcBef>
            </a:pPr>
            <a:endParaRPr lang="en-US" altLang="zh-CN" sz="2000" b="1" kern="1200" baseline="0" dirty="0">
              <a:solidFill>
                <a:schemeClr val="accent3">
                  <a:lumMod val="75000"/>
                </a:schemeClr>
              </a:solidFill>
              <a:latin typeface="微软雅黑" panose="020B0503020204020204" pitchFamily="34" charset="-122"/>
              <a:ea typeface="微软雅黑" panose="020B0503020204020204" pitchFamily="34" charset="-122"/>
              <a:cs typeface="+mn-cs"/>
            </a:endParaRPr>
          </a:p>
          <a:p>
            <a:pPr defTabSz="914400">
              <a:spcBef>
                <a:spcPct val="0"/>
              </a:spcBef>
            </a:pPr>
            <a:r>
              <a:rPr lang="en-US" altLang="zh-CN" sz="2000" b="1" kern="1200" baseline="0" dirty="0">
                <a:solidFill>
                  <a:schemeClr val="accent3">
                    <a:lumMod val="75000"/>
                  </a:schemeClr>
                </a:solidFill>
                <a:latin typeface="微软雅黑" panose="020B0503020204020204" pitchFamily="34" charset="-122"/>
                <a:ea typeface="微软雅黑" panose="020B0503020204020204" pitchFamily="34" charset="-122"/>
                <a:cs typeface="+mn-cs"/>
              </a:rPr>
              <a:t>NOIP</a:t>
            </a:r>
            <a:r>
              <a:rPr lang="zh-CN" altLang="en-US" sz="2000" b="1" kern="1200" baseline="0" dirty="0">
                <a:solidFill>
                  <a:schemeClr val="accent3">
                    <a:lumMod val="75000"/>
                  </a:schemeClr>
                </a:solidFill>
                <a:latin typeface="微软雅黑" panose="020B0503020204020204" pitchFamily="34" charset="-122"/>
                <a:ea typeface="微软雅黑" panose="020B0503020204020204" pitchFamily="34" charset="-122"/>
                <a:cs typeface="+mn-cs"/>
              </a:rPr>
              <a:t>。全国统一大纲、统一试卷。初、高中或其他中等专业学校的学生可报名参加联赛。</a:t>
            </a:r>
            <a:endParaRPr lang="en-US" altLang="zh-CN" sz="2000" b="1" kern="1200" baseline="0" dirty="0">
              <a:solidFill>
                <a:schemeClr val="accent3">
                  <a:lumMod val="75000"/>
                </a:schemeClr>
              </a:solidFill>
              <a:latin typeface="微软雅黑" panose="020B0503020204020204" pitchFamily="34" charset="-122"/>
              <a:ea typeface="微软雅黑" panose="020B0503020204020204" pitchFamily="34" charset="-122"/>
              <a:cs typeface="+mn-cs"/>
            </a:endParaRPr>
          </a:p>
          <a:p>
            <a:pPr defTabSz="914400">
              <a:spcBef>
                <a:spcPct val="0"/>
              </a:spcBef>
            </a:pPr>
            <a:endParaRPr lang="en-US" altLang="zh-CN" sz="2000" b="1" kern="1200" baseline="0" dirty="0">
              <a:solidFill>
                <a:schemeClr val="accent3">
                  <a:lumMod val="75000"/>
                </a:schemeClr>
              </a:solidFill>
              <a:latin typeface="微软雅黑" panose="020B0503020204020204" pitchFamily="34" charset="-122"/>
              <a:ea typeface="微软雅黑" panose="020B0503020204020204" pitchFamily="34" charset="-122"/>
              <a:cs typeface="+mn-cs"/>
            </a:endParaRPr>
          </a:p>
          <a:p>
            <a:pPr defTabSz="914400">
              <a:spcBef>
                <a:spcPct val="0"/>
              </a:spcBef>
            </a:pPr>
            <a:r>
              <a:rPr lang="zh-CN" altLang="en-US" sz="2000" b="1" kern="1200" baseline="0" dirty="0">
                <a:solidFill>
                  <a:schemeClr val="accent3">
                    <a:lumMod val="75000"/>
                  </a:schemeClr>
                </a:solidFill>
                <a:latin typeface="微软雅黑" panose="020B0503020204020204" pitchFamily="34" charset="-122"/>
                <a:ea typeface="微软雅黑" panose="020B0503020204020204" pitchFamily="34" charset="-122"/>
                <a:cs typeface="+mn-cs"/>
              </a:rPr>
              <a:t>联赛分初赛和复赛两个阶段。初赛考察计算机科学基础知识，以笔试形式（做试卷）进行。复赛为编程，须在计算机上编程完成。参加初赛者须达到一定分数线后才有资格参加复赛。联赛分普及组和提高组两个组别，难度不同，分别面向初中和高中阶段的学生，也就是一般初中生参加普及组，高中生参加提高组。有些省市小学生也可以向特派员报名参赛。</a:t>
            </a:r>
          </a:p>
          <a:p>
            <a:endParaRPr lang="zh-CN" altLang="en-US" dirty="0"/>
          </a:p>
        </p:txBody>
      </p:sp>
      <p:sp>
        <p:nvSpPr>
          <p:cNvPr id="4" name="灯片编号占位符 3"/>
          <p:cNvSpPr>
            <a:spLocks noGrp="1"/>
          </p:cNvSpPr>
          <p:nvPr>
            <p:ph type="sldNum" sz="quarter" idx="10"/>
          </p:nvPr>
        </p:nvSpPr>
        <p:spPr/>
        <p:txBody>
          <a:bodyPr/>
          <a:lstStyle/>
          <a:p>
            <a:fld id="{4E38F04A-84B0-4E5D-A1A7-EE43D6EF2A66}" type="slidenum">
              <a:rPr lang="zh-CN" altLang="en-US" smtClean="0"/>
              <a:t>10</a:t>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1218565" rtl="0" eaLnBrk="1" fontAlgn="auto" latinLnBrk="0" hangingPunct="1">
              <a:lnSpc>
                <a:spcPct val="100000"/>
              </a:lnSpc>
              <a:spcBef>
                <a:spcPts val="0"/>
              </a:spcBef>
              <a:spcAft>
                <a:spcPts val="0"/>
              </a:spcAft>
              <a:buClrTx/>
              <a:buSzTx/>
              <a:buFont typeface="Arial" panose="020B0604020202020204" pitchFamily="34" charset="0"/>
              <a:buNone/>
              <a:defRPr/>
            </a:pPr>
            <a:r>
              <a:rPr lang="zh-CN" altLang="en-US" sz="1800" b="1" kern="1200" baseline="0" dirty="0">
                <a:solidFill>
                  <a:schemeClr val="accent3">
                    <a:lumMod val="75000"/>
                  </a:schemeClr>
                </a:solidFill>
                <a:latin typeface="微软雅黑" panose="020B0503020204020204" pitchFamily="34" charset="-122"/>
                <a:ea typeface="微软雅黑" panose="020B0503020204020204" pitchFamily="34" charset="-122"/>
                <a:cs typeface="+mn-cs"/>
              </a:rPr>
              <a:t>全国青少年信息学奥林匹克（</a:t>
            </a:r>
            <a:r>
              <a:rPr lang="en-US" altLang="zh-CN" sz="1800" b="1" kern="1200" baseline="0" dirty="0">
                <a:solidFill>
                  <a:schemeClr val="accent3">
                    <a:lumMod val="75000"/>
                  </a:schemeClr>
                </a:solidFill>
                <a:latin typeface="微软雅黑" panose="020B0503020204020204" pitchFamily="34" charset="-122"/>
                <a:ea typeface="微软雅黑" panose="020B0503020204020204" pitchFamily="34" charset="-122"/>
                <a:cs typeface="+mn-cs"/>
              </a:rPr>
              <a:t>NOI</a:t>
            </a:r>
            <a:r>
              <a:rPr lang="zh-CN" altLang="en-US" sz="1800" b="1" kern="1200" baseline="0" dirty="0">
                <a:solidFill>
                  <a:schemeClr val="accent3">
                    <a:lumMod val="75000"/>
                  </a:schemeClr>
                </a:solidFill>
                <a:latin typeface="微软雅黑" panose="020B0503020204020204" pitchFamily="34" charset="-122"/>
                <a:ea typeface="微软雅黑" panose="020B0503020204020204" pitchFamily="34" charset="-122"/>
                <a:cs typeface="+mn-cs"/>
              </a:rPr>
              <a:t>）是国内包括港澳在内的省级代表队最高水平的大赛，自</a:t>
            </a:r>
            <a:r>
              <a:rPr lang="en-US" altLang="zh-CN" sz="1800" b="1" kern="1200" baseline="0" dirty="0">
                <a:solidFill>
                  <a:schemeClr val="accent3">
                    <a:lumMod val="75000"/>
                  </a:schemeClr>
                </a:solidFill>
                <a:latin typeface="微软雅黑" panose="020B0503020204020204" pitchFamily="34" charset="-122"/>
                <a:ea typeface="微软雅黑" panose="020B0503020204020204" pitchFamily="34" charset="-122"/>
                <a:cs typeface="+mn-cs"/>
              </a:rPr>
              <a:t>1984</a:t>
            </a:r>
            <a:r>
              <a:rPr lang="zh-CN" altLang="en-US" sz="1800" b="1" kern="1200" baseline="0" dirty="0">
                <a:solidFill>
                  <a:schemeClr val="accent3">
                    <a:lumMod val="75000"/>
                  </a:schemeClr>
                </a:solidFill>
                <a:latin typeface="微软雅黑" panose="020B0503020204020204" pitchFamily="34" charset="-122"/>
                <a:ea typeface="微软雅黑" panose="020B0503020204020204" pitchFamily="34" charset="-122"/>
                <a:cs typeface="+mn-cs"/>
              </a:rPr>
              <a:t>年至今，在国内包括香港、澳门组织竞赛活动。每年经各省选拔产生</a:t>
            </a:r>
            <a:r>
              <a:rPr lang="en-US" altLang="zh-CN" sz="1800" b="1" kern="1200" baseline="0" dirty="0">
                <a:solidFill>
                  <a:schemeClr val="accent3">
                    <a:lumMod val="75000"/>
                  </a:schemeClr>
                </a:solidFill>
                <a:latin typeface="微软雅黑" panose="020B0503020204020204" pitchFamily="34" charset="-122"/>
                <a:ea typeface="微软雅黑" panose="020B0503020204020204" pitchFamily="34" charset="-122"/>
                <a:cs typeface="+mn-cs"/>
              </a:rPr>
              <a:t>5</a:t>
            </a:r>
            <a:r>
              <a:rPr lang="zh-CN" altLang="en-US" sz="1800" b="1" kern="1200" baseline="0" dirty="0">
                <a:solidFill>
                  <a:schemeClr val="accent3">
                    <a:lumMod val="75000"/>
                  </a:schemeClr>
                </a:solidFill>
                <a:latin typeface="微软雅黑" panose="020B0503020204020204" pitchFamily="34" charset="-122"/>
                <a:ea typeface="微软雅黑" panose="020B0503020204020204" pitchFamily="34" charset="-122"/>
                <a:cs typeface="+mn-cs"/>
              </a:rPr>
              <a:t>名选手（其中一名是女选手），由中国计算机学会在计算机普及较好的城市组织进行比赛。这一竞赛记个人成绩，同时记团体总分。</a:t>
            </a:r>
            <a:endParaRPr lang="en-US" altLang="zh-CN" sz="1800" b="1" kern="1200" baseline="0" dirty="0">
              <a:solidFill>
                <a:schemeClr val="accent3">
                  <a:lumMod val="75000"/>
                </a:schemeClr>
              </a:solidFill>
              <a:latin typeface="微软雅黑" panose="020B0503020204020204" pitchFamily="34" charset="-122"/>
              <a:ea typeface="微软雅黑" panose="020B0503020204020204" pitchFamily="34" charset="-122"/>
              <a:cs typeface="+mn-cs"/>
            </a:endParaRPr>
          </a:p>
          <a:p>
            <a:pPr defTabSz="914400">
              <a:spcBef>
                <a:spcPct val="0"/>
              </a:spcBef>
            </a:pPr>
            <a:r>
              <a:rPr lang="en-US" altLang="zh-CN" sz="2000" b="1" kern="1200" baseline="0" dirty="0">
                <a:solidFill>
                  <a:schemeClr val="accent3">
                    <a:lumMod val="75000"/>
                  </a:schemeClr>
                </a:solidFill>
                <a:latin typeface="微软雅黑" panose="020B0503020204020204" pitchFamily="34" charset="-122"/>
                <a:ea typeface="微软雅黑" panose="020B0503020204020204" pitchFamily="34" charset="-122"/>
                <a:cs typeface="+mn-cs"/>
              </a:rPr>
              <a:t>NOIP</a:t>
            </a:r>
            <a:r>
              <a:rPr lang="zh-CN" altLang="en-US" sz="2000" b="1" kern="1200" baseline="0" dirty="0">
                <a:solidFill>
                  <a:schemeClr val="accent3">
                    <a:lumMod val="75000"/>
                  </a:schemeClr>
                </a:solidFill>
                <a:latin typeface="微软雅黑" panose="020B0503020204020204" pitchFamily="34" charset="-122"/>
                <a:ea typeface="微软雅黑" panose="020B0503020204020204" pitchFamily="34" charset="-122"/>
                <a:cs typeface="+mn-cs"/>
              </a:rPr>
              <a:t>是全国青少年信息学奥林匹克联赛。每年由中国计算机学会统一组织比赛。</a:t>
            </a:r>
            <a:endParaRPr lang="en-US" altLang="zh-CN" sz="2000" b="1" kern="1200" baseline="0" dirty="0">
              <a:solidFill>
                <a:schemeClr val="accent3">
                  <a:lumMod val="75000"/>
                </a:schemeClr>
              </a:solidFill>
              <a:latin typeface="微软雅黑" panose="020B0503020204020204" pitchFamily="34" charset="-122"/>
              <a:ea typeface="微软雅黑" panose="020B0503020204020204" pitchFamily="34" charset="-122"/>
              <a:cs typeface="+mn-cs"/>
            </a:endParaRPr>
          </a:p>
          <a:p>
            <a:pPr defTabSz="914400">
              <a:spcBef>
                <a:spcPct val="0"/>
              </a:spcBef>
            </a:pPr>
            <a:endParaRPr lang="en-US" altLang="zh-CN" sz="2000" b="1" kern="1200" baseline="0" dirty="0">
              <a:solidFill>
                <a:schemeClr val="accent3">
                  <a:lumMod val="75000"/>
                </a:schemeClr>
              </a:solidFill>
              <a:latin typeface="微软雅黑" panose="020B0503020204020204" pitchFamily="34" charset="-122"/>
              <a:ea typeface="微软雅黑" panose="020B0503020204020204" pitchFamily="34" charset="-122"/>
              <a:cs typeface="+mn-cs"/>
            </a:endParaRPr>
          </a:p>
          <a:p>
            <a:pPr defTabSz="914400">
              <a:spcBef>
                <a:spcPct val="0"/>
              </a:spcBef>
            </a:pPr>
            <a:r>
              <a:rPr lang="en-US" altLang="zh-CN" sz="2000" b="1" kern="1200" baseline="0" dirty="0">
                <a:solidFill>
                  <a:schemeClr val="accent3">
                    <a:lumMod val="75000"/>
                  </a:schemeClr>
                </a:solidFill>
                <a:latin typeface="微软雅黑" panose="020B0503020204020204" pitchFamily="34" charset="-122"/>
                <a:ea typeface="微软雅黑" panose="020B0503020204020204" pitchFamily="34" charset="-122"/>
                <a:cs typeface="+mn-cs"/>
              </a:rPr>
              <a:t>NOIP</a:t>
            </a:r>
            <a:r>
              <a:rPr lang="zh-CN" altLang="en-US" sz="2000" b="1" kern="1200" baseline="0" dirty="0">
                <a:solidFill>
                  <a:schemeClr val="accent3">
                    <a:lumMod val="75000"/>
                  </a:schemeClr>
                </a:solidFill>
                <a:latin typeface="微软雅黑" panose="020B0503020204020204" pitchFamily="34" charset="-122"/>
                <a:ea typeface="微软雅黑" panose="020B0503020204020204" pitchFamily="34" charset="-122"/>
                <a:cs typeface="+mn-cs"/>
              </a:rPr>
              <a:t>。全国统一大纲、统一试卷。初、高中或其他中等专业学校的学生可报名参加联赛。</a:t>
            </a:r>
            <a:endParaRPr lang="en-US" altLang="zh-CN" sz="2000" b="1" kern="1200" baseline="0" dirty="0">
              <a:solidFill>
                <a:schemeClr val="accent3">
                  <a:lumMod val="75000"/>
                </a:schemeClr>
              </a:solidFill>
              <a:latin typeface="微软雅黑" panose="020B0503020204020204" pitchFamily="34" charset="-122"/>
              <a:ea typeface="微软雅黑" panose="020B0503020204020204" pitchFamily="34" charset="-122"/>
              <a:cs typeface="+mn-cs"/>
            </a:endParaRPr>
          </a:p>
          <a:p>
            <a:pPr defTabSz="914400">
              <a:spcBef>
                <a:spcPct val="0"/>
              </a:spcBef>
            </a:pPr>
            <a:endParaRPr lang="en-US" altLang="zh-CN" sz="2000" b="1" kern="1200" baseline="0" dirty="0">
              <a:solidFill>
                <a:schemeClr val="accent3">
                  <a:lumMod val="75000"/>
                </a:schemeClr>
              </a:solidFill>
              <a:latin typeface="微软雅黑" panose="020B0503020204020204" pitchFamily="34" charset="-122"/>
              <a:ea typeface="微软雅黑" panose="020B0503020204020204" pitchFamily="34" charset="-122"/>
              <a:cs typeface="+mn-cs"/>
            </a:endParaRPr>
          </a:p>
          <a:p>
            <a:pPr defTabSz="914400">
              <a:spcBef>
                <a:spcPct val="0"/>
              </a:spcBef>
            </a:pPr>
            <a:r>
              <a:rPr lang="zh-CN" altLang="en-US" sz="2000" b="1" kern="1200" baseline="0" dirty="0">
                <a:solidFill>
                  <a:schemeClr val="accent3">
                    <a:lumMod val="75000"/>
                  </a:schemeClr>
                </a:solidFill>
                <a:latin typeface="微软雅黑" panose="020B0503020204020204" pitchFamily="34" charset="-122"/>
                <a:ea typeface="微软雅黑" panose="020B0503020204020204" pitchFamily="34" charset="-122"/>
                <a:cs typeface="+mn-cs"/>
              </a:rPr>
              <a:t>联赛分初赛和复赛两个阶段。初赛考察计算机科学基础知识，以笔试形式（做试卷）进行。复赛为编程，须在计算机上编程完成。参加初赛者须达到一定分数线后才有资格参加复赛。联赛分普及组和提高组两个组别，难度不同，分别面向初中和高中阶段的学生，也就是一般初中生参加普及组，高中生参加提高组。有些省市小学生也可以向特派员报名参赛。</a:t>
            </a:r>
          </a:p>
          <a:p>
            <a:endParaRPr lang="zh-CN" altLang="en-US" dirty="0"/>
          </a:p>
        </p:txBody>
      </p:sp>
      <p:sp>
        <p:nvSpPr>
          <p:cNvPr id="4" name="灯片编号占位符 3"/>
          <p:cNvSpPr>
            <a:spLocks noGrp="1"/>
          </p:cNvSpPr>
          <p:nvPr>
            <p:ph type="sldNum" sz="quarter" idx="10"/>
          </p:nvPr>
        </p:nvSpPr>
        <p:spPr/>
        <p:txBody>
          <a:bodyPr/>
          <a:lstStyle/>
          <a:p>
            <a:fld id="{4E38F04A-84B0-4E5D-A1A7-EE43D6EF2A66}" type="slidenum">
              <a:rPr lang="zh-CN" altLang="en-US" smtClean="0"/>
              <a:t>11</a:t>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1218565" rtl="0" eaLnBrk="1" fontAlgn="auto" latinLnBrk="0" hangingPunct="1">
              <a:lnSpc>
                <a:spcPct val="100000"/>
              </a:lnSpc>
              <a:spcBef>
                <a:spcPts val="0"/>
              </a:spcBef>
              <a:spcAft>
                <a:spcPts val="0"/>
              </a:spcAft>
              <a:buClrTx/>
              <a:buSzTx/>
              <a:buFont typeface="Arial" panose="020B0604020202020204" pitchFamily="34" charset="0"/>
              <a:buNone/>
              <a:defRPr/>
            </a:pPr>
            <a:r>
              <a:rPr lang="zh-CN" altLang="en-US" sz="1800" b="1" kern="1200" baseline="0" dirty="0">
                <a:solidFill>
                  <a:schemeClr val="accent3">
                    <a:lumMod val="75000"/>
                  </a:schemeClr>
                </a:solidFill>
                <a:latin typeface="微软雅黑" panose="020B0503020204020204" pitchFamily="34" charset="-122"/>
                <a:ea typeface="微软雅黑" panose="020B0503020204020204" pitchFamily="34" charset="-122"/>
                <a:cs typeface="+mn-cs"/>
              </a:rPr>
              <a:t>全国青少年信息学奥林匹克（</a:t>
            </a:r>
            <a:r>
              <a:rPr lang="en-US" altLang="zh-CN" sz="1800" b="1" kern="1200" baseline="0" dirty="0">
                <a:solidFill>
                  <a:schemeClr val="accent3">
                    <a:lumMod val="75000"/>
                  </a:schemeClr>
                </a:solidFill>
                <a:latin typeface="微软雅黑" panose="020B0503020204020204" pitchFamily="34" charset="-122"/>
                <a:ea typeface="微软雅黑" panose="020B0503020204020204" pitchFamily="34" charset="-122"/>
                <a:cs typeface="+mn-cs"/>
              </a:rPr>
              <a:t>NOI</a:t>
            </a:r>
            <a:r>
              <a:rPr lang="zh-CN" altLang="en-US" sz="1800" b="1" kern="1200" baseline="0" dirty="0">
                <a:solidFill>
                  <a:schemeClr val="accent3">
                    <a:lumMod val="75000"/>
                  </a:schemeClr>
                </a:solidFill>
                <a:latin typeface="微软雅黑" panose="020B0503020204020204" pitchFamily="34" charset="-122"/>
                <a:ea typeface="微软雅黑" panose="020B0503020204020204" pitchFamily="34" charset="-122"/>
                <a:cs typeface="+mn-cs"/>
              </a:rPr>
              <a:t>）是国内包括港澳在内的省级代表队最高水平的大赛，自</a:t>
            </a:r>
            <a:r>
              <a:rPr lang="en-US" altLang="zh-CN" sz="1800" b="1" kern="1200" baseline="0" dirty="0">
                <a:solidFill>
                  <a:schemeClr val="accent3">
                    <a:lumMod val="75000"/>
                  </a:schemeClr>
                </a:solidFill>
                <a:latin typeface="微软雅黑" panose="020B0503020204020204" pitchFamily="34" charset="-122"/>
                <a:ea typeface="微软雅黑" panose="020B0503020204020204" pitchFamily="34" charset="-122"/>
                <a:cs typeface="+mn-cs"/>
              </a:rPr>
              <a:t>1984</a:t>
            </a:r>
            <a:r>
              <a:rPr lang="zh-CN" altLang="en-US" sz="1800" b="1" kern="1200" baseline="0" dirty="0">
                <a:solidFill>
                  <a:schemeClr val="accent3">
                    <a:lumMod val="75000"/>
                  </a:schemeClr>
                </a:solidFill>
                <a:latin typeface="微软雅黑" panose="020B0503020204020204" pitchFamily="34" charset="-122"/>
                <a:ea typeface="微软雅黑" panose="020B0503020204020204" pitchFamily="34" charset="-122"/>
                <a:cs typeface="+mn-cs"/>
              </a:rPr>
              <a:t>年至今，在国内包括香港、澳门组织竞赛活动。每年经各省选拔产生</a:t>
            </a:r>
            <a:r>
              <a:rPr lang="en-US" altLang="zh-CN" sz="1800" b="1" kern="1200" baseline="0" dirty="0">
                <a:solidFill>
                  <a:schemeClr val="accent3">
                    <a:lumMod val="75000"/>
                  </a:schemeClr>
                </a:solidFill>
                <a:latin typeface="微软雅黑" panose="020B0503020204020204" pitchFamily="34" charset="-122"/>
                <a:ea typeface="微软雅黑" panose="020B0503020204020204" pitchFamily="34" charset="-122"/>
                <a:cs typeface="+mn-cs"/>
              </a:rPr>
              <a:t>5</a:t>
            </a:r>
            <a:r>
              <a:rPr lang="zh-CN" altLang="en-US" sz="1800" b="1" kern="1200" baseline="0" dirty="0">
                <a:solidFill>
                  <a:schemeClr val="accent3">
                    <a:lumMod val="75000"/>
                  </a:schemeClr>
                </a:solidFill>
                <a:latin typeface="微软雅黑" panose="020B0503020204020204" pitchFamily="34" charset="-122"/>
                <a:ea typeface="微软雅黑" panose="020B0503020204020204" pitchFamily="34" charset="-122"/>
                <a:cs typeface="+mn-cs"/>
              </a:rPr>
              <a:t>名选手（其中一名是女选手），由中国计算机学会在计算机普及较好的城市组织进行比赛。这一竞赛记个人成绩，同时记团体总分。</a:t>
            </a:r>
            <a:endParaRPr lang="en-US" altLang="zh-CN" sz="1800" b="1" kern="1200" baseline="0" dirty="0">
              <a:solidFill>
                <a:schemeClr val="accent3">
                  <a:lumMod val="75000"/>
                </a:schemeClr>
              </a:solidFill>
              <a:latin typeface="微软雅黑" panose="020B0503020204020204" pitchFamily="34" charset="-122"/>
              <a:ea typeface="微软雅黑" panose="020B0503020204020204" pitchFamily="34" charset="-122"/>
              <a:cs typeface="+mn-cs"/>
            </a:endParaRPr>
          </a:p>
          <a:p>
            <a:pPr defTabSz="914400">
              <a:spcBef>
                <a:spcPct val="0"/>
              </a:spcBef>
            </a:pPr>
            <a:r>
              <a:rPr lang="en-US" altLang="zh-CN" sz="2000" b="1" kern="1200" baseline="0" dirty="0">
                <a:solidFill>
                  <a:schemeClr val="accent3">
                    <a:lumMod val="75000"/>
                  </a:schemeClr>
                </a:solidFill>
                <a:latin typeface="微软雅黑" panose="020B0503020204020204" pitchFamily="34" charset="-122"/>
                <a:ea typeface="微软雅黑" panose="020B0503020204020204" pitchFamily="34" charset="-122"/>
                <a:cs typeface="+mn-cs"/>
              </a:rPr>
              <a:t>NOIP</a:t>
            </a:r>
            <a:r>
              <a:rPr lang="zh-CN" altLang="en-US" sz="2000" b="1" kern="1200" baseline="0" dirty="0">
                <a:solidFill>
                  <a:schemeClr val="accent3">
                    <a:lumMod val="75000"/>
                  </a:schemeClr>
                </a:solidFill>
                <a:latin typeface="微软雅黑" panose="020B0503020204020204" pitchFamily="34" charset="-122"/>
                <a:ea typeface="微软雅黑" panose="020B0503020204020204" pitchFamily="34" charset="-122"/>
                <a:cs typeface="+mn-cs"/>
              </a:rPr>
              <a:t>是全国青少年信息学奥林匹克联赛。每年由中国计算机学会统一组织比赛。</a:t>
            </a:r>
            <a:endParaRPr lang="en-US" altLang="zh-CN" sz="2000" b="1" kern="1200" baseline="0" dirty="0">
              <a:solidFill>
                <a:schemeClr val="accent3">
                  <a:lumMod val="75000"/>
                </a:schemeClr>
              </a:solidFill>
              <a:latin typeface="微软雅黑" panose="020B0503020204020204" pitchFamily="34" charset="-122"/>
              <a:ea typeface="微软雅黑" panose="020B0503020204020204" pitchFamily="34" charset="-122"/>
              <a:cs typeface="+mn-cs"/>
            </a:endParaRPr>
          </a:p>
          <a:p>
            <a:pPr defTabSz="914400">
              <a:spcBef>
                <a:spcPct val="0"/>
              </a:spcBef>
            </a:pPr>
            <a:endParaRPr lang="en-US" altLang="zh-CN" sz="2000" b="1" kern="1200" baseline="0" dirty="0">
              <a:solidFill>
                <a:schemeClr val="accent3">
                  <a:lumMod val="75000"/>
                </a:schemeClr>
              </a:solidFill>
              <a:latin typeface="微软雅黑" panose="020B0503020204020204" pitchFamily="34" charset="-122"/>
              <a:ea typeface="微软雅黑" panose="020B0503020204020204" pitchFamily="34" charset="-122"/>
              <a:cs typeface="+mn-cs"/>
            </a:endParaRPr>
          </a:p>
          <a:p>
            <a:pPr defTabSz="914400">
              <a:spcBef>
                <a:spcPct val="0"/>
              </a:spcBef>
            </a:pPr>
            <a:r>
              <a:rPr lang="en-US" altLang="zh-CN" sz="2000" b="1" kern="1200" baseline="0" dirty="0">
                <a:solidFill>
                  <a:schemeClr val="accent3">
                    <a:lumMod val="75000"/>
                  </a:schemeClr>
                </a:solidFill>
                <a:latin typeface="微软雅黑" panose="020B0503020204020204" pitchFamily="34" charset="-122"/>
                <a:ea typeface="微软雅黑" panose="020B0503020204020204" pitchFamily="34" charset="-122"/>
                <a:cs typeface="+mn-cs"/>
              </a:rPr>
              <a:t>NOIP</a:t>
            </a:r>
            <a:r>
              <a:rPr lang="zh-CN" altLang="en-US" sz="2000" b="1" kern="1200" baseline="0" dirty="0">
                <a:solidFill>
                  <a:schemeClr val="accent3">
                    <a:lumMod val="75000"/>
                  </a:schemeClr>
                </a:solidFill>
                <a:latin typeface="微软雅黑" panose="020B0503020204020204" pitchFamily="34" charset="-122"/>
                <a:ea typeface="微软雅黑" panose="020B0503020204020204" pitchFamily="34" charset="-122"/>
                <a:cs typeface="+mn-cs"/>
              </a:rPr>
              <a:t>。全国统一大纲、统一试卷。初、高中或其他中等专业学校的学生可报名参加联赛。</a:t>
            </a:r>
            <a:endParaRPr lang="en-US" altLang="zh-CN" sz="2000" b="1" kern="1200" baseline="0" dirty="0">
              <a:solidFill>
                <a:schemeClr val="accent3">
                  <a:lumMod val="75000"/>
                </a:schemeClr>
              </a:solidFill>
              <a:latin typeface="微软雅黑" panose="020B0503020204020204" pitchFamily="34" charset="-122"/>
              <a:ea typeface="微软雅黑" panose="020B0503020204020204" pitchFamily="34" charset="-122"/>
              <a:cs typeface="+mn-cs"/>
            </a:endParaRPr>
          </a:p>
          <a:p>
            <a:pPr defTabSz="914400">
              <a:spcBef>
                <a:spcPct val="0"/>
              </a:spcBef>
            </a:pPr>
            <a:endParaRPr lang="en-US" altLang="zh-CN" sz="2000" b="1" kern="1200" baseline="0" dirty="0">
              <a:solidFill>
                <a:schemeClr val="accent3">
                  <a:lumMod val="75000"/>
                </a:schemeClr>
              </a:solidFill>
              <a:latin typeface="微软雅黑" panose="020B0503020204020204" pitchFamily="34" charset="-122"/>
              <a:ea typeface="微软雅黑" panose="020B0503020204020204" pitchFamily="34" charset="-122"/>
              <a:cs typeface="+mn-cs"/>
            </a:endParaRPr>
          </a:p>
          <a:p>
            <a:pPr defTabSz="914400">
              <a:spcBef>
                <a:spcPct val="0"/>
              </a:spcBef>
            </a:pPr>
            <a:r>
              <a:rPr lang="zh-CN" altLang="en-US" sz="2000" b="1" kern="1200" baseline="0" dirty="0">
                <a:solidFill>
                  <a:schemeClr val="accent3">
                    <a:lumMod val="75000"/>
                  </a:schemeClr>
                </a:solidFill>
                <a:latin typeface="微软雅黑" panose="020B0503020204020204" pitchFamily="34" charset="-122"/>
                <a:ea typeface="微软雅黑" panose="020B0503020204020204" pitchFamily="34" charset="-122"/>
                <a:cs typeface="+mn-cs"/>
              </a:rPr>
              <a:t>联赛分初赛和复赛两个阶段。初赛考察计算机科学基础知识，以笔试形式（做试卷）进行。复赛为编程，须在计算机上编程完成。参加初赛者须达到一定分数线后才有资格参加复赛。联赛分普及组和提高组两个组别，难度不同，分别面向初中和高中阶段的学生，也就是一般初中生参加普及组，高中生参加提高组。有些省市小学生也可以向特派员报名参赛。</a:t>
            </a:r>
          </a:p>
          <a:p>
            <a:endParaRPr lang="zh-CN" altLang="en-US" dirty="0"/>
          </a:p>
        </p:txBody>
      </p:sp>
      <p:sp>
        <p:nvSpPr>
          <p:cNvPr id="4" name="灯片编号占位符 3"/>
          <p:cNvSpPr>
            <a:spLocks noGrp="1"/>
          </p:cNvSpPr>
          <p:nvPr>
            <p:ph type="sldNum" sz="quarter" idx="10"/>
          </p:nvPr>
        </p:nvSpPr>
        <p:spPr/>
        <p:txBody>
          <a:bodyPr/>
          <a:lstStyle/>
          <a:p>
            <a:fld id="{4E38F04A-84B0-4E5D-A1A7-EE43D6EF2A66}" type="slidenum">
              <a:rPr lang="zh-CN" altLang="en-US" smtClean="0"/>
              <a:t>12</a:t>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1218565" rtl="0" eaLnBrk="1" fontAlgn="auto" latinLnBrk="0" hangingPunct="1">
              <a:lnSpc>
                <a:spcPct val="100000"/>
              </a:lnSpc>
              <a:spcBef>
                <a:spcPts val="0"/>
              </a:spcBef>
              <a:spcAft>
                <a:spcPts val="0"/>
              </a:spcAft>
              <a:buClrTx/>
              <a:buSzTx/>
              <a:buFont typeface="Arial" panose="020B0604020202020204" pitchFamily="34" charset="0"/>
              <a:buNone/>
              <a:defRPr/>
            </a:pPr>
            <a:r>
              <a:rPr lang="zh-CN" altLang="en-US" sz="1800" b="1" kern="1200" baseline="0" dirty="0">
                <a:solidFill>
                  <a:schemeClr val="accent3">
                    <a:lumMod val="75000"/>
                  </a:schemeClr>
                </a:solidFill>
                <a:latin typeface="微软雅黑" panose="020B0503020204020204" pitchFamily="34" charset="-122"/>
                <a:ea typeface="微软雅黑" panose="020B0503020204020204" pitchFamily="34" charset="-122"/>
                <a:cs typeface="+mn-cs"/>
              </a:rPr>
              <a:t>全国青少年信息学奥林匹克（</a:t>
            </a:r>
            <a:r>
              <a:rPr lang="en-US" altLang="zh-CN" sz="1800" b="1" kern="1200" baseline="0" dirty="0">
                <a:solidFill>
                  <a:schemeClr val="accent3">
                    <a:lumMod val="75000"/>
                  </a:schemeClr>
                </a:solidFill>
                <a:latin typeface="微软雅黑" panose="020B0503020204020204" pitchFamily="34" charset="-122"/>
                <a:ea typeface="微软雅黑" panose="020B0503020204020204" pitchFamily="34" charset="-122"/>
                <a:cs typeface="+mn-cs"/>
              </a:rPr>
              <a:t>NOI</a:t>
            </a:r>
            <a:r>
              <a:rPr lang="zh-CN" altLang="en-US" sz="1800" b="1" kern="1200" baseline="0" dirty="0">
                <a:solidFill>
                  <a:schemeClr val="accent3">
                    <a:lumMod val="75000"/>
                  </a:schemeClr>
                </a:solidFill>
                <a:latin typeface="微软雅黑" panose="020B0503020204020204" pitchFamily="34" charset="-122"/>
                <a:ea typeface="微软雅黑" panose="020B0503020204020204" pitchFamily="34" charset="-122"/>
                <a:cs typeface="+mn-cs"/>
              </a:rPr>
              <a:t>）是国内包括港澳在内的省级代表队最高水平的大赛，自</a:t>
            </a:r>
            <a:r>
              <a:rPr lang="en-US" altLang="zh-CN" sz="1800" b="1" kern="1200" baseline="0" dirty="0">
                <a:solidFill>
                  <a:schemeClr val="accent3">
                    <a:lumMod val="75000"/>
                  </a:schemeClr>
                </a:solidFill>
                <a:latin typeface="微软雅黑" panose="020B0503020204020204" pitchFamily="34" charset="-122"/>
                <a:ea typeface="微软雅黑" panose="020B0503020204020204" pitchFamily="34" charset="-122"/>
                <a:cs typeface="+mn-cs"/>
              </a:rPr>
              <a:t>1984</a:t>
            </a:r>
            <a:r>
              <a:rPr lang="zh-CN" altLang="en-US" sz="1800" b="1" kern="1200" baseline="0" dirty="0">
                <a:solidFill>
                  <a:schemeClr val="accent3">
                    <a:lumMod val="75000"/>
                  </a:schemeClr>
                </a:solidFill>
                <a:latin typeface="微软雅黑" panose="020B0503020204020204" pitchFamily="34" charset="-122"/>
                <a:ea typeface="微软雅黑" panose="020B0503020204020204" pitchFamily="34" charset="-122"/>
                <a:cs typeface="+mn-cs"/>
              </a:rPr>
              <a:t>年至今，在国内包括香港、澳门组织竞赛活动。每年经各省选拔产生</a:t>
            </a:r>
            <a:r>
              <a:rPr lang="en-US" altLang="zh-CN" sz="1800" b="1" kern="1200" baseline="0" dirty="0">
                <a:solidFill>
                  <a:schemeClr val="accent3">
                    <a:lumMod val="75000"/>
                  </a:schemeClr>
                </a:solidFill>
                <a:latin typeface="微软雅黑" panose="020B0503020204020204" pitchFamily="34" charset="-122"/>
                <a:ea typeface="微软雅黑" panose="020B0503020204020204" pitchFamily="34" charset="-122"/>
                <a:cs typeface="+mn-cs"/>
              </a:rPr>
              <a:t>5</a:t>
            </a:r>
            <a:r>
              <a:rPr lang="zh-CN" altLang="en-US" sz="1800" b="1" kern="1200" baseline="0" dirty="0">
                <a:solidFill>
                  <a:schemeClr val="accent3">
                    <a:lumMod val="75000"/>
                  </a:schemeClr>
                </a:solidFill>
                <a:latin typeface="微软雅黑" panose="020B0503020204020204" pitchFamily="34" charset="-122"/>
                <a:ea typeface="微软雅黑" panose="020B0503020204020204" pitchFamily="34" charset="-122"/>
                <a:cs typeface="+mn-cs"/>
              </a:rPr>
              <a:t>名选手（其中一名是女选手），由中国计算机学会在计算机普及较好的城市组织进行比赛。这一竞赛记个人成绩，同时记团体总分。</a:t>
            </a:r>
            <a:endParaRPr lang="en-US" altLang="zh-CN" sz="1800" b="1" kern="1200" baseline="0" dirty="0">
              <a:solidFill>
                <a:schemeClr val="accent3">
                  <a:lumMod val="75000"/>
                </a:schemeClr>
              </a:solidFill>
              <a:latin typeface="微软雅黑" panose="020B0503020204020204" pitchFamily="34" charset="-122"/>
              <a:ea typeface="微软雅黑" panose="020B0503020204020204" pitchFamily="34" charset="-122"/>
              <a:cs typeface="+mn-cs"/>
            </a:endParaRPr>
          </a:p>
          <a:p>
            <a:pPr defTabSz="914400">
              <a:spcBef>
                <a:spcPct val="0"/>
              </a:spcBef>
            </a:pPr>
            <a:r>
              <a:rPr lang="en-US" altLang="zh-CN" sz="2000" b="1" kern="1200" baseline="0" dirty="0">
                <a:solidFill>
                  <a:schemeClr val="accent3">
                    <a:lumMod val="75000"/>
                  </a:schemeClr>
                </a:solidFill>
                <a:latin typeface="微软雅黑" panose="020B0503020204020204" pitchFamily="34" charset="-122"/>
                <a:ea typeface="微软雅黑" panose="020B0503020204020204" pitchFamily="34" charset="-122"/>
                <a:cs typeface="+mn-cs"/>
              </a:rPr>
              <a:t>NOIP</a:t>
            </a:r>
            <a:r>
              <a:rPr lang="zh-CN" altLang="en-US" sz="2000" b="1" kern="1200" baseline="0" dirty="0">
                <a:solidFill>
                  <a:schemeClr val="accent3">
                    <a:lumMod val="75000"/>
                  </a:schemeClr>
                </a:solidFill>
                <a:latin typeface="微软雅黑" panose="020B0503020204020204" pitchFamily="34" charset="-122"/>
                <a:ea typeface="微软雅黑" panose="020B0503020204020204" pitchFamily="34" charset="-122"/>
                <a:cs typeface="+mn-cs"/>
              </a:rPr>
              <a:t>是全国青少年信息学奥林匹克联赛。每年由中国计算机学会统一组织比赛。</a:t>
            </a:r>
            <a:endParaRPr lang="en-US" altLang="zh-CN" sz="2000" b="1" kern="1200" baseline="0" dirty="0">
              <a:solidFill>
                <a:schemeClr val="accent3">
                  <a:lumMod val="75000"/>
                </a:schemeClr>
              </a:solidFill>
              <a:latin typeface="微软雅黑" panose="020B0503020204020204" pitchFamily="34" charset="-122"/>
              <a:ea typeface="微软雅黑" panose="020B0503020204020204" pitchFamily="34" charset="-122"/>
              <a:cs typeface="+mn-cs"/>
            </a:endParaRPr>
          </a:p>
          <a:p>
            <a:pPr defTabSz="914400">
              <a:spcBef>
                <a:spcPct val="0"/>
              </a:spcBef>
            </a:pPr>
            <a:endParaRPr lang="en-US" altLang="zh-CN" sz="2000" b="1" kern="1200" baseline="0" dirty="0">
              <a:solidFill>
                <a:schemeClr val="accent3">
                  <a:lumMod val="75000"/>
                </a:schemeClr>
              </a:solidFill>
              <a:latin typeface="微软雅黑" panose="020B0503020204020204" pitchFamily="34" charset="-122"/>
              <a:ea typeface="微软雅黑" panose="020B0503020204020204" pitchFamily="34" charset="-122"/>
              <a:cs typeface="+mn-cs"/>
            </a:endParaRPr>
          </a:p>
          <a:p>
            <a:pPr defTabSz="914400">
              <a:spcBef>
                <a:spcPct val="0"/>
              </a:spcBef>
            </a:pPr>
            <a:r>
              <a:rPr lang="en-US" altLang="zh-CN" sz="2000" b="1" kern="1200" baseline="0" dirty="0">
                <a:solidFill>
                  <a:schemeClr val="accent3">
                    <a:lumMod val="75000"/>
                  </a:schemeClr>
                </a:solidFill>
                <a:latin typeface="微软雅黑" panose="020B0503020204020204" pitchFamily="34" charset="-122"/>
                <a:ea typeface="微软雅黑" panose="020B0503020204020204" pitchFamily="34" charset="-122"/>
                <a:cs typeface="+mn-cs"/>
              </a:rPr>
              <a:t>NOIP</a:t>
            </a:r>
            <a:r>
              <a:rPr lang="zh-CN" altLang="en-US" sz="2000" b="1" kern="1200" baseline="0" dirty="0">
                <a:solidFill>
                  <a:schemeClr val="accent3">
                    <a:lumMod val="75000"/>
                  </a:schemeClr>
                </a:solidFill>
                <a:latin typeface="微软雅黑" panose="020B0503020204020204" pitchFamily="34" charset="-122"/>
                <a:ea typeface="微软雅黑" panose="020B0503020204020204" pitchFamily="34" charset="-122"/>
                <a:cs typeface="+mn-cs"/>
              </a:rPr>
              <a:t>。全国统一大纲、统一试卷。初、高中或其他中等专业学校的学生可报名参加联赛。</a:t>
            </a:r>
            <a:endParaRPr lang="en-US" altLang="zh-CN" sz="2000" b="1" kern="1200" baseline="0" dirty="0">
              <a:solidFill>
                <a:schemeClr val="accent3">
                  <a:lumMod val="75000"/>
                </a:schemeClr>
              </a:solidFill>
              <a:latin typeface="微软雅黑" panose="020B0503020204020204" pitchFamily="34" charset="-122"/>
              <a:ea typeface="微软雅黑" panose="020B0503020204020204" pitchFamily="34" charset="-122"/>
              <a:cs typeface="+mn-cs"/>
            </a:endParaRPr>
          </a:p>
          <a:p>
            <a:pPr defTabSz="914400">
              <a:spcBef>
                <a:spcPct val="0"/>
              </a:spcBef>
            </a:pPr>
            <a:endParaRPr lang="en-US" altLang="zh-CN" sz="2000" b="1" kern="1200" baseline="0" dirty="0">
              <a:solidFill>
                <a:schemeClr val="accent3">
                  <a:lumMod val="75000"/>
                </a:schemeClr>
              </a:solidFill>
              <a:latin typeface="微软雅黑" panose="020B0503020204020204" pitchFamily="34" charset="-122"/>
              <a:ea typeface="微软雅黑" panose="020B0503020204020204" pitchFamily="34" charset="-122"/>
              <a:cs typeface="+mn-cs"/>
            </a:endParaRPr>
          </a:p>
          <a:p>
            <a:pPr defTabSz="914400">
              <a:spcBef>
                <a:spcPct val="0"/>
              </a:spcBef>
            </a:pPr>
            <a:r>
              <a:rPr lang="zh-CN" altLang="en-US" sz="2000" b="1" kern="1200" baseline="0" dirty="0">
                <a:solidFill>
                  <a:schemeClr val="accent3">
                    <a:lumMod val="75000"/>
                  </a:schemeClr>
                </a:solidFill>
                <a:latin typeface="微软雅黑" panose="020B0503020204020204" pitchFamily="34" charset="-122"/>
                <a:ea typeface="微软雅黑" panose="020B0503020204020204" pitchFamily="34" charset="-122"/>
                <a:cs typeface="+mn-cs"/>
              </a:rPr>
              <a:t>联赛分初赛和复赛两个阶段。初赛考察计算机科学基础知识，以笔试形式（做试卷）进行。复赛为编程，须在计算机上编程完成。参加初赛者须达到一定分数线后才有资格参加复赛。联赛分普及组和提高组两个组别，难度不同，分别面向初中和高中阶段的学生，也就是一般初中生参加普及组，高中生参加提高组。有些省市小学生也可以向特派员报名参赛。</a:t>
            </a:r>
          </a:p>
          <a:p>
            <a:endParaRPr lang="zh-CN" altLang="en-US" dirty="0"/>
          </a:p>
        </p:txBody>
      </p:sp>
      <p:sp>
        <p:nvSpPr>
          <p:cNvPr id="4" name="灯片编号占位符 3"/>
          <p:cNvSpPr>
            <a:spLocks noGrp="1"/>
          </p:cNvSpPr>
          <p:nvPr>
            <p:ph type="sldNum" sz="quarter" idx="10"/>
          </p:nvPr>
        </p:nvSpPr>
        <p:spPr/>
        <p:txBody>
          <a:bodyPr/>
          <a:lstStyle/>
          <a:p>
            <a:fld id="{4E38F04A-84B0-4E5D-A1A7-EE43D6EF2A66}" type="slidenum">
              <a:rPr lang="zh-CN" altLang="en-US" smtClean="0"/>
              <a:t>13</a:t>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1218565" rtl="0" eaLnBrk="1" fontAlgn="auto" latinLnBrk="0" hangingPunct="1">
              <a:lnSpc>
                <a:spcPct val="100000"/>
              </a:lnSpc>
              <a:spcBef>
                <a:spcPts val="0"/>
              </a:spcBef>
              <a:spcAft>
                <a:spcPts val="0"/>
              </a:spcAft>
              <a:buClrTx/>
              <a:buSzTx/>
              <a:buFont typeface="Arial" panose="020B0604020202020204" pitchFamily="34" charset="0"/>
              <a:buNone/>
              <a:defRPr/>
            </a:pPr>
            <a:r>
              <a:rPr lang="zh-CN" altLang="en-US" sz="1800" b="1" kern="1200" baseline="0" dirty="0">
                <a:solidFill>
                  <a:schemeClr val="accent3">
                    <a:lumMod val="75000"/>
                  </a:schemeClr>
                </a:solidFill>
                <a:latin typeface="微软雅黑" panose="020B0503020204020204" pitchFamily="34" charset="-122"/>
                <a:ea typeface="微软雅黑" panose="020B0503020204020204" pitchFamily="34" charset="-122"/>
                <a:cs typeface="+mn-cs"/>
              </a:rPr>
              <a:t>全国青少年信息学奥林匹克（</a:t>
            </a:r>
            <a:r>
              <a:rPr lang="en-US" altLang="zh-CN" sz="1800" b="1" kern="1200" baseline="0" dirty="0">
                <a:solidFill>
                  <a:schemeClr val="accent3">
                    <a:lumMod val="75000"/>
                  </a:schemeClr>
                </a:solidFill>
                <a:latin typeface="微软雅黑" panose="020B0503020204020204" pitchFamily="34" charset="-122"/>
                <a:ea typeface="微软雅黑" panose="020B0503020204020204" pitchFamily="34" charset="-122"/>
                <a:cs typeface="+mn-cs"/>
              </a:rPr>
              <a:t>NOI</a:t>
            </a:r>
            <a:r>
              <a:rPr lang="zh-CN" altLang="en-US" sz="1800" b="1" kern="1200" baseline="0" dirty="0">
                <a:solidFill>
                  <a:schemeClr val="accent3">
                    <a:lumMod val="75000"/>
                  </a:schemeClr>
                </a:solidFill>
                <a:latin typeface="微软雅黑" panose="020B0503020204020204" pitchFamily="34" charset="-122"/>
                <a:ea typeface="微软雅黑" panose="020B0503020204020204" pitchFamily="34" charset="-122"/>
                <a:cs typeface="+mn-cs"/>
              </a:rPr>
              <a:t>）是国内包括港澳在内的省级代表队最高水平的大赛，自</a:t>
            </a:r>
            <a:r>
              <a:rPr lang="en-US" altLang="zh-CN" sz="1800" b="1" kern="1200" baseline="0" dirty="0">
                <a:solidFill>
                  <a:schemeClr val="accent3">
                    <a:lumMod val="75000"/>
                  </a:schemeClr>
                </a:solidFill>
                <a:latin typeface="微软雅黑" panose="020B0503020204020204" pitchFamily="34" charset="-122"/>
                <a:ea typeface="微软雅黑" panose="020B0503020204020204" pitchFamily="34" charset="-122"/>
                <a:cs typeface="+mn-cs"/>
              </a:rPr>
              <a:t>1984</a:t>
            </a:r>
            <a:r>
              <a:rPr lang="zh-CN" altLang="en-US" sz="1800" b="1" kern="1200" baseline="0" dirty="0">
                <a:solidFill>
                  <a:schemeClr val="accent3">
                    <a:lumMod val="75000"/>
                  </a:schemeClr>
                </a:solidFill>
                <a:latin typeface="微软雅黑" panose="020B0503020204020204" pitchFamily="34" charset="-122"/>
                <a:ea typeface="微软雅黑" panose="020B0503020204020204" pitchFamily="34" charset="-122"/>
                <a:cs typeface="+mn-cs"/>
              </a:rPr>
              <a:t>年至今，在国内包括香港、澳门组织竞赛活动。每年经各省选拔产生</a:t>
            </a:r>
            <a:r>
              <a:rPr lang="en-US" altLang="zh-CN" sz="1800" b="1" kern="1200" baseline="0" dirty="0">
                <a:solidFill>
                  <a:schemeClr val="accent3">
                    <a:lumMod val="75000"/>
                  </a:schemeClr>
                </a:solidFill>
                <a:latin typeface="微软雅黑" panose="020B0503020204020204" pitchFamily="34" charset="-122"/>
                <a:ea typeface="微软雅黑" panose="020B0503020204020204" pitchFamily="34" charset="-122"/>
                <a:cs typeface="+mn-cs"/>
              </a:rPr>
              <a:t>5</a:t>
            </a:r>
            <a:r>
              <a:rPr lang="zh-CN" altLang="en-US" sz="1800" b="1" kern="1200" baseline="0" dirty="0">
                <a:solidFill>
                  <a:schemeClr val="accent3">
                    <a:lumMod val="75000"/>
                  </a:schemeClr>
                </a:solidFill>
                <a:latin typeface="微软雅黑" panose="020B0503020204020204" pitchFamily="34" charset="-122"/>
                <a:ea typeface="微软雅黑" panose="020B0503020204020204" pitchFamily="34" charset="-122"/>
                <a:cs typeface="+mn-cs"/>
              </a:rPr>
              <a:t>名选手（其中一名是女选手），由中国计算机学会在计算机普及较好的城市组织进行比赛。这一竞赛记个人成绩，同时记团体总分。</a:t>
            </a:r>
            <a:endParaRPr lang="en-US" altLang="zh-CN" sz="1800" b="1" kern="1200" baseline="0" dirty="0">
              <a:solidFill>
                <a:schemeClr val="accent3">
                  <a:lumMod val="75000"/>
                </a:schemeClr>
              </a:solidFill>
              <a:latin typeface="微软雅黑" panose="020B0503020204020204" pitchFamily="34" charset="-122"/>
              <a:ea typeface="微软雅黑" panose="020B0503020204020204" pitchFamily="34" charset="-122"/>
              <a:cs typeface="+mn-cs"/>
            </a:endParaRPr>
          </a:p>
          <a:p>
            <a:pPr defTabSz="914400">
              <a:spcBef>
                <a:spcPct val="0"/>
              </a:spcBef>
            </a:pPr>
            <a:r>
              <a:rPr lang="en-US" altLang="zh-CN" sz="2000" b="1" kern="1200" baseline="0" dirty="0">
                <a:solidFill>
                  <a:schemeClr val="accent3">
                    <a:lumMod val="75000"/>
                  </a:schemeClr>
                </a:solidFill>
                <a:latin typeface="微软雅黑" panose="020B0503020204020204" pitchFamily="34" charset="-122"/>
                <a:ea typeface="微软雅黑" panose="020B0503020204020204" pitchFamily="34" charset="-122"/>
                <a:cs typeface="+mn-cs"/>
              </a:rPr>
              <a:t>NOIP</a:t>
            </a:r>
            <a:r>
              <a:rPr lang="zh-CN" altLang="en-US" sz="2000" b="1" kern="1200" baseline="0" dirty="0">
                <a:solidFill>
                  <a:schemeClr val="accent3">
                    <a:lumMod val="75000"/>
                  </a:schemeClr>
                </a:solidFill>
                <a:latin typeface="微软雅黑" panose="020B0503020204020204" pitchFamily="34" charset="-122"/>
                <a:ea typeface="微软雅黑" panose="020B0503020204020204" pitchFamily="34" charset="-122"/>
                <a:cs typeface="+mn-cs"/>
              </a:rPr>
              <a:t>是全国青少年信息学奥林匹克联赛。每年由中国计算机学会统一组织比赛。</a:t>
            </a:r>
            <a:endParaRPr lang="en-US" altLang="zh-CN" sz="2000" b="1" kern="1200" baseline="0" dirty="0">
              <a:solidFill>
                <a:schemeClr val="accent3">
                  <a:lumMod val="75000"/>
                </a:schemeClr>
              </a:solidFill>
              <a:latin typeface="微软雅黑" panose="020B0503020204020204" pitchFamily="34" charset="-122"/>
              <a:ea typeface="微软雅黑" panose="020B0503020204020204" pitchFamily="34" charset="-122"/>
              <a:cs typeface="+mn-cs"/>
            </a:endParaRPr>
          </a:p>
          <a:p>
            <a:pPr defTabSz="914400">
              <a:spcBef>
                <a:spcPct val="0"/>
              </a:spcBef>
            </a:pPr>
            <a:endParaRPr lang="en-US" altLang="zh-CN" sz="2000" b="1" kern="1200" baseline="0" dirty="0">
              <a:solidFill>
                <a:schemeClr val="accent3">
                  <a:lumMod val="75000"/>
                </a:schemeClr>
              </a:solidFill>
              <a:latin typeface="微软雅黑" panose="020B0503020204020204" pitchFamily="34" charset="-122"/>
              <a:ea typeface="微软雅黑" panose="020B0503020204020204" pitchFamily="34" charset="-122"/>
              <a:cs typeface="+mn-cs"/>
            </a:endParaRPr>
          </a:p>
          <a:p>
            <a:pPr defTabSz="914400">
              <a:spcBef>
                <a:spcPct val="0"/>
              </a:spcBef>
            </a:pPr>
            <a:r>
              <a:rPr lang="en-US" altLang="zh-CN" sz="2000" b="1" kern="1200" baseline="0" dirty="0">
                <a:solidFill>
                  <a:schemeClr val="accent3">
                    <a:lumMod val="75000"/>
                  </a:schemeClr>
                </a:solidFill>
                <a:latin typeface="微软雅黑" panose="020B0503020204020204" pitchFamily="34" charset="-122"/>
                <a:ea typeface="微软雅黑" panose="020B0503020204020204" pitchFamily="34" charset="-122"/>
                <a:cs typeface="+mn-cs"/>
              </a:rPr>
              <a:t>NOIP</a:t>
            </a:r>
            <a:r>
              <a:rPr lang="zh-CN" altLang="en-US" sz="2000" b="1" kern="1200" baseline="0" dirty="0">
                <a:solidFill>
                  <a:schemeClr val="accent3">
                    <a:lumMod val="75000"/>
                  </a:schemeClr>
                </a:solidFill>
                <a:latin typeface="微软雅黑" panose="020B0503020204020204" pitchFamily="34" charset="-122"/>
                <a:ea typeface="微软雅黑" panose="020B0503020204020204" pitchFamily="34" charset="-122"/>
                <a:cs typeface="+mn-cs"/>
              </a:rPr>
              <a:t>。全国统一大纲、统一试卷。初、高中或其他中等专业学校的学生可报名参加联赛。</a:t>
            </a:r>
            <a:endParaRPr lang="en-US" altLang="zh-CN" sz="2000" b="1" kern="1200" baseline="0" dirty="0">
              <a:solidFill>
                <a:schemeClr val="accent3">
                  <a:lumMod val="75000"/>
                </a:schemeClr>
              </a:solidFill>
              <a:latin typeface="微软雅黑" panose="020B0503020204020204" pitchFamily="34" charset="-122"/>
              <a:ea typeface="微软雅黑" panose="020B0503020204020204" pitchFamily="34" charset="-122"/>
              <a:cs typeface="+mn-cs"/>
            </a:endParaRPr>
          </a:p>
          <a:p>
            <a:pPr defTabSz="914400">
              <a:spcBef>
                <a:spcPct val="0"/>
              </a:spcBef>
            </a:pPr>
            <a:endParaRPr lang="en-US" altLang="zh-CN" sz="2000" b="1" kern="1200" baseline="0" dirty="0">
              <a:solidFill>
                <a:schemeClr val="accent3">
                  <a:lumMod val="75000"/>
                </a:schemeClr>
              </a:solidFill>
              <a:latin typeface="微软雅黑" panose="020B0503020204020204" pitchFamily="34" charset="-122"/>
              <a:ea typeface="微软雅黑" panose="020B0503020204020204" pitchFamily="34" charset="-122"/>
              <a:cs typeface="+mn-cs"/>
            </a:endParaRPr>
          </a:p>
          <a:p>
            <a:pPr defTabSz="914400">
              <a:spcBef>
                <a:spcPct val="0"/>
              </a:spcBef>
            </a:pPr>
            <a:r>
              <a:rPr lang="zh-CN" altLang="en-US" sz="2000" b="1" kern="1200" baseline="0" dirty="0">
                <a:solidFill>
                  <a:schemeClr val="accent3">
                    <a:lumMod val="75000"/>
                  </a:schemeClr>
                </a:solidFill>
                <a:latin typeface="微软雅黑" panose="020B0503020204020204" pitchFamily="34" charset="-122"/>
                <a:ea typeface="微软雅黑" panose="020B0503020204020204" pitchFamily="34" charset="-122"/>
                <a:cs typeface="+mn-cs"/>
              </a:rPr>
              <a:t>联赛分初赛和复赛两个阶段。初赛考察计算机科学基础知识，以笔试形式（做试卷）进行。复赛为编程，须在计算机上编程完成。参加初赛者须达到一定分数线后才有资格参加复赛。联赛分普及组和提高组两个组别，难度不同，分别面向初中和高中阶段的学生，也就是一般初中生参加普及组，高中生参加提高组。有些省市小学生也可以向特派员报名参赛。</a:t>
            </a:r>
          </a:p>
          <a:p>
            <a:endParaRPr lang="zh-CN" altLang="en-US" dirty="0"/>
          </a:p>
        </p:txBody>
      </p:sp>
      <p:sp>
        <p:nvSpPr>
          <p:cNvPr id="4" name="灯片编号占位符 3"/>
          <p:cNvSpPr>
            <a:spLocks noGrp="1"/>
          </p:cNvSpPr>
          <p:nvPr>
            <p:ph type="sldNum" sz="quarter" idx="10"/>
          </p:nvPr>
        </p:nvSpPr>
        <p:spPr/>
        <p:txBody>
          <a:bodyPr/>
          <a:lstStyle/>
          <a:p>
            <a:fld id="{4E38F04A-84B0-4E5D-A1A7-EE43D6EF2A66}" type="slidenum">
              <a:rPr lang="zh-CN" altLang="en-US" smtClean="0"/>
              <a:t>14</a:t>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1218565" rtl="0" eaLnBrk="1" fontAlgn="auto" latinLnBrk="0" hangingPunct="1">
              <a:lnSpc>
                <a:spcPct val="100000"/>
              </a:lnSpc>
              <a:spcBef>
                <a:spcPts val="0"/>
              </a:spcBef>
              <a:spcAft>
                <a:spcPts val="0"/>
              </a:spcAft>
              <a:buClrTx/>
              <a:buSzTx/>
              <a:buFont typeface="Arial" panose="020B0604020202020204" pitchFamily="34" charset="0"/>
              <a:buNone/>
              <a:defRPr/>
            </a:pPr>
            <a:r>
              <a:rPr lang="zh-CN" altLang="en-US" sz="1800" b="1" kern="1200" baseline="0" dirty="0">
                <a:solidFill>
                  <a:schemeClr val="accent3">
                    <a:lumMod val="75000"/>
                  </a:schemeClr>
                </a:solidFill>
                <a:latin typeface="微软雅黑" panose="020B0503020204020204" pitchFamily="34" charset="-122"/>
                <a:ea typeface="微软雅黑" panose="020B0503020204020204" pitchFamily="34" charset="-122"/>
                <a:cs typeface="+mn-cs"/>
              </a:rPr>
              <a:t>全国青少年信息学奥林匹克（</a:t>
            </a:r>
            <a:r>
              <a:rPr lang="en-US" altLang="zh-CN" sz="1800" b="1" kern="1200" baseline="0" dirty="0">
                <a:solidFill>
                  <a:schemeClr val="accent3">
                    <a:lumMod val="75000"/>
                  </a:schemeClr>
                </a:solidFill>
                <a:latin typeface="微软雅黑" panose="020B0503020204020204" pitchFamily="34" charset="-122"/>
                <a:ea typeface="微软雅黑" panose="020B0503020204020204" pitchFamily="34" charset="-122"/>
                <a:cs typeface="+mn-cs"/>
              </a:rPr>
              <a:t>NOI</a:t>
            </a:r>
            <a:r>
              <a:rPr lang="zh-CN" altLang="en-US" sz="1800" b="1" kern="1200" baseline="0" dirty="0">
                <a:solidFill>
                  <a:schemeClr val="accent3">
                    <a:lumMod val="75000"/>
                  </a:schemeClr>
                </a:solidFill>
                <a:latin typeface="微软雅黑" panose="020B0503020204020204" pitchFamily="34" charset="-122"/>
                <a:ea typeface="微软雅黑" panose="020B0503020204020204" pitchFamily="34" charset="-122"/>
                <a:cs typeface="+mn-cs"/>
              </a:rPr>
              <a:t>）是国内包括港澳在内的省级代表队最高水平的大赛，自</a:t>
            </a:r>
            <a:r>
              <a:rPr lang="en-US" altLang="zh-CN" sz="1800" b="1" kern="1200" baseline="0" dirty="0">
                <a:solidFill>
                  <a:schemeClr val="accent3">
                    <a:lumMod val="75000"/>
                  </a:schemeClr>
                </a:solidFill>
                <a:latin typeface="微软雅黑" panose="020B0503020204020204" pitchFamily="34" charset="-122"/>
                <a:ea typeface="微软雅黑" panose="020B0503020204020204" pitchFamily="34" charset="-122"/>
                <a:cs typeface="+mn-cs"/>
              </a:rPr>
              <a:t>1984</a:t>
            </a:r>
            <a:r>
              <a:rPr lang="zh-CN" altLang="en-US" sz="1800" b="1" kern="1200" baseline="0" dirty="0">
                <a:solidFill>
                  <a:schemeClr val="accent3">
                    <a:lumMod val="75000"/>
                  </a:schemeClr>
                </a:solidFill>
                <a:latin typeface="微软雅黑" panose="020B0503020204020204" pitchFamily="34" charset="-122"/>
                <a:ea typeface="微软雅黑" panose="020B0503020204020204" pitchFamily="34" charset="-122"/>
                <a:cs typeface="+mn-cs"/>
              </a:rPr>
              <a:t>年至今，在国内包括香港、澳门组织竞赛活动。每年经各省选拔产生</a:t>
            </a:r>
            <a:r>
              <a:rPr lang="en-US" altLang="zh-CN" sz="1800" b="1" kern="1200" baseline="0" dirty="0">
                <a:solidFill>
                  <a:schemeClr val="accent3">
                    <a:lumMod val="75000"/>
                  </a:schemeClr>
                </a:solidFill>
                <a:latin typeface="微软雅黑" panose="020B0503020204020204" pitchFamily="34" charset="-122"/>
                <a:ea typeface="微软雅黑" panose="020B0503020204020204" pitchFamily="34" charset="-122"/>
                <a:cs typeface="+mn-cs"/>
              </a:rPr>
              <a:t>5</a:t>
            </a:r>
            <a:r>
              <a:rPr lang="zh-CN" altLang="en-US" sz="1800" b="1" kern="1200" baseline="0" dirty="0">
                <a:solidFill>
                  <a:schemeClr val="accent3">
                    <a:lumMod val="75000"/>
                  </a:schemeClr>
                </a:solidFill>
                <a:latin typeface="微软雅黑" panose="020B0503020204020204" pitchFamily="34" charset="-122"/>
                <a:ea typeface="微软雅黑" panose="020B0503020204020204" pitchFamily="34" charset="-122"/>
                <a:cs typeface="+mn-cs"/>
              </a:rPr>
              <a:t>名选手（其中一名是女选手），由中国计算机学会在计算机普及较好的城市组织进行比赛。这一竞赛记个人成绩，同时记团体总分。</a:t>
            </a:r>
            <a:endParaRPr lang="en-US" altLang="zh-CN" sz="1800" b="1" kern="1200" baseline="0" dirty="0">
              <a:solidFill>
                <a:schemeClr val="accent3">
                  <a:lumMod val="75000"/>
                </a:schemeClr>
              </a:solidFill>
              <a:latin typeface="微软雅黑" panose="020B0503020204020204" pitchFamily="34" charset="-122"/>
              <a:ea typeface="微软雅黑" panose="020B0503020204020204" pitchFamily="34" charset="-122"/>
              <a:cs typeface="+mn-cs"/>
            </a:endParaRPr>
          </a:p>
          <a:p>
            <a:pPr defTabSz="914400">
              <a:spcBef>
                <a:spcPct val="0"/>
              </a:spcBef>
            </a:pPr>
            <a:r>
              <a:rPr lang="en-US" altLang="zh-CN" sz="2000" b="1" kern="1200" baseline="0" dirty="0">
                <a:solidFill>
                  <a:schemeClr val="accent3">
                    <a:lumMod val="75000"/>
                  </a:schemeClr>
                </a:solidFill>
                <a:latin typeface="微软雅黑" panose="020B0503020204020204" pitchFamily="34" charset="-122"/>
                <a:ea typeface="微软雅黑" panose="020B0503020204020204" pitchFamily="34" charset="-122"/>
                <a:cs typeface="+mn-cs"/>
              </a:rPr>
              <a:t>NOIP</a:t>
            </a:r>
            <a:r>
              <a:rPr lang="zh-CN" altLang="en-US" sz="2000" b="1" kern="1200" baseline="0" dirty="0">
                <a:solidFill>
                  <a:schemeClr val="accent3">
                    <a:lumMod val="75000"/>
                  </a:schemeClr>
                </a:solidFill>
                <a:latin typeface="微软雅黑" panose="020B0503020204020204" pitchFamily="34" charset="-122"/>
                <a:ea typeface="微软雅黑" panose="020B0503020204020204" pitchFamily="34" charset="-122"/>
                <a:cs typeface="+mn-cs"/>
              </a:rPr>
              <a:t>是全国青少年信息学奥林匹克联赛。每年由中国计算机学会统一组织比赛。</a:t>
            </a:r>
            <a:endParaRPr lang="en-US" altLang="zh-CN" sz="2000" b="1" kern="1200" baseline="0" dirty="0">
              <a:solidFill>
                <a:schemeClr val="accent3">
                  <a:lumMod val="75000"/>
                </a:schemeClr>
              </a:solidFill>
              <a:latin typeface="微软雅黑" panose="020B0503020204020204" pitchFamily="34" charset="-122"/>
              <a:ea typeface="微软雅黑" panose="020B0503020204020204" pitchFamily="34" charset="-122"/>
              <a:cs typeface="+mn-cs"/>
            </a:endParaRPr>
          </a:p>
          <a:p>
            <a:pPr defTabSz="914400">
              <a:spcBef>
                <a:spcPct val="0"/>
              </a:spcBef>
            </a:pPr>
            <a:endParaRPr lang="en-US" altLang="zh-CN" sz="2000" b="1" kern="1200" baseline="0" dirty="0">
              <a:solidFill>
                <a:schemeClr val="accent3">
                  <a:lumMod val="75000"/>
                </a:schemeClr>
              </a:solidFill>
              <a:latin typeface="微软雅黑" panose="020B0503020204020204" pitchFamily="34" charset="-122"/>
              <a:ea typeface="微软雅黑" panose="020B0503020204020204" pitchFamily="34" charset="-122"/>
              <a:cs typeface="+mn-cs"/>
            </a:endParaRPr>
          </a:p>
          <a:p>
            <a:pPr defTabSz="914400">
              <a:spcBef>
                <a:spcPct val="0"/>
              </a:spcBef>
            </a:pPr>
            <a:r>
              <a:rPr lang="en-US" altLang="zh-CN" sz="2000" b="1" kern="1200" baseline="0" dirty="0">
                <a:solidFill>
                  <a:schemeClr val="accent3">
                    <a:lumMod val="75000"/>
                  </a:schemeClr>
                </a:solidFill>
                <a:latin typeface="微软雅黑" panose="020B0503020204020204" pitchFamily="34" charset="-122"/>
                <a:ea typeface="微软雅黑" panose="020B0503020204020204" pitchFamily="34" charset="-122"/>
                <a:cs typeface="+mn-cs"/>
              </a:rPr>
              <a:t>NOIP</a:t>
            </a:r>
            <a:r>
              <a:rPr lang="zh-CN" altLang="en-US" sz="2000" b="1" kern="1200" baseline="0" dirty="0">
                <a:solidFill>
                  <a:schemeClr val="accent3">
                    <a:lumMod val="75000"/>
                  </a:schemeClr>
                </a:solidFill>
                <a:latin typeface="微软雅黑" panose="020B0503020204020204" pitchFamily="34" charset="-122"/>
                <a:ea typeface="微软雅黑" panose="020B0503020204020204" pitchFamily="34" charset="-122"/>
                <a:cs typeface="+mn-cs"/>
              </a:rPr>
              <a:t>。全国统一大纲、统一试卷。初、高中或其他中等专业学校的学生可报名参加联赛。</a:t>
            </a:r>
            <a:endParaRPr lang="en-US" altLang="zh-CN" sz="2000" b="1" kern="1200" baseline="0" dirty="0">
              <a:solidFill>
                <a:schemeClr val="accent3">
                  <a:lumMod val="75000"/>
                </a:schemeClr>
              </a:solidFill>
              <a:latin typeface="微软雅黑" panose="020B0503020204020204" pitchFamily="34" charset="-122"/>
              <a:ea typeface="微软雅黑" panose="020B0503020204020204" pitchFamily="34" charset="-122"/>
              <a:cs typeface="+mn-cs"/>
            </a:endParaRPr>
          </a:p>
          <a:p>
            <a:pPr defTabSz="914400">
              <a:spcBef>
                <a:spcPct val="0"/>
              </a:spcBef>
            </a:pPr>
            <a:endParaRPr lang="en-US" altLang="zh-CN" sz="2000" b="1" kern="1200" baseline="0" dirty="0">
              <a:solidFill>
                <a:schemeClr val="accent3">
                  <a:lumMod val="75000"/>
                </a:schemeClr>
              </a:solidFill>
              <a:latin typeface="微软雅黑" panose="020B0503020204020204" pitchFamily="34" charset="-122"/>
              <a:ea typeface="微软雅黑" panose="020B0503020204020204" pitchFamily="34" charset="-122"/>
              <a:cs typeface="+mn-cs"/>
            </a:endParaRPr>
          </a:p>
          <a:p>
            <a:pPr defTabSz="914400">
              <a:spcBef>
                <a:spcPct val="0"/>
              </a:spcBef>
            </a:pPr>
            <a:r>
              <a:rPr lang="zh-CN" altLang="en-US" sz="2000" b="1" kern="1200" baseline="0" dirty="0">
                <a:solidFill>
                  <a:schemeClr val="accent3">
                    <a:lumMod val="75000"/>
                  </a:schemeClr>
                </a:solidFill>
                <a:latin typeface="微软雅黑" panose="020B0503020204020204" pitchFamily="34" charset="-122"/>
                <a:ea typeface="微软雅黑" panose="020B0503020204020204" pitchFamily="34" charset="-122"/>
                <a:cs typeface="+mn-cs"/>
              </a:rPr>
              <a:t>联赛分初赛和复赛两个阶段。初赛考察计算机科学基础知识，以笔试形式（做试卷）进行。复赛为编程，须在计算机上编程完成。参加初赛者须达到一定分数线后才有资格参加复赛。联赛分普及组和提高组两个组别，难度不同，分别面向初中和高中阶段的学生，也就是一般初中生参加普及组，高中生参加提高组。有些省市小学生也可以向特派员报名参赛。</a:t>
            </a:r>
          </a:p>
          <a:p>
            <a:endParaRPr lang="zh-CN" altLang="en-US" dirty="0"/>
          </a:p>
        </p:txBody>
      </p:sp>
      <p:sp>
        <p:nvSpPr>
          <p:cNvPr id="4" name="灯片编号占位符 3"/>
          <p:cNvSpPr>
            <a:spLocks noGrp="1"/>
          </p:cNvSpPr>
          <p:nvPr>
            <p:ph type="sldNum" sz="quarter" idx="10"/>
          </p:nvPr>
        </p:nvSpPr>
        <p:spPr/>
        <p:txBody>
          <a:bodyPr/>
          <a:lstStyle/>
          <a:p>
            <a:fld id="{4E38F04A-84B0-4E5D-A1A7-EE43D6EF2A66}" type="slidenum">
              <a:rPr lang="zh-CN" altLang="en-US" smtClean="0"/>
              <a:t>15</a:t>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1218565" rtl="0" eaLnBrk="1" fontAlgn="auto" latinLnBrk="0" hangingPunct="1">
              <a:lnSpc>
                <a:spcPct val="100000"/>
              </a:lnSpc>
              <a:spcBef>
                <a:spcPts val="0"/>
              </a:spcBef>
              <a:spcAft>
                <a:spcPts val="0"/>
              </a:spcAft>
              <a:buClrTx/>
              <a:buSzTx/>
              <a:buFont typeface="Arial" panose="020B0604020202020204" pitchFamily="34" charset="0"/>
              <a:buNone/>
              <a:defRPr/>
            </a:pPr>
            <a:r>
              <a:rPr lang="zh-CN" altLang="en-US" sz="1800" b="1" kern="1200" baseline="0" dirty="0">
                <a:solidFill>
                  <a:schemeClr val="accent3">
                    <a:lumMod val="75000"/>
                  </a:schemeClr>
                </a:solidFill>
                <a:latin typeface="微软雅黑" panose="020B0503020204020204" pitchFamily="34" charset="-122"/>
                <a:ea typeface="微软雅黑" panose="020B0503020204020204" pitchFamily="34" charset="-122"/>
                <a:cs typeface="+mn-cs"/>
              </a:rPr>
              <a:t>全国青少年信息学奥林匹克（</a:t>
            </a:r>
            <a:r>
              <a:rPr lang="en-US" altLang="zh-CN" sz="1800" b="1" kern="1200" baseline="0" dirty="0">
                <a:solidFill>
                  <a:schemeClr val="accent3">
                    <a:lumMod val="75000"/>
                  </a:schemeClr>
                </a:solidFill>
                <a:latin typeface="微软雅黑" panose="020B0503020204020204" pitchFamily="34" charset="-122"/>
                <a:ea typeface="微软雅黑" panose="020B0503020204020204" pitchFamily="34" charset="-122"/>
                <a:cs typeface="+mn-cs"/>
              </a:rPr>
              <a:t>NOI</a:t>
            </a:r>
            <a:r>
              <a:rPr lang="zh-CN" altLang="en-US" sz="1800" b="1" kern="1200" baseline="0" dirty="0">
                <a:solidFill>
                  <a:schemeClr val="accent3">
                    <a:lumMod val="75000"/>
                  </a:schemeClr>
                </a:solidFill>
                <a:latin typeface="微软雅黑" panose="020B0503020204020204" pitchFamily="34" charset="-122"/>
                <a:ea typeface="微软雅黑" panose="020B0503020204020204" pitchFamily="34" charset="-122"/>
                <a:cs typeface="+mn-cs"/>
              </a:rPr>
              <a:t>）是国内包括港澳在内的省级代表队最高水平的大赛，自</a:t>
            </a:r>
            <a:r>
              <a:rPr lang="en-US" altLang="zh-CN" sz="1800" b="1" kern="1200" baseline="0" dirty="0">
                <a:solidFill>
                  <a:schemeClr val="accent3">
                    <a:lumMod val="75000"/>
                  </a:schemeClr>
                </a:solidFill>
                <a:latin typeface="微软雅黑" panose="020B0503020204020204" pitchFamily="34" charset="-122"/>
                <a:ea typeface="微软雅黑" panose="020B0503020204020204" pitchFamily="34" charset="-122"/>
                <a:cs typeface="+mn-cs"/>
              </a:rPr>
              <a:t>1984</a:t>
            </a:r>
            <a:r>
              <a:rPr lang="zh-CN" altLang="en-US" sz="1800" b="1" kern="1200" baseline="0" dirty="0">
                <a:solidFill>
                  <a:schemeClr val="accent3">
                    <a:lumMod val="75000"/>
                  </a:schemeClr>
                </a:solidFill>
                <a:latin typeface="微软雅黑" panose="020B0503020204020204" pitchFamily="34" charset="-122"/>
                <a:ea typeface="微软雅黑" panose="020B0503020204020204" pitchFamily="34" charset="-122"/>
                <a:cs typeface="+mn-cs"/>
              </a:rPr>
              <a:t>年至今，在国内包括香港、澳门组织竞赛活动。每年经各省选拔产生</a:t>
            </a:r>
            <a:r>
              <a:rPr lang="en-US" altLang="zh-CN" sz="1800" b="1" kern="1200" baseline="0" dirty="0">
                <a:solidFill>
                  <a:schemeClr val="accent3">
                    <a:lumMod val="75000"/>
                  </a:schemeClr>
                </a:solidFill>
                <a:latin typeface="微软雅黑" panose="020B0503020204020204" pitchFamily="34" charset="-122"/>
                <a:ea typeface="微软雅黑" panose="020B0503020204020204" pitchFamily="34" charset="-122"/>
                <a:cs typeface="+mn-cs"/>
              </a:rPr>
              <a:t>5</a:t>
            </a:r>
            <a:r>
              <a:rPr lang="zh-CN" altLang="en-US" sz="1800" b="1" kern="1200" baseline="0" dirty="0">
                <a:solidFill>
                  <a:schemeClr val="accent3">
                    <a:lumMod val="75000"/>
                  </a:schemeClr>
                </a:solidFill>
                <a:latin typeface="微软雅黑" panose="020B0503020204020204" pitchFamily="34" charset="-122"/>
                <a:ea typeface="微软雅黑" panose="020B0503020204020204" pitchFamily="34" charset="-122"/>
                <a:cs typeface="+mn-cs"/>
              </a:rPr>
              <a:t>名选手（其中一名是女选手），由中国计算机学会在计算机普及较好的城市组织进行比赛。这一竞赛记个人成绩，同时记团体总分。</a:t>
            </a:r>
            <a:endParaRPr lang="en-US" altLang="zh-CN" sz="1800" b="1" kern="1200" baseline="0" dirty="0">
              <a:solidFill>
                <a:schemeClr val="accent3">
                  <a:lumMod val="75000"/>
                </a:schemeClr>
              </a:solidFill>
              <a:latin typeface="微软雅黑" panose="020B0503020204020204" pitchFamily="34" charset="-122"/>
              <a:ea typeface="微软雅黑" panose="020B0503020204020204" pitchFamily="34" charset="-122"/>
              <a:cs typeface="+mn-cs"/>
            </a:endParaRPr>
          </a:p>
          <a:p>
            <a:pPr defTabSz="914400">
              <a:spcBef>
                <a:spcPct val="0"/>
              </a:spcBef>
            </a:pPr>
            <a:r>
              <a:rPr lang="en-US" altLang="zh-CN" sz="2000" b="1" kern="1200" baseline="0" dirty="0">
                <a:solidFill>
                  <a:schemeClr val="accent3">
                    <a:lumMod val="75000"/>
                  </a:schemeClr>
                </a:solidFill>
                <a:latin typeface="微软雅黑" panose="020B0503020204020204" pitchFamily="34" charset="-122"/>
                <a:ea typeface="微软雅黑" panose="020B0503020204020204" pitchFamily="34" charset="-122"/>
                <a:cs typeface="+mn-cs"/>
              </a:rPr>
              <a:t>NOIP</a:t>
            </a:r>
            <a:r>
              <a:rPr lang="zh-CN" altLang="en-US" sz="2000" b="1" kern="1200" baseline="0" dirty="0">
                <a:solidFill>
                  <a:schemeClr val="accent3">
                    <a:lumMod val="75000"/>
                  </a:schemeClr>
                </a:solidFill>
                <a:latin typeface="微软雅黑" panose="020B0503020204020204" pitchFamily="34" charset="-122"/>
                <a:ea typeface="微软雅黑" panose="020B0503020204020204" pitchFamily="34" charset="-122"/>
                <a:cs typeface="+mn-cs"/>
              </a:rPr>
              <a:t>是全国青少年信息学奥林匹克联赛。每年由中国计算机学会统一组织比赛。</a:t>
            </a:r>
            <a:endParaRPr lang="en-US" altLang="zh-CN" sz="2000" b="1" kern="1200" baseline="0" dirty="0">
              <a:solidFill>
                <a:schemeClr val="accent3">
                  <a:lumMod val="75000"/>
                </a:schemeClr>
              </a:solidFill>
              <a:latin typeface="微软雅黑" panose="020B0503020204020204" pitchFamily="34" charset="-122"/>
              <a:ea typeface="微软雅黑" panose="020B0503020204020204" pitchFamily="34" charset="-122"/>
              <a:cs typeface="+mn-cs"/>
            </a:endParaRPr>
          </a:p>
          <a:p>
            <a:pPr defTabSz="914400">
              <a:spcBef>
                <a:spcPct val="0"/>
              </a:spcBef>
            </a:pPr>
            <a:endParaRPr lang="en-US" altLang="zh-CN" sz="2000" b="1" kern="1200" baseline="0" dirty="0">
              <a:solidFill>
                <a:schemeClr val="accent3">
                  <a:lumMod val="75000"/>
                </a:schemeClr>
              </a:solidFill>
              <a:latin typeface="微软雅黑" panose="020B0503020204020204" pitchFamily="34" charset="-122"/>
              <a:ea typeface="微软雅黑" panose="020B0503020204020204" pitchFamily="34" charset="-122"/>
              <a:cs typeface="+mn-cs"/>
            </a:endParaRPr>
          </a:p>
          <a:p>
            <a:pPr defTabSz="914400">
              <a:spcBef>
                <a:spcPct val="0"/>
              </a:spcBef>
            </a:pPr>
            <a:r>
              <a:rPr lang="en-US" altLang="zh-CN" sz="2000" b="1" kern="1200" baseline="0" dirty="0">
                <a:solidFill>
                  <a:schemeClr val="accent3">
                    <a:lumMod val="75000"/>
                  </a:schemeClr>
                </a:solidFill>
                <a:latin typeface="微软雅黑" panose="020B0503020204020204" pitchFamily="34" charset="-122"/>
                <a:ea typeface="微软雅黑" panose="020B0503020204020204" pitchFamily="34" charset="-122"/>
                <a:cs typeface="+mn-cs"/>
              </a:rPr>
              <a:t>NOIP</a:t>
            </a:r>
            <a:r>
              <a:rPr lang="zh-CN" altLang="en-US" sz="2000" b="1" kern="1200" baseline="0" dirty="0">
                <a:solidFill>
                  <a:schemeClr val="accent3">
                    <a:lumMod val="75000"/>
                  </a:schemeClr>
                </a:solidFill>
                <a:latin typeface="微软雅黑" panose="020B0503020204020204" pitchFamily="34" charset="-122"/>
                <a:ea typeface="微软雅黑" panose="020B0503020204020204" pitchFamily="34" charset="-122"/>
                <a:cs typeface="+mn-cs"/>
              </a:rPr>
              <a:t>。全国统一大纲、统一试卷。初、高中或其他中等专业学校的学生可报名参加联赛。</a:t>
            </a:r>
            <a:endParaRPr lang="en-US" altLang="zh-CN" sz="2000" b="1" kern="1200" baseline="0" dirty="0">
              <a:solidFill>
                <a:schemeClr val="accent3">
                  <a:lumMod val="75000"/>
                </a:schemeClr>
              </a:solidFill>
              <a:latin typeface="微软雅黑" panose="020B0503020204020204" pitchFamily="34" charset="-122"/>
              <a:ea typeface="微软雅黑" panose="020B0503020204020204" pitchFamily="34" charset="-122"/>
              <a:cs typeface="+mn-cs"/>
            </a:endParaRPr>
          </a:p>
          <a:p>
            <a:pPr defTabSz="914400">
              <a:spcBef>
                <a:spcPct val="0"/>
              </a:spcBef>
            </a:pPr>
            <a:endParaRPr lang="en-US" altLang="zh-CN" sz="2000" b="1" kern="1200" baseline="0" dirty="0">
              <a:solidFill>
                <a:schemeClr val="accent3">
                  <a:lumMod val="75000"/>
                </a:schemeClr>
              </a:solidFill>
              <a:latin typeface="微软雅黑" panose="020B0503020204020204" pitchFamily="34" charset="-122"/>
              <a:ea typeface="微软雅黑" panose="020B0503020204020204" pitchFamily="34" charset="-122"/>
              <a:cs typeface="+mn-cs"/>
            </a:endParaRPr>
          </a:p>
          <a:p>
            <a:pPr defTabSz="914400">
              <a:spcBef>
                <a:spcPct val="0"/>
              </a:spcBef>
            </a:pPr>
            <a:r>
              <a:rPr lang="zh-CN" altLang="en-US" sz="2000" b="1" kern="1200" baseline="0" dirty="0">
                <a:solidFill>
                  <a:schemeClr val="accent3">
                    <a:lumMod val="75000"/>
                  </a:schemeClr>
                </a:solidFill>
                <a:latin typeface="微软雅黑" panose="020B0503020204020204" pitchFamily="34" charset="-122"/>
                <a:ea typeface="微软雅黑" panose="020B0503020204020204" pitchFamily="34" charset="-122"/>
                <a:cs typeface="+mn-cs"/>
              </a:rPr>
              <a:t>联赛分初赛和复赛两个阶段。初赛考察计算机科学基础知识，以笔试形式（做试卷）进行。复赛为编程，须在计算机上编程完成。参加初赛者须达到一定分数线后才有资格参加复赛。联赛分普及组和提高组两个组别，难度不同，分别面向初中和高中阶段的学生，也就是一般初中生参加普及组，高中生参加提高组。有些省市小学生也可以向特派员报名参赛。</a:t>
            </a:r>
          </a:p>
          <a:p>
            <a:endParaRPr lang="zh-CN" altLang="en-US" dirty="0"/>
          </a:p>
        </p:txBody>
      </p:sp>
      <p:sp>
        <p:nvSpPr>
          <p:cNvPr id="4" name="灯片编号占位符 3"/>
          <p:cNvSpPr>
            <a:spLocks noGrp="1"/>
          </p:cNvSpPr>
          <p:nvPr>
            <p:ph type="sldNum" sz="quarter" idx="10"/>
          </p:nvPr>
        </p:nvSpPr>
        <p:spPr/>
        <p:txBody>
          <a:bodyPr/>
          <a:lstStyle/>
          <a:p>
            <a:fld id="{4E38F04A-84B0-4E5D-A1A7-EE43D6EF2A66}" type="slidenum">
              <a:rPr lang="zh-CN" altLang="en-US" smtClean="0"/>
              <a:t>16</a:t>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1218565" rtl="0" eaLnBrk="1" fontAlgn="auto" latinLnBrk="0" hangingPunct="1">
              <a:lnSpc>
                <a:spcPct val="100000"/>
              </a:lnSpc>
              <a:spcBef>
                <a:spcPts val="0"/>
              </a:spcBef>
              <a:spcAft>
                <a:spcPts val="0"/>
              </a:spcAft>
              <a:buClrTx/>
              <a:buSzTx/>
              <a:buFont typeface="Arial" panose="020B0604020202020204" pitchFamily="34" charset="0"/>
              <a:buNone/>
              <a:defRPr/>
            </a:pPr>
            <a:r>
              <a:rPr lang="zh-CN" altLang="en-US" sz="1800" b="1" kern="1200" baseline="0" dirty="0">
                <a:solidFill>
                  <a:schemeClr val="accent3">
                    <a:lumMod val="75000"/>
                  </a:schemeClr>
                </a:solidFill>
                <a:latin typeface="微软雅黑" panose="020B0503020204020204" pitchFamily="34" charset="-122"/>
                <a:ea typeface="微软雅黑" panose="020B0503020204020204" pitchFamily="34" charset="-122"/>
                <a:cs typeface="+mn-cs"/>
              </a:rPr>
              <a:t>全国青少年信息学奥林匹克（</a:t>
            </a:r>
            <a:r>
              <a:rPr lang="en-US" altLang="zh-CN" sz="1800" b="1" kern="1200" baseline="0" dirty="0">
                <a:solidFill>
                  <a:schemeClr val="accent3">
                    <a:lumMod val="75000"/>
                  </a:schemeClr>
                </a:solidFill>
                <a:latin typeface="微软雅黑" panose="020B0503020204020204" pitchFamily="34" charset="-122"/>
                <a:ea typeface="微软雅黑" panose="020B0503020204020204" pitchFamily="34" charset="-122"/>
                <a:cs typeface="+mn-cs"/>
              </a:rPr>
              <a:t>NOI</a:t>
            </a:r>
            <a:r>
              <a:rPr lang="zh-CN" altLang="en-US" sz="1800" b="1" kern="1200" baseline="0" dirty="0">
                <a:solidFill>
                  <a:schemeClr val="accent3">
                    <a:lumMod val="75000"/>
                  </a:schemeClr>
                </a:solidFill>
                <a:latin typeface="微软雅黑" panose="020B0503020204020204" pitchFamily="34" charset="-122"/>
                <a:ea typeface="微软雅黑" panose="020B0503020204020204" pitchFamily="34" charset="-122"/>
                <a:cs typeface="+mn-cs"/>
              </a:rPr>
              <a:t>）是国内包括港澳在内的省级代表队最高水平的大赛，自</a:t>
            </a:r>
            <a:r>
              <a:rPr lang="en-US" altLang="zh-CN" sz="1800" b="1" kern="1200" baseline="0" dirty="0">
                <a:solidFill>
                  <a:schemeClr val="accent3">
                    <a:lumMod val="75000"/>
                  </a:schemeClr>
                </a:solidFill>
                <a:latin typeface="微软雅黑" panose="020B0503020204020204" pitchFamily="34" charset="-122"/>
                <a:ea typeface="微软雅黑" panose="020B0503020204020204" pitchFamily="34" charset="-122"/>
                <a:cs typeface="+mn-cs"/>
              </a:rPr>
              <a:t>1984</a:t>
            </a:r>
            <a:r>
              <a:rPr lang="zh-CN" altLang="en-US" sz="1800" b="1" kern="1200" baseline="0" dirty="0">
                <a:solidFill>
                  <a:schemeClr val="accent3">
                    <a:lumMod val="75000"/>
                  </a:schemeClr>
                </a:solidFill>
                <a:latin typeface="微软雅黑" panose="020B0503020204020204" pitchFamily="34" charset="-122"/>
                <a:ea typeface="微软雅黑" panose="020B0503020204020204" pitchFamily="34" charset="-122"/>
                <a:cs typeface="+mn-cs"/>
              </a:rPr>
              <a:t>年至今，在国内包括香港、澳门组织竞赛活动。每年经各省选拔产生</a:t>
            </a:r>
            <a:r>
              <a:rPr lang="en-US" altLang="zh-CN" sz="1800" b="1" kern="1200" baseline="0" dirty="0">
                <a:solidFill>
                  <a:schemeClr val="accent3">
                    <a:lumMod val="75000"/>
                  </a:schemeClr>
                </a:solidFill>
                <a:latin typeface="微软雅黑" panose="020B0503020204020204" pitchFamily="34" charset="-122"/>
                <a:ea typeface="微软雅黑" panose="020B0503020204020204" pitchFamily="34" charset="-122"/>
                <a:cs typeface="+mn-cs"/>
              </a:rPr>
              <a:t>5</a:t>
            </a:r>
            <a:r>
              <a:rPr lang="zh-CN" altLang="en-US" sz="1800" b="1" kern="1200" baseline="0" dirty="0">
                <a:solidFill>
                  <a:schemeClr val="accent3">
                    <a:lumMod val="75000"/>
                  </a:schemeClr>
                </a:solidFill>
                <a:latin typeface="微软雅黑" panose="020B0503020204020204" pitchFamily="34" charset="-122"/>
                <a:ea typeface="微软雅黑" panose="020B0503020204020204" pitchFamily="34" charset="-122"/>
                <a:cs typeface="+mn-cs"/>
              </a:rPr>
              <a:t>名选手（其中一名是女选手），由中国计算机学会在计算机普及较好的城市组织进行比赛。这一竞赛记个人成绩，同时记团体总分。</a:t>
            </a:r>
            <a:endParaRPr lang="en-US" altLang="zh-CN" sz="1800" b="1" kern="1200" baseline="0" dirty="0">
              <a:solidFill>
                <a:schemeClr val="accent3">
                  <a:lumMod val="75000"/>
                </a:schemeClr>
              </a:solidFill>
              <a:latin typeface="微软雅黑" panose="020B0503020204020204" pitchFamily="34" charset="-122"/>
              <a:ea typeface="微软雅黑" panose="020B0503020204020204" pitchFamily="34" charset="-122"/>
              <a:cs typeface="+mn-cs"/>
            </a:endParaRPr>
          </a:p>
          <a:p>
            <a:pPr defTabSz="914400">
              <a:spcBef>
                <a:spcPct val="0"/>
              </a:spcBef>
            </a:pPr>
            <a:r>
              <a:rPr lang="en-US" altLang="zh-CN" sz="2000" b="1" kern="1200" baseline="0" dirty="0">
                <a:solidFill>
                  <a:schemeClr val="accent3">
                    <a:lumMod val="75000"/>
                  </a:schemeClr>
                </a:solidFill>
                <a:latin typeface="微软雅黑" panose="020B0503020204020204" pitchFamily="34" charset="-122"/>
                <a:ea typeface="微软雅黑" panose="020B0503020204020204" pitchFamily="34" charset="-122"/>
                <a:cs typeface="+mn-cs"/>
              </a:rPr>
              <a:t>NOIP</a:t>
            </a:r>
            <a:r>
              <a:rPr lang="zh-CN" altLang="en-US" sz="2000" b="1" kern="1200" baseline="0" dirty="0">
                <a:solidFill>
                  <a:schemeClr val="accent3">
                    <a:lumMod val="75000"/>
                  </a:schemeClr>
                </a:solidFill>
                <a:latin typeface="微软雅黑" panose="020B0503020204020204" pitchFamily="34" charset="-122"/>
                <a:ea typeface="微软雅黑" panose="020B0503020204020204" pitchFamily="34" charset="-122"/>
                <a:cs typeface="+mn-cs"/>
              </a:rPr>
              <a:t>是全国青少年信息学奥林匹克联赛。每年由中国计算机学会统一组织比赛。</a:t>
            </a:r>
            <a:endParaRPr lang="en-US" altLang="zh-CN" sz="2000" b="1" kern="1200" baseline="0" dirty="0">
              <a:solidFill>
                <a:schemeClr val="accent3">
                  <a:lumMod val="75000"/>
                </a:schemeClr>
              </a:solidFill>
              <a:latin typeface="微软雅黑" panose="020B0503020204020204" pitchFamily="34" charset="-122"/>
              <a:ea typeface="微软雅黑" panose="020B0503020204020204" pitchFamily="34" charset="-122"/>
              <a:cs typeface="+mn-cs"/>
            </a:endParaRPr>
          </a:p>
          <a:p>
            <a:pPr defTabSz="914400">
              <a:spcBef>
                <a:spcPct val="0"/>
              </a:spcBef>
            </a:pPr>
            <a:endParaRPr lang="en-US" altLang="zh-CN" sz="2000" b="1" kern="1200" baseline="0" dirty="0">
              <a:solidFill>
                <a:schemeClr val="accent3">
                  <a:lumMod val="75000"/>
                </a:schemeClr>
              </a:solidFill>
              <a:latin typeface="微软雅黑" panose="020B0503020204020204" pitchFamily="34" charset="-122"/>
              <a:ea typeface="微软雅黑" panose="020B0503020204020204" pitchFamily="34" charset="-122"/>
              <a:cs typeface="+mn-cs"/>
            </a:endParaRPr>
          </a:p>
          <a:p>
            <a:pPr defTabSz="914400">
              <a:spcBef>
                <a:spcPct val="0"/>
              </a:spcBef>
            </a:pPr>
            <a:r>
              <a:rPr lang="en-US" altLang="zh-CN" sz="2000" b="1" kern="1200" baseline="0" dirty="0">
                <a:solidFill>
                  <a:schemeClr val="accent3">
                    <a:lumMod val="75000"/>
                  </a:schemeClr>
                </a:solidFill>
                <a:latin typeface="微软雅黑" panose="020B0503020204020204" pitchFamily="34" charset="-122"/>
                <a:ea typeface="微软雅黑" panose="020B0503020204020204" pitchFamily="34" charset="-122"/>
                <a:cs typeface="+mn-cs"/>
              </a:rPr>
              <a:t>NOIP</a:t>
            </a:r>
            <a:r>
              <a:rPr lang="zh-CN" altLang="en-US" sz="2000" b="1" kern="1200" baseline="0" dirty="0">
                <a:solidFill>
                  <a:schemeClr val="accent3">
                    <a:lumMod val="75000"/>
                  </a:schemeClr>
                </a:solidFill>
                <a:latin typeface="微软雅黑" panose="020B0503020204020204" pitchFamily="34" charset="-122"/>
                <a:ea typeface="微软雅黑" panose="020B0503020204020204" pitchFamily="34" charset="-122"/>
                <a:cs typeface="+mn-cs"/>
              </a:rPr>
              <a:t>。全国统一大纲、统一试卷。初、高中或其他中等专业学校的学生可报名参加联赛。</a:t>
            </a:r>
            <a:endParaRPr lang="en-US" altLang="zh-CN" sz="2000" b="1" kern="1200" baseline="0" dirty="0">
              <a:solidFill>
                <a:schemeClr val="accent3">
                  <a:lumMod val="75000"/>
                </a:schemeClr>
              </a:solidFill>
              <a:latin typeface="微软雅黑" panose="020B0503020204020204" pitchFamily="34" charset="-122"/>
              <a:ea typeface="微软雅黑" panose="020B0503020204020204" pitchFamily="34" charset="-122"/>
              <a:cs typeface="+mn-cs"/>
            </a:endParaRPr>
          </a:p>
          <a:p>
            <a:pPr defTabSz="914400">
              <a:spcBef>
                <a:spcPct val="0"/>
              </a:spcBef>
            </a:pPr>
            <a:endParaRPr lang="en-US" altLang="zh-CN" sz="2000" b="1" kern="1200" baseline="0" dirty="0">
              <a:solidFill>
                <a:schemeClr val="accent3">
                  <a:lumMod val="75000"/>
                </a:schemeClr>
              </a:solidFill>
              <a:latin typeface="微软雅黑" panose="020B0503020204020204" pitchFamily="34" charset="-122"/>
              <a:ea typeface="微软雅黑" panose="020B0503020204020204" pitchFamily="34" charset="-122"/>
              <a:cs typeface="+mn-cs"/>
            </a:endParaRPr>
          </a:p>
          <a:p>
            <a:pPr defTabSz="914400">
              <a:spcBef>
                <a:spcPct val="0"/>
              </a:spcBef>
            </a:pPr>
            <a:r>
              <a:rPr lang="zh-CN" altLang="en-US" sz="2000" b="1" kern="1200" baseline="0" dirty="0">
                <a:solidFill>
                  <a:schemeClr val="accent3">
                    <a:lumMod val="75000"/>
                  </a:schemeClr>
                </a:solidFill>
                <a:latin typeface="微软雅黑" panose="020B0503020204020204" pitchFamily="34" charset="-122"/>
                <a:ea typeface="微软雅黑" panose="020B0503020204020204" pitchFamily="34" charset="-122"/>
                <a:cs typeface="+mn-cs"/>
              </a:rPr>
              <a:t>联赛分初赛和复赛两个阶段。初赛考察计算机科学基础知识，以笔试形式（做试卷）进行。复赛为编程，须在计算机上编程完成。参加初赛者须达到一定分数线后才有资格参加复赛。联赛分普及组和提高组两个组别，难度不同，分别面向初中和高中阶段的学生，也就是一般初中生参加普及组，高中生参加提高组。有些省市小学生也可以向特派员报名参赛。</a:t>
            </a:r>
          </a:p>
          <a:p>
            <a:endParaRPr lang="zh-CN" altLang="en-US" dirty="0"/>
          </a:p>
        </p:txBody>
      </p:sp>
      <p:sp>
        <p:nvSpPr>
          <p:cNvPr id="4" name="灯片编号占位符 3"/>
          <p:cNvSpPr>
            <a:spLocks noGrp="1"/>
          </p:cNvSpPr>
          <p:nvPr>
            <p:ph type="sldNum" sz="quarter" idx="10"/>
          </p:nvPr>
        </p:nvSpPr>
        <p:spPr/>
        <p:txBody>
          <a:bodyPr/>
          <a:lstStyle/>
          <a:p>
            <a:fld id="{4E38F04A-84B0-4E5D-A1A7-EE43D6EF2A66}" type="slidenum">
              <a:rPr lang="zh-CN" altLang="en-US" smtClean="0"/>
              <a:t>17</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7_标题幻灯片">
    <p:spTree>
      <p:nvGrpSpPr>
        <p:cNvPr id="1" name=""/>
        <p:cNvGrpSpPr/>
        <p:nvPr/>
      </p:nvGrpSpPr>
      <p:grpSpPr>
        <a:xfrm>
          <a:off x="0" y="0"/>
          <a:ext cx="0" cy="0"/>
          <a:chOff x="0" y="0"/>
          <a:chExt cx="0" cy="0"/>
        </a:xfrm>
      </p:grpSpPr>
      <p:sp>
        <p:nvSpPr>
          <p:cNvPr id="23" name="Freeform 77"/>
          <p:cNvSpPr>
            <a:spLocks noEditPoints="1"/>
          </p:cNvSpPr>
          <p:nvPr userDrawn="1"/>
        </p:nvSpPr>
        <p:spPr bwMode="auto">
          <a:xfrm rot="20644514">
            <a:off x="1047441" y="681857"/>
            <a:ext cx="1042017" cy="802702"/>
          </a:xfrm>
          <a:custGeom>
            <a:avLst/>
            <a:gdLst/>
            <a:ahLst/>
            <a:cxnLst>
              <a:cxn ang="0">
                <a:pos x="402" y="8"/>
              </a:cxn>
              <a:cxn ang="0">
                <a:pos x="402" y="6"/>
              </a:cxn>
              <a:cxn ang="0">
                <a:pos x="398" y="2"/>
              </a:cxn>
              <a:cxn ang="0">
                <a:pos x="242" y="0"/>
              </a:cxn>
              <a:cxn ang="0">
                <a:pos x="232" y="2"/>
              </a:cxn>
              <a:cxn ang="0">
                <a:pos x="216" y="10"/>
              </a:cxn>
              <a:cxn ang="0">
                <a:pos x="210" y="18"/>
              </a:cxn>
              <a:cxn ang="0">
                <a:pos x="210" y="18"/>
              </a:cxn>
              <a:cxn ang="0">
                <a:pos x="196" y="6"/>
              </a:cxn>
              <a:cxn ang="0">
                <a:pos x="178" y="0"/>
              </a:cxn>
              <a:cxn ang="0">
                <a:pos x="26" y="0"/>
              </a:cxn>
              <a:cxn ang="0">
                <a:pos x="20" y="4"/>
              </a:cxn>
              <a:cxn ang="0">
                <a:pos x="16" y="8"/>
              </a:cxn>
              <a:cxn ang="0">
                <a:pos x="0" y="34"/>
              </a:cxn>
              <a:cxn ang="0">
                <a:pos x="174" y="306"/>
              </a:cxn>
              <a:cxn ang="0">
                <a:pos x="182" y="314"/>
              </a:cxn>
              <a:cxn ang="0">
                <a:pos x="200" y="322"/>
              </a:cxn>
              <a:cxn ang="0">
                <a:pos x="210" y="322"/>
              </a:cxn>
              <a:cxn ang="0">
                <a:pos x="230" y="318"/>
              </a:cxn>
              <a:cxn ang="0">
                <a:pos x="246" y="306"/>
              </a:cxn>
              <a:cxn ang="0">
                <a:pos x="418" y="34"/>
              </a:cxn>
              <a:cxn ang="0">
                <a:pos x="34" y="18"/>
              </a:cxn>
              <a:cxn ang="0">
                <a:pos x="178" y="18"/>
              </a:cxn>
              <a:cxn ang="0">
                <a:pos x="194" y="24"/>
              </a:cxn>
              <a:cxn ang="0">
                <a:pos x="202" y="42"/>
              </a:cxn>
              <a:cxn ang="0">
                <a:pos x="202" y="194"/>
              </a:cxn>
              <a:cxn ang="0">
                <a:pos x="204" y="200"/>
              </a:cxn>
              <a:cxn ang="0">
                <a:pos x="210" y="202"/>
              </a:cxn>
              <a:cxn ang="0">
                <a:pos x="212" y="202"/>
              </a:cxn>
              <a:cxn ang="0">
                <a:pos x="218" y="198"/>
              </a:cxn>
              <a:cxn ang="0">
                <a:pos x="218" y="42"/>
              </a:cxn>
              <a:cxn ang="0">
                <a:pos x="220" y="32"/>
              </a:cxn>
              <a:cxn ang="0">
                <a:pos x="232" y="18"/>
              </a:cxn>
              <a:cxn ang="0">
                <a:pos x="386" y="18"/>
              </a:cxn>
              <a:cxn ang="0">
                <a:pos x="242" y="274"/>
              </a:cxn>
              <a:cxn ang="0">
                <a:pos x="232" y="276"/>
              </a:cxn>
              <a:cxn ang="0">
                <a:pos x="216" y="284"/>
              </a:cxn>
              <a:cxn ang="0">
                <a:pos x="210" y="290"/>
              </a:cxn>
              <a:cxn ang="0">
                <a:pos x="210" y="290"/>
              </a:cxn>
              <a:cxn ang="0">
                <a:pos x="196" y="278"/>
              </a:cxn>
              <a:cxn ang="0">
                <a:pos x="178" y="274"/>
              </a:cxn>
              <a:cxn ang="0">
                <a:pos x="34" y="18"/>
              </a:cxn>
            </a:cxnLst>
            <a:rect l="0" t="0" r="r" b="b"/>
            <a:pathLst>
              <a:path w="418" h="322">
                <a:moveTo>
                  <a:pt x="402" y="34"/>
                </a:moveTo>
                <a:lnTo>
                  <a:pt x="402" y="8"/>
                </a:lnTo>
                <a:lnTo>
                  <a:pt x="402" y="8"/>
                </a:lnTo>
                <a:lnTo>
                  <a:pt x="402" y="6"/>
                </a:lnTo>
                <a:lnTo>
                  <a:pt x="400" y="4"/>
                </a:lnTo>
                <a:lnTo>
                  <a:pt x="398" y="2"/>
                </a:lnTo>
                <a:lnTo>
                  <a:pt x="394" y="0"/>
                </a:lnTo>
                <a:lnTo>
                  <a:pt x="242" y="0"/>
                </a:lnTo>
                <a:lnTo>
                  <a:pt x="242" y="0"/>
                </a:lnTo>
                <a:lnTo>
                  <a:pt x="232" y="2"/>
                </a:lnTo>
                <a:lnTo>
                  <a:pt x="224" y="6"/>
                </a:lnTo>
                <a:lnTo>
                  <a:pt x="216" y="10"/>
                </a:lnTo>
                <a:lnTo>
                  <a:pt x="210" y="18"/>
                </a:lnTo>
                <a:lnTo>
                  <a:pt x="210" y="18"/>
                </a:lnTo>
                <a:lnTo>
                  <a:pt x="210" y="18"/>
                </a:lnTo>
                <a:lnTo>
                  <a:pt x="210" y="18"/>
                </a:lnTo>
                <a:lnTo>
                  <a:pt x="204" y="10"/>
                </a:lnTo>
                <a:lnTo>
                  <a:pt x="196" y="6"/>
                </a:lnTo>
                <a:lnTo>
                  <a:pt x="188" y="2"/>
                </a:lnTo>
                <a:lnTo>
                  <a:pt x="178" y="0"/>
                </a:lnTo>
                <a:lnTo>
                  <a:pt x="26" y="0"/>
                </a:lnTo>
                <a:lnTo>
                  <a:pt x="26" y="0"/>
                </a:lnTo>
                <a:lnTo>
                  <a:pt x="22" y="2"/>
                </a:lnTo>
                <a:lnTo>
                  <a:pt x="20" y="4"/>
                </a:lnTo>
                <a:lnTo>
                  <a:pt x="18" y="6"/>
                </a:lnTo>
                <a:lnTo>
                  <a:pt x="16" y="8"/>
                </a:lnTo>
                <a:lnTo>
                  <a:pt x="16" y="34"/>
                </a:lnTo>
                <a:lnTo>
                  <a:pt x="0" y="34"/>
                </a:lnTo>
                <a:lnTo>
                  <a:pt x="0" y="306"/>
                </a:lnTo>
                <a:lnTo>
                  <a:pt x="174" y="306"/>
                </a:lnTo>
                <a:lnTo>
                  <a:pt x="174" y="306"/>
                </a:lnTo>
                <a:lnTo>
                  <a:pt x="182" y="314"/>
                </a:lnTo>
                <a:lnTo>
                  <a:pt x="190" y="318"/>
                </a:lnTo>
                <a:lnTo>
                  <a:pt x="200" y="322"/>
                </a:lnTo>
                <a:lnTo>
                  <a:pt x="210" y="322"/>
                </a:lnTo>
                <a:lnTo>
                  <a:pt x="210" y="322"/>
                </a:lnTo>
                <a:lnTo>
                  <a:pt x="220" y="322"/>
                </a:lnTo>
                <a:lnTo>
                  <a:pt x="230" y="318"/>
                </a:lnTo>
                <a:lnTo>
                  <a:pt x="238" y="314"/>
                </a:lnTo>
                <a:lnTo>
                  <a:pt x="246" y="306"/>
                </a:lnTo>
                <a:lnTo>
                  <a:pt x="418" y="306"/>
                </a:lnTo>
                <a:lnTo>
                  <a:pt x="418" y="34"/>
                </a:lnTo>
                <a:lnTo>
                  <a:pt x="402" y="34"/>
                </a:lnTo>
                <a:close/>
                <a:moveTo>
                  <a:pt x="34" y="18"/>
                </a:moveTo>
                <a:lnTo>
                  <a:pt x="178" y="18"/>
                </a:lnTo>
                <a:lnTo>
                  <a:pt x="178" y="18"/>
                </a:lnTo>
                <a:lnTo>
                  <a:pt x="188" y="18"/>
                </a:lnTo>
                <a:lnTo>
                  <a:pt x="194" y="24"/>
                </a:lnTo>
                <a:lnTo>
                  <a:pt x="200" y="32"/>
                </a:lnTo>
                <a:lnTo>
                  <a:pt x="202" y="42"/>
                </a:lnTo>
                <a:lnTo>
                  <a:pt x="202" y="194"/>
                </a:lnTo>
                <a:lnTo>
                  <a:pt x="202" y="194"/>
                </a:lnTo>
                <a:lnTo>
                  <a:pt x="202" y="198"/>
                </a:lnTo>
                <a:lnTo>
                  <a:pt x="204" y="200"/>
                </a:lnTo>
                <a:lnTo>
                  <a:pt x="206" y="202"/>
                </a:lnTo>
                <a:lnTo>
                  <a:pt x="210" y="202"/>
                </a:lnTo>
                <a:lnTo>
                  <a:pt x="210" y="202"/>
                </a:lnTo>
                <a:lnTo>
                  <a:pt x="212" y="202"/>
                </a:lnTo>
                <a:lnTo>
                  <a:pt x="216" y="200"/>
                </a:lnTo>
                <a:lnTo>
                  <a:pt x="218" y="198"/>
                </a:lnTo>
                <a:lnTo>
                  <a:pt x="218" y="194"/>
                </a:lnTo>
                <a:lnTo>
                  <a:pt x="218" y="42"/>
                </a:lnTo>
                <a:lnTo>
                  <a:pt x="218" y="42"/>
                </a:lnTo>
                <a:lnTo>
                  <a:pt x="220" y="32"/>
                </a:lnTo>
                <a:lnTo>
                  <a:pt x="224" y="24"/>
                </a:lnTo>
                <a:lnTo>
                  <a:pt x="232" y="18"/>
                </a:lnTo>
                <a:lnTo>
                  <a:pt x="242" y="18"/>
                </a:lnTo>
                <a:lnTo>
                  <a:pt x="386" y="18"/>
                </a:lnTo>
                <a:lnTo>
                  <a:pt x="386" y="274"/>
                </a:lnTo>
                <a:lnTo>
                  <a:pt x="242" y="274"/>
                </a:lnTo>
                <a:lnTo>
                  <a:pt x="242" y="274"/>
                </a:lnTo>
                <a:lnTo>
                  <a:pt x="232" y="276"/>
                </a:lnTo>
                <a:lnTo>
                  <a:pt x="224" y="278"/>
                </a:lnTo>
                <a:lnTo>
                  <a:pt x="216" y="284"/>
                </a:lnTo>
                <a:lnTo>
                  <a:pt x="210" y="290"/>
                </a:lnTo>
                <a:lnTo>
                  <a:pt x="210" y="290"/>
                </a:lnTo>
                <a:lnTo>
                  <a:pt x="210" y="290"/>
                </a:lnTo>
                <a:lnTo>
                  <a:pt x="210" y="290"/>
                </a:lnTo>
                <a:lnTo>
                  <a:pt x="204" y="284"/>
                </a:lnTo>
                <a:lnTo>
                  <a:pt x="196" y="278"/>
                </a:lnTo>
                <a:lnTo>
                  <a:pt x="188" y="276"/>
                </a:lnTo>
                <a:lnTo>
                  <a:pt x="178" y="274"/>
                </a:lnTo>
                <a:lnTo>
                  <a:pt x="34" y="274"/>
                </a:lnTo>
                <a:lnTo>
                  <a:pt x="34" y="18"/>
                </a:lnTo>
                <a:close/>
              </a:path>
            </a:pathLst>
          </a:custGeom>
          <a:solidFill>
            <a:schemeClr val="bg1">
              <a:alpha val="10000"/>
            </a:schemeClr>
          </a:solidFill>
          <a:ln w="0">
            <a:noFill/>
            <a:prstDash val="solid"/>
            <a:round/>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微软雅黑" panose="020B0503020204020204" pitchFamily="34" charset="-122"/>
              <a:ea typeface="宋体" panose="02010600030101010101" pitchFamily="2" charset="-122"/>
              <a:cs typeface="+mn-cs"/>
            </a:endParaRPr>
          </a:p>
        </p:txBody>
      </p:sp>
      <p:sp>
        <p:nvSpPr>
          <p:cNvPr id="18" name="Freeform 363"/>
          <p:cNvSpPr>
            <a:spLocks noEditPoints="1"/>
          </p:cNvSpPr>
          <p:nvPr userDrawn="1"/>
        </p:nvSpPr>
        <p:spPr bwMode="auto">
          <a:xfrm rot="1658487">
            <a:off x="6583748" y="312642"/>
            <a:ext cx="773335" cy="770514"/>
          </a:xfrm>
          <a:custGeom>
            <a:avLst/>
            <a:gdLst>
              <a:gd name="T0" fmla="*/ 145 w 274"/>
              <a:gd name="T1" fmla="*/ 262 h 273"/>
              <a:gd name="T2" fmla="*/ 189 w 274"/>
              <a:gd name="T3" fmla="*/ 204 h 273"/>
              <a:gd name="T4" fmla="*/ 263 w 274"/>
              <a:gd name="T5" fmla="*/ 204 h 273"/>
              <a:gd name="T6" fmla="*/ 216 w 274"/>
              <a:gd name="T7" fmla="*/ 217 h 273"/>
              <a:gd name="T8" fmla="*/ 104 w 274"/>
              <a:gd name="T9" fmla="*/ 199 h 273"/>
              <a:gd name="T10" fmla="*/ 55 w 274"/>
              <a:gd name="T11" fmla="*/ 186 h 273"/>
              <a:gd name="T12" fmla="*/ 14 w 274"/>
              <a:gd name="T13" fmla="*/ 168 h 273"/>
              <a:gd name="T14" fmla="*/ 44 w 274"/>
              <a:gd name="T15" fmla="*/ 207 h 273"/>
              <a:gd name="T16" fmla="*/ 45 w 274"/>
              <a:gd name="T17" fmla="*/ 217 h 273"/>
              <a:gd name="T18" fmla="*/ 95 w 274"/>
              <a:gd name="T19" fmla="*/ 254 h 273"/>
              <a:gd name="T20" fmla="*/ 86 w 274"/>
              <a:gd name="T21" fmla="*/ 232 h 273"/>
              <a:gd name="T22" fmla="*/ 114 w 274"/>
              <a:gd name="T23" fmla="*/ 255 h 273"/>
              <a:gd name="T24" fmla="*/ 131 w 274"/>
              <a:gd name="T25" fmla="*/ 196 h 273"/>
              <a:gd name="T26" fmla="*/ 110 w 274"/>
              <a:gd name="T27" fmla="*/ 189 h 273"/>
              <a:gd name="T28" fmla="*/ 132 w 274"/>
              <a:gd name="T29" fmla="*/ 145 h 273"/>
              <a:gd name="T30" fmla="*/ 74 w 274"/>
              <a:gd name="T31" fmla="*/ 145 h 273"/>
              <a:gd name="T32" fmla="*/ 67 w 274"/>
              <a:gd name="T33" fmla="*/ 166 h 273"/>
              <a:gd name="T34" fmla="*/ 205 w 274"/>
              <a:gd name="T35" fmla="*/ 111 h 273"/>
              <a:gd name="T36" fmla="*/ 192 w 274"/>
              <a:gd name="T37" fmla="*/ 159 h 273"/>
              <a:gd name="T38" fmla="*/ 150 w 274"/>
              <a:gd name="T39" fmla="*/ 59 h 273"/>
              <a:gd name="T40" fmla="*/ 114 w 274"/>
              <a:gd name="T41" fmla="*/ 94 h 273"/>
              <a:gd name="T42" fmla="*/ 57 w 274"/>
              <a:gd name="T43" fmla="*/ 42 h 273"/>
              <a:gd name="T44" fmla="*/ 9 w 274"/>
              <a:gd name="T45" fmla="*/ 55 h 273"/>
              <a:gd name="T46" fmla="*/ 178 w 274"/>
              <a:gd name="T47" fmla="*/ 23 h 273"/>
              <a:gd name="T48" fmla="*/ 230 w 274"/>
              <a:gd name="T49" fmla="*/ 57 h 273"/>
              <a:gd name="T50" fmla="*/ 137 w 274"/>
              <a:gd name="T51" fmla="*/ 0 h 273"/>
              <a:gd name="T52" fmla="*/ 271 w 274"/>
              <a:gd name="T53" fmla="*/ 108 h 273"/>
              <a:gd name="T54" fmla="*/ 257 w 274"/>
              <a:gd name="T55" fmla="*/ 189 h 273"/>
              <a:gd name="T56" fmla="*/ 260 w 274"/>
              <a:gd name="T57" fmla="*/ 142 h 273"/>
              <a:gd name="T58" fmla="*/ 238 w 274"/>
              <a:gd name="T59" fmla="*/ 133 h 273"/>
              <a:gd name="T60" fmla="*/ 261 w 274"/>
              <a:gd name="T61" fmla="*/ 105 h 273"/>
              <a:gd name="T62" fmla="*/ 206 w 274"/>
              <a:gd name="T63" fmla="*/ 76 h 273"/>
              <a:gd name="T64" fmla="*/ 206 w 274"/>
              <a:gd name="T65" fmla="*/ 103 h 273"/>
              <a:gd name="T66" fmla="*/ 193 w 274"/>
              <a:gd name="T67" fmla="*/ 82 h 273"/>
              <a:gd name="T68" fmla="*/ 169 w 274"/>
              <a:gd name="T69" fmla="*/ 79 h 273"/>
              <a:gd name="T70" fmla="*/ 189 w 274"/>
              <a:gd name="T71" fmla="*/ 66 h 273"/>
              <a:gd name="T72" fmla="*/ 142 w 274"/>
              <a:gd name="T73" fmla="*/ 13 h 273"/>
              <a:gd name="T74" fmla="*/ 136 w 274"/>
              <a:gd name="T75" fmla="*/ 50 h 273"/>
              <a:gd name="T76" fmla="*/ 127 w 274"/>
              <a:gd name="T77" fmla="*/ 11 h 273"/>
              <a:gd name="T78" fmla="*/ 86 w 274"/>
              <a:gd name="T79" fmla="*/ 71 h 273"/>
              <a:gd name="T80" fmla="*/ 104 w 274"/>
              <a:gd name="T81" fmla="*/ 83 h 273"/>
              <a:gd name="T82" fmla="*/ 76 w 274"/>
              <a:gd name="T83" fmla="*/ 105 h 273"/>
              <a:gd name="T84" fmla="*/ 132 w 274"/>
              <a:gd name="T85" fmla="*/ 130 h 273"/>
              <a:gd name="T86" fmla="*/ 140 w 274"/>
              <a:gd name="T87" fmla="*/ 113 h 273"/>
              <a:gd name="T88" fmla="*/ 146 w 274"/>
              <a:gd name="T89" fmla="*/ 131 h 273"/>
              <a:gd name="T90" fmla="*/ 171 w 274"/>
              <a:gd name="T91" fmla="*/ 140 h 273"/>
              <a:gd name="T92" fmla="*/ 142 w 274"/>
              <a:gd name="T93" fmla="*/ 182 h 273"/>
              <a:gd name="T94" fmla="*/ 193 w 274"/>
              <a:gd name="T95" fmla="*/ 191 h 273"/>
              <a:gd name="T96" fmla="*/ 206 w 274"/>
              <a:gd name="T97" fmla="*/ 170 h 273"/>
              <a:gd name="T98" fmla="*/ 206 w 274"/>
              <a:gd name="T99" fmla="*/ 196 h 273"/>
              <a:gd name="T100" fmla="*/ 209 w 274"/>
              <a:gd name="T101" fmla="*/ 207 h 273"/>
              <a:gd name="T102" fmla="*/ 179 w 274"/>
              <a:gd name="T103" fmla="*/ 249 h 273"/>
              <a:gd name="T104" fmla="*/ 212 w 274"/>
              <a:gd name="T105" fmla="*/ 239 h 273"/>
              <a:gd name="T106" fmla="*/ 219 w 274"/>
              <a:gd name="T107" fmla="*/ 246 h 273"/>
              <a:gd name="T108" fmla="*/ 31 w 274"/>
              <a:gd name="T109" fmla="*/ 222 h 273"/>
              <a:gd name="T110" fmla="*/ 14 w 274"/>
              <a:gd name="T111" fmla="*/ 82 h 273"/>
              <a:gd name="T112" fmla="*/ 11 w 274"/>
              <a:gd name="T113" fmla="*/ 130 h 273"/>
              <a:gd name="T114" fmla="*/ 67 w 274"/>
              <a:gd name="T115" fmla="*/ 103 h 273"/>
              <a:gd name="T116" fmla="*/ 63 w 274"/>
              <a:gd name="T117" fmla="*/ 74 h 273"/>
              <a:gd name="T118" fmla="*/ 72 w 274"/>
              <a:gd name="T119" fmla="*/ 67 h 273"/>
              <a:gd name="T120" fmla="*/ 95 w 274"/>
              <a:gd name="T121" fmla="*/ 19 h 273"/>
              <a:gd name="T122" fmla="*/ 58 w 274"/>
              <a:gd name="T123" fmla="*/ 33 h 273"/>
              <a:gd name="T124" fmla="*/ 109 w 274"/>
              <a:gd name="T125" fmla="*/ 4 h 2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74" h="273">
                <a:moveTo>
                  <a:pt x="146" y="196"/>
                </a:moveTo>
                <a:lnTo>
                  <a:pt x="143" y="196"/>
                </a:lnTo>
                <a:lnTo>
                  <a:pt x="142" y="198"/>
                </a:lnTo>
                <a:lnTo>
                  <a:pt x="142" y="200"/>
                </a:lnTo>
                <a:lnTo>
                  <a:pt x="142" y="258"/>
                </a:lnTo>
                <a:lnTo>
                  <a:pt x="142" y="260"/>
                </a:lnTo>
                <a:lnTo>
                  <a:pt x="145" y="262"/>
                </a:lnTo>
                <a:lnTo>
                  <a:pt x="147" y="262"/>
                </a:lnTo>
                <a:lnTo>
                  <a:pt x="159" y="255"/>
                </a:lnTo>
                <a:lnTo>
                  <a:pt x="169" y="245"/>
                </a:lnTo>
                <a:lnTo>
                  <a:pt x="178" y="234"/>
                </a:lnTo>
                <a:lnTo>
                  <a:pt x="184" y="219"/>
                </a:lnTo>
                <a:lnTo>
                  <a:pt x="189" y="207"/>
                </a:lnTo>
                <a:lnTo>
                  <a:pt x="189" y="204"/>
                </a:lnTo>
                <a:lnTo>
                  <a:pt x="189" y="203"/>
                </a:lnTo>
                <a:lnTo>
                  <a:pt x="187" y="202"/>
                </a:lnTo>
                <a:lnTo>
                  <a:pt x="168" y="198"/>
                </a:lnTo>
                <a:lnTo>
                  <a:pt x="146" y="196"/>
                </a:lnTo>
                <a:close/>
                <a:moveTo>
                  <a:pt x="242" y="191"/>
                </a:moveTo>
                <a:lnTo>
                  <a:pt x="254" y="195"/>
                </a:lnTo>
                <a:lnTo>
                  <a:pt x="263" y="204"/>
                </a:lnTo>
                <a:lnTo>
                  <a:pt x="267" y="217"/>
                </a:lnTo>
                <a:lnTo>
                  <a:pt x="263" y="230"/>
                </a:lnTo>
                <a:lnTo>
                  <a:pt x="254" y="239"/>
                </a:lnTo>
                <a:lnTo>
                  <a:pt x="242" y="242"/>
                </a:lnTo>
                <a:lnTo>
                  <a:pt x="229" y="239"/>
                </a:lnTo>
                <a:lnTo>
                  <a:pt x="219" y="230"/>
                </a:lnTo>
                <a:lnTo>
                  <a:pt x="216" y="217"/>
                </a:lnTo>
                <a:lnTo>
                  <a:pt x="219" y="204"/>
                </a:lnTo>
                <a:lnTo>
                  <a:pt x="229" y="195"/>
                </a:lnTo>
                <a:lnTo>
                  <a:pt x="242" y="191"/>
                </a:lnTo>
                <a:close/>
                <a:moveTo>
                  <a:pt x="78" y="173"/>
                </a:moveTo>
                <a:lnTo>
                  <a:pt x="91" y="177"/>
                </a:lnTo>
                <a:lnTo>
                  <a:pt x="100" y="186"/>
                </a:lnTo>
                <a:lnTo>
                  <a:pt x="104" y="199"/>
                </a:lnTo>
                <a:lnTo>
                  <a:pt x="100" y="212"/>
                </a:lnTo>
                <a:lnTo>
                  <a:pt x="91" y="222"/>
                </a:lnTo>
                <a:lnTo>
                  <a:pt x="78" y="225"/>
                </a:lnTo>
                <a:lnTo>
                  <a:pt x="65" y="222"/>
                </a:lnTo>
                <a:lnTo>
                  <a:pt x="55" y="212"/>
                </a:lnTo>
                <a:lnTo>
                  <a:pt x="53" y="199"/>
                </a:lnTo>
                <a:lnTo>
                  <a:pt x="55" y="186"/>
                </a:lnTo>
                <a:lnTo>
                  <a:pt x="65" y="177"/>
                </a:lnTo>
                <a:lnTo>
                  <a:pt x="78" y="173"/>
                </a:lnTo>
                <a:close/>
                <a:moveTo>
                  <a:pt x="14" y="142"/>
                </a:moveTo>
                <a:lnTo>
                  <a:pt x="12" y="142"/>
                </a:lnTo>
                <a:lnTo>
                  <a:pt x="11" y="144"/>
                </a:lnTo>
                <a:lnTo>
                  <a:pt x="11" y="145"/>
                </a:lnTo>
                <a:lnTo>
                  <a:pt x="14" y="168"/>
                </a:lnTo>
                <a:lnTo>
                  <a:pt x="22" y="189"/>
                </a:lnTo>
                <a:lnTo>
                  <a:pt x="32" y="208"/>
                </a:lnTo>
                <a:lnTo>
                  <a:pt x="34" y="209"/>
                </a:lnTo>
                <a:lnTo>
                  <a:pt x="36" y="211"/>
                </a:lnTo>
                <a:lnTo>
                  <a:pt x="37" y="209"/>
                </a:lnTo>
                <a:lnTo>
                  <a:pt x="42" y="207"/>
                </a:lnTo>
                <a:lnTo>
                  <a:pt x="44" y="207"/>
                </a:lnTo>
                <a:lnTo>
                  <a:pt x="45" y="207"/>
                </a:lnTo>
                <a:lnTo>
                  <a:pt x="46" y="208"/>
                </a:lnTo>
                <a:lnTo>
                  <a:pt x="48" y="211"/>
                </a:lnTo>
                <a:lnTo>
                  <a:pt x="48" y="212"/>
                </a:lnTo>
                <a:lnTo>
                  <a:pt x="48" y="214"/>
                </a:lnTo>
                <a:lnTo>
                  <a:pt x="46" y="216"/>
                </a:lnTo>
                <a:lnTo>
                  <a:pt x="45" y="217"/>
                </a:lnTo>
                <a:lnTo>
                  <a:pt x="42" y="218"/>
                </a:lnTo>
                <a:lnTo>
                  <a:pt x="42" y="221"/>
                </a:lnTo>
                <a:lnTo>
                  <a:pt x="44" y="222"/>
                </a:lnTo>
                <a:lnTo>
                  <a:pt x="65" y="241"/>
                </a:lnTo>
                <a:lnTo>
                  <a:pt x="91" y="255"/>
                </a:lnTo>
                <a:lnTo>
                  <a:pt x="94" y="255"/>
                </a:lnTo>
                <a:lnTo>
                  <a:pt x="95" y="254"/>
                </a:lnTo>
                <a:lnTo>
                  <a:pt x="96" y="253"/>
                </a:lnTo>
                <a:lnTo>
                  <a:pt x="96" y="251"/>
                </a:lnTo>
                <a:lnTo>
                  <a:pt x="95" y="249"/>
                </a:lnTo>
                <a:lnTo>
                  <a:pt x="91" y="242"/>
                </a:lnTo>
                <a:lnTo>
                  <a:pt x="86" y="235"/>
                </a:lnTo>
                <a:lnTo>
                  <a:pt x="86" y="234"/>
                </a:lnTo>
                <a:lnTo>
                  <a:pt x="86" y="232"/>
                </a:lnTo>
                <a:lnTo>
                  <a:pt x="87" y="231"/>
                </a:lnTo>
                <a:lnTo>
                  <a:pt x="90" y="230"/>
                </a:lnTo>
                <a:lnTo>
                  <a:pt x="91" y="228"/>
                </a:lnTo>
                <a:lnTo>
                  <a:pt x="94" y="230"/>
                </a:lnTo>
                <a:lnTo>
                  <a:pt x="95" y="231"/>
                </a:lnTo>
                <a:lnTo>
                  <a:pt x="104" y="244"/>
                </a:lnTo>
                <a:lnTo>
                  <a:pt x="114" y="255"/>
                </a:lnTo>
                <a:lnTo>
                  <a:pt x="127" y="262"/>
                </a:lnTo>
                <a:lnTo>
                  <a:pt x="129" y="262"/>
                </a:lnTo>
                <a:lnTo>
                  <a:pt x="132" y="260"/>
                </a:lnTo>
                <a:lnTo>
                  <a:pt x="132" y="258"/>
                </a:lnTo>
                <a:lnTo>
                  <a:pt x="132" y="200"/>
                </a:lnTo>
                <a:lnTo>
                  <a:pt x="132" y="198"/>
                </a:lnTo>
                <a:lnTo>
                  <a:pt x="131" y="196"/>
                </a:lnTo>
                <a:lnTo>
                  <a:pt x="128" y="196"/>
                </a:lnTo>
                <a:lnTo>
                  <a:pt x="114" y="198"/>
                </a:lnTo>
                <a:lnTo>
                  <a:pt x="111" y="196"/>
                </a:lnTo>
                <a:lnTo>
                  <a:pt x="110" y="195"/>
                </a:lnTo>
                <a:lnTo>
                  <a:pt x="109" y="194"/>
                </a:lnTo>
                <a:lnTo>
                  <a:pt x="109" y="191"/>
                </a:lnTo>
                <a:lnTo>
                  <a:pt x="110" y="189"/>
                </a:lnTo>
                <a:lnTo>
                  <a:pt x="111" y="189"/>
                </a:lnTo>
                <a:lnTo>
                  <a:pt x="113" y="188"/>
                </a:lnTo>
                <a:lnTo>
                  <a:pt x="128" y="186"/>
                </a:lnTo>
                <a:lnTo>
                  <a:pt x="131" y="186"/>
                </a:lnTo>
                <a:lnTo>
                  <a:pt x="132" y="185"/>
                </a:lnTo>
                <a:lnTo>
                  <a:pt x="132" y="182"/>
                </a:lnTo>
                <a:lnTo>
                  <a:pt x="132" y="145"/>
                </a:lnTo>
                <a:lnTo>
                  <a:pt x="132" y="143"/>
                </a:lnTo>
                <a:lnTo>
                  <a:pt x="131" y="142"/>
                </a:lnTo>
                <a:lnTo>
                  <a:pt x="128" y="142"/>
                </a:lnTo>
                <a:lnTo>
                  <a:pt x="78" y="142"/>
                </a:lnTo>
                <a:lnTo>
                  <a:pt x="76" y="142"/>
                </a:lnTo>
                <a:lnTo>
                  <a:pt x="74" y="143"/>
                </a:lnTo>
                <a:lnTo>
                  <a:pt x="74" y="145"/>
                </a:lnTo>
                <a:lnTo>
                  <a:pt x="76" y="163"/>
                </a:lnTo>
                <a:lnTo>
                  <a:pt x="74" y="166"/>
                </a:lnTo>
                <a:lnTo>
                  <a:pt x="73" y="167"/>
                </a:lnTo>
                <a:lnTo>
                  <a:pt x="72" y="168"/>
                </a:lnTo>
                <a:lnTo>
                  <a:pt x="69" y="168"/>
                </a:lnTo>
                <a:lnTo>
                  <a:pt x="68" y="167"/>
                </a:lnTo>
                <a:lnTo>
                  <a:pt x="67" y="166"/>
                </a:lnTo>
                <a:lnTo>
                  <a:pt x="65" y="165"/>
                </a:lnTo>
                <a:lnTo>
                  <a:pt x="64" y="145"/>
                </a:lnTo>
                <a:lnTo>
                  <a:pt x="64" y="143"/>
                </a:lnTo>
                <a:lnTo>
                  <a:pt x="63" y="142"/>
                </a:lnTo>
                <a:lnTo>
                  <a:pt x="60" y="142"/>
                </a:lnTo>
                <a:lnTo>
                  <a:pt x="14" y="142"/>
                </a:lnTo>
                <a:close/>
                <a:moveTo>
                  <a:pt x="205" y="111"/>
                </a:moveTo>
                <a:lnTo>
                  <a:pt x="217" y="115"/>
                </a:lnTo>
                <a:lnTo>
                  <a:pt x="226" y="124"/>
                </a:lnTo>
                <a:lnTo>
                  <a:pt x="230" y="136"/>
                </a:lnTo>
                <a:lnTo>
                  <a:pt x="226" y="149"/>
                </a:lnTo>
                <a:lnTo>
                  <a:pt x="217" y="159"/>
                </a:lnTo>
                <a:lnTo>
                  <a:pt x="205" y="162"/>
                </a:lnTo>
                <a:lnTo>
                  <a:pt x="192" y="159"/>
                </a:lnTo>
                <a:lnTo>
                  <a:pt x="183" y="149"/>
                </a:lnTo>
                <a:lnTo>
                  <a:pt x="179" y="136"/>
                </a:lnTo>
                <a:lnTo>
                  <a:pt x="183" y="124"/>
                </a:lnTo>
                <a:lnTo>
                  <a:pt x="192" y="115"/>
                </a:lnTo>
                <a:lnTo>
                  <a:pt x="205" y="111"/>
                </a:lnTo>
                <a:close/>
                <a:moveTo>
                  <a:pt x="137" y="56"/>
                </a:moveTo>
                <a:lnTo>
                  <a:pt x="150" y="59"/>
                </a:lnTo>
                <a:lnTo>
                  <a:pt x="159" y="69"/>
                </a:lnTo>
                <a:lnTo>
                  <a:pt x="163" y="82"/>
                </a:lnTo>
                <a:lnTo>
                  <a:pt x="159" y="94"/>
                </a:lnTo>
                <a:lnTo>
                  <a:pt x="150" y="103"/>
                </a:lnTo>
                <a:lnTo>
                  <a:pt x="137" y="107"/>
                </a:lnTo>
                <a:lnTo>
                  <a:pt x="124" y="103"/>
                </a:lnTo>
                <a:lnTo>
                  <a:pt x="114" y="94"/>
                </a:lnTo>
                <a:lnTo>
                  <a:pt x="111" y="82"/>
                </a:lnTo>
                <a:lnTo>
                  <a:pt x="114" y="69"/>
                </a:lnTo>
                <a:lnTo>
                  <a:pt x="124" y="59"/>
                </a:lnTo>
                <a:lnTo>
                  <a:pt x="137" y="56"/>
                </a:lnTo>
                <a:close/>
                <a:moveTo>
                  <a:pt x="35" y="29"/>
                </a:moveTo>
                <a:lnTo>
                  <a:pt x="48" y="33"/>
                </a:lnTo>
                <a:lnTo>
                  <a:pt x="57" y="42"/>
                </a:lnTo>
                <a:lnTo>
                  <a:pt x="60" y="55"/>
                </a:lnTo>
                <a:lnTo>
                  <a:pt x="57" y="67"/>
                </a:lnTo>
                <a:lnTo>
                  <a:pt x="48" y="76"/>
                </a:lnTo>
                <a:lnTo>
                  <a:pt x="35" y="80"/>
                </a:lnTo>
                <a:lnTo>
                  <a:pt x="22" y="76"/>
                </a:lnTo>
                <a:lnTo>
                  <a:pt x="13" y="67"/>
                </a:lnTo>
                <a:lnTo>
                  <a:pt x="9" y="55"/>
                </a:lnTo>
                <a:lnTo>
                  <a:pt x="13" y="42"/>
                </a:lnTo>
                <a:lnTo>
                  <a:pt x="22" y="33"/>
                </a:lnTo>
                <a:lnTo>
                  <a:pt x="35" y="29"/>
                </a:lnTo>
                <a:close/>
                <a:moveTo>
                  <a:pt x="182" y="18"/>
                </a:moveTo>
                <a:lnTo>
                  <a:pt x="179" y="19"/>
                </a:lnTo>
                <a:lnTo>
                  <a:pt x="178" y="20"/>
                </a:lnTo>
                <a:lnTo>
                  <a:pt x="178" y="23"/>
                </a:lnTo>
                <a:lnTo>
                  <a:pt x="179" y="24"/>
                </a:lnTo>
                <a:lnTo>
                  <a:pt x="191" y="43"/>
                </a:lnTo>
                <a:lnTo>
                  <a:pt x="200" y="65"/>
                </a:lnTo>
                <a:lnTo>
                  <a:pt x="201" y="66"/>
                </a:lnTo>
                <a:lnTo>
                  <a:pt x="202" y="67"/>
                </a:lnTo>
                <a:lnTo>
                  <a:pt x="205" y="67"/>
                </a:lnTo>
                <a:lnTo>
                  <a:pt x="230" y="57"/>
                </a:lnTo>
                <a:lnTo>
                  <a:pt x="232" y="55"/>
                </a:lnTo>
                <a:lnTo>
                  <a:pt x="232" y="53"/>
                </a:lnTo>
                <a:lnTo>
                  <a:pt x="230" y="51"/>
                </a:lnTo>
                <a:lnTo>
                  <a:pt x="209" y="32"/>
                </a:lnTo>
                <a:lnTo>
                  <a:pt x="183" y="18"/>
                </a:lnTo>
                <a:lnTo>
                  <a:pt x="182" y="18"/>
                </a:lnTo>
                <a:close/>
                <a:moveTo>
                  <a:pt x="137" y="0"/>
                </a:moveTo>
                <a:lnTo>
                  <a:pt x="164" y="2"/>
                </a:lnTo>
                <a:lnTo>
                  <a:pt x="189" y="10"/>
                </a:lnTo>
                <a:lnTo>
                  <a:pt x="212" y="23"/>
                </a:lnTo>
                <a:lnTo>
                  <a:pt x="233" y="39"/>
                </a:lnTo>
                <a:lnTo>
                  <a:pt x="249" y="59"/>
                </a:lnTo>
                <a:lnTo>
                  <a:pt x="262" y="83"/>
                </a:lnTo>
                <a:lnTo>
                  <a:pt x="271" y="108"/>
                </a:lnTo>
                <a:lnTo>
                  <a:pt x="274" y="136"/>
                </a:lnTo>
                <a:lnTo>
                  <a:pt x="271" y="163"/>
                </a:lnTo>
                <a:lnTo>
                  <a:pt x="263" y="188"/>
                </a:lnTo>
                <a:lnTo>
                  <a:pt x="263" y="189"/>
                </a:lnTo>
                <a:lnTo>
                  <a:pt x="262" y="190"/>
                </a:lnTo>
                <a:lnTo>
                  <a:pt x="260" y="190"/>
                </a:lnTo>
                <a:lnTo>
                  <a:pt x="257" y="189"/>
                </a:lnTo>
                <a:lnTo>
                  <a:pt x="254" y="186"/>
                </a:lnTo>
                <a:lnTo>
                  <a:pt x="254" y="184"/>
                </a:lnTo>
                <a:lnTo>
                  <a:pt x="261" y="166"/>
                </a:lnTo>
                <a:lnTo>
                  <a:pt x="263" y="145"/>
                </a:lnTo>
                <a:lnTo>
                  <a:pt x="263" y="144"/>
                </a:lnTo>
                <a:lnTo>
                  <a:pt x="262" y="142"/>
                </a:lnTo>
                <a:lnTo>
                  <a:pt x="260" y="142"/>
                </a:lnTo>
                <a:lnTo>
                  <a:pt x="240" y="142"/>
                </a:lnTo>
                <a:lnTo>
                  <a:pt x="239" y="142"/>
                </a:lnTo>
                <a:lnTo>
                  <a:pt x="238" y="140"/>
                </a:lnTo>
                <a:lnTo>
                  <a:pt x="237" y="139"/>
                </a:lnTo>
                <a:lnTo>
                  <a:pt x="237" y="136"/>
                </a:lnTo>
                <a:lnTo>
                  <a:pt x="237" y="135"/>
                </a:lnTo>
                <a:lnTo>
                  <a:pt x="238" y="133"/>
                </a:lnTo>
                <a:lnTo>
                  <a:pt x="239" y="133"/>
                </a:lnTo>
                <a:lnTo>
                  <a:pt x="240" y="131"/>
                </a:lnTo>
                <a:lnTo>
                  <a:pt x="260" y="131"/>
                </a:lnTo>
                <a:lnTo>
                  <a:pt x="262" y="131"/>
                </a:lnTo>
                <a:lnTo>
                  <a:pt x="263" y="130"/>
                </a:lnTo>
                <a:lnTo>
                  <a:pt x="263" y="127"/>
                </a:lnTo>
                <a:lnTo>
                  <a:pt x="261" y="105"/>
                </a:lnTo>
                <a:lnTo>
                  <a:pt x="253" y="84"/>
                </a:lnTo>
                <a:lnTo>
                  <a:pt x="242" y="65"/>
                </a:lnTo>
                <a:lnTo>
                  <a:pt x="240" y="64"/>
                </a:lnTo>
                <a:lnTo>
                  <a:pt x="239" y="64"/>
                </a:lnTo>
                <a:lnTo>
                  <a:pt x="237" y="64"/>
                </a:lnTo>
                <a:lnTo>
                  <a:pt x="223" y="71"/>
                </a:lnTo>
                <a:lnTo>
                  <a:pt x="206" y="76"/>
                </a:lnTo>
                <a:lnTo>
                  <a:pt x="205" y="78"/>
                </a:lnTo>
                <a:lnTo>
                  <a:pt x="203" y="79"/>
                </a:lnTo>
                <a:lnTo>
                  <a:pt x="203" y="82"/>
                </a:lnTo>
                <a:lnTo>
                  <a:pt x="206" y="90"/>
                </a:lnTo>
                <a:lnTo>
                  <a:pt x="207" y="101"/>
                </a:lnTo>
                <a:lnTo>
                  <a:pt x="207" y="102"/>
                </a:lnTo>
                <a:lnTo>
                  <a:pt x="206" y="103"/>
                </a:lnTo>
                <a:lnTo>
                  <a:pt x="205" y="105"/>
                </a:lnTo>
                <a:lnTo>
                  <a:pt x="203" y="105"/>
                </a:lnTo>
                <a:lnTo>
                  <a:pt x="201" y="105"/>
                </a:lnTo>
                <a:lnTo>
                  <a:pt x="198" y="103"/>
                </a:lnTo>
                <a:lnTo>
                  <a:pt x="198" y="102"/>
                </a:lnTo>
                <a:lnTo>
                  <a:pt x="194" y="84"/>
                </a:lnTo>
                <a:lnTo>
                  <a:pt x="193" y="82"/>
                </a:lnTo>
                <a:lnTo>
                  <a:pt x="192" y="82"/>
                </a:lnTo>
                <a:lnTo>
                  <a:pt x="191" y="82"/>
                </a:lnTo>
                <a:lnTo>
                  <a:pt x="173" y="84"/>
                </a:lnTo>
                <a:lnTo>
                  <a:pt x="171" y="84"/>
                </a:lnTo>
                <a:lnTo>
                  <a:pt x="170" y="83"/>
                </a:lnTo>
                <a:lnTo>
                  <a:pt x="169" y="82"/>
                </a:lnTo>
                <a:lnTo>
                  <a:pt x="169" y="79"/>
                </a:lnTo>
                <a:lnTo>
                  <a:pt x="169" y="78"/>
                </a:lnTo>
                <a:lnTo>
                  <a:pt x="170" y="75"/>
                </a:lnTo>
                <a:lnTo>
                  <a:pt x="171" y="74"/>
                </a:lnTo>
                <a:lnTo>
                  <a:pt x="187" y="71"/>
                </a:lnTo>
                <a:lnTo>
                  <a:pt x="189" y="71"/>
                </a:lnTo>
                <a:lnTo>
                  <a:pt x="189" y="69"/>
                </a:lnTo>
                <a:lnTo>
                  <a:pt x="189" y="66"/>
                </a:lnTo>
                <a:lnTo>
                  <a:pt x="184" y="53"/>
                </a:lnTo>
                <a:lnTo>
                  <a:pt x="178" y="41"/>
                </a:lnTo>
                <a:lnTo>
                  <a:pt x="169" y="28"/>
                </a:lnTo>
                <a:lnTo>
                  <a:pt x="159" y="18"/>
                </a:lnTo>
                <a:lnTo>
                  <a:pt x="147" y="11"/>
                </a:lnTo>
                <a:lnTo>
                  <a:pt x="145" y="11"/>
                </a:lnTo>
                <a:lnTo>
                  <a:pt x="142" y="13"/>
                </a:lnTo>
                <a:lnTo>
                  <a:pt x="142" y="15"/>
                </a:lnTo>
                <a:lnTo>
                  <a:pt x="142" y="46"/>
                </a:lnTo>
                <a:lnTo>
                  <a:pt x="142" y="47"/>
                </a:lnTo>
                <a:lnTo>
                  <a:pt x="141" y="48"/>
                </a:lnTo>
                <a:lnTo>
                  <a:pt x="140" y="50"/>
                </a:lnTo>
                <a:lnTo>
                  <a:pt x="137" y="50"/>
                </a:lnTo>
                <a:lnTo>
                  <a:pt x="136" y="50"/>
                </a:lnTo>
                <a:lnTo>
                  <a:pt x="133" y="48"/>
                </a:lnTo>
                <a:lnTo>
                  <a:pt x="133" y="47"/>
                </a:lnTo>
                <a:lnTo>
                  <a:pt x="132" y="46"/>
                </a:lnTo>
                <a:lnTo>
                  <a:pt x="132" y="15"/>
                </a:lnTo>
                <a:lnTo>
                  <a:pt x="132" y="13"/>
                </a:lnTo>
                <a:lnTo>
                  <a:pt x="129" y="11"/>
                </a:lnTo>
                <a:lnTo>
                  <a:pt x="127" y="11"/>
                </a:lnTo>
                <a:lnTo>
                  <a:pt x="115" y="18"/>
                </a:lnTo>
                <a:lnTo>
                  <a:pt x="105" y="28"/>
                </a:lnTo>
                <a:lnTo>
                  <a:pt x="96" y="41"/>
                </a:lnTo>
                <a:lnTo>
                  <a:pt x="90" y="53"/>
                </a:lnTo>
                <a:lnTo>
                  <a:pt x="85" y="66"/>
                </a:lnTo>
                <a:lnTo>
                  <a:pt x="85" y="69"/>
                </a:lnTo>
                <a:lnTo>
                  <a:pt x="86" y="71"/>
                </a:lnTo>
                <a:lnTo>
                  <a:pt x="87" y="71"/>
                </a:lnTo>
                <a:lnTo>
                  <a:pt x="101" y="74"/>
                </a:lnTo>
                <a:lnTo>
                  <a:pt x="104" y="75"/>
                </a:lnTo>
                <a:lnTo>
                  <a:pt x="104" y="78"/>
                </a:lnTo>
                <a:lnTo>
                  <a:pt x="105" y="79"/>
                </a:lnTo>
                <a:lnTo>
                  <a:pt x="104" y="82"/>
                </a:lnTo>
                <a:lnTo>
                  <a:pt x="104" y="83"/>
                </a:lnTo>
                <a:lnTo>
                  <a:pt x="101" y="84"/>
                </a:lnTo>
                <a:lnTo>
                  <a:pt x="100" y="84"/>
                </a:lnTo>
                <a:lnTo>
                  <a:pt x="85" y="82"/>
                </a:lnTo>
                <a:lnTo>
                  <a:pt x="82" y="82"/>
                </a:lnTo>
                <a:lnTo>
                  <a:pt x="81" y="82"/>
                </a:lnTo>
                <a:lnTo>
                  <a:pt x="80" y="84"/>
                </a:lnTo>
                <a:lnTo>
                  <a:pt x="76" y="105"/>
                </a:lnTo>
                <a:lnTo>
                  <a:pt x="74" y="127"/>
                </a:lnTo>
                <a:lnTo>
                  <a:pt x="74" y="130"/>
                </a:lnTo>
                <a:lnTo>
                  <a:pt x="76" y="131"/>
                </a:lnTo>
                <a:lnTo>
                  <a:pt x="78" y="131"/>
                </a:lnTo>
                <a:lnTo>
                  <a:pt x="128" y="131"/>
                </a:lnTo>
                <a:lnTo>
                  <a:pt x="131" y="131"/>
                </a:lnTo>
                <a:lnTo>
                  <a:pt x="132" y="130"/>
                </a:lnTo>
                <a:lnTo>
                  <a:pt x="132" y="127"/>
                </a:lnTo>
                <a:lnTo>
                  <a:pt x="132" y="117"/>
                </a:lnTo>
                <a:lnTo>
                  <a:pt x="133" y="116"/>
                </a:lnTo>
                <a:lnTo>
                  <a:pt x="133" y="115"/>
                </a:lnTo>
                <a:lnTo>
                  <a:pt x="136" y="113"/>
                </a:lnTo>
                <a:lnTo>
                  <a:pt x="137" y="113"/>
                </a:lnTo>
                <a:lnTo>
                  <a:pt x="140" y="113"/>
                </a:lnTo>
                <a:lnTo>
                  <a:pt x="141" y="115"/>
                </a:lnTo>
                <a:lnTo>
                  <a:pt x="142" y="116"/>
                </a:lnTo>
                <a:lnTo>
                  <a:pt x="142" y="117"/>
                </a:lnTo>
                <a:lnTo>
                  <a:pt x="142" y="127"/>
                </a:lnTo>
                <a:lnTo>
                  <a:pt x="142" y="130"/>
                </a:lnTo>
                <a:lnTo>
                  <a:pt x="143" y="131"/>
                </a:lnTo>
                <a:lnTo>
                  <a:pt x="146" y="131"/>
                </a:lnTo>
                <a:lnTo>
                  <a:pt x="169" y="131"/>
                </a:lnTo>
                <a:lnTo>
                  <a:pt x="170" y="133"/>
                </a:lnTo>
                <a:lnTo>
                  <a:pt x="171" y="133"/>
                </a:lnTo>
                <a:lnTo>
                  <a:pt x="173" y="135"/>
                </a:lnTo>
                <a:lnTo>
                  <a:pt x="173" y="136"/>
                </a:lnTo>
                <a:lnTo>
                  <a:pt x="173" y="139"/>
                </a:lnTo>
                <a:lnTo>
                  <a:pt x="171" y="140"/>
                </a:lnTo>
                <a:lnTo>
                  <a:pt x="170" y="142"/>
                </a:lnTo>
                <a:lnTo>
                  <a:pt x="169" y="142"/>
                </a:lnTo>
                <a:lnTo>
                  <a:pt x="146" y="142"/>
                </a:lnTo>
                <a:lnTo>
                  <a:pt x="143" y="142"/>
                </a:lnTo>
                <a:lnTo>
                  <a:pt x="142" y="143"/>
                </a:lnTo>
                <a:lnTo>
                  <a:pt x="142" y="145"/>
                </a:lnTo>
                <a:lnTo>
                  <a:pt x="142" y="182"/>
                </a:lnTo>
                <a:lnTo>
                  <a:pt x="142" y="185"/>
                </a:lnTo>
                <a:lnTo>
                  <a:pt x="143" y="186"/>
                </a:lnTo>
                <a:lnTo>
                  <a:pt x="146" y="186"/>
                </a:lnTo>
                <a:lnTo>
                  <a:pt x="169" y="189"/>
                </a:lnTo>
                <a:lnTo>
                  <a:pt x="191" y="193"/>
                </a:lnTo>
                <a:lnTo>
                  <a:pt x="192" y="193"/>
                </a:lnTo>
                <a:lnTo>
                  <a:pt x="193" y="191"/>
                </a:lnTo>
                <a:lnTo>
                  <a:pt x="194" y="189"/>
                </a:lnTo>
                <a:lnTo>
                  <a:pt x="198" y="172"/>
                </a:lnTo>
                <a:lnTo>
                  <a:pt x="198" y="170"/>
                </a:lnTo>
                <a:lnTo>
                  <a:pt x="201" y="170"/>
                </a:lnTo>
                <a:lnTo>
                  <a:pt x="202" y="168"/>
                </a:lnTo>
                <a:lnTo>
                  <a:pt x="205" y="170"/>
                </a:lnTo>
                <a:lnTo>
                  <a:pt x="206" y="170"/>
                </a:lnTo>
                <a:lnTo>
                  <a:pt x="207" y="172"/>
                </a:lnTo>
                <a:lnTo>
                  <a:pt x="207" y="173"/>
                </a:lnTo>
                <a:lnTo>
                  <a:pt x="206" y="182"/>
                </a:lnTo>
                <a:lnTo>
                  <a:pt x="203" y="191"/>
                </a:lnTo>
                <a:lnTo>
                  <a:pt x="203" y="194"/>
                </a:lnTo>
                <a:lnTo>
                  <a:pt x="205" y="195"/>
                </a:lnTo>
                <a:lnTo>
                  <a:pt x="206" y="196"/>
                </a:lnTo>
                <a:lnTo>
                  <a:pt x="209" y="198"/>
                </a:lnTo>
                <a:lnTo>
                  <a:pt x="211" y="198"/>
                </a:lnTo>
                <a:lnTo>
                  <a:pt x="212" y="200"/>
                </a:lnTo>
                <a:lnTo>
                  <a:pt x="212" y="202"/>
                </a:lnTo>
                <a:lnTo>
                  <a:pt x="212" y="204"/>
                </a:lnTo>
                <a:lnTo>
                  <a:pt x="211" y="205"/>
                </a:lnTo>
                <a:lnTo>
                  <a:pt x="209" y="207"/>
                </a:lnTo>
                <a:lnTo>
                  <a:pt x="207" y="207"/>
                </a:lnTo>
                <a:lnTo>
                  <a:pt x="205" y="205"/>
                </a:lnTo>
                <a:lnTo>
                  <a:pt x="202" y="205"/>
                </a:lnTo>
                <a:lnTo>
                  <a:pt x="201" y="207"/>
                </a:lnTo>
                <a:lnTo>
                  <a:pt x="200" y="208"/>
                </a:lnTo>
                <a:lnTo>
                  <a:pt x="191" y="230"/>
                </a:lnTo>
                <a:lnTo>
                  <a:pt x="179" y="249"/>
                </a:lnTo>
                <a:lnTo>
                  <a:pt x="178" y="251"/>
                </a:lnTo>
                <a:lnTo>
                  <a:pt x="178" y="253"/>
                </a:lnTo>
                <a:lnTo>
                  <a:pt x="179" y="254"/>
                </a:lnTo>
                <a:lnTo>
                  <a:pt x="182" y="255"/>
                </a:lnTo>
                <a:lnTo>
                  <a:pt x="183" y="255"/>
                </a:lnTo>
                <a:lnTo>
                  <a:pt x="198" y="248"/>
                </a:lnTo>
                <a:lnTo>
                  <a:pt x="212" y="239"/>
                </a:lnTo>
                <a:lnTo>
                  <a:pt x="215" y="237"/>
                </a:lnTo>
                <a:lnTo>
                  <a:pt x="217" y="239"/>
                </a:lnTo>
                <a:lnTo>
                  <a:pt x="219" y="240"/>
                </a:lnTo>
                <a:lnTo>
                  <a:pt x="220" y="241"/>
                </a:lnTo>
                <a:lnTo>
                  <a:pt x="220" y="244"/>
                </a:lnTo>
                <a:lnTo>
                  <a:pt x="220" y="245"/>
                </a:lnTo>
                <a:lnTo>
                  <a:pt x="219" y="246"/>
                </a:lnTo>
                <a:lnTo>
                  <a:pt x="194" y="260"/>
                </a:lnTo>
                <a:lnTo>
                  <a:pt x="166" y="271"/>
                </a:lnTo>
                <a:lnTo>
                  <a:pt x="137" y="273"/>
                </a:lnTo>
                <a:lnTo>
                  <a:pt x="106" y="269"/>
                </a:lnTo>
                <a:lnTo>
                  <a:pt x="77" y="259"/>
                </a:lnTo>
                <a:lnTo>
                  <a:pt x="51" y="244"/>
                </a:lnTo>
                <a:lnTo>
                  <a:pt x="31" y="222"/>
                </a:lnTo>
                <a:lnTo>
                  <a:pt x="14" y="196"/>
                </a:lnTo>
                <a:lnTo>
                  <a:pt x="4" y="168"/>
                </a:lnTo>
                <a:lnTo>
                  <a:pt x="0" y="136"/>
                </a:lnTo>
                <a:lnTo>
                  <a:pt x="3" y="108"/>
                </a:lnTo>
                <a:lnTo>
                  <a:pt x="12" y="83"/>
                </a:lnTo>
                <a:lnTo>
                  <a:pt x="12" y="82"/>
                </a:lnTo>
                <a:lnTo>
                  <a:pt x="14" y="82"/>
                </a:lnTo>
                <a:lnTo>
                  <a:pt x="16" y="82"/>
                </a:lnTo>
                <a:lnTo>
                  <a:pt x="18" y="83"/>
                </a:lnTo>
                <a:lnTo>
                  <a:pt x="21" y="84"/>
                </a:lnTo>
                <a:lnTo>
                  <a:pt x="19" y="88"/>
                </a:lnTo>
                <a:lnTo>
                  <a:pt x="13" y="107"/>
                </a:lnTo>
                <a:lnTo>
                  <a:pt x="11" y="127"/>
                </a:lnTo>
                <a:lnTo>
                  <a:pt x="11" y="130"/>
                </a:lnTo>
                <a:lnTo>
                  <a:pt x="12" y="131"/>
                </a:lnTo>
                <a:lnTo>
                  <a:pt x="14" y="131"/>
                </a:lnTo>
                <a:lnTo>
                  <a:pt x="60" y="131"/>
                </a:lnTo>
                <a:lnTo>
                  <a:pt x="63" y="131"/>
                </a:lnTo>
                <a:lnTo>
                  <a:pt x="64" y="130"/>
                </a:lnTo>
                <a:lnTo>
                  <a:pt x="64" y="127"/>
                </a:lnTo>
                <a:lnTo>
                  <a:pt x="67" y="103"/>
                </a:lnTo>
                <a:lnTo>
                  <a:pt x="71" y="82"/>
                </a:lnTo>
                <a:lnTo>
                  <a:pt x="71" y="79"/>
                </a:lnTo>
                <a:lnTo>
                  <a:pt x="69" y="78"/>
                </a:lnTo>
                <a:lnTo>
                  <a:pt x="68" y="76"/>
                </a:lnTo>
                <a:lnTo>
                  <a:pt x="65" y="76"/>
                </a:lnTo>
                <a:lnTo>
                  <a:pt x="64" y="75"/>
                </a:lnTo>
                <a:lnTo>
                  <a:pt x="63" y="74"/>
                </a:lnTo>
                <a:lnTo>
                  <a:pt x="63" y="71"/>
                </a:lnTo>
                <a:lnTo>
                  <a:pt x="63" y="70"/>
                </a:lnTo>
                <a:lnTo>
                  <a:pt x="64" y="67"/>
                </a:lnTo>
                <a:lnTo>
                  <a:pt x="67" y="66"/>
                </a:lnTo>
                <a:lnTo>
                  <a:pt x="68" y="66"/>
                </a:lnTo>
                <a:lnTo>
                  <a:pt x="71" y="67"/>
                </a:lnTo>
                <a:lnTo>
                  <a:pt x="72" y="67"/>
                </a:lnTo>
                <a:lnTo>
                  <a:pt x="74" y="66"/>
                </a:lnTo>
                <a:lnTo>
                  <a:pt x="76" y="65"/>
                </a:lnTo>
                <a:lnTo>
                  <a:pt x="83" y="43"/>
                </a:lnTo>
                <a:lnTo>
                  <a:pt x="95" y="24"/>
                </a:lnTo>
                <a:lnTo>
                  <a:pt x="96" y="23"/>
                </a:lnTo>
                <a:lnTo>
                  <a:pt x="96" y="20"/>
                </a:lnTo>
                <a:lnTo>
                  <a:pt x="95" y="19"/>
                </a:lnTo>
                <a:lnTo>
                  <a:pt x="94" y="18"/>
                </a:lnTo>
                <a:lnTo>
                  <a:pt x="91" y="18"/>
                </a:lnTo>
                <a:lnTo>
                  <a:pt x="77" y="25"/>
                </a:lnTo>
                <a:lnTo>
                  <a:pt x="63" y="33"/>
                </a:lnTo>
                <a:lnTo>
                  <a:pt x="62" y="34"/>
                </a:lnTo>
                <a:lnTo>
                  <a:pt x="60" y="34"/>
                </a:lnTo>
                <a:lnTo>
                  <a:pt x="58" y="33"/>
                </a:lnTo>
                <a:lnTo>
                  <a:pt x="58" y="32"/>
                </a:lnTo>
                <a:lnTo>
                  <a:pt x="57" y="30"/>
                </a:lnTo>
                <a:lnTo>
                  <a:pt x="57" y="28"/>
                </a:lnTo>
                <a:lnTo>
                  <a:pt x="57" y="27"/>
                </a:lnTo>
                <a:lnTo>
                  <a:pt x="58" y="25"/>
                </a:lnTo>
                <a:lnTo>
                  <a:pt x="82" y="11"/>
                </a:lnTo>
                <a:lnTo>
                  <a:pt x="109" y="4"/>
                </a:lnTo>
                <a:lnTo>
                  <a:pt x="137" y="0"/>
                </a:lnTo>
                <a:close/>
              </a:path>
            </a:pathLst>
          </a:custGeom>
          <a:solidFill>
            <a:schemeClr val="bg1">
              <a:alpha val="10000"/>
            </a:schemeClr>
          </a:solidFill>
          <a:ln w="0">
            <a:noFill/>
            <a:prstDash val="solid"/>
            <a:round/>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微软雅黑" panose="020B0503020204020204" pitchFamily="34" charset="-122"/>
              <a:ea typeface="宋体" panose="02010600030101010101" pitchFamily="2" charset="-122"/>
              <a:cs typeface="+mn-cs"/>
            </a:endParaRPr>
          </a:p>
        </p:txBody>
      </p:sp>
      <p:sp>
        <p:nvSpPr>
          <p:cNvPr id="19" name="Freeform 463"/>
          <p:cNvSpPr>
            <a:spLocks noEditPoints="1"/>
          </p:cNvSpPr>
          <p:nvPr userDrawn="1"/>
        </p:nvSpPr>
        <p:spPr bwMode="auto">
          <a:xfrm rot="19468345">
            <a:off x="4877976" y="513678"/>
            <a:ext cx="1364153" cy="774137"/>
          </a:xfrm>
          <a:custGeom>
            <a:avLst/>
            <a:gdLst>
              <a:gd name="T0" fmla="*/ 250 w 326"/>
              <a:gd name="T1" fmla="*/ 94 h 185"/>
              <a:gd name="T2" fmla="*/ 253 w 326"/>
              <a:gd name="T3" fmla="*/ 98 h 185"/>
              <a:gd name="T4" fmla="*/ 249 w 326"/>
              <a:gd name="T5" fmla="*/ 148 h 185"/>
              <a:gd name="T6" fmla="*/ 225 w 326"/>
              <a:gd name="T7" fmla="*/ 163 h 185"/>
              <a:gd name="T8" fmla="*/ 185 w 326"/>
              <a:gd name="T9" fmla="*/ 171 h 185"/>
              <a:gd name="T10" fmla="*/ 142 w 326"/>
              <a:gd name="T11" fmla="*/ 171 h 185"/>
              <a:gd name="T12" fmla="*/ 102 w 326"/>
              <a:gd name="T13" fmla="*/ 163 h 185"/>
              <a:gd name="T14" fmla="*/ 78 w 326"/>
              <a:gd name="T15" fmla="*/ 148 h 185"/>
              <a:gd name="T16" fmla="*/ 74 w 326"/>
              <a:gd name="T17" fmla="*/ 99 h 185"/>
              <a:gd name="T18" fmla="*/ 76 w 326"/>
              <a:gd name="T19" fmla="*/ 94 h 185"/>
              <a:gd name="T20" fmla="*/ 82 w 326"/>
              <a:gd name="T21" fmla="*/ 94 h 185"/>
              <a:gd name="T22" fmla="*/ 163 w 326"/>
              <a:gd name="T23" fmla="*/ 126 h 185"/>
              <a:gd name="T24" fmla="*/ 245 w 326"/>
              <a:gd name="T25" fmla="*/ 93 h 185"/>
              <a:gd name="T26" fmla="*/ 163 w 326"/>
              <a:gd name="T27" fmla="*/ 0 h 185"/>
              <a:gd name="T28" fmla="*/ 322 w 326"/>
              <a:gd name="T29" fmla="*/ 46 h 185"/>
              <a:gd name="T30" fmla="*/ 326 w 326"/>
              <a:gd name="T31" fmla="*/ 50 h 185"/>
              <a:gd name="T32" fmla="*/ 324 w 326"/>
              <a:gd name="T33" fmla="*/ 53 h 185"/>
              <a:gd name="T34" fmla="*/ 168 w 326"/>
              <a:gd name="T35" fmla="*/ 120 h 185"/>
              <a:gd name="T36" fmla="*/ 157 w 326"/>
              <a:gd name="T37" fmla="*/ 120 h 185"/>
              <a:gd name="T38" fmla="*/ 42 w 326"/>
              <a:gd name="T39" fmla="*/ 72 h 185"/>
              <a:gd name="T40" fmla="*/ 39 w 326"/>
              <a:gd name="T41" fmla="*/ 75 h 185"/>
              <a:gd name="T42" fmla="*/ 39 w 326"/>
              <a:gd name="T43" fmla="*/ 110 h 185"/>
              <a:gd name="T44" fmla="*/ 42 w 326"/>
              <a:gd name="T45" fmla="*/ 110 h 185"/>
              <a:gd name="T46" fmla="*/ 45 w 326"/>
              <a:gd name="T47" fmla="*/ 110 h 185"/>
              <a:gd name="T48" fmla="*/ 46 w 326"/>
              <a:gd name="T49" fmla="*/ 112 h 185"/>
              <a:gd name="T50" fmla="*/ 46 w 326"/>
              <a:gd name="T51" fmla="*/ 116 h 185"/>
              <a:gd name="T52" fmla="*/ 45 w 326"/>
              <a:gd name="T53" fmla="*/ 122 h 185"/>
              <a:gd name="T54" fmla="*/ 46 w 326"/>
              <a:gd name="T55" fmla="*/ 124 h 185"/>
              <a:gd name="T56" fmla="*/ 46 w 326"/>
              <a:gd name="T57" fmla="*/ 126 h 185"/>
              <a:gd name="T58" fmla="*/ 45 w 326"/>
              <a:gd name="T59" fmla="*/ 127 h 185"/>
              <a:gd name="T60" fmla="*/ 52 w 326"/>
              <a:gd name="T61" fmla="*/ 149 h 185"/>
              <a:gd name="T62" fmla="*/ 50 w 326"/>
              <a:gd name="T63" fmla="*/ 171 h 185"/>
              <a:gd name="T64" fmla="*/ 42 w 326"/>
              <a:gd name="T65" fmla="*/ 181 h 185"/>
              <a:gd name="T66" fmla="*/ 42 w 326"/>
              <a:gd name="T67" fmla="*/ 175 h 185"/>
              <a:gd name="T68" fmla="*/ 42 w 326"/>
              <a:gd name="T69" fmla="*/ 171 h 185"/>
              <a:gd name="T70" fmla="*/ 41 w 326"/>
              <a:gd name="T71" fmla="*/ 172 h 185"/>
              <a:gd name="T72" fmla="*/ 39 w 326"/>
              <a:gd name="T73" fmla="*/ 179 h 185"/>
              <a:gd name="T74" fmla="*/ 36 w 326"/>
              <a:gd name="T75" fmla="*/ 185 h 185"/>
              <a:gd name="T76" fmla="*/ 34 w 326"/>
              <a:gd name="T77" fmla="*/ 185 h 185"/>
              <a:gd name="T78" fmla="*/ 33 w 326"/>
              <a:gd name="T79" fmla="*/ 170 h 185"/>
              <a:gd name="T80" fmla="*/ 32 w 326"/>
              <a:gd name="T81" fmla="*/ 167 h 185"/>
              <a:gd name="T82" fmla="*/ 32 w 326"/>
              <a:gd name="T83" fmla="*/ 171 h 185"/>
              <a:gd name="T84" fmla="*/ 30 w 326"/>
              <a:gd name="T85" fmla="*/ 179 h 185"/>
              <a:gd name="T86" fmla="*/ 30 w 326"/>
              <a:gd name="T87" fmla="*/ 179 h 185"/>
              <a:gd name="T88" fmla="*/ 29 w 326"/>
              <a:gd name="T89" fmla="*/ 172 h 185"/>
              <a:gd name="T90" fmla="*/ 28 w 326"/>
              <a:gd name="T91" fmla="*/ 172 h 185"/>
              <a:gd name="T92" fmla="*/ 28 w 326"/>
              <a:gd name="T93" fmla="*/ 180 h 185"/>
              <a:gd name="T94" fmla="*/ 28 w 326"/>
              <a:gd name="T95" fmla="*/ 181 h 185"/>
              <a:gd name="T96" fmla="*/ 16 w 326"/>
              <a:gd name="T97" fmla="*/ 157 h 185"/>
              <a:gd name="T98" fmla="*/ 25 w 326"/>
              <a:gd name="T99" fmla="*/ 127 h 185"/>
              <a:gd name="T100" fmla="*/ 24 w 326"/>
              <a:gd name="T101" fmla="*/ 126 h 185"/>
              <a:gd name="T102" fmla="*/ 24 w 326"/>
              <a:gd name="T103" fmla="*/ 122 h 185"/>
              <a:gd name="T104" fmla="*/ 27 w 326"/>
              <a:gd name="T105" fmla="*/ 121 h 185"/>
              <a:gd name="T106" fmla="*/ 25 w 326"/>
              <a:gd name="T107" fmla="*/ 116 h 185"/>
              <a:gd name="T108" fmla="*/ 25 w 326"/>
              <a:gd name="T109" fmla="*/ 112 h 185"/>
              <a:gd name="T110" fmla="*/ 28 w 326"/>
              <a:gd name="T111" fmla="*/ 108 h 185"/>
              <a:gd name="T112" fmla="*/ 30 w 326"/>
              <a:gd name="T113" fmla="*/ 110 h 185"/>
              <a:gd name="T114" fmla="*/ 33 w 326"/>
              <a:gd name="T115" fmla="*/ 108 h 185"/>
              <a:gd name="T116" fmla="*/ 32 w 326"/>
              <a:gd name="T117" fmla="*/ 67 h 185"/>
              <a:gd name="T118" fmla="*/ 2 w 326"/>
              <a:gd name="T119" fmla="*/ 55 h 185"/>
              <a:gd name="T120" fmla="*/ 0 w 326"/>
              <a:gd name="T121" fmla="*/ 52 h 185"/>
              <a:gd name="T122" fmla="*/ 1 w 326"/>
              <a:gd name="T123" fmla="*/ 47 h 185"/>
              <a:gd name="T124" fmla="*/ 159 w 326"/>
              <a:gd name="T125" fmla="*/ 0 h 1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26" h="185">
                <a:moveTo>
                  <a:pt x="248" y="93"/>
                </a:moveTo>
                <a:lnTo>
                  <a:pt x="250" y="94"/>
                </a:lnTo>
                <a:lnTo>
                  <a:pt x="251" y="95"/>
                </a:lnTo>
                <a:lnTo>
                  <a:pt x="253" y="98"/>
                </a:lnTo>
                <a:lnTo>
                  <a:pt x="253" y="138"/>
                </a:lnTo>
                <a:lnTo>
                  <a:pt x="249" y="148"/>
                </a:lnTo>
                <a:lnTo>
                  <a:pt x="239" y="157"/>
                </a:lnTo>
                <a:lnTo>
                  <a:pt x="225" y="163"/>
                </a:lnTo>
                <a:lnTo>
                  <a:pt x="207" y="168"/>
                </a:lnTo>
                <a:lnTo>
                  <a:pt x="185" y="171"/>
                </a:lnTo>
                <a:lnTo>
                  <a:pt x="163" y="172"/>
                </a:lnTo>
                <a:lnTo>
                  <a:pt x="142" y="171"/>
                </a:lnTo>
                <a:lnTo>
                  <a:pt x="120" y="168"/>
                </a:lnTo>
                <a:lnTo>
                  <a:pt x="102" y="163"/>
                </a:lnTo>
                <a:lnTo>
                  <a:pt x="87" y="157"/>
                </a:lnTo>
                <a:lnTo>
                  <a:pt x="78" y="148"/>
                </a:lnTo>
                <a:lnTo>
                  <a:pt x="74" y="138"/>
                </a:lnTo>
                <a:lnTo>
                  <a:pt x="74" y="99"/>
                </a:lnTo>
                <a:lnTo>
                  <a:pt x="75" y="97"/>
                </a:lnTo>
                <a:lnTo>
                  <a:pt x="76" y="94"/>
                </a:lnTo>
                <a:lnTo>
                  <a:pt x="79" y="93"/>
                </a:lnTo>
                <a:lnTo>
                  <a:pt x="82" y="94"/>
                </a:lnTo>
                <a:lnTo>
                  <a:pt x="158" y="125"/>
                </a:lnTo>
                <a:lnTo>
                  <a:pt x="163" y="126"/>
                </a:lnTo>
                <a:lnTo>
                  <a:pt x="168" y="125"/>
                </a:lnTo>
                <a:lnTo>
                  <a:pt x="245" y="93"/>
                </a:lnTo>
                <a:lnTo>
                  <a:pt x="248" y="93"/>
                </a:lnTo>
                <a:close/>
                <a:moveTo>
                  <a:pt x="163" y="0"/>
                </a:moveTo>
                <a:lnTo>
                  <a:pt x="167" y="0"/>
                </a:lnTo>
                <a:lnTo>
                  <a:pt x="322" y="46"/>
                </a:lnTo>
                <a:lnTo>
                  <a:pt x="324" y="47"/>
                </a:lnTo>
                <a:lnTo>
                  <a:pt x="326" y="50"/>
                </a:lnTo>
                <a:lnTo>
                  <a:pt x="326" y="52"/>
                </a:lnTo>
                <a:lnTo>
                  <a:pt x="324" y="53"/>
                </a:lnTo>
                <a:lnTo>
                  <a:pt x="323" y="55"/>
                </a:lnTo>
                <a:lnTo>
                  <a:pt x="168" y="120"/>
                </a:lnTo>
                <a:lnTo>
                  <a:pt x="163" y="121"/>
                </a:lnTo>
                <a:lnTo>
                  <a:pt x="157" y="120"/>
                </a:lnTo>
                <a:lnTo>
                  <a:pt x="43" y="72"/>
                </a:lnTo>
                <a:lnTo>
                  <a:pt x="42" y="72"/>
                </a:lnTo>
                <a:lnTo>
                  <a:pt x="39" y="74"/>
                </a:lnTo>
                <a:lnTo>
                  <a:pt x="39" y="75"/>
                </a:lnTo>
                <a:lnTo>
                  <a:pt x="39" y="110"/>
                </a:lnTo>
                <a:lnTo>
                  <a:pt x="39" y="110"/>
                </a:lnTo>
                <a:lnTo>
                  <a:pt x="41" y="111"/>
                </a:lnTo>
                <a:lnTo>
                  <a:pt x="42" y="110"/>
                </a:lnTo>
                <a:lnTo>
                  <a:pt x="43" y="110"/>
                </a:lnTo>
                <a:lnTo>
                  <a:pt x="45" y="110"/>
                </a:lnTo>
                <a:lnTo>
                  <a:pt x="45" y="111"/>
                </a:lnTo>
                <a:lnTo>
                  <a:pt x="46" y="112"/>
                </a:lnTo>
                <a:lnTo>
                  <a:pt x="46" y="115"/>
                </a:lnTo>
                <a:lnTo>
                  <a:pt x="46" y="116"/>
                </a:lnTo>
                <a:lnTo>
                  <a:pt x="46" y="120"/>
                </a:lnTo>
                <a:lnTo>
                  <a:pt x="45" y="122"/>
                </a:lnTo>
                <a:lnTo>
                  <a:pt x="45" y="124"/>
                </a:lnTo>
                <a:lnTo>
                  <a:pt x="46" y="124"/>
                </a:lnTo>
                <a:lnTo>
                  <a:pt x="47" y="125"/>
                </a:lnTo>
                <a:lnTo>
                  <a:pt x="46" y="126"/>
                </a:lnTo>
                <a:lnTo>
                  <a:pt x="45" y="127"/>
                </a:lnTo>
                <a:lnTo>
                  <a:pt x="45" y="127"/>
                </a:lnTo>
                <a:lnTo>
                  <a:pt x="50" y="138"/>
                </a:lnTo>
                <a:lnTo>
                  <a:pt x="52" y="149"/>
                </a:lnTo>
                <a:lnTo>
                  <a:pt x="52" y="161"/>
                </a:lnTo>
                <a:lnTo>
                  <a:pt x="50" y="171"/>
                </a:lnTo>
                <a:lnTo>
                  <a:pt x="42" y="180"/>
                </a:lnTo>
                <a:lnTo>
                  <a:pt x="42" y="181"/>
                </a:lnTo>
                <a:lnTo>
                  <a:pt x="42" y="180"/>
                </a:lnTo>
                <a:lnTo>
                  <a:pt x="42" y="175"/>
                </a:lnTo>
                <a:lnTo>
                  <a:pt x="42" y="172"/>
                </a:lnTo>
                <a:lnTo>
                  <a:pt x="42" y="171"/>
                </a:lnTo>
                <a:lnTo>
                  <a:pt x="42" y="171"/>
                </a:lnTo>
                <a:lnTo>
                  <a:pt x="41" y="172"/>
                </a:lnTo>
                <a:lnTo>
                  <a:pt x="41" y="175"/>
                </a:lnTo>
                <a:lnTo>
                  <a:pt x="39" y="179"/>
                </a:lnTo>
                <a:lnTo>
                  <a:pt x="37" y="182"/>
                </a:lnTo>
                <a:lnTo>
                  <a:pt x="36" y="185"/>
                </a:lnTo>
                <a:lnTo>
                  <a:pt x="34" y="185"/>
                </a:lnTo>
                <a:lnTo>
                  <a:pt x="34" y="185"/>
                </a:lnTo>
                <a:lnTo>
                  <a:pt x="33" y="173"/>
                </a:lnTo>
                <a:lnTo>
                  <a:pt x="33" y="170"/>
                </a:lnTo>
                <a:lnTo>
                  <a:pt x="33" y="168"/>
                </a:lnTo>
                <a:lnTo>
                  <a:pt x="32" y="167"/>
                </a:lnTo>
                <a:lnTo>
                  <a:pt x="32" y="168"/>
                </a:lnTo>
                <a:lnTo>
                  <a:pt x="32" y="171"/>
                </a:lnTo>
                <a:lnTo>
                  <a:pt x="32" y="179"/>
                </a:lnTo>
                <a:lnTo>
                  <a:pt x="30" y="179"/>
                </a:lnTo>
                <a:lnTo>
                  <a:pt x="30" y="180"/>
                </a:lnTo>
                <a:lnTo>
                  <a:pt x="30" y="179"/>
                </a:lnTo>
                <a:lnTo>
                  <a:pt x="29" y="175"/>
                </a:lnTo>
                <a:lnTo>
                  <a:pt x="29" y="172"/>
                </a:lnTo>
                <a:lnTo>
                  <a:pt x="28" y="172"/>
                </a:lnTo>
                <a:lnTo>
                  <a:pt x="28" y="172"/>
                </a:lnTo>
                <a:lnTo>
                  <a:pt x="28" y="175"/>
                </a:lnTo>
                <a:lnTo>
                  <a:pt x="28" y="180"/>
                </a:lnTo>
                <a:lnTo>
                  <a:pt x="28" y="181"/>
                </a:lnTo>
                <a:lnTo>
                  <a:pt x="28" y="181"/>
                </a:lnTo>
                <a:lnTo>
                  <a:pt x="19" y="170"/>
                </a:lnTo>
                <a:lnTo>
                  <a:pt x="16" y="157"/>
                </a:lnTo>
                <a:lnTo>
                  <a:pt x="19" y="141"/>
                </a:lnTo>
                <a:lnTo>
                  <a:pt x="25" y="127"/>
                </a:lnTo>
                <a:lnTo>
                  <a:pt x="25" y="126"/>
                </a:lnTo>
                <a:lnTo>
                  <a:pt x="24" y="126"/>
                </a:lnTo>
                <a:lnTo>
                  <a:pt x="24" y="124"/>
                </a:lnTo>
                <a:lnTo>
                  <a:pt x="24" y="122"/>
                </a:lnTo>
                <a:lnTo>
                  <a:pt x="25" y="122"/>
                </a:lnTo>
                <a:lnTo>
                  <a:pt x="27" y="121"/>
                </a:lnTo>
                <a:lnTo>
                  <a:pt x="25" y="118"/>
                </a:lnTo>
                <a:lnTo>
                  <a:pt x="25" y="116"/>
                </a:lnTo>
                <a:lnTo>
                  <a:pt x="25" y="113"/>
                </a:lnTo>
                <a:lnTo>
                  <a:pt x="25" y="112"/>
                </a:lnTo>
                <a:lnTo>
                  <a:pt x="27" y="110"/>
                </a:lnTo>
                <a:lnTo>
                  <a:pt x="28" y="108"/>
                </a:lnTo>
                <a:lnTo>
                  <a:pt x="30" y="108"/>
                </a:lnTo>
                <a:lnTo>
                  <a:pt x="30" y="110"/>
                </a:lnTo>
                <a:lnTo>
                  <a:pt x="32" y="108"/>
                </a:lnTo>
                <a:lnTo>
                  <a:pt x="33" y="108"/>
                </a:lnTo>
                <a:lnTo>
                  <a:pt x="33" y="70"/>
                </a:lnTo>
                <a:lnTo>
                  <a:pt x="32" y="67"/>
                </a:lnTo>
                <a:lnTo>
                  <a:pt x="30" y="66"/>
                </a:lnTo>
                <a:lnTo>
                  <a:pt x="2" y="55"/>
                </a:lnTo>
                <a:lnTo>
                  <a:pt x="1" y="53"/>
                </a:lnTo>
                <a:lnTo>
                  <a:pt x="0" y="52"/>
                </a:lnTo>
                <a:lnTo>
                  <a:pt x="0" y="50"/>
                </a:lnTo>
                <a:lnTo>
                  <a:pt x="1" y="47"/>
                </a:lnTo>
                <a:lnTo>
                  <a:pt x="4" y="46"/>
                </a:lnTo>
                <a:lnTo>
                  <a:pt x="159" y="0"/>
                </a:lnTo>
                <a:lnTo>
                  <a:pt x="163" y="0"/>
                </a:lnTo>
                <a:close/>
              </a:path>
            </a:pathLst>
          </a:custGeom>
          <a:solidFill>
            <a:schemeClr val="bg1">
              <a:alpha val="10000"/>
            </a:schemeClr>
          </a:solidFill>
          <a:ln w="0">
            <a:noFill/>
            <a:prstDash val="solid"/>
            <a:round/>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微软雅黑" panose="020B0503020204020204" pitchFamily="34" charset="-122"/>
              <a:ea typeface="宋体" panose="02010600030101010101" pitchFamily="2" charset="-122"/>
              <a:cs typeface="+mn-cs"/>
            </a:endParaRPr>
          </a:p>
        </p:txBody>
      </p:sp>
      <p:sp>
        <p:nvSpPr>
          <p:cNvPr id="21" name="Freeform 345"/>
          <p:cNvSpPr>
            <a:spLocks noEditPoints="1"/>
          </p:cNvSpPr>
          <p:nvPr userDrawn="1"/>
        </p:nvSpPr>
        <p:spPr bwMode="auto">
          <a:xfrm rot="19951744">
            <a:off x="485337" y="1535222"/>
            <a:ext cx="2166226" cy="3066048"/>
          </a:xfrm>
          <a:custGeom>
            <a:avLst/>
            <a:gdLst>
              <a:gd name="T0" fmla="*/ 190 w 195"/>
              <a:gd name="T1" fmla="*/ 163 h 276"/>
              <a:gd name="T2" fmla="*/ 195 w 195"/>
              <a:gd name="T3" fmla="*/ 174 h 276"/>
              <a:gd name="T4" fmla="*/ 192 w 195"/>
              <a:gd name="T5" fmla="*/ 180 h 276"/>
              <a:gd name="T6" fmla="*/ 105 w 195"/>
              <a:gd name="T7" fmla="*/ 212 h 276"/>
              <a:gd name="T8" fmla="*/ 98 w 195"/>
              <a:gd name="T9" fmla="*/ 202 h 276"/>
              <a:gd name="T10" fmla="*/ 101 w 195"/>
              <a:gd name="T11" fmla="*/ 195 h 276"/>
              <a:gd name="T12" fmla="*/ 187 w 195"/>
              <a:gd name="T13" fmla="*/ 160 h 276"/>
              <a:gd name="T14" fmla="*/ 20 w 195"/>
              <a:gd name="T15" fmla="*/ 147 h 276"/>
              <a:gd name="T16" fmla="*/ 15 w 195"/>
              <a:gd name="T17" fmla="*/ 157 h 276"/>
              <a:gd name="T18" fmla="*/ 20 w 195"/>
              <a:gd name="T19" fmla="*/ 168 h 276"/>
              <a:gd name="T20" fmla="*/ 32 w 195"/>
              <a:gd name="T21" fmla="*/ 169 h 276"/>
              <a:gd name="T22" fmla="*/ 40 w 195"/>
              <a:gd name="T23" fmla="*/ 161 h 276"/>
              <a:gd name="T24" fmla="*/ 37 w 195"/>
              <a:gd name="T25" fmla="*/ 150 h 276"/>
              <a:gd name="T26" fmla="*/ 27 w 195"/>
              <a:gd name="T27" fmla="*/ 145 h 276"/>
              <a:gd name="T28" fmla="*/ 102 w 195"/>
              <a:gd name="T29" fmla="*/ 2 h 276"/>
              <a:gd name="T30" fmla="*/ 105 w 195"/>
              <a:gd name="T31" fmla="*/ 12 h 276"/>
              <a:gd name="T32" fmla="*/ 100 w 195"/>
              <a:gd name="T33" fmla="*/ 14 h 276"/>
              <a:gd name="T34" fmla="*/ 151 w 195"/>
              <a:gd name="T35" fmla="*/ 146 h 276"/>
              <a:gd name="T36" fmla="*/ 148 w 195"/>
              <a:gd name="T37" fmla="*/ 149 h 276"/>
              <a:gd name="T38" fmla="*/ 147 w 195"/>
              <a:gd name="T39" fmla="*/ 151 h 276"/>
              <a:gd name="T40" fmla="*/ 148 w 195"/>
              <a:gd name="T41" fmla="*/ 160 h 276"/>
              <a:gd name="T42" fmla="*/ 144 w 195"/>
              <a:gd name="T43" fmla="*/ 166 h 276"/>
              <a:gd name="T44" fmla="*/ 129 w 195"/>
              <a:gd name="T45" fmla="*/ 169 h 276"/>
              <a:gd name="T46" fmla="*/ 124 w 195"/>
              <a:gd name="T47" fmla="*/ 161 h 276"/>
              <a:gd name="T48" fmla="*/ 120 w 195"/>
              <a:gd name="T49" fmla="*/ 160 h 276"/>
              <a:gd name="T50" fmla="*/ 118 w 195"/>
              <a:gd name="T51" fmla="*/ 160 h 276"/>
              <a:gd name="T52" fmla="*/ 91 w 195"/>
              <a:gd name="T53" fmla="*/ 97 h 276"/>
              <a:gd name="T54" fmla="*/ 84 w 195"/>
              <a:gd name="T55" fmla="*/ 97 h 276"/>
              <a:gd name="T56" fmla="*/ 52 w 195"/>
              <a:gd name="T57" fmla="*/ 136 h 276"/>
              <a:gd name="T58" fmla="*/ 55 w 195"/>
              <a:gd name="T59" fmla="*/ 151 h 276"/>
              <a:gd name="T60" fmla="*/ 52 w 195"/>
              <a:gd name="T61" fmla="*/ 170 h 276"/>
              <a:gd name="T62" fmla="*/ 46 w 195"/>
              <a:gd name="T63" fmla="*/ 180 h 276"/>
              <a:gd name="T64" fmla="*/ 59 w 195"/>
              <a:gd name="T65" fmla="*/ 216 h 276"/>
              <a:gd name="T66" fmla="*/ 87 w 195"/>
              <a:gd name="T67" fmla="*/ 243 h 276"/>
              <a:gd name="T68" fmla="*/ 185 w 195"/>
              <a:gd name="T69" fmla="*/ 244 h 276"/>
              <a:gd name="T70" fmla="*/ 193 w 195"/>
              <a:gd name="T71" fmla="*/ 256 h 276"/>
              <a:gd name="T72" fmla="*/ 189 w 195"/>
              <a:gd name="T73" fmla="*/ 274 h 276"/>
              <a:gd name="T74" fmla="*/ 22 w 195"/>
              <a:gd name="T75" fmla="*/ 276 h 276"/>
              <a:gd name="T76" fmla="*/ 12 w 195"/>
              <a:gd name="T77" fmla="*/ 270 h 276"/>
              <a:gd name="T78" fmla="*/ 12 w 195"/>
              <a:gd name="T79" fmla="*/ 251 h 276"/>
              <a:gd name="T80" fmla="*/ 22 w 195"/>
              <a:gd name="T81" fmla="*/ 244 h 276"/>
              <a:gd name="T82" fmla="*/ 29 w 195"/>
              <a:gd name="T83" fmla="*/ 241 h 276"/>
              <a:gd name="T84" fmla="*/ 17 w 195"/>
              <a:gd name="T85" fmla="*/ 210 h 276"/>
              <a:gd name="T86" fmla="*/ 8 w 195"/>
              <a:gd name="T87" fmla="*/ 177 h 276"/>
              <a:gd name="T88" fmla="*/ 0 w 195"/>
              <a:gd name="T89" fmla="*/ 157 h 276"/>
              <a:gd name="T90" fmla="*/ 15 w 195"/>
              <a:gd name="T91" fmla="*/ 131 h 276"/>
              <a:gd name="T92" fmla="*/ 38 w 195"/>
              <a:gd name="T93" fmla="*/ 91 h 276"/>
              <a:gd name="T94" fmla="*/ 75 w 195"/>
              <a:gd name="T95" fmla="*/ 62 h 276"/>
              <a:gd name="T96" fmla="*/ 65 w 195"/>
              <a:gd name="T97" fmla="*/ 31 h 276"/>
              <a:gd name="T98" fmla="*/ 61 w 195"/>
              <a:gd name="T99" fmla="*/ 30 h 276"/>
              <a:gd name="T100" fmla="*/ 56 w 195"/>
              <a:gd name="T101" fmla="*/ 31 h 276"/>
              <a:gd name="T102" fmla="*/ 52 w 195"/>
              <a:gd name="T103" fmla="*/ 20 h 276"/>
              <a:gd name="T104" fmla="*/ 59 w 195"/>
              <a:gd name="T105" fmla="*/ 16 h 276"/>
              <a:gd name="T106" fmla="*/ 101 w 195"/>
              <a:gd name="T107" fmla="*/ 0 h 2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95" h="276">
                <a:moveTo>
                  <a:pt x="187" y="160"/>
                </a:moveTo>
                <a:lnTo>
                  <a:pt x="189" y="161"/>
                </a:lnTo>
                <a:lnTo>
                  <a:pt x="190" y="163"/>
                </a:lnTo>
                <a:lnTo>
                  <a:pt x="193" y="165"/>
                </a:lnTo>
                <a:lnTo>
                  <a:pt x="195" y="172"/>
                </a:lnTo>
                <a:lnTo>
                  <a:pt x="195" y="174"/>
                </a:lnTo>
                <a:lnTo>
                  <a:pt x="195" y="177"/>
                </a:lnTo>
                <a:lnTo>
                  <a:pt x="193" y="178"/>
                </a:lnTo>
                <a:lnTo>
                  <a:pt x="192" y="180"/>
                </a:lnTo>
                <a:lnTo>
                  <a:pt x="110" y="212"/>
                </a:lnTo>
                <a:lnTo>
                  <a:pt x="107" y="212"/>
                </a:lnTo>
                <a:lnTo>
                  <a:pt x="105" y="212"/>
                </a:lnTo>
                <a:lnTo>
                  <a:pt x="103" y="211"/>
                </a:lnTo>
                <a:lnTo>
                  <a:pt x="101" y="209"/>
                </a:lnTo>
                <a:lnTo>
                  <a:pt x="98" y="202"/>
                </a:lnTo>
                <a:lnTo>
                  <a:pt x="98" y="200"/>
                </a:lnTo>
                <a:lnTo>
                  <a:pt x="98" y="197"/>
                </a:lnTo>
                <a:lnTo>
                  <a:pt x="101" y="195"/>
                </a:lnTo>
                <a:lnTo>
                  <a:pt x="102" y="193"/>
                </a:lnTo>
                <a:lnTo>
                  <a:pt x="184" y="161"/>
                </a:lnTo>
                <a:lnTo>
                  <a:pt x="187" y="160"/>
                </a:lnTo>
                <a:close/>
                <a:moveTo>
                  <a:pt x="27" y="145"/>
                </a:moveTo>
                <a:lnTo>
                  <a:pt x="23" y="145"/>
                </a:lnTo>
                <a:lnTo>
                  <a:pt x="20" y="147"/>
                </a:lnTo>
                <a:lnTo>
                  <a:pt x="17" y="150"/>
                </a:lnTo>
                <a:lnTo>
                  <a:pt x="15" y="154"/>
                </a:lnTo>
                <a:lnTo>
                  <a:pt x="15" y="157"/>
                </a:lnTo>
                <a:lnTo>
                  <a:pt x="15" y="161"/>
                </a:lnTo>
                <a:lnTo>
                  <a:pt x="17" y="165"/>
                </a:lnTo>
                <a:lnTo>
                  <a:pt x="20" y="168"/>
                </a:lnTo>
                <a:lnTo>
                  <a:pt x="23" y="169"/>
                </a:lnTo>
                <a:lnTo>
                  <a:pt x="27" y="170"/>
                </a:lnTo>
                <a:lnTo>
                  <a:pt x="32" y="169"/>
                </a:lnTo>
                <a:lnTo>
                  <a:pt x="35" y="168"/>
                </a:lnTo>
                <a:lnTo>
                  <a:pt x="37" y="165"/>
                </a:lnTo>
                <a:lnTo>
                  <a:pt x="40" y="161"/>
                </a:lnTo>
                <a:lnTo>
                  <a:pt x="40" y="157"/>
                </a:lnTo>
                <a:lnTo>
                  <a:pt x="40" y="154"/>
                </a:lnTo>
                <a:lnTo>
                  <a:pt x="37" y="150"/>
                </a:lnTo>
                <a:lnTo>
                  <a:pt x="35" y="147"/>
                </a:lnTo>
                <a:lnTo>
                  <a:pt x="32" y="145"/>
                </a:lnTo>
                <a:lnTo>
                  <a:pt x="27" y="145"/>
                </a:lnTo>
                <a:close/>
                <a:moveTo>
                  <a:pt x="101" y="0"/>
                </a:moveTo>
                <a:lnTo>
                  <a:pt x="102" y="0"/>
                </a:lnTo>
                <a:lnTo>
                  <a:pt x="102" y="2"/>
                </a:lnTo>
                <a:lnTo>
                  <a:pt x="106" y="9"/>
                </a:lnTo>
                <a:lnTo>
                  <a:pt x="106" y="11"/>
                </a:lnTo>
                <a:lnTo>
                  <a:pt x="105" y="12"/>
                </a:lnTo>
                <a:lnTo>
                  <a:pt x="103" y="13"/>
                </a:lnTo>
                <a:lnTo>
                  <a:pt x="101" y="14"/>
                </a:lnTo>
                <a:lnTo>
                  <a:pt x="100" y="14"/>
                </a:lnTo>
                <a:lnTo>
                  <a:pt x="100" y="16"/>
                </a:lnTo>
                <a:lnTo>
                  <a:pt x="100" y="18"/>
                </a:lnTo>
                <a:lnTo>
                  <a:pt x="151" y="146"/>
                </a:lnTo>
                <a:lnTo>
                  <a:pt x="151" y="147"/>
                </a:lnTo>
                <a:lnTo>
                  <a:pt x="149" y="149"/>
                </a:lnTo>
                <a:lnTo>
                  <a:pt x="148" y="149"/>
                </a:lnTo>
                <a:lnTo>
                  <a:pt x="148" y="150"/>
                </a:lnTo>
                <a:lnTo>
                  <a:pt x="147" y="150"/>
                </a:lnTo>
                <a:lnTo>
                  <a:pt x="147" y="151"/>
                </a:lnTo>
                <a:lnTo>
                  <a:pt x="147" y="152"/>
                </a:lnTo>
                <a:lnTo>
                  <a:pt x="148" y="157"/>
                </a:lnTo>
                <a:lnTo>
                  <a:pt x="148" y="160"/>
                </a:lnTo>
                <a:lnTo>
                  <a:pt x="148" y="163"/>
                </a:lnTo>
                <a:lnTo>
                  <a:pt x="147" y="164"/>
                </a:lnTo>
                <a:lnTo>
                  <a:pt x="144" y="166"/>
                </a:lnTo>
                <a:lnTo>
                  <a:pt x="134" y="169"/>
                </a:lnTo>
                <a:lnTo>
                  <a:pt x="132" y="170"/>
                </a:lnTo>
                <a:lnTo>
                  <a:pt x="129" y="169"/>
                </a:lnTo>
                <a:lnTo>
                  <a:pt x="128" y="168"/>
                </a:lnTo>
                <a:lnTo>
                  <a:pt x="125" y="165"/>
                </a:lnTo>
                <a:lnTo>
                  <a:pt x="124" y="161"/>
                </a:lnTo>
                <a:lnTo>
                  <a:pt x="124" y="161"/>
                </a:lnTo>
                <a:lnTo>
                  <a:pt x="123" y="160"/>
                </a:lnTo>
                <a:lnTo>
                  <a:pt x="120" y="160"/>
                </a:lnTo>
                <a:lnTo>
                  <a:pt x="120" y="160"/>
                </a:lnTo>
                <a:lnTo>
                  <a:pt x="119" y="161"/>
                </a:lnTo>
                <a:lnTo>
                  <a:pt x="118" y="160"/>
                </a:lnTo>
                <a:lnTo>
                  <a:pt x="116" y="159"/>
                </a:lnTo>
                <a:lnTo>
                  <a:pt x="93" y="100"/>
                </a:lnTo>
                <a:lnTo>
                  <a:pt x="91" y="97"/>
                </a:lnTo>
                <a:lnTo>
                  <a:pt x="89" y="96"/>
                </a:lnTo>
                <a:lnTo>
                  <a:pt x="87" y="96"/>
                </a:lnTo>
                <a:lnTo>
                  <a:pt x="84" y="97"/>
                </a:lnTo>
                <a:lnTo>
                  <a:pt x="70" y="108"/>
                </a:lnTo>
                <a:lnTo>
                  <a:pt x="60" y="120"/>
                </a:lnTo>
                <a:lnTo>
                  <a:pt x="52" y="136"/>
                </a:lnTo>
                <a:lnTo>
                  <a:pt x="51" y="140"/>
                </a:lnTo>
                <a:lnTo>
                  <a:pt x="52" y="145"/>
                </a:lnTo>
                <a:lnTo>
                  <a:pt x="55" y="151"/>
                </a:lnTo>
                <a:lnTo>
                  <a:pt x="55" y="157"/>
                </a:lnTo>
                <a:lnTo>
                  <a:pt x="55" y="164"/>
                </a:lnTo>
                <a:lnTo>
                  <a:pt x="52" y="170"/>
                </a:lnTo>
                <a:lnTo>
                  <a:pt x="49" y="175"/>
                </a:lnTo>
                <a:lnTo>
                  <a:pt x="47" y="178"/>
                </a:lnTo>
                <a:lnTo>
                  <a:pt x="46" y="180"/>
                </a:lnTo>
                <a:lnTo>
                  <a:pt x="46" y="184"/>
                </a:lnTo>
                <a:lnTo>
                  <a:pt x="51" y="201"/>
                </a:lnTo>
                <a:lnTo>
                  <a:pt x="59" y="216"/>
                </a:lnTo>
                <a:lnTo>
                  <a:pt x="69" y="230"/>
                </a:lnTo>
                <a:lnTo>
                  <a:pt x="83" y="242"/>
                </a:lnTo>
                <a:lnTo>
                  <a:pt x="87" y="243"/>
                </a:lnTo>
                <a:lnTo>
                  <a:pt x="89" y="244"/>
                </a:lnTo>
                <a:lnTo>
                  <a:pt x="181" y="244"/>
                </a:lnTo>
                <a:lnTo>
                  <a:pt x="185" y="244"/>
                </a:lnTo>
                <a:lnTo>
                  <a:pt x="189" y="247"/>
                </a:lnTo>
                <a:lnTo>
                  <a:pt x="192" y="251"/>
                </a:lnTo>
                <a:lnTo>
                  <a:pt x="193" y="256"/>
                </a:lnTo>
                <a:lnTo>
                  <a:pt x="193" y="265"/>
                </a:lnTo>
                <a:lnTo>
                  <a:pt x="192" y="270"/>
                </a:lnTo>
                <a:lnTo>
                  <a:pt x="189" y="274"/>
                </a:lnTo>
                <a:lnTo>
                  <a:pt x="185" y="276"/>
                </a:lnTo>
                <a:lnTo>
                  <a:pt x="181" y="276"/>
                </a:lnTo>
                <a:lnTo>
                  <a:pt x="22" y="276"/>
                </a:lnTo>
                <a:lnTo>
                  <a:pt x="18" y="276"/>
                </a:lnTo>
                <a:lnTo>
                  <a:pt x="14" y="274"/>
                </a:lnTo>
                <a:lnTo>
                  <a:pt x="12" y="270"/>
                </a:lnTo>
                <a:lnTo>
                  <a:pt x="10" y="265"/>
                </a:lnTo>
                <a:lnTo>
                  <a:pt x="10" y="256"/>
                </a:lnTo>
                <a:lnTo>
                  <a:pt x="12" y="251"/>
                </a:lnTo>
                <a:lnTo>
                  <a:pt x="14" y="247"/>
                </a:lnTo>
                <a:lnTo>
                  <a:pt x="18" y="244"/>
                </a:lnTo>
                <a:lnTo>
                  <a:pt x="22" y="244"/>
                </a:lnTo>
                <a:lnTo>
                  <a:pt x="24" y="244"/>
                </a:lnTo>
                <a:lnTo>
                  <a:pt x="27" y="243"/>
                </a:lnTo>
                <a:lnTo>
                  <a:pt x="29" y="241"/>
                </a:lnTo>
                <a:lnTo>
                  <a:pt x="29" y="238"/>
                </a:lnTo>
                <a:lnTo>
                  <a:pt x="28" y="235"/>
                </a:lnTo>
                <a:lnTo>
                  <a:pt x="17" y="210"/>
                </a:lnTo>
                <a:lnTo>
                  <a:pt x="10" y="183"/>
                </a:lnTo>
                <a:lnTo>
                  <a:pt x="9" y="179"/>
                </a:lnTo>
                <a:lnTo>
                  <a:pt x="8" y="177"/>
                </a:lnTo>
                <a:lnTo>
                  <a:pt x="4" y="170"/>
                </a:lnTo>
                <a:lnTo>
                  <a:pt x="0" y="164"/>
                </a:lnTo>
                <a:lnTo>
                  <a:pt x="0" y="157"/>
                </a:lnTo>
                <a:lnTo>
                  <a:pt x="3" y="143"/>
                </a:lnTo>
                <a:lnTo>
                  <a:pt x="13" y="133"/>
                </a:lnTo>
                <a:lnTo>
                  <a:pt x="15" y="131"/>
                </a:lnTo>
                <a:lnTo>
                  <a:pt x="17" y="128"/>
                </a:lnTo>
                <a:lnTo>
                  <a:pt x="27" y="109"/>
                </a:lnTo>
                <a:lnTo>
                  <a:pt x="38" y="91"/>
                </a:lnTo>
                <a:lnTo>
                  <a:pt x="54" y="76"/>
                </a:lnTo>
                <a:lnTo>
                  <a:pt x="73" y="63"/>
                </a:lnTo>
                <a:lnTo>
                  <a:pt x="75" y="62"/>
                </a:lnTo>
                <a:lnTo>
                  <a:pt x="75" y="59"/>
                </a:lnTo>
                <a:lnTo>
                  <a:pt x="75" y="57"/>
                </a:lnTo>
                <a:lnTo>
                  <a:pt x="65" y="31"/>
                </a:lnTo>
                <a:lnTo>
                  <a:pt x="65" y="30"/>
                </a:lnTo>
                <a:lnTo>
                  <a:pt x="64" y="30"/>
                </a:lnTo>
                <a:lnTo>
                  <a:pt x="61" y="30"/>
                </a:lnTo>
                <a:lnTo>
                  <a:pt x="59" y="31"/>
                </a:lnTo>
                <a:lnTo>
                  <a:pt x="58" y="31"/>
                </a:lnTo>
                <a:lnTo>
                  <a:pt x="56" y="31"/>
                </a:lnTo>
                <a:lnTo>
                  <a:pt x="55" y="30"/>
                </a:lnTo>
                <a:lnTo>
                  <a:pt x="52" y="22"/>
                </a:lnTo>
                <a:lnTo>
                  <a:pt x="52" y="20"/>
                </a:lnTo>
                <a:lnTo>
                  <a:pt x="52" y="18"/>
                </a:lnTo>
                <a:lnTo>
                  <a:pt x="54" y="18"/>
                </a:lnTo>
                <a:lnTo>
                  <a:pt x="59" y="16"/>
                </a:lnTo>
                <a:lnTo>
                  <a:pt x="93" y="2"/>
                </a:lnTo>
                <a:lnTo>
                  <a:pt x="98" y="0"/>
                </a:lnTo>
                <a:lnTo>
                  <a:pt x="101" y="0"/>
                </a:lnTo>
                <a:close/>
              </a:path>
            </a:pathLst>
          </a:custGeom>
          <a:solidFill>
            <a:schemeClr val="bg1">
              <a:alpha val="10000"/>
            </a:schemeClr>
          </a:solidFill>
          <a:ln w="0">
            <a:noFill/>
            <a:prstDash val="solid"/>
            <a:round/>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微软雅黑" panose="020B0503020204020204" pitchFamily="34" charset="-122"/>
              <a:ea typeface="宋体" panose="02010600030101010101" pitchFamily="2" charset="-122"/>
              <a:cs typeface="+mn-cs"/>
            </a:endParaRPr>
          </a:p>
        </p:txBody>
      </p:sp>
      <p:sp>
        <p:nvSpPr>
          <p:cNvPr id="22" name="Freeform 387"/>
          <p:cNvSpPr>
            <a:spLocks noEditPoints="1"/>
          </p:cNvSpPr>
          <p:nvPr userDrawn="1"/>
        </p:nvSpPr>
        <p:spPr bwMode="auto">
          <a:xfrm rot="1888595">
            <a:off x="2442159" y="392103"/>
            <a:ext cx="1572202" cy="2081915"/>
          </a:xfrm>
          <a:custGeom>
            <a:avLst/>
            <a:gdLst>
              <a:gd name="T0" fmla="*/ 68 w 219"/>
              <a:gd name="T1" fmla="*/ 188 h 290"/>
              <a:gd name="T2" fmla="*/ 108 w 219"/>
              <a:gd name="T3" fmla="*/ 177 h 290"/>
              <a:gd name="T4" fmla="*/ 114 w 219"/>
              <a:gd name="T5" fmla="*/ 174 h 290"/>
              <a:gd name="T6" fmla="*/ 168 w 219"/>
              <a:gd name="T7" fmla="*/ 174 h 290"/>
              <a:gd name="T8" fmla="*/ 52 w 219"/>
              <a:gd name="T9" fmla="*/ 172 h 290"/>
              <a:gd name="T10" fmla="*/ 100 w 219"/>
              <a:gd name="T11" fmla="*/ 170 h 290"/>
              <a:gd name="T12" fmla="*/ 52 w 219"/>
              <a:gd name="T13" fmla="*/ 117 h 290"/>
              <a:gd name="T14" fmla="*/ 44 w 219"/>
              <a:gd name="T15" fmla="*/ 168 h 290"/>
              <a:gd name="T16" fmla="*/ 53 w 219"/>
              <a:gd name="T17" fmla="*/ 118 h 290"/>
              <a:gd name="T18" fmla="*/ 89 w 219"/>
              <a:gd name="T19" fmla="*/ 138 h 290"/>
              <a:gd name="T20" fmla="*/ 137 w 219"/>
              <a:gd name="T21" fmla="*/ 145 h 290"/>
              <a:gd name="T22" fmla="*/ 150 w 219"/>
              <a:gd name="T23" fmla="*/ 141 h 290"/>
              <a:gd name="T24" fmla="*/ 175 w 219"/>
              <a:gd name="T25" fmla="*/ 169 h 290"/>
              <a:gd name="T26" fmla="*/ 172 w 219"/>
              <a:gd name="T27" fmla="*/ 114 h 290"/>
              <a:gd name="T28" fmla="*/ 31 w 219"/>
              <a:gd name="T29" fmla="*/ 152 h 290"/>
              <a:gd name="T30" fmla="*/ 43 w 219"/>
              <a:gd name="T31" fmla="*/ 112 h 290"/>
              <a:gd name="T32" fmla="*/ 115 w 219"/>
              <a:gd name="T33" fmla="*/ 109 h 290"/>
              <a:gd name="T34" fmla="*/ 164 w 219"/>
              <a:gd name="T35" fmla="*/ 112 h 290"/>
              <a:gd name="T36" fmla="*/ 73 w 219"/>
              <a:gd name="T37" fmla="*/ 83 h 290"/>
              <a:gd name="T38" fmla="*/ 83 w 219"/>
              <a:gd name="T39" fmla="*/ 131 h 290"/>
              <a:gd name="T40" fmla="*/ 77 w 219"/>
              <a:gd name="T41" fmla="*/ 82 h 290"/>
              <a:gd name="T42" fmla="*/ 175 w 219"/>
              <a:gd name="T43" fmla="*/ 108 h 290"/>
              <a:gd name="T44" fmla="*/ 196 w 219"/>
              <a:gd name="T45" fmla="*/ 90 h 290"/>
              <a:gd name="T46" fmla="*/ 82 w 219"/>
              <a:gd name="T47" fmla="*/ 77 h 290"/>
              <a:gd name="T48" fmla="*/ 129 w 219"/>
              <a:gd name="T49" fmla="*/ 85 h 290"/>
              <a:gd name="T50" fmla="*/ 174 w 219"/>
              <a:gd name="T51" fmla="*/ 51 h 290"/>
              <a:gd name="T52" fmla="*/ 156 w 219"/>
              <a:gd name="T53" fmla="*/ 96 h 290"/>
              <a:gd name="T54" fmla="*/ 178 w 219"/>
              <a:gd name="T55" fmla="*/ 77 h 290"/>
              <a:gd name="T56" fmla="*/ 43 w 219"/>
              <a:gd name="T57" fmla="*/ 51 h 290"/>
              <a:gd name="T58" fmla="*/ 49 w 219"/>
              <a:gd name="T59" fmla="*/ 104 h 290"/>
              <a:gd name="T60" fmla="*/ 184 w 219"/>
              <a:gd name="T61" fmla="*/ 41 h 290"/>
              <a:gd name="T62" fmla="*/ 202 w 219"/>
              <a:gd name="T63" fmla="*/ 89 h 290"/>
              <a:gd name="T64" fmla="*/ 112 w 219"/>
              <a:gd name="T65" fmla="*/ 205 h 290"/>
              <a:gd name="T66" fmla="*/ 41 w 219"/>
              <a:gd name="T67" fmla="*/ 183 h 290"/>
              <a:gd name="T68" fmla="*/ 137 w 219"/>
              <a:gd name="T69" fmla="*/ 209 h 290"/>
              <a:gd name="T70" fmla="*/ 201 w 219"/>
              <a:gd name="T71" fmla="*/ 64 h 290"/>
              <a:gd name="T72" fmla="*/ 118 w 219"/>
              <a:gd name="T73" fmla="*/ 49 h 290"/>
              <a:gd name="T74" fmla="*/ 138 w 219"/>
              <a:gd name="T75" fmla="*/ 76 h 290"/>
              <a:gd name="T76" fmla="*/ 92 w 219"/>
              <a:gd name="T77" fmla="*/ 23 h 290"/>
              <a:gd name="T78" fmla="*/ 75 w 219"/>
              <a:gd name="T79" fmla="*/ 71 h 290"/>
              <a:gd name="T80" fmla="*/ 95 w 219"/>
              <a:gd name="T81" fmla="*/ 23 h 290"/>
              <a:gd name="T82" fmla="*/ 110 w 219"/>
              <a:gd name="T83" fmla="*/ 43 h 290"/>
              <a:gd name="T84" fmla="*/ 151 w 219"/>
              <a:gd name="T85" fmla="*/ 32 h 290"/>
              <a:gd name="T86" fmla="*/ 219 w 219"/>
              <a:gd name="T87" fmla="*/ 12 h 290"/>
              <a:gd name="T88" fmla="*/ 195 w 219"/>
              <a:gd name="T89" fmla="*/ 30 h 290"/>
              <a:gd name="T90" fmla="*/ 219 w 219"/>
              <a:gd name="T91" fmla="*/ 101 h 290"/>
              <a:gd name="T92" fmla="*/ 118 w 219"/>
              <a:gd name="T93" fmla="*/ 219 h 290"/>
              <a:gd name="T94" fmla="*/ 126 w 219"/>
              <a:gd name="T95" fmla="*/ 243 h 290"/>
              <a:gd name="T96" fmla="*/ 118 w 219"/>
              <a:gd name="T97" fmla="*/ 266 h 290"/>
              <a:gd name="T98" fmla="*/ 183 w 219"/>
              <a:gd name="T99" fmla="*/ 290 h 290"/>
              <a:gd name="T100" fmla="*/ 77 w 219"/>
              <a:gd name="T101" fmla="*/ 269 h 290"/>
              <a:gd name="T102" fmla="*/ 95 w 219"/>
              <a:gd name="T103" fmla="*/ 251 h 290"/>
              <a:gd name="T104" fmla="*/ 103 w 219"/>
              <a:gd name="T105" fmla="*/ 220 h 290"/>
              <a:gd name="T106" fmla="*/ 30 w 219"/>
              <a:gd name="T107" fmla="*/ 193 h 290"/>
              <a:gd name="T108" fmla="*/ 20 w 219"/>
              <a:gd name="T109" fmla="*/ 219 h 290"/>
              <a:gd name="T110" fmla="*/ 13 w 219"/>
              <a:gd name="T111" fmla="*/ 188 h 290"/>
              <a:gd name="T112" fmla="*/ 37 w 219"/>
              <a:gd name="T113" fmla="*/ 173 h 290"/>
              <a:gd name="T114" fmla="*/ 62 w 219"/>
              <a:gd name="T115" fmla="*/ 27 h 290"/>
              <a:gd name="T116" fmla="*/ 177 w 219"/>
              <a:gd name="T117" fmla="*/ 39 h 290"/>
              <a:gd name="T118" fmla="*/ 192 w 219"/>
              <a:gd name="T119" fmla="*/ 6 h 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219" h="290">
                <a:moveTo>
                  <a:pt x="106" y="175"/>
                </a:moveTo>
                <a:lnTo>
                  <a:pt x="104" y="175"/>
                </a:lnTo>
                <a:lnTo>
                  <a:pt x="87" y="183"/>
                </a:lnTo>
                <a:lnTo>
                  <a:pt x="68" y="187"/>
                </a:lnTo>
                <a:lnTo>
                  <a:pt x="68" y="187"/>
                </a:lnTo>
                <a:lnTo>
                  <a:pt x="67" y="188"/>
                </a:lnTo>
                <a:lnTo>
                  <a:pt x="68" y="188"/>
                </a:lnTo>
                <a:lnTo>
                  <a:pt x="90" y="196"/>
                </a:lnTo>
                <a:lnTo>
                  <a:pt x="113" y="198"/>
                </a:lnTo>
                <a:lnTo>
                  <a:pt x="114" y="198"/>
                </a:lnTo>
                <a:lnTo>
                  <a:pt x="115" y="196"/>
                </a:lnTo>
                <a:lnTo>
                  <a:pt x="115" y="195"/>
                </a:lnTo>
                <a:lnTo>
                  <a:pt x="113" y="186"/>
                </a:lnTo>
                <a:lnTo>
                  <a:pt x="108" y="177"/>
                </a:lnTo>
                <a:lnTo>
                  <a:pt x="108" y="177"/>
                </a:lnTo>
                <a:lnTo>
                  <a:pt x="106" y="175"/>
                </a:lnTo>
                <a:close/>
                <a:moveTo>
                  <a:pt x="142" y="150"/>
                </a:moveTo>
                <a:lnTo>
                  <a:pt x="141" y="150"/>
                </a:lnTo>
                <a:lnTo>
                  <a:pt x="115" y="170"/>
                </a:lnTo>
                <a:lnTo>
                  <a:pt x="114" y="172"/>
                </a:lnTo>
                <a:lnTo>
                  <a:pt x="114" y="174"/>
                </a:lnTo>
                <a:lnTo>
                  <a:pt x="123" y="195"/>
                </a:lnTo>
                <a:lnTo>
                  <a:pt x="124" y="197"/>
                </a:lnTo>
                <a:lnTo>
                  <a:pt x="126" y="197"/>
                </a:lnTo>
                <a:lnTo>
                  <a:pt x="147" y="189"/>
                </a:lnTo>
                <a:lnTo>
                  <a:pt x="168" y="177"/>
                </a:lnTo>
                <a:lnTo>
                  <a:pt x="168" y="175"/>
                </a:lnTo>
                <a:lnTo>
                  <a:pt x="168" y="174"/>
                </a:lnTo>
                <a:lnTo>
                  <a:pt x="168" y="173"/>
                </a:lnTo>
                <a:lnTo>
                  <a:pt x="145" y="150"/>
                </a:lnTo>
                <a:lnTo>
                  <a:pt x="143" y="150"/>
                </a:lnTo>
                <a:lnTo>
                  <a:pt x="142" y="150"/>
                </a:lnTo>
                <a:close/>
                <a:moveTo>
                  <a:pt x="81" y="143"/>
                </a:moveTo>
                <a:lnTo>
                  <a:pt x="80" y="143"/>
                </a:lnTo>
                <a:lnTo>
                  <a:pt x="52" y="172"/>
                </a:lnTo>
                <a:lnTo>
                  <a:pt x="52" y="174"/>
                </a:lnTo>
                <a:lnTo>
                  <a:pt x="52" y="175"/>
                </a:lnTo>
                <a:lnTo>
                  <a:pt x="53" y="177"/>
                </a:lnTo>
                <a:lnTo>
                  <a:pt x="64" y="179"/>
                </a:lnTo>
                <a:lnTo>
                  <a:pt x="77" y="179"/>
                </a:lnTo>
                <a:lnTo>
                  <a:pt x="90" y="175"/>
                </a:lnTo>
                <a:lnTo>
                  <a:pt x="100" y="170"/>
                </a:lnTo>
                <a:lnTo>
                  <a:pt x="101" y="169"/>
                </a:lnTo>
                <a:lnTo>
                  <a:pt x="103" y="168"/>
                </a:lnTo>
                <a:lnTo>
                  <a:pt x="101" y="166"/>
                </a:lnTo>
                <a:lnTo>
                  <a:pt x="85" y="143"/>
                </a:lnTo>
                <a:lnTo>
                  <a:pt x="83" y="143"/>
                </a:lnTo>
                <a:lnTo>
                  <a:pt x="81" y="143"/>
                </a:lnTo>
                <a:close/>
                <a:moveTo>
                  <a:pt x="52" y="117"/>
                </a:moveTo>
                <a:lnTo>
                  <a:pt x="50" y="118"/>
                </a:lnTo>
                <a:lnTo>
                  <a:pt x="49" y="119"/>
                </a:lnTo>
                <a:lnTo>
                  <a:pt x="44" y="129"/>
                </a:lnTo>
                <a:lnTo>
                  <a:pt x="40" y="142"/>
                </a:lnTo>
                <a:lnTo>
                  <a:pt x="40" y="155"/>
                </a:lnTo>
                <a:lnTo>
                  <a:pt x="43" y="166"/>
                </a:lnTo>
                <a:lnTo>
                  <a:pt x="44" y="168"/>
                </a:lnTo>
                <a:lnTo>
                  <a:pt x="45" y="168"/>
                </a:lnTo>
                <a:lnTo>
                  <a:pt x="48" y="168"/>
                </a:lnTo>
                <a:lnTo>
                  <a:pt x="76" y="140"/>
                </a:lnTo>
                <a:lnTo>
                  <a:pt x="76" y="138"/>
                </a:lnTo>
                <a:lnTo>
                  <a:pt x="76" y="136"/>
                </a:lnTo>
                <a:lnTo>
                  <a:pt x="76" y="135"/>
                </a:lnTo>
                <a:lnTo>
                  <a:pt x="53" y="118"/>
                </a:lnTo>
                <a:lnTo>
                  <a:pt x="52" y="117"/>
                </a:lnTo>
                <a:close/>
                <a:moveTo>
                  <a:pt x="110" y="115"/>
                </a:moveTo>
                <a:lnTo>
                  <a:pt x="109" y="115"/>
                </a:lnTo>
                <a:lnTo>
                  <a:pt x="108" y="117"/>
                </a:lnTo>
                <a:lnTo>
                  <a:pt x="89" y="135"/>
                </a:lnTo>
                <a:lnTo>
                  <a:pt x="89" y="136"/>
                </a:lnTo>
                <a:lnTo>
                  <a:pt x="89" y="138"/>
                </a:lnTo>
                <a:lnTo>
                  <a:pt x="89" y="140"/>
                </a:lnTo>
                <a:lnTo>
                  <a:pt x="108" y="164"/>
                </a:lnTo>
                <a:lnTo>
                  <a:pt x="109" y="164"/>
                </a:lnTo>
                <a:lnTo>
                  <a:pt x="110" y="165"/>
                </a:lnTo>
                <a:lnTo>
                  <a:pt x="112" y="164"/>
                </a:lnTo>
                <a:lnTo>
                  <a:pt x="136" y="146"/>
                </a:lnTo>
                <a:lnTo>
                  <a:pt x="137" y="145"/>
                </a:lnTo>
                <a:lnTo>
                  <a:pt x="137" y="142"/>
                </a:lnTo>
                <a:lnTo>
                  <a:pt x="136" y="141"/>
                </a:lnTo>
                <a:lnTo>
                  <a:pt x="112" y="117"/>
                </a:lnTo>
                <a:lnTo>
                  <a:pt x="110" y="115"/>
                </a:lnTo>
                <a:close/>
                <a:moveTo>
                  <a:pt x="172" y="114"/>
                </a:moveTo>
                <a:lnTo>
                  <a:pt x="169" y="115"/>
                </a:lnTo>
                <a:lnTo>
                  <a:pt x="150" y="141"/>
                </a:lnTo>
                <a:lnTo>
                  <a:pt x="149" y="142"/>
                </a:lnTo>
                <a:lnTo>
                  <a:pt x="149" y="145"/>
                </a:lnTo>
                <a:lnTo>
                  <a:pt x="150" y="146"/>
                </a:lnTo>
                <a:lnTo>
                  <a:pt x="172" y="168"/>
                </a:lnTo>
                <a:lnTo>
                  <a:pt x="173" y="169"/>
                </a:lnTo>
                <a:lnTo>
                  <a:pt x="174" y="169"/>
                </a:lnTo>
                <a:lnTo>
                  <a:pt x="175" y="169"/>
                </a:lnTo>
                <a:lnTo>
                  <a:pt x="177" y="168"/>
                </a:lnTo>
                <a:lnTo>
                  <a:pt x="189" y="149"/>
                </a:lnTo>
                <a:lnTo>
                  <a:pt x="196" y="127"/>
                </a:lnTo>
                <a:lnTo>
                  <a:pt x="196" y="124"/>
                </a:lnTo>
                <a:lnTo>
                  <a:pt x="195" y="123"/>
                </a:lnTo>
                <a:lnTo>
                  <a:pt x="173" y="114"/>
                </a:lnTo>
                <a:lnTo>
                  <a:pt x="172" y="114"/>
                </a:lnTo>
                <a:close/>
                <a:moveTo>
                  <a:pt x="25" y="104"/>
                </a:moveTo>
                <a:lnTo>
                  <a:pt x="23" y="104"/>
                </a:lnTo>
                <a:lnTo>
                  <a:pt x="21" y="105"/>
                </a:lnTo>
                <a:lnTo>
                  <a:pt x="21" y="106"/>
                </a:lnTo>
                <a:lnTo>
                  <a:pt x="23" y="129"/>
                </a:lnTo>
                <a:lnTo>
                  <a:pt x="31" y="151"/>
                </a:lnTo>
                <a:lnTo>
                  <a:pt x="31" y="152"/>
                </a:lnTo>
                <a:lnTo>
                  <a:pt x="32" y="151"/>
                </a:lnTo>
                <a:lnTo>
                  <a:pt x="32" y="151"/>
                </a:lnTo>
                <a:lnTo>
                  <a:pt x="36" y="132"/>
                </a:lnTo>
                <a:lnTo>
                  <a:pt x="44" y="115"/>
                </a:lnTo>
                <a:lnTo>
                  <a:pt x="44" y="113"/>
                </a:lnTo>
                <a:lnTo>
                  <a:pt x="43" y="112"/>
                </a:lnTo>
                <a:lnTo>
                  <a:pt x="43" y="112"/>
                </a:lnTo>
                <a:lnTo>
                  <a:pt x="34" y="106"/>
                </a:lnTo>
                <a:lnTo>
                  <a:pt x="25" y="104"/>
                </a:lnTo>
                <a:close/>
                <a:moveTo>
                  <a:pt x="137" y="89"/>
                </a:moveTo>
                <a:lnTo>
                  <a:pt x="136" y="89"/>
                </a:lnTo>
                <a:lnTo>
                  <a:pt x="135" y="90"/>
                </a:lnTo>
                <a:lnTo>
                  <a:pt x="117" y="108"/>
                </a:lnTo>
                <a:lnTo>
                  <a:pt x="115" y="109"/>
                </a:lnTo>
                <a:lnTo>
                  <a:pt x="115" y="110"/>
                </a:lnTo>
                <a:lnTo>
                  <a:pt x="117" y="112"/>
                </a:lnTo>
                <a:lnTo>
                  <a:pt x="141" y="137"/>
                </a:lnTo>
                <a:lnTo>
                  <a:pt x="142" y="137"/>
                </a:lnTo>
                <a:lnTo>
                  <a:pt x="145" y="137"/>
                </a:lnTo>
                <a:lnTo>
                  <a:pt x="164" y="113"/>
                </a:lnTo>
                <a:lnTo>
                  <a:pt x="164" y="112"/>
                </a:lnTo>
                <a:lnTo>
                  <a:pt x="164" y="109"/>
                </a:lnTo>
                <a:lnTo>
                  <a:pt x="163" y="109"/>
                </a:lnTo>
                <a:lnTo>
                  <a:pt x="138" y="90"/>
                </a:lnTo>
                <a:lnTo>
                  <a:pt x="137" y="89"/>
                </a:lnTo>
                <a:close/>
                <a:moveTo>
                  <a:pt x="77" y="82"/>
                </a:moveTo>
                <a:lnTo>
                  <a:pt x="75" y="82"/>
                </a:lnTo>
                <a:lnTo>
                  <a:pt x="73" y="83"/>
                </a:lnTo>
                <a:lnTo>
                  <a:pt x="55" y="108"/>
                </a:lnTo>
                <a:lnTo>
                  <a:pt x="54" y="109"/>
                </a:lnTo>
                <a:lnTo>
                  <a:pt x="55" y="110"/>
                </a:lnTo>
                <a:lnTo>
                  <a:pt x="55" y="112"/>
                </a:lnTo>
                <a:lnTo>
                  <a:pt x="80" y="131"/>
                </a:lnTo>
                <a:lnTo>
                  <a:pt x="81" y="131"/>
                </a:lnTo>
                <a:lnTo>
                  <a:pt x="83" y="131"/>
                </a:lnTo>
                <a:lnTo>
                  <a:pt x="85" y="131"/>
                </a:lnTo>
                <a:lnTo>
                  <a:pt x="103" y="112"/>
                </a:lnTo>
                <a:lnTo>
                  <a:pt x="104" y="110"/>
                </a:lnTo>
                <a:lnTo>
                  <a:pt x="104" y="109"/>
                </a:lnTo>
                <a:lnTo>
                  <a:pt x="103" y="108"/>
                </a:lnTo>
                <a:lnTo>
                  <a:pt x="78" y="83"/>
                </a:lnTo>
                <a:lnTo>
                  <a:pt x="77" y="82"/>
                </a:lnTo>
                <a:close/>
                <a:moveTo>
                  <a:pt x="187" y="68"/>
                </a:moveTo>
                <a:lnTo>
                  <a:pt x="186" y="68"/>
                </a:lnTo>
                <a:lnTo>
                  <a:pt x="186" y="69"/>
                </a:lnTo>
                <a:lnTo>
                  <a:pt x="183" y="87"/>
                </a:lnTo>
                <a:lnTo>
                  <a:pt x="175" y="105"/>
                </a:lnTo>
                <a:lnTo>
                  <a:pt x="175" y="106"/>
                </a:lnTo>
                <a:lnTo>
                  <a:pt x="175" y="108"/>
                </a:lnTo>
                <a:lnTo>
                  <a:pt x="177" y="109"/>
                </a:lnTo>
                <a:lnTo>
                  <a:pt x="186" y="113"/>
                </a:lnTo>
                <a:lnTo>
                  <a:pt x="195" y="117"/>
                </a:lnTo>
                <a:lnTo>
                  <a:pt x="196" y="117"/>
                </a:lnTo>
                <a:lnTo>
                  <a:pt x="197" y="115"/>
                </a:lnTo>
                <a:lnTo>
                  <a:pt x="197" y="114"/>
                </a:lnTo>
                <a:lnTo>
                  <a:pt x="196" y="90"/>
                </a:lnTo>
                <a:lnTo>
                  <a:pt x="187" y="68"/>
                </a:lnTo>
                <a:lnTo>
                  <a:pt x="187" y="68"/>
                </a:lnTo>
                <a:close/>
                <a:moveTo>
                  <a:pt x="108" y="55"/>
                </a:moveTo>
                <a:lnTo>
                  <a:pt x="106" y="55"/>
                </a:lnTo>
                <a:lnTo>
                  <a:pt x="82" y="74"/>
                </a:lnTo>
                <a:lnTo>
                  <a:pt x="82" y="76"/>
                </a:lnTo>
                <a:lnTo>
                  <a:pt x="82" y="77"/>
                </a:lnTo>
                <a:lnTo>
                  <a:pt x="82" y="77"/>
                </a:lnTo>
                <a:lnTo>
                  <a:pt x="82" y="78"/>
                </a:lnTo>
                <a:lnTo>
                  <a:pt x="108" y="103"/>
                </a:lnTo>
                <a:lnTo>
                  <a:pt x="109" y="104"/>
                </a:lnTo>
                <a:lnTo>
                  <a:pt x="110" y="104"/>
                </a:lnTo>
                <a:lnTo>
                  <a:pt x="112" y="103"/>
                </a:lnTo>
                <a:lnTo>
                  <a:pt x="129" y="85"/>
                </a:lnTo>
                <a:lnTo>
                  <a:pt x="131" y="83"/>
                </a:lnTo>
                <a:lnTo>
                  <a:pt x="131" y="82"/>
                </a:lnTo>
                <a:lnTo>
                  <a:pt x="129" y="81"/>
                </a:lnTo>
                <a:lnTo>
                  <a:pt x="110" y="57"/>
                </a:lnTo>
                <a:lnTo>
                  <a:pt x="109" y="55"/>
                </a:lnTo>
                <a:lnTo>
                  <a:pt x="108" y="55"/>
                </a:lnTo>
                <a:close/>
                <a:moveTo>
                  <a:pt x="174" y="51"/>
                </a:moveTo>
                <a:lnTo>
                  <a:pt x="173" y="51"/>
                </a:lnTo>
                <a:lnTo>
                  <a:pt x="172" y="53"/>
                </a:lnTo>
                <a:lnTo>
                  <a:pt x="143" y="81"/>
                </a:lnTo>
                <a:lnTo>
                  <a:pt x="142" y="83"/>
                </a:lnTo>
                <a:lnTo>
                  <a:pt x="145" y="86"/>
                </a:lnTo>
                <a:lnTo>
                  <a:pt x="150" y="91"/>
                </a:lnTo>
                <a:lnTo>
                  <a:pt x="156" y="96"/>
                </a:lnTo>
                <a:lnTo>
                  <a:pt x="161" y="100"/>
                </a:lnTo>
                <a:lnTo>
                  <a:pt x="165" y="103"/>
                </a:lnTo>
                <a:lnTo>
                  <a:pt x="166" y="103"/>
                </a:lnTo>
                <a:lnTo>
                  <a:pt x="169" y="103"/>
                </a:lnTo>
                <a:lnTo>
                  <a:pt x="170" y="101"/>
                </a:lnTo>
                <a:lnTo>
                  <a:pt x="174" y="90"/>
                </a:lnTo>
                <a:lnTo>
                  <a:pt x="178" y="77"/>
                </a:lnTo>
                <a:lnTo>
                  <a:pt x="179" y="64"/>
                </a:lnTo>
                <a:lnTo>
                  <a:pt x="177" y="53"/>
                </a:lnTo>
                <a:lnTo>
                  <a:pt x="175" y="53"/>
                </a:lnTo>
                <a:lnTo>
                  <a:pt x="174" y="51"/>
                </a:lnTo>
                <a:close/>
                <a:moveTo>
                  <a:pt x="45" y="51"/>
                </a:moveTo>
                <a:lnTo>
                  <a:pt x="44" y="51"/>
                </a:lnTo>
                <a:lnTo>
                  <a:pt x="43" y="51"/>
                </a:lnTo>
                <a:lnTo>
                  <a:pt x="30" y="72"/>
                </a:lnTo>
                <a:lnTo>
                  <a:pt x="22" y="94"/>
                </a:lnTo>
                <a:lnTo>
                  <a:pt x="22" y="95"/>
                </a:lnTo>
                <a:lnTo>
                  <a:pt x="25" y="96"/>
                </a:lnTo>
                <a:lnTo>
                  <a:pt x="45" y="105"/>
                </a:lnTo>
                <a:lnTo>
                  <a:pt x="48" y="105"/>
                </a:lnTo>
                <a:lnTo>
                  <a:pt x="49" y="104"/>
                </a:lnTo>
                <a:lnTo>
                  <a:pt x="69" y="78"/>
                </a:lnTo>
                <a:lnTo>
                  <a:pt x="69" y="77"/>
                </a:lnTo>
                <a:lnTo>
                  <a:pt x="69" y="76"/>
                </a:lnTo>
                <a:lnTo>
                  <a:pt x="69" y="74"/>
                </a:lnTo>
                <a:lnTo>
                  <a:pt x="46" y="51"/>
                </a:lnTo>
                <a:lnTo>
                  <a:pt x="45" y="51"/>
                </a:lnTo>
                <a:close/>
                <a:moveTo>
                  <a:pt x="184" y="41"/>
                </a:moveTo>
                <a:lnTo>
                  <a:pt x="183" y="41"/>
                </a:lnTo>
                <a:lnTo>
                  <a:pt x="182" y="43"/>
                </a:lnTo>
                <a:lnTo>
                  <a:pt x="181" y="43"/>
                </a:lnTo>
                <a:lnTo>
                  <a:pt x="181" y="45"/>
                </a:lnTo>
                <a:lnTo>
                  <a:pt x="181" y="48"/>
                </a:lnTo>
                <a:lnTo>
                  <a:pt x="195" y="67"/>
                </a:lnTo>
                <a:lnTo>
                  <a:pt x="202" y="89"/>
                </a:lnTo>
                <a:lnTo>
                  <a:pt x="205" y="112"/>
                </a:lnTo>
                <a:lnTo>
                  <a:pt x="201" y="135"/>
                </a:lnTo>
                <a:lnTo>
                  <a:pt x="192" y="158"/>
                </a:lnTo>
                <a:lnTo>
                  <a:pt x="177" y="177"/>
                </a:lnTo>
                <a:lnTo>
                  <a:pt x="158" y="192"/>
                </a:lnTo>
                <a:lnTo>
                  <a:pt x="136" y="201"/>
                </a:lnTo>
                <a:lnTo>
                  <a:pt x="112" y="205"/>
                </a:lnTo>
                <a:lnTo>
                  <a:pt x="89" y="203"/>
                </a:lnTo>
                <a:lnTo>
                  <a:pt x="67" y="195"/>
                </a:lnTo>
                <a:lnTo>
                  <a:pt x="46" y="182"/>
                </a:lnTo>
                <a:lnTo>
                  <a:pt x="44" y="181"/>
                </a:lnTo>
                <a:lnTo>
                  <a:pt x="43" y="182"/>
                </a:lnTo>
                <a:lnTo>
                  <a:pt x="41" y="183"/>
                </a:lnTo>
                <a:lnTo>
                  <a:pt x="41" y="183"/>
                </a:lnTo>
                <a:lnTo>
                  <a:pt x="40" y="184"/>
                </a:lnTo>
                <a:lnTo>
                  <a:pt x="41" y="186"/>
                </a:lnTo>
                <a:lnTo>
                  <a:pt x="41" y="187"/>
                </a:lnTo>
                <a:lnTo>
                  <a:pt x="63" y="201"/>
                </a:lnTo>
                <a:lnTo>
                  <a:pt x="87" y="210"/>
                </a:lnTo>
                <a:lnTo>
                  <a:pt x="113" y="212"/>
                </a:lnTo>
                <a:lnTo>
                  <a:pt x="137" y="209"/>
                </a:lnTo>
                <a:lnTo>
                  <a:pt x="160" y="198"/>
                </a:lnTo>
                <a:lnTo>
                  <a:pt x="182" y="182"/>
                </a:lnTo>
                <a:lnTo>
                  <a:pt x="198" y="161"/>
                </a:lnTo>
                <a:lnTo>
                  <a:pt x="207" y="138"/>
                </a:lnTo>
                <a:lnTo>
                  <a:pt x="211" y="113"/>
                </a:lnTo>
                <a:lnTo>
                  <a:pt x="209" y="89"/>
                </a:lnTo>
                <a:lnTo>
                  <a:pt x="201" y="64"/>
                </a:lnTo>
                <a:lnTo>
                  <a:pt x="186" y="43"/>
                </a:lnTo>
                <a:lnTo>
                  <a:pt x="186" y="41"/>
                </a:lnTo>
                <a:lnTo>
                  <a:pt x="184" y="41"/>
                </a:lnTo>
                <a:close/>
                <a:moveTo>
                  <a:pt x="155" y="40"/>
                </a:moveTo>
                <a:lnTo>
                  <a:pt x="142" y="41"/>
                </a:lnTo>
                <a:lnTo>
                  <a:pt x="129" y="45"/>
                </a:lnTo>
                <a:lnTo>
                  <a:pt x="118" y="49"/>
                </a:lnTo>
                <a:lnTo>
                  <a:pt x="117" y="50"/>
                </a:lnTo>
                <a:lnTo>
                  <a:pt x="117" y="53"/>
                </a:lnTo>
                <a:lnTo>
                  <a:pt x="117" y="54"/>
                </a:lnTo>
                <a:lnTo>
                  <a:pt x="135" y="76"/>
                </a:lnTo>
                <a:lnTo>
                  <a:pt x="136" y="77"/>
                </a:lnTo>
                <a:lnTo>
                  <a:pt x="137" y="77"/>
                </a:lnTo>
                <a:lnTo>
                  <a:pt x="138" y="76"/>
                </a:lnTo>
                <a:lnTo>
                  <a:pt x="166" y="48"/>
                </a:lnTo>
                <a:lnTo>
                  <a:pt x="168" y="46"/>
                </a:lnTo>
                <a:lnTo>
                  <a:pt x="168" y="45"/>
                </a:lnTo>
                <a:lnTo>
                  <a:pt x="166" y="44"/>
                </a:lnTo>
                <a:lnTo>
                  <a:pt x="166" y="43"/>
                </a:lnTo>
                <a:lnTo>
                  <a:pt x="155" y="40"/>
                </a:lnTo>
                <a:close/>
                <a:moveTo>
                  <a:pt x="92" y="23"/>
                </a:moveTo>
                <a:lnTo>
                  <a:pt x="71" y="30"/>
                </a:lnTo>
                <a:lnTo>
                  <a:pt x="52" y="43"/>
                </a:lnTo>
                <a:lnTo>
                  <a:pt x="50" y="44"/>
                </a:lnTo>
                <a:lnTo>
                  <a:pt x="50" y="46"/>
                </a:lnTo>
                <a:lnTo>
                  <a:pt x="52" y="48"/>
                </a:lnTo>
                <a:lnTo>
                  <a:pt x="73" y="69"/>
                </a:lnTo>
                <a:lnTo>
                  <a:pt x="75" y="71"/>
                </a:lnTo>
                <a:lnTo>
                  <a:pt x="77" y="71"/>
                </a:lnTo>
                <a:lnTo>
                  <a:pt x="78" y="69"/>
                </a:lnTo>
                <a:lnTo>
                  <a:pt x="104" y="50"/>
                </a:lnTo>
                <a:lnTo>
                  <a:pt x="105" y="48"/>
                </a:lnTo>
                <a:lnTo>
                  <a:pt x="105" y="46"/>
                </a:lnTo>
                <a:lnTo>
                  <a:pt x="96" y="25"/>
                </a:lnTo>
                <a:lnTo>
                  <a:pt x="95" y="23"/>
                </a:lnTo>
                <a:lnTo>
                  <a:pt x="92" y="23"/>
                </a:lnTo>
                <a:close/>
                <a:moveTo>
                  <a:pt x="105" y="22"/>
                </a:moveTo>
                <a:lnTo>
                  <a:pt x="104" y="22"/>
                </a:lnTo>
                <a:lnTo>
                  <a:pt x="103" y="23"/>
                </a:lnTo>
                <a:lnTo>
                  <a:pt x="103" y="25"/>
                </a:lnTo>
                <a:lnTo>
                  <a:pt x="106" y="34"/>
                </a:lnTo>
                <a:lnTo>
                  <a:pt x="110" y="43"/>
                </a:lnTo>
                <a:lnTo>
                  <a:pt x="112" y="44"/>
                </a:lnTo>
                <a:lnTo>
                  <a:pt x="113" y="44"/>
                </a:lnTo>
                <a:lnTo>
                  <a:pt x="114" y="44"/>
                </a:lnTo>
                <a:lnTo>
                  <a:pt x="132" y="36"/>
                </a:lnTo>
                <a:lnTo>
                  <a:pt x="150" y="34"/>
                </a:lnTo>
                <a:lnTo>
                  <a:pt x="151" y="34"/>
                </a:lnTo>
                <a:lnTo>
                  <a:pt x="151" y="32"/>
                </a:lnTo>
                <a:lnTo>
                  <a:pt x="151" y="32"/>
                </a:lnTo>
                <a:lnTo>
                  <a:pt x="129" y="23"/>
                </a:lnTo>
                <a:lnTo>
                  <a:pt x="105" y="22"/>
                </a:lnTo>
                <a:close/>
                <a:moveTo>
                  <a:pt x="198" y="0"/>
                </a:moveTo>
                <a:lnTo>
                  <a:pt x="207" y="0"/>
                </a:lnTo>
                <a:lnTo>
                  <a:pt x="214" y="6"/>
                </a:lnTo>
                <a:lnTo>
                  <a:pt x="219" y="12"/>
                </a:lnTo>
                <a:lnTo>
                  <a:pt x="219" y="21"/>
                </a:lnTo>
                <a:lnTo>
                  <a:pt x="214" y="27"/>
                </a:lnTo>
                <a:lnTo>
                  <a:pt x="210" y="31"/>
                </a:lnTo>
                <a:lnTo>
                  <a:pt x="206" y="32"/>
                </a:lnTo>
                <a:lnTo>
                  <a:pt x="201" y="32"/>
                </a:lnTo>
                <a:lnTo>
                  <a:pt x="196" y="31"/>
                </a:lnTo>
                <a:lnTo>
                  <a:pt x="195" y="30"/>
                </a:lnTo>
                <a:lnTo>
                  <a:pt x="193" y="31"/>
                </a:lnTo>
                <a:lnTo>
                  <a:pt x="191" y="34"/>
                </a:lnTo>
                <a:lnTo>
                  <a:pt x="189" y="35"/>
                </a:lnTo>
                <a:lnTo>
                  <a:pt x="191" y="37"/>
                </a:lnTo>
                <a:lnTo>
                  <a:pt x="205" y="57"/>
                </a:lnTo>
                <a:lnTo>
                  <a:pt x="214" y="78"/>
                </a:lnTo>
                <a:lnTo>
                  <a:pt x="219" y="101"/>
                </a:lnTo>
                <a:lnTo>
                  <a:pt x="218" y="124"/>
                </a:lnTo>
                <a:lnTo>
                  <a:pt x="212" y="147"/>
                </a:lnTo>
                <a:lnTo>
                  <a:pt x="202" y="168"/>
                </a:lnTo>
                <a:lnTo>
                  <a:pt x="187" y="187"/>
                </a:lnTo>
                <a:lnTo>
                  <a:pt x="165" y="203"/>
                </a:lnTo>
                <a:lnTo>
                  <a:pt x="142" y="214"/>
                </a:lnTo>
                <a:lnTo>
                  <a:pt x="118" y="219"/>
                </a:lnTo>
                <a:lnTo>
                  <a:pt x="115" y="220"/>
                </a:lnTo>
                <a:lnTo>
                  <a:pt x="115" y="221"/>
                </a:lnTo>
                <a:lnTo>
                  <a:pt x="115" y="225"/>
                </a:lnTo>
                <a:lnTo>
                  <a:pt x="115" y="228"/>
                </a:lnTo>
                <a:lnTo>
                  <a:pt x="117" y="228"/>
                </a:lnTo>
                <a:lnTo>
                  <a:pt x="123" y="234"/>
                </a:lnTo>
                <a:lnTo>
                  <a:pt x="126" y="243"/>
                </a:lnTo>
                <a:lnTo>
                  <a:pt x="123" y="251"/>
                </a:lnTo>
                <a:lnTo>
                  <a:pt x="117" y="257"/>
                </a:lnTo>
                <a:lnTo>
                  <a:pt x="115" y="257"/>
                </a:lnTo>
                <a:lnTo>
                  <a:pt x="115" y="260"/>
                </a:lnTo>
                <a:lnTo>
                  <a:pt x="115" y="264"/>
                </a:lnTo>
                <a:lnTo>
                  <a:pt x="115" y="265"/>
                </a:lnTo>
                <a:lnTo>
                  <a:pt x="118" y="266"/>
                </a:lnTo>
                <a:lnTo>
                  <a:pt x="141" y="269"/>
                </a:lnTo>
                <a:lnTo>
                  <a:pt x="164" y="275"/>
                </a:lnTo>
                <a:lnTo>
                  <a:pt x="184" y="285"/>
                </a:lnTo>
                <a:lnTo>
                  <a:pt x="186" y="287"/>
                </a:lnTo>
                <a:lnTo>
                  <a:pt x="186" y="288"/>
                </a:lnTo>
                <a:lnTo>
                  <a:pt x="184" y="290"/>
                </a:lnTo>
                <a:lnTo>
                  <a:pt x="183" y="290"/>
                </a:lnTo>
                <a:lnTo>
                  <a:pt x="35" y="290"/>
                </a:lnTo>
                <a:lnTo>
                  <a:pt x="34" y="290"/>
                </a:lnTo>
                <a:lnTo>
                  <a:pt x="32" y="288"/>
                </a:lnTo>
                <a:lnTo>
                  <a:pt x="32" y="287"/>
                </a:lnTo>
                <a:lnTo>
                  <a:pt x="34" y="285"/>
                </a:lnTo>
                <a:lnTo>
                  <a:pt x="55" y="275"/>
                </a:lnTo>
                <a:lnTo>
                  <a:pt x="77" y="269"/>
                </a:lnTo>
                <a:lnTo>
                  <a:pt x="100" y="266"/>
                </a:lnTo>
                <a:lnTo>
                  <a:pt x="103" y="265"/>
                </a:lnTo>
                <a:lnTo>
                  <a:pt x="104" y="264"/>
                </a:lnTo>
                <a:lnTo>
                  <a:pt x="104" y="260"/>
                </a:lnTo>
                <a:lnTo>
                  <a:pt x="103" y="257"/>
                </a:lnTo>
                <a:lnTo>
                  <a:pt x="101" y="257"/>
                </a:lnTo>
                <a:lnTo>
                  <a:pt x="95" y="251"/>
                </a:lnTo>
                <a:lnTo>
                  <a:pt x="94" y="243"/>
                </a:lnTo>
                <a:lnTo>
                  <a:pt x="95" y="234"/>
                </a:lnTo>
                <a:lnTo>
                  <a:pt x="101" y="228"/>
                </a:lnTo>
                <a:lnTo>
                  <a:pt x="103" y="228"/>
                </a:lnTo>
                <a:lnTo>
                  <a:pt x="104" y="225"/>
                </a:lnTo>
                <a:lnTo>
                  <a:pt x="104" y="221"/>
                </a:lnTo>
                <a:lnTo>
                  <a:pt x="103" y="220"/>
                </a:lnTo>
                <a:lnTo>
                  <a:pt x="101" y="219"/>
                </a:lnTo>
                <a:lnTo>
                  <a:pt x="78" y="215"/>
                </a:lnTo>
                <a:lnTo>
                  <a:pt x="57" y="206"/>
                </a:lnTo>
                <a:lnTo>
                  <a:pt x="36" y="192"/>
                </a:lnTo>
                <a:lnTo>
                  <a:pt x="35" y="191"/>
                </a:lnTo>
                <a:lnTo>
                  <a:pt x="32" y="192"/>
                </a:lnTo>
                <a:lnTo>
                  <a:pt x="30" y="193"/>
                </a:lnTo>
                <a:lnTo>
                  <a:pt x="30" y="196"/>
                </a:lnTo>
                <a:lnTo>
                  <a:pt x="30" y="197"/>
                </a:lnTo>
                <a:lnTo>
                  <a:pt x="31" y="202"/>
                </a:lnTo>
                <a:lnTo>
                  <a:pt x="31" y="206"/>
                </a:lnTo>
                <a:lnTo>
                  <a:pt x="30" y="211"/>
                </a:lnTo>
                <a:lnTo>
                  <a:pt x="27" y="215"/>
                </a:lnTo>
                <a:lnTo>
                  <a:pt x="20" y="219"/>
                </a:lnTo>
                <a:lnTo>
                  <a:pt x="12" y="219"/>
                </a:lnTo>
                <a:lnTo>
                  <a:pt x="4" y="215"/>
                </a:lnTo>
                <a:lnTo>
                  <a:pt x="0" y="207"/>
                </a:lnTo>
                <a:lnTo>
                  <a:pt x="0" y="200"/>
                </a:lnTo>
                <a:lnTo>
                  <a:pt x="4" y="192"/>
                </a:lnTo>
                <a:lnTo>
                  <a:pt x="8" y="189"/>
                </a:lnTo>
                <a:lnTo>
                  <a:pt x="13" y="188"/>
                </a:lnTo>
                <a:lnTo>
                  <a:pt x="17" y="188"/>
                </a:lnTo>
                <a:lnTo>
                  <a:pt x="22" y="189"/>
                </a:lnTo>
                <a:lnTo>
                  <a:pt x="23" y="189"/>
                </a:lnTo>
                <a:lnTo>
                  <a:pt x="26" y="189"/>
                </a:lnTo>
                <a:lnTo>
                  <a:pt x="37" y="177"/>
                </a:lnTo>
                <a:lnTo>
                  <a:pt x="39" y="175"/>
                </a:lnTo>
                <a:lnTo>
                  <a:pt x="37" y="173"/>
                </a:lnTo>
                <a:lnTo>
                  <a:pt x="25" y="152"/>
                </a:lnTo>
                <a:lnTo>
                  <a:pt x="16" y="131"/>
                </a:lnTo>
                <a:lnTo>
                  <a:pt x="14" y="108"/>
                </a:lnTo>
                <a:lnTo>
                  <a:pt x="18" y="83"/>
                </a:lnTo>
                <a:lnTo>
                  <a:pt x="27" y="62"/>
                </a:lnTo>
                <a:lnTo>
                  <a:pt x="43" y="43"/>
                </a:lnTo>
                <a:lnTo>
                  <a:pt x="62" y="27"/>
                </a:lnTo>
                <a:lnTo>
                  <a:pt x="85" y="18"/>
                </a:lnTo>
                <a:lnTo>
                  <a:pt x="108" y="14"/>
                </a:lnTo>
                <a:lnTo>
                  <a:pt x="131" y="17"/>
                </a:lnTo>
                <a:lnTo>
                  <a:pt x="152" y="25"/>
                </a:lnTo>
                <a:lnTo>
                  <a:pt x="172" y="39"/>
                </a:lnTo>
                <a:lnTo>
                  <a:pt x="174" y="39"/>
                </a:lnTo>
                <a:lnTo>
                  <a:pt x="177" y="39"/>
                </a:lnTo>
                <a:lnTo>
                  <a:pt x="188" y="26"/>
                </a:lnTo>
                <a:lnTo>
                  <a:pt x="189" y="25"/>
                </a:lnTo>
                <a:lnTo>
                  <a:pt x="188" y="23"/>
                </a:lnTo>
                <a:lnTo>
                  <a:pt x="187" y="18"/>
                </a:lnTo>
                <a:lnTo>
                  <a:pt x="187" y="13"/>
                </a:lnTo>
                <a:lnTo>
                  <a:pt x="188" y="9"/>
                </a:lnTo>
                <a:lnTo>
                  <a:pt x="192" y="6"/>
                </a:lnTo>
                <a:lnTo>
                  <a:pt x="198" y="0"/>
                </a:lnTo>
                <a:close/>
              </a:path>
            </a:pathLst>
          </a:custGeom>
          <a:solidFill>
            <a:schemeClr val="bg1">
              <a:alpha val="10000"/>
            </a:schemeClr>
          </a:solidFill>
          <a:ln w="0">
            <a:noFill/>
            <a:prstDash val="solid"/>
            <a:round/>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微软雅黑" panose="020B0503020204020204" pitchFamily="34" charset="-122"/>
              <a:ea typeface="宋体" panose="02010600030101010101" pitchFamily="2" charset="-122"/>
              <a:cs typeface="+mn-cs"/>
            </a:endParaRPr>
          </a:p>
        </p:txBody>
      </p:sp>
      <p:pic>
        <p:nvPicPr>
          <p:cNvPr id="2" name="图片 1" descr="傲梦LOGO蓝蓝"/>
          <p:cNvPicPr>
            <a:picLocks noChangeAspect="1"/>
          </p:cNvPicPr>
          <p:nvPr userDrawn="1"/>
        </p:nvPicPr>
        <p:blipFill>
          <a:blip r:embed="rId2" cstate="print"/>
          <a:stretch>
            <a:fillRect/>
          </a:stretch>
        </p:blipFill>
        <p:spPr>
          <a:xfrm>
            <a:off x="9966960" y="189230"/>
            <a:ext cx="1746885" cy="493395"/>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9_标题幻灯片">
    <p:spTree>
      <p:nvGrpSpPr>
        <p:cNvPr id="1" name=""/>
        <p:cNvGrpSpPr/>
        <p:nvPr/>
      </p:nvGrpSpPr>
      <p:grpSpPr>
        <a:xfrm>
          <a:off x="0" y="0"/>
          <a:ext cx="0" cy="0"/>
          <a:chOff x="0" y="0"/>
          <a:chExt cx="0" cy="0"/>
        </a:xfrm>
      </p:grpSpPr>
      <p:sp>
        <p:nvSpPr>
          <p:cNvPr id="23" name="Freeform 77"/>
          <p:cNvSpPr>
            <a:spLocks noEditPoints="1"/>
          </p:cNvSpPr>
          <p:nvPr userDrawn="1"/>
        </p:nvSpPr>
        <p:spPr bwMode="auto">
          <a:xfrm rot="20644514">
            <a:off x="1047441" y="681857"/>
            <a:ext cx="1042017" cy="802702"/>
          </a:xfrm>
          <a:custGeom>
            <a:avLst/>
            <a:gdLst/>
            <a:ahLst/>
            <a:cxnLst>
              <a:cxn ang="0">
                <a:pos x="402" y="8"/>
              </a:cxn>
              <a:cxn ang="0">
                <a:pos x="402" y="6"/>
              </a:cxn>
              <a:cxn ang="0">
                <a:pos x="398" y="2"/>
              </a:cxn>
              <a:cxn ang="0">
                <a:pos x="242" y="0"/>
              </a:cxn>
              <a:cxn ang="0">
                <a:pos x="232" y="2"/>
              </a:cxn>
              <a:cxn ang="0">
                <a:pos x="216" y="10"/>
              </a:cxn>
              <a:cxn ang="0">
                <a:pos x="210" y="18"/>
              </a:cxn>
              <a:cxn ang="0">
                <a:pos x="210" y="18"/>
              </a:cxn>
              <a:cxn ang="0">
                <a:pos x="196" y="6"/>
              </a:cxn>
              <a:cxn ang="0">
                <a:pos x="178" y="0"/>
              </a:cxn>
              <a:cxn ang="0">
                <a:pos x="26" y="0"/>
              </a:cxn>
              <a:cxn ang="0">
                <a:pos x="20" y="4"/>
              </a:cxn>
              <a:cxn ang="0">
                <a:pos x="16" y="8"/>
              </a:cxn>
              <a:cxn ang="0">
                <a:pos x="0" y="34"/>
              </a:cxn>
              <a:cxn ang="0">
                <a:pos x="174" y="306"/>
              </a:cxn>
              <a:cxn ang="0">
                <a:pos x="182" y="314"/>
              </a:cxn>
              <a:cxn ang="0">
                <a:pos x="200" y="322"/>
              </a:cxn>
              <a:cxn ang="0">
                <a:pos x="210" y="322"/>
              </a:cxn>
              <a:cxn ang="0">
                <a:pos x="230" y="318"/>
              </a:cxn>
              <a:cxn ang="0">
                <a:pos x="246" y="306"/>
              </a:cxn>
              <a:cxn ang="0">
                <a:pos x="418" y="34"/>
              </a:cxn>
              <a:cxn ang="0">
                <a:pos x="34" y="18"/>
              </a:cxn>
              <a:cxn ang="0">
                <a:pos x="178" y="18"/>
              </a:cxn>
              <a:cxn ang="0">
                <a:pos x="194" y="24"/>
              </a:cxn>
              <a:cxn ang="0">
                <a:pos x="202" y="42"/>
              </a:cxn>
              <a:cxn ang="0">
                <a:pos x="202" y="194"/>
              </a:cxn>
              <a:cxn ang="0">
                <a:pos x="204" y="200"/>
              </a:cxn>
              <a:cxn ang="0">
                <a:pos x="210" y="202"/>
              </a:cxn>
              <a:cxn ang="0">
                <a:pos x="212" y="202"/>
              </a:cxn>
              <a:cxn ang="0">
                <a:pos x="218" y="198"/>
              </a:cxn>
              <a:cxn ang="0">
                <a:pos x="218" y="42"/>
              </a:cxn>
              <a:cxn ang="0">
                <a:pos x="220" y="32"/>
              </a:cxn>
              <a:cxn ang="0">
                <a:pos x="232" y="18"/>
              </a:cxn>
              <a:cxn ang="0">
                <a:pos x="386" y="18"/>
              </a:cxn>
              <a:cxn ang="0">
                <a:pos x="242" y="274"/>
              </a:cxn>
              <a:cxn ang="0">
                <a:pos x="232" y="276"/>
              </a:cxn>
              <a:cxn ang="0">
                <a:pos x="216" y="284"/>
              </a:cxn>
              <a:cxn ang="0">
                <a:pos x="210" y="290"/>
              </a:cxn>
              <a:cxn ang="0">
                <a:pos x="210" y="290"/>
              </a:cxn>
              <a:cxn ang="0">
                <a:pos x="196" y="278"/>
              </a:cxn>
              <a:cxn ang="0">
                <a:pos x="178" y="274"/>
              </a:cxn>
              <a:cxn ang="0">
                <a:pos x="34" y="18"/>
              </a:cxn>
            </a:cxnLst>
            <a:rect l="0" t="0" r="r" b="b"/>
            <a:pathLst>
              <a:path w="418" h="322">
                <a:moveTo>
                  <a:pt x="402" y="34"/>
                </a:moveTo>
                <a:lnTo>
                  <a:pt x="402" y="8"/>
                </a:lnTo>
                <a:lnTo>
                  <a:pt x="402" y="8"/>
                </a:lnTo>
                <a:lnTo>
                  <a:pt x="402" y="6"/>
                </a:lnTo>
                <a:lnTo>
                  <a:pt x="400" y="4"/>
                </a:lnTo>
                <a:lnTo>
                  <a:pt x="398" y="2"/>
                </a:lnTo>
                <a:lnTo>
                  <a:pt x="394" y="0"/>
                </a:lnTo>
                <a:lnTo>
                  <a:pt x="242" y="0"/>
                </a:lnTo>
                <a:lnTo>
                  <a:pt x="242" y="0"/>
                </a:lnTo>
                <a:lnTo>
                  <a:pt x="232" y="2"/>
                </a:lnTo>
                <a:lnTo>
                  <a:pt x="224" y="6"/>
                </a:lnTo>
                <a:lnTo>
                  <a:pt x="216" y="10"/>
                </a:lnTo>
                <a:lnTo>
                  <a:pt x="210" y="18"/>
                </a:lnTo>
                <a:lnTo>
                  <a:pt x="210" y="18"/>
                </a:lnTo>
                <a:lnTo>
                  <a:pt x="210" y="18"/>
                </a:lnTo>
                <a:lnTo>
                  <a:pt x="210" y="18"/>
                </a:lnTo>
                <a:lnTo>
                  <a:pt x="204" y="10"/>
                </a:lnTo>
                <a:lnTo>
                  <a:pt x="196" y="6"/>
                </a:lnTo>
                <a:lnTo>
                  <a:pt x="188" y="2"/>
                </a:lnTo>
                <a:lnTo>
                  <a:pt x="178" y="0"/>
                </a:lnTo>
                <a:lnTo>
                  <a:pt x="26" y="0"/>
                </a:lnTo>
                <a:lnTo>
                  <a:pt x="26" y="0"/>
                </a:lnTo>
                <a:lnTo>
                  <a:pt x="22" y="2"/>
                </a:lnTo>
                <a:lnTo>
                  <a:pt x="20" y="4"/>
                </a:lnTo>
                <a:lnTo>
                  <a:pt x="18" y="6"/>
                </a:lnTo>
                <a:lnTo>
                  <a:pt x="16" y="8"/>
                </a:lnTo>
                <a:lnTo>
                  <a:pt x="16" y="34"/>
                </a:lnTo>
                <a:lnTo>
                  <a:pt x="0" y="34"/>
                </a:lnTo>
                <a:lnTo>
                  <a:pt x="0" y="306"/>
                </a:lnTo>
                <a:lnTo>
                  <a:pt x="174" y="306"/>
                </a:lnTo>
                <a:lnTo>
                  <a:pt x="174" y="306"/>
                </a:lnTo>
                <a:lnTo>
                  <a:pt x="182" y="314"/>
                </a:lnTo>
                <a:lnTo>
                  <a:pt x="190" y="318"/>
                </a:lnTo>
                <a:lnTo>
                  <a:pt x="200" y="322"/>
                </a:lnTo>
                <a:lnTo>
                  <a:pt x="210" y="322"/>
                </a:lnTo>
                <a:lnTo>
                  <a:pt x="210" y="322"/>
                </a:lnTo>
                <a:lnTo>
                  <a:pt x="220" y="322"/>
                </a:lnTo>
                <a:lnTo>
                  <a:pt x="230" y="318"/>
                </a:lnTo>
                <a:lnTo>
                  <a:pt x="238" y="314"/>
                </a:lnTo>
                <a:lnTo>
                  <a:pt x="246" y="306"/>
                </a:lnTo>
                <a:lnTo>
                  <a:pt x="418" y="306"/>
                </a:lnTo>
                <a:lnTo>
                  <a:pt x="418" y="34"/>
                </a:lnTo>
                <a:lnTo>
                  <a:pt x="402" y="34"/>
                </a:lnTo>
                <a:close/>
                <a:moveTo>
                  <a:pt x="34" y="18"/>
                </a:moveTo>
                <a:lnTo>
                  <a:pt x="178" y="18"/>
                </a:lnTo>
                <a:lnTo>
                  <a:pt x="178" y="18"/>
                </a:lnTo>
                <a:lnTo>
                  <a:pt x="188" y="18"/>
                </a:lnTo>
                <a:lnTo>
                  <a:pt x="194" y="24"/>
                </a:lnTo>
                <a:lnTo>
                  <a:pt x="200" y="32"/>
                </a:lnTo>
                <a:lnTo>
                  <a:pt x="202" y="42"/>
                </a:lnTo>
                <a:lnTo>
                  <a:pt x="202" y="194"/>
                </a:lnTo>
                <a:lnTo>
                  <a:pt x="202" y="194"/>
                </a:lnTo>
                <a:lnTo>
                  <a:pt x="202" y="198"/>
                </a:lnTo>
                <a:lnTo>
                  <a:pt x="204" y="200"/>
                </a:lnTo>
                <a:lnTo>
                  <a:pt x="206" y="202"/>
                </a:lnTo>
                <a:lnTo>
                  <a:pt x="210" y="202"/>
                </a:lnTo>
                <a:lnTo>
                  <a:pt x="210" y="202"/>
                </a:lnTo>
                <a:lnTo>
                  <a:pt x="212" y="202"/>
                </a:lnTo>
                <a:lnTo>
                  <a:pt x="216" y="200"/>
                </a:lnTo>
                <a:lnTo>
                  <a:pt x="218" y="198"/>
                </a:lnTo>
                <a:lnTo>
                  <a:pt x="218" y="194"/>
                </a:lnTo>
                <a:lnTo>
                  <a:pt x="218" y="42"/>
                </a:lnTo>
                <a:lnTo>
                  <a:pt x="218" y="42"/>
                </a:lnTo>
                <a:lnTo>
                  <a:pt x="220" y="32"/>
                </a:lnTo>
                <a:lnTo>
                  <a:pt x="224" y="24"/>
                </a:lnTo>
                <a:lnTo>
                  <a:pt x="232" y="18"/>
                </a:lnTo>
                <a:lnTo>
                  <a:pt x="242" y="18"/>
                </a:lnTo>
                <a:lnTo>
                  <a:pt x="386" y="18"/>
                </a:lnTo>
                <a:lnTo>
                  <a:pt x="386" y="274"/>
                </a:lnTo>
                <a:lnTo>
                  <a:pt x="242" y="274"/>
                </a:lnTo>
                <a:lnTo>
                  <a:pt x="242" y="274"/>
                </a:lnTo>
                <a:lnTo>
                  <a:pt x="232" y="276"/>
                </a:lnTo>
                <a:lnTo>
                  <a:pt x="224" y="278"/>
                </a:lnTo>
                <a:lnTo>
                  <a:pt x="216" y="284"/>
                </a:lnTo>
                <a:lnTo>
                  <a:pt x="210" y="290"/>
                </a:lnTo>
                <a:lnTo>
                  <a:pt x="210" y="290"/>
                </a:lnTo>
                <a:lnTo>
                  <a:pt x="210" y="290"/>
                </a:lnTo>
                <a:lnTo>
                  <a:pt x="210" y="290"/>
                </a:lnTo>
                <a:lnTo>
                  <a:pt x="204" y="284"/>
                </a:lnTo>
                <a:lnTo>
                  <a:pt x="196" y="278"/>
                </a:lnTo>
                <a:lnTo>
                  <a:pt x="188" y="276"/>
                </a:lnTo>
                <a:lnTo>
                  <a:pt x="178" y="274"/>
                </a:lnTo>
                <a:lnTo>
                  <a:pt x="34" y="274"/>
                </a:lnTo>
                <a:lnTo>
                  <a:pt x="34" y="18"/>
                </a:lnTo>
                <a:close/>
              </a:path>
            </a:pathLst>
          </a:custGeom>
          <a:solidFill>
            <a:schemeClr val="bg1">
              <a:alpha val="10000"/>
            </a:schemeClr>
          </a:solidFill>
          <a:ln w="0">
            <a:noFill/>
            <a:prstDash val="solid"/>
            <a:round/>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微软雅黑" panose="020B0503020204020204" pitchFamily="34" charset="-122"/>
              <a:ea typeface="宋体" panose="02010600030101010101" pitchFamily="2" charset="-122"/>
              <a:cs typeface="+mn-cs"/>
            </a:endParaRPr>
          </a:p>
        </p:txBody>
      </p:sp>
      <p:sp>
        <p:nvSpPr>
          <p:cNvPr id="18" name="Freeform 363"/>
          <p:cNvSpPr>
            <a:spLocks noEditPoints="1"/>
          </p:cNvSpPr>
          <p:nvPr userDrawn="1"/>
        </p:nvSpPr>
        <p:spPr bwMode="auto">
          <a:xfrm rot="1658487">
            <a:off x="6583748" y="312642"/>
            <a:ext cx="773335" cy="770514"/>
          </a:xfrm>
          <a:custGeom>
            <a:avLst/>
            <a:gdLst>
              <a:gd name="T0" fmla="*/ 145 w 274"/>
              <a:gd name="T1" fmla="*/ 262 h 273"/>
              <a:gd name="T2" fmla="*/ 189 w 274"/>
              <a:gd name="T3" fmla="*/ 204 h 273"/>
              <a:gd name="T4" fmla="*/ 263 w 274"/>
              <a:gd name="T5" fmla="*/ 204 h 273"/>
              <a:gd name="T6" fmla="*/ 216 w 274"/>
              <a:gd name="T7" fmla="*/ 217 h 273"/>
              <a:gd name="T8" fmla="*/ 104 w 274"/>
              <a:gd name="T9" fmla="*/ 199 h 273"/>
              <a:gd name="T10" fmla="*/ 55 w 274"/>
              <a:gd name="T11" fmla="*/ 186 h 273"/>
              <a:gd name="T12" fmla="*/ 14 w 274"/>
              <a:gd name="T13" fmla="*/ 168 h 273"/>
              <a:gd name="T14" fmla="*/ 44 w 274"/>
              <a:gd name="T15" fmla="*/ 207 h 273"/>
              <a:gd name="T16" fmla="*/ 45 w 274"/>
              <a:gd name="T17" fmla="*/ 217 h 273"/>
              <a:gd name="T18" fmla="*/ 95 w 274"/>
              <a:gd name="T19" fmla="*/ 254 h 273"/>
              <a:gd name="T20" fmla="*/ 86 w 274"/>
              <a:gd name="T21" fmla="*/ 232 h 273"/>
              <a:gd name="T22" fmla="*/ 114 w 274"/>
              <a:gd name="T23" fmla="*/ 255 h 273"/>
              <a:gd name="T24" fmla="*/ 131 w 274"/>
              <a:gd name="T25" fmla="*/ 196 h 273"/>
              <a:gd name="T26" fmla="*/ 110 w 274"/>
              <a:gd name="T27" fmla="*/ 189 h 273"/>
              <a:gd name="T28" fmla="*/ 132 w 274"/>
              <a:gd name="T29" fmla="*/ 145 h 273"/>
              <a:gd name="T30" fmla="*/ 74 w 274"/>
              <a:gd name="T31" fmla="*/ 145 h 273"/>
              <a:gd name="T32" fmla="*/ 67 w 274"/>
              <a:gd name="T33" fmla="*/ 166 h 273"/>
              <a:gd name="T34" fmla="*/ 205 w 274"/>
              <a:gd name="T35" fmla="*/ 111 h 273"/>
              <a:gd name="T36" fmla="*/ 192 w 274"/>
              <a:gd name="T37" fmla="*/ 159 h 273"/>
              <a:gd name="T38" fmla="*/ 150 w 274"/>
              <a:gd name="T39" fmla="*/ 59 h 273"/>
              <a:gd name="T40" fmla="*/ 114 w 274"/>
              <a:gd name="T41" fmla="*/ 94 h 273"/>
              <a:gd name="T42" fmla="*/ 57 w 274"/>
              <a:gd name="T43" fmla="*/ 42 h 273"/>
              <a:gd name="T44" fmla="*/ 9 w 274"/>
              <a:gd name="T45" fmla="*/ 55 h 273"/>
              <a:gd name="T46" fmla="*/ 178 w 274"/>
              <a:gd name="T47" fmla="*/ 23 h 273"/>
              <a:gd name="T48" fmla="*/ 230 w 274"/>
              <a:gd name="T49" fmla="*/ 57 h 273"/>
              <a:gd name="T50" fmla="*/ 137 w 274"/>
              <a:gd name="T51" fmla="*/ 0 h 273"/>
              <a:gd name="T52" fmla="*/ 271 w 274"/>
              <a:gd name="T53" fmla="*/ 108 h 273"/>
              <a:gd name="T54" fmla="*/ 257 w 274"/>
              <a:gd name="T55" fmla="*/ 189 h 273"/>
              <a:gd name="T56" fmla="*/ 260 w 274"/>
              <a:gd name="T57" fmla="*/ 142 h 273"/>
              <a:gd name="T58" fmla="*/ 238 w 274"/>
              <a:gd name="T59" fmla="*/ 133 h 273"/>
              <a:gd name="T60" fmla="*/ 261 w 274"/>
              <a:gd name="T61" fmla="*/ 105 h 273"/>
              <a:gd name="T62" fmla="*/ 206 w 274"/>
              <a:gd name="T63" fmla="*/ 76 h 273"/>
              <a:gd name="T64" fmla="*/ 206 w 274"/>
              <a:gd name="T65" fmla="*/ 103 h 273"/>
              <a:gd name="T66" fmla="*/ 193 w 274"/>
              <a:gd name="T67" fmla="*/ 82 h 273"/>
              <a:gd name="T68" fmla="*/ 169 w 274"/>
              <a:gd name="T69" fmla="*/ 79 h 273"/>
              <a:gd name="T70" fmla="*/ 189 w 274"/>
              <a:gd name="T71" fmla="*/ 66 h 273"/>
              <a:gd name="T72" fmla="*/ 142 w 274"/>
              <a:gd name="T73" fmla="*/ 13 h 273"/>
              <a:gd name="T74" fmla="*/ 136 w 274"/>
              <a:gd name="T75" fmla="*/ 50 h 273"/>
              <a:gd name="T76" fmla="*/ 127 w 274"/>
              <a:gd name="T77" fmla="*/ 11 h 273"/>
              <a:gd name="T78" fmla="*/ 86 w 274"/>
              <a:gd name="T79" fmla="*/ 71 h 273"/>
              <a:gd name="T80" fmla="*/ 104 w 274"/>
              <a:gd name="T81" fmla="*/ 83 h 273"/>
              <a:gd name="T82" fmla="*/ 76 w 274"/>
              <a:gd name="T83" fmla="*/ 105 h 273"/>
              <a:gd name="T84" fmla="*/ 132 w 274"/>
              <a:gd name="T85" fmla="*/ 130 h 273"/>
              <a:gd name="T86" fmla="*/ 140 w 274"/>
              <a:gd name="T87" fmla="*/ 113 h 273"/>
              <a:gd name="T88" fmla="*/ 146 w 274"/>
              <a:gd name="T89" fmla="*/ 131 h 273"/>
              <a:gd name="T90" fmla="*/ 171 w 274"/>
              <a:gd name="T91" fmla="*/ 140 h 273"/>
              <a:gd name="T92" fmla="*/ 142 w 274"/>
              <a:gd name="T93" fmla="*/ 182 h 273"/>
              <a:gd name="T94" fmla="*/ 193 w 274"/>
              <a:gd name="T95" fmla="*/ 191 h 273"/>
              <a:gd name="T96" fmla="*/ 206 w 274"/>
              <a:gd name="T97" fmla="*/ 170 h 273"/>
              <a:gd name="T98" fmla="*/ 206 w 274"/>
              <a:gd name="T99" fmla="*/ 196 h 273"/>
              <a:gd name="T100" fmla="*/ 209 w 274"/>
              <a:gd name="T101" fmla="*/ 207 h 273"/>
              <a:gd name="T102" fmla="*/ 179 w 274"/>
              <a:gd name="T103" fmla="*/ 249 h 273"/>
              <a:gd name="T104" fmla="*/ 212 w 274"/>
              <a:gd name="T105" fmla="*/ 239 h 273"/>
              <a:gd name="T106" fmla="*/ 219 w 274"/>
              <a:gd name="T107" fmla="*/ 246 h 273"/>
              <a:gd name="T108" fmla="*/ 31 w 274"/>
              <a:gd name="T109" fmla="*/ 222 h 273"/>
              <a:gd name="T110" fmla="*/ 14 w 274"/>
              <a:gd name="T111" fmla="*/ 82 h 273"/>
              <a:gd name="T112" fmla="*/ 11 w 274"/>
              <a:gd name="T113" fmla="*/ 130 h 273"/>
              <a:gd name="T114" fmla="*/ 67 w 274"/>
              <a:gd name="T115" fmla="*/ 103 h 273"/>
              <a:gd name="T116" fmla="*/ 63 w 274"/>
              <a:gd name="T117" fmla="*/ 74 h 273"/>
              <a:gd name="T118" fmla="*/ 72 w 274"/>
              <a:gd name="T119" fmla="*/ 67 h 273"/>
              <a:gd name="T120" fmla="*/ 95 w 274"/>
              <a:gd name="T121" fmla="*/ 19 h 273"/>
              <a:gd name="T122" fmla="*/ 58 w 274"/>
              <a:gd name="T123" fmla="*/ 33 h 273"/>
              <a:gd name="T124" fmla="*/ 109 w 274"/>
              <a:gd name="T125" fmla="*/ 4 h 2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74" h="273">
                <a:moveTo>
                  <a:pt x="146" y="196"/>
                </a:moveTo>
                <a:lnTo>
                  <a:pt x="143" y="196"/>
                </a:lnTo>
                <a:lnTo>
                  <a:pt x="142" y="198"/>
                </a:lnTo>
                <a:lnTo>
                  <a:pt x="142" y="200"/>
                </a:lnTo>
                <a:lnTo>
                  <a:pt x="142" y="258"/>
                </a:lnTo>
                <a:lnTo>
                  <a:pt x="142" y="260"/>
                </a:lnTo>
                <a:lnTo>
                  <a:pt x="145" y="262"/>
                </a:lnTo>
                <a:lnTo>
                  <a:pt x="147" y="262"/>
                </a:lnTo>
                <a:lnTo>
                  <a:pt x="159" y="255"/>
                </a:lnTo>
                <a:lnTo>
                  <a:pt x="169" y="245"/>
                </a:lnTo>
                <a:lnTo>
                  <a:pt x="178" y="234"/>
                </a:lnTo>
                <a:lnTo>
                  <a:pt x="184" y="219"/>
                </a:lnTo>
                <a:lnTo>
                  <a:pt x="189" y="207"/>
                </a:lnTo>
                <a:lnTo>
                  <a:pt x="189" y="204"/>
                </a:lnTo>
                <a:lnTo>
                  <a:pt x="189" y="203"/>
                </a:lnTo>
                <a:lnTo>
                  <a:pt x="187" y="202"/>
                </a:lnTo>
                <a:lnTo>
                  <a:pt x="168" y="198"/>
                </a:lnTo>
                <a:lnTo>
                  <a:pt x="146" y="196"/>
                </a:lnTo>
                <a:close/>
                <a:moveTo>
                  <a:pt x="242" y="191"/>
                </a:moveTo>
                <a:lnTo>
                  <a:pt x="254" y="195"/>
                </a:lnTo>
                <a:lnTo>
                  <a:pt x="263" y="204"/>
                </a:lnTo>
                <a:lnTo>
                  <a:pt x="267" y="217"/>
                </a:lnTo>
                <a:lnTo>
                  <a:pt x="263" y="230"/>
                </a:lnTo>
                <a:lnTo>
                  <a:pt x="254" y="239"/>
                </a:lnTo>
                <a:lnTo>
                  <a:pt x="242" y="242"/>
                </a:lnTo>
                <a:lnTo>
                  <a:pt x="229" y="239"/>
                </a:lnTo>
                <a:lnTo>
                  <a:pt x="219" y="230"/>
                </a:lnTo>
                <a:lnTo>
                  <a:pt x="216" y="217"/>
                </a:lnTo>
                <a:lnTo>
                  <a:pt x="219" y="204"/>
                </a:lnTo>
                <a:lnTo>
                  <a:pt x="229" y="195"/>
                </a:lnTo>
                <a:lnTo>
                  <a:pt x="242" y="191"/>
                </a:lnTo>
                <a:close/>
                <a:moveTo>
                  <a:pt x="78" y="173"/>
                </a:moveTo>
                <a:lnTo>
                  <a:pt x="91" y="177"/>
                </a:lnTo>
                <a:lnTo>
                  <a:pt x="100" y="186"/>
                </a:lnTo>
                <a:lnTo>
                  <a:pt x="104" y="199"/>
                </a:lnTo>
                <a:lnTo>
                  <a:pt x="100" y="212"/>
                </a:lnTo>
                <a:lnTo>
                  <a:pt x="91" y="222"/>
                </a:lnTo>
                <a:lnTo>
                  <a:pt x="78" y="225"/>
                </a:lnTo>
                <a:lnTo>
                  <a:pt x="65" y="222"/>
                </a:lnTo>
                <a:lnTo>
                  <a:pt x="55" y="212"/>
                </a:lnTo>
                <a:lnTo>
                  <a:pt x="53" y="199"/>
                </a:lnTo>
                <a:lnTo>
                  <a:pt x="55" y="186"/>
                </a:lnTo>
                <a:lnTo>
                  <a:pt x="65" y="177"/>
                </a:lnTo>
                <a:lnTo>
                  <a:pt x="78" y="173"/>
                </a:lnTo>
                <a:close/>
                <a:moveTo>
                  <a:pt x="14" y="142"/>
                </a:moveTo>
                <a:lnTo>
                  <a:pt x="12" y="142"/>
                </a:lnTo>
                <a:lnTo>
                  <a:pt x="11" y="144"/>
                </a:lnTo>
                <a:lnTo>
                  <a:pt x="11" y="145"/>
                </a:lnTo>
                <a:lnTo>
                  <a:pt x="14" y="168"/>
                </a:lnTo>
                <a:lnTo>
                  <a:pt x="22" y="189"/>
                </a:lnTo>
                <a:lnTo>
                  <a:pt x="32" y="208"/>
                </a:lnTo>
                <a:lnTo>
                  <a:pt x="34" y="209"/>
                </a:lnTo>
                <a:lnTo>
                  <a:pt x="36" y="211"/>
                </a:lnTo>
                <a:lnTo>
                  <a:pt x="37" y="209"/>
                </a:lnTo>
                <a:lnTo>
                  <a:pt x="42" y="207"/>
                </a:lnTo>
                <a:lnTo>
                  <a:pt x="44" y="207"/>
                </a:lnTo>
                <a:lnTo>
                  <a:pt x="45" y="207"/>
                </a:lnTo>
                <a:lnTo>
                  <a:pt x="46" y="208"/>
                </a:lnTo>
                <a:lnTo>
                  <a:pt x="48" y="211"/>
                </a:lnTo>
                <a:lnTo>
                  <a:pt x="48" y="212"/>
                </a:lnTo>
                <a:lnTo>
                  <a:pt x="48" y="214"/>
                </a:lnTo>
                <a:lnTo>
                  <a:pt x="46" y="216"/>
                </a:lnTo>
                <a:lnTo>
                  <a:pt x="45" y="217"/>
                </a:lnTo>
                <a:lnTo>
                  <a:pt x="42" y="218"/>
                </a:lnTo>
                <a:lnTo>
                  <a:pt x="42" y="221"/>
                </a:lnTo>
                <a:lnTo>
                  <a:pt x="44" y="222"/>
                </a:lnTo>
                <a:lnTo>
                  <a:pt x="65" y="241"/>
                </a:lnTo>
                <a:lnTo>
                  <a:pt x="91" y="255"/>
                </a:lnTo>
                <a:lnTo>
                  <a:pt x="94" y="255"/>
                </a:lnTo>
                <a:lnTo>
                  <a:pt x="95" y="254"/>
                </a:lnTo>
                <a:lnTo>
                  <a:pt x="96" y="253"/>
                </a:lnTo>
                <a:lnTo>
                  <a:pt x="96" y="251"/>
                </a:lnTo>
                <a:lnTo>
                  <a:pt x="95" y="249"/>
                </a:lnTo>
                <a:lnTo>
                  <a:pt x="91" y="242"/>
                </a:lnTo>
                <a:lnTo>
                  <a:pt x="86" y="235"/>
                </a:lnTo>
                <a:lnTo>
                  <a:pt x="86" y="234"/>
                </a:lnTo>
                <a:lnTo>
                  <a:pt x="86" y="232"/>
                </a:lnTo>
                <a:lnTo>
                  <a:pt x="87" y="231"/>
                </a:lnTo>
                <a:lnTo>
                  <a:pt x="90" y="230"/>
                </a:lnTo>
                <a:lnTo>
                  <a:pt x="91" y="228"/>
                </a:lnTo>
                <a:lnTo>
                  <a:pt x="94" y="230"/>
                </a:lnTo>
                <a:lnTo>
                  <a:pt x="95" y="231"/>
                </a:lnTo>
                <a:lnTo>
                  <a:pt x="104" y="244"/>
                </a:lnTo>
                <a:lnTo>
                  <a:pt x="114" y="255"/>
                </a:lnTo>
                <a:lnTo>
                  <a:pt x="127" y="262"/>
                </a:lnTo>
                <a:lnTo>
                  <a:pt x="129" y="262"/>
                </a:lnTo>
                <a:lnTo>
                  <a:pt x="132" y="260"/>
                </a:lnTo>
                <a:lnTo>
                  <a:pt x="132" y="258"/>
                </a:lnTo>
                <a:lnTo>
                  <a:pt x="132" y="200"/>
                </a:lnTo>
                <a:lnTo>
                  <a:pt x="132" y="198"/>
                </a:lnTo>
                <a:lnTo>
                  <a:pt x="131" y="196"/>
                </a:lnTo>
                <a:lnTo>
                  <a:pt x="128" y="196"/>
                </a:lnTo>
                <a:lnTo>
                  <a:pt x="114" y="198"/>
                </a:lnTo>
                <a:lnTo>
                  <a:pt x="111" y="196"/>
                </a:lnTo>
                <a:lnTo>
                  <a:pt x="110" y="195"/>
                </a:lnTo>
                <a:lnTo>
                  <a:pt x="109" y="194"/>
                </a:lnTo>
                <a:lnTo>
                  <a:pt x="109" y="191"/>
                </a:lnTo>
                <a:lnTo>
                  <a:pt x="110" y="189"/>
                </a:lnTo>
                <a:lnTo>
                  <a:pt x="111" y="189"/>
                </a:lnTo>
                <a:lnTo>
                  <a:pt x="113" y="188"/>
                </a:lnTo>
                <a:lnTo>
                  <a:pt x="128" y="186"/>
                </a:lnTo>
                <a:lnTo>
                  <a:pt x="131" y="186"/>
                </a:lnTo>
                <a:lnTo>
                  <a:pt x="132" y="185"/>
                </a:lnTo>
                <a:lnTo>
                  <a:pt x="132" y="182"/>
                </a:lnTo>
                <a:lnTo>
                  <a:pt x="132" y="145"/>
                </a:lnTo>
                <a:lnTo>
                  <a:pt x="132" y="143"/>
                </a:lnTo>
                <a:lnTo>
                  <a:pt x="131" y="142"/>
                </a:lnTo>
                <a:lnTo>
                  <a:pt x="128" y="142"/>
                </a:lnTo>
                <a:lnTo>
                  <a:pt x="78" y="142"/>
                </a:lnTo>
                <a:lnTo>
                  <a:pt x="76" y="142"/>
                </a:lnTo>
                <a:lnTo>
                  <a:pt x="74" y="143"/>
                </a:lnTo>
                <a:lnTo>
                  <a:pt x="74" y="145"/>
                </a:lnTo>
                <a:lnTo>
                  <a:pt x="76" y="163"/>
                </a:lnTo>
                <a:lnTo>
                  <a:pt x="74" y="166"/>
                </a:lnTo>
                <a:lnTo>
                  <a:pt x="73" y="167"/>
                </a:lnTo>
                <a:lnTo>
                  <a:pt x="72" y="168"/>
                </a:lnTo>
                <a:lnTo>
                  <a:pt x="69" y="168"/>
                </a:lnTo>
                <a:lnTo>
                  <a:pt x="68" y="167"/>
                </a:lnTo>
                <a:lnTo>
                  <a:pt x="67" y="166"/>
                </a:lnTo>
                <a:lnTo>
                  <a:pt x="65" y="165"/>
                </a:lnTo>
                <a:lnTo>
                  <a:pt x="64" y="145"/>
                </a:lnTo>
                <a:lnTo>
                  <a:pt x="64" y="143"/>
                </a:lnTo>
                <a:lnTo>
                  <a:pt x="63" y="142"/>
                </a:lnTo>
                <a:lnTo>
                  <a:pt x="60" y="142"/>
                </a:lnTo>
                <a:lnTo>
                  <a:pt x="14" y="142"/>
                </a:lnTo>
                <a:close/>
                <a:moveTo>
                  <a:pt x="205" y="111"/>
                </a:moveTo>
                <a:lnTo>
                  <a:pt x="217" y="115"/>
                </a:lnTo>
                <a:lnTo>
                  <a:pt x="226" y="124"/>
                </a:lnTo>
                <a:lnTo>
                  <a:pt x="230" y="136"/>
                </a:lnTo>
                <a:lnTo>
                  <a:pt x="226" y="149"/>
                </a:lnTo>
                <a:lnTo>
                  <a:pt x="217" y="159"/>
                </a:lnTo>
                <a:lnTo>
                  <a:pt x="205" y="162"/>
                </a:lnTo>
                <a:lnTo>
                  <a:pt x="192" y="159"/>
                </a:lnTo>
                <a:lnTo>
                  <a:pt x="183" y="149"/>
                </a:lnTo>
                <a:lnTo>
                  <a:pt x="179" y="136"/>
                </a:lnTo>
                <a:lnTo>
                  <a:pt x="183" y="124"/>
                </a:lnTo>
                <a:lnTo>
                  <a:pt x="192" y="115"/>
                </a:lnTo>
                <a:lnTo>
                  <a:pt x="205" y="111"/>
                </a:lnTo>
                <a:close/>
                <a:moveTo>
                  <a:pt x="137" y="56"/>
                </a:moveTo>
                <a:lnTo>
                  <a:pt x="150" y="59"/>
                </a:lnTo>
                <a:lnTo>
                  <a:pt x="159" y="69"/>
                </a:lnTo>
                <a:lnTo>
                  <a:pt x="163" y="82"/>
                </a:lnTo>
                <a:lnTo>
                  <a:pt x="159" y="94"/>
                </a:lnTo>
                <a:lnTo>
                  <a:pt x="150" y="103"/>
                </a:lnTo>
                <a:lnTo>
                  <a:pt x="137" y="107"/>
                </a:lnTo>
                <a:lnTo>
                  <a:pt x="124" y="103"/>
                </a:lnTo>
                <a:lnTo>
                  <a:pt x="114" y="94"/>
                </a:lnTo>
                <a:lnTo>
                  <a:pt x="111" y="82"/>
                </a:lnTo>
                <a:lnTo>
                  <a:pt x="114" y="69"/>
                </a:lnTo>
                <a:lnTo>
                  <a:pt x="124" y="59"/>
                </a:lnTo>
                <a:lnTo>
                  <a:pt x="137" y="56"/>
                </a:lnTo>
                <a:close/>
                <a:moveTo>
                  <a:pt x="35" y="29"/>
                </a:moveTo>
                <a:lnTo>
                  <a:pt x="48" y="33"/>
                </a:lnTo>
                <a:lnTo>
                  <a:pt x="57" y="42"/>
                </a:lnTo>
                <a:lnTo>
                  <a:pt x="60" y="55"/>
                </a:lnTo>
                <a:lnTo>
                  <a:pt x="57" y="67"/>
                </a:lnTo>
                <a:lnTo>
                  <a:pt x="48" y="76"/>
                </a:lnTo>
                <a:lnTo>
                  <a:pt x="35" y="80"/>
                </a:lnTo>
                <a:lnTo>
                  <a:pt x="22" y="76"/>
                </a:lnTo>
                <a:lnTo>
                  <a:pt x="13" y="67"/>
                </a:lnTo>
                <a:lnTo>
                  <a:pt x="9" y="55"/>
                </a:lnTo>
                <a:lnTo>
                  <a:pt x="13" y="42"/>
                </a:lnTo>
                <a:lnTo>
                  <a:pt x="22" y="33"/>
                </a:lnTo>
                <a:lnTo>
                  <a:pt x="35" y="29"/>
                </a:lnTo>
                <a:close/>
                <a:moveTo>
                  <a:pt x="182" y="18"/>
                </a:moveTo>
                <a:lnTo>
                  <a:pt x="179" y="19"/>
                </a:lnTo>
                <a:lnTo>
                  <a:pt x="178" y="20"/>
                </a:lnTo>
                <a:lnTo>
                  <a:pt x="178" y="23"/>
                </a:lnTo>
                <a:lnTo>
                  <a:pt x="179" y="24"/>
                </a:lnTo>
                <a:lnTo>
                  <a:pt x="191" y="43"/>
                </a:lnTo>
                <a:lnTo>
                  <a:pt x="200" y="65"/>
                </a:lnTo>
                <a:lnTo>
                  <a:pt x="201" y="66"/>
                </a:lnTo>
                <a:lnTo>
                  <a:pt x="202" y="67"/>
                </a:lnTo>
                <a:lnTo>
                  <a:pt x="205" y="67"/>
                </a:lnTo>
                <a:lnTo>
                  <a:pt x="230" y="57"/>
                </a:lnTo>
                <a:lnTo>
                  <a:pt x="232" y="55"/>
                </a:lnTo>
                <a:lnTo>
                  <a:pt x="232" y="53"/>
                </a:lnTo>
                <a:lnTo>
                  <a:pt x="230" y="51"/>
                </a:lnTo>
                <a:lnTo>
                  <a:pt x="209" y="32"/>
                </a:lnTo>
                <a:lnTo>
                  <a:pt x="183" y="18"/>
                </a:lnTo>
                <a:lnTo>
                  <a:pt x="182" y="18"/>
                </a:lnTo>
                <a:close/>
                <a:moveTo>
                  <a:pt x="137" y="0"/>
                </a:moveTo>
                <a:lnTo>
                  <a:pt x="164" y="2"/>
                </a:lnTo>
                <a:lnTo>
                  <a:pt x="189" y="10"/>
                </a:lnTo>
                <a:lnTo>
                  <a:pt x="212" y="23"/>
                </a:lnTo>
                <a:lnTo>
                  <a:pt x="233" y="39"/>
                </a:lnTo>
                <a:lnTo>
                  <a:pt x="249" y="59"/>
                </a:lnTo>
                <a:lnTo>
                  <a:pt x="262" y="83"/>
                </a:lnTo>
                <a:lnTo>
                  <a:pt x="271" y="108"/>
                </a:lnTo>
                <a:lnTo>
                  <a:pt x="274" y="136"/>
                </a:lnTo>
                <a:lnTo>
                  <a:pt x="271" y="163"/>
                </a:lnTo>
                <a:lnTo>
                  <a:pt x="263" y="188"/>
                </a:lnTo>
                <a:lnTo>
                  <a:pt x="263" y="189"/>
                </a:lnTo>
                <a:lnTo>
                  <a:pt x="262" y="190"/>
                </a:lnTo>
                <a:lnTo>
                  <a:pt x="260" y="190"/>
                </a:lnTo>
                <a:lnTo>
                  <a:pt x="257" y="189"/>
                </a:lnTo>
                <a:lnTo>
                  <a:pt x="254" y="186"/>
                </a:lnTo>
                <a:lnTo>
                  <a:pt x="254" y="184"/>
                </a:lnTo>
                <a:lnTo>
                  <a:pt x="261" y="166"/>
                </a:lnTo>
                <a:lnTo>
                  <a:pt x="263" y="145"/>
                </a:lnTo>
                <a:lnTo>
                  <a:pt x="263" y="144"/>
                </a:lnTo>
                <a:lnTo>
                  <a:pt x="262" y="142"/>
                </a:lnTo>
                <a:lnTo>
                  <a:pt x="260" y="142"/>
                </a:lnTo>
                <a:lnTo>
                  <a:pt x="240" y="142"/>
                </a:lnTo>
                <a:lnTo>
                  <a:pt x="239" y="142"/>
                </a:lnTo>
                <a:lnTo>
                  <a:pt x="238" y="140"/>
                </a:lnTo>
                <a:lnTo>
                  <a:pt x="237" y="139"/>
                </a:lnTo>
                <a:lnTo>
                  <a:pt x="237" y="136"/>
                </a:lnTo>
                <a:lnTo>
                  <a:pt x="237" y="135"/>
                </a:lnTo>
                <a:lnTo>
                  <a:pt x="238" y="133"/>
                </a:lnTo>
                <a:lnTo>
                  <a:pt x="239" y="133"/>
                </a:lnTo>
                <a:lnTo>
                  <a:pt x="240" y="131"/>
                </a:lnTo>
                <a:lnTo>
                  <a:pt x="260" y="131"/>
                </a:lnTo>
                <a:lnTo>
                  <a:pt x="262" y="131"/>
                </a:lnTo>
                <a:lnTo>
                  <a:pt x="263" y="130"/>
                </a:lnTo>
                <a:lnTo>
                  <a:pt x="263" y="127"/>
                </a:lnTo>
                <a:lnTo>
                  <a:pt x="261" y="105"/>
                </a:lnTo>
                <a:lnTo>
                  <a:pt x="253" y="84"/>
                </a:lnTo>
                <a:lnTo>
                  <a:pt x="242" y="65"/>
                </a:lnTo>
                <a:lnTo>
                  <a:pt x="240" y="64"/>
                </a:lnTo>
                <a:lnTo>
                  <a:pt x="239" y="64"/>
                </a:lnTo>
                <a:lnTo>
                  <a:pt x="237" y="64"/>
                </a:lnTo>
                <a:lnTo>
                  <a:pt x="223" y="71"/>
                </a:lnTo>
                <a:lnTo>
                  <a:pt x="206" y="76"/>
                </a:lnTo>
                <a:lnTo>
                  <a:pt x="205" y="78"/>
                </a:lnTo>
                <a:lnTo>
                  <a:pt x="203" y="79"/>
                </a:lnTo>
                <a:lnTo>
                  <a:pt x="203" y="82"/>
                </a:lnTo>
                <a:lnTo>
                  <a:pt x="206" y="90"/>
                </a:lnTo>
                <a:lnTo>
                  <a:pt x="207" y="101"/>
                </a:lnTo>
                <a:lnTo>
                  <a:pt x="207" y="102"/>
                </a:lnTo>
                <a:lnTo>
                  <a:pt x="206" y="103"/>
                </a:lnTo>
                <a:lnTo>
                  <a:pt x="205" y="105"/>
                </a:lnTo>
                <a:lnTo>
                  <a:pt x="203" y="105"/>
                </a:lnTo>
                <a:lnTo>
                  <a:pt x="201" y="105"/>
                </a:lnTo>
                <a:lnTo>
                  <a:pt x="198" y="103"/>
                </a:lnTo>
                <a:lnTo>
                  <a:pt x="198" y="102"/>
                </a:lnTo>
                <a:lnTo>
                  <a:pt x="194" y="84"/>
                </a:lnTo>
                <a:lnTo>
                  <a:pt x="193" y="82"/>
                </a:lnTo>
                <a:lnTo>
                  <a:pt x="192" y="82"/>
                </a:lnTo>
                <a:lnTo>
                  <a:pt x="191" y="82"/>
                </a:lnTo>
                <a:lnTo>
                  <a:pt x="173" y="84"/>
                </a:lnTo>
                <a:lnTo>
                  <a:pt x="171" y="84"/>
                </a:lnTo>
                <a:lnTo>
                  <a:pt x="170" y="83"/>
                </a:lnTo>
                <a:lnTo>
                  <a:pt x="169" y="82"/>
                </a:lnTo>
                <a:lnTo>
                  <a:pt x="169" y="79"/>
                </a:lnTo>
                <a:lnTo>
                  <a:pt x="169" y="78"/>
                </a:lnTo>
                <a:lnTo>
                  <a:pt x="170" y="75"/>
                </a:lnTo>
                <a:lnTo>
                  <a:pt x="171" y="74"/>
                </a:lnTo>
                <a:lnTo>
                  <a:pt x="187" y="71"/>
                </a:lnTo>
                <a:lnTo>
                  <a:pt x="189" y="71"/>
                </a:lnTo>
                <a:lnTo>
                  <a:pt x="189" y="69"/>
                </a:lnTo>
                <a:lnTo>
                  <a:pt x="189" y="66"/>
                </a:lnTo>
                <a:lnTo>
                  <a:pt x="184" y="53"/>
                </a:lnTo>
                <a:lnTo>
                  <a:pt x="178" y="41"/>
                </a:lnTo>
                <a:lnTo>
                  <a:pt x="169" y="28"/>
                </a:lnTo>
                <a:lnTo>
                  <a:pt x="159" y="18"/>
                </a:lnTo>
                <a:lnTo>
                  <a:pt x="147" y="11"/>
                </a:lnTo>
                <a:lnTo>
                  <a:pt x="145" y="11"/>
                </a:lnTo>
                <a:lnTo>
                  <a:pt x="142" y="13"/>
                </a:lnTo>
                <a:lnTo>
                  <a:pt x="142" y="15"/>
                </a:lnTo>
                <a:lnTo>
                  <a:pt x="142" y="46"/>
                </a:lnTo>
                <a:lnTo>
                  <a:pt x="142" y="47"/>
                </a:lnTo>
                <a:lnTo>
                  <a:pt x="141" y="48"/>
                </a:lnTo>
                <a:lnTo>
                  <a:pt x="140" y="50"/>
                </a:lnTo>
                <a:lnTo>
                  <a:pt x="137" y="50"/>
                </a:lnTo>
                <a:lnTo>
                  <a:pt x="136" y="50"/>
                </a:lnTo>
                <a:lnTo>
                  <a:pt x="133" y="48"/>
                </a:lnTo>
                <a:lnTo>
                  <a:pt x="133" y="47"/>
                </a:lnTo>
                <a:lnTo>
                  <a:pt x="132" y="46"/>
                </a:lnTo>
                <a:lnTo>
                  <a:pt x="132" y="15"/>
                </a:lnTo>
                <a:lnTo>
                  <a:pt x="132" y="13"/>
                </a:lnTo>
                <a:lnTo>
                  <a:pt x="129" y="11"/>
                </a:lnTo>
                <a:lnTo>
                  <a:pt x="127" y="11"/>
                </a:lnTo>
                <a:lnTo>
                  <a:pt x="115" y="18"/>
                </a:lnTo>
                <a:lnTo>
                  <a:pt x="105" y="28"/>
                </a:lnTo>
                <a:lnTo>
                  <a:pt x="96" y="41"/>
                </a:lnTo>
                <a:lnTo>
                  <a:pt x="90" y="53"/>
                </a:lnTo>
                <a:lnTo>
                  <a:pt x="85" y="66"/>
                </a:lnTo>
                <a:lnTo>
                  <a:pt x="85" y="69"/>
                </a:lnTo>
                <a:lnTo>
                  <a:pt x="86" y="71"/>
                </a:lnTo>
                <a:lnTo>
                  <a:pt x="87" y="71"/>
                </a:lnTo>
                <a:lnTo>
                  <a:pt x="101" y="74"/>
                </a:lnTo>
                <a:lnTo>
                  <a:pt x="104" y="75"/>
                </a:lnTo>
                <a:lnTo>
                  <a:pt x="104" y="78"/>
                </a:lnTo>
                <a:lnTo>
                  <a:pt x="105" y="79"/>
                </a:lnTo>
                <a:lnTo>
                  <a:pt x="104" y="82"/>
                </a:lnTo>
                <a:lnTo>
                  <a:pt x="104" y="83"/>
                </a:lnTo>
                <a:lnTo>
                  <a:pt x="101" y="84"/>
                </a:lnTo>
                <a:lnTo>
                  <a:pt x="100" y="84"/>
                </a:lnTo>
                <a:lnTo>
                  <a:pt x="85" y="82"/>
                </a:lnTo>
                <a:lnTo>
                  <a:pt x="82" y="82"/>
                </a:lnTo>
                <a:lnTo>
                  <a:pt x="81" y="82"/>
                </a:lnTo>
                <a:lnTo>
                  <a:pt x="80" y="84"/>
                </a:lnTo>
                <a:lnTo>
                  <a:pt x="76" y="105"/>
                </a:lnTo>
                <a:lnTo>
                  <a:pt x="74" y="127"/>
                </a:lnTo>
                <a:lnTo>
                  <a:pt x="74" y="130"/>
                </a:lnTo>
                <a:lnTo>
                  <a:pt x="76" y="131"/>
                </a:lnTo>
                <a:lnTo>
                  <a:pt x="78" y="131"/>
                </a:lnTo>
                <a:lnTo>
                  <a:pt x="128" y="131"/>
                </a:lnTo>
                <a:lnTo>
                  <a:pt x="131" y="131"/>
                </a:lnTo>
                <a:lnTo>
                  <a:pt x="132" y="130"/>
                </a:lnTo>
                <a:lnTo>
                  <a:pt x="132" y="127"/>
                </a:lnTo>
                <a:lnTo>
                  <a:pt x="132" y="117"/>
                </a:lnTo>
                <a:lnTo>
                  <a:pt x="133" y="116"/>
                </a:lnTo>
                <a:lnTo>
                  <a:pt x="133" y="115"/>
                </a:lnTo>
                <a:lnTo>
                  <a:pt x="136" y="113"/>
                </a:lnTo>
                <a:lnTo>
                  <a:pt x="137" y="113"/>
                </a:lnTo>
                <a:lnTo>
                  <a:pt x="140" y="113"/>
                </a:lnTo>
                <a:lnTo>
                  <a:pt x="141" y="115"/>
                </a:lnTo>
                <a:lnTo>
                  <a:pt x="142" y="116"/>
                </a:lnTo>
                <a:lnTo>
                  <a:pt x="142" y="117"/>
                </a:lnTo>
                <a:lnTo>
                  <a:pt x="142" y="127"/>
                </a:lnTo>
                <a:lnTo>
                  <a:pt x="142" y="130"/>
                </a:lnTo>
                <a:lnTo>
                  <a:pt x="143" y="131"/>
                </a:lnTo>
                <a:lnTo>
                  <a:pt x="146" y="131"/>
                </a:lnTo>
                <a:lnTo>
                  <a:pt x="169" y="131"/>
                </a:lnTo>
                <a:lnTo>
                  <a:pt x="170" y="133"/>
                </a:lnTo>
                <a:lnTo>
                  <a:pt x="171" y="133"/>
                </a:lnTo>
                <a:lnTo>
                  <a:pt x="173" y="135"/>
                </a:lnTo>
                <a:lnTo>
                  <a:pt x="173" y="136"/>
                </a:lnTo>
                <a:lnTo>
                  <a:pt x="173" y="139"/>
                </a:lnTo>
                <a:lnTo>
                  <a:pt x="171" y="140"/>
                </a:lnTo>
                <a:lnTo>
                  <a:pt x="170" y="142"/>
                </a:lnTo>
                <a:lnTo>
                  <a:pt x="169" y="142"/>
                </a:lnTo>
                <a:lnTo>
                  <a:pt x="146" y="142"/>
                </a:lnTo>
                <a:lnTo>
                  <a:pt x="143" y="142"/>
                </a:lnTo>
                <a:lnTo>
                  <a:pt x="142" y="143"/>
                </a:lnTo>
                <a:lnTo>
                  <a:pt x="142" y="145"/>
                </a:lnTo>
                <a:lnTo>
                  <a:pt x="142" y="182"/>
                </a:lnTo>
                <a:lnTo>
                  <a:pt x="142" y="185"/>
                </a:lnTo>
                <a:lnTo>
                  <a:pt x="143" y="186"/>
                </a:lnTo>
                <a:lnTo>
                  <a:pt x="146" y="186"/>
                </a:lnTo>
                <a:lnTo>
                  <a:pt x="169" y="189"/>
                </a:lnTo>
                <a:lnTo>
                  <a:pt x="191" y="193"/>
                </a:lnTo>
                <a:lnTo>
                  <a:pt x="192" y="193"/>
                </a:lnTo>
                <a:lnTo>
                  <a:pt x="193" y="191"/>
                </a:lnTo>
                <a:lnTo>
                  <a:pt x="194" y="189"/>
                </a:lnTo>
                <a:lnTo>
                  <a:pt x="198" y="172"/>
                </a:lnTo>
                <a:lnTo>
                  <a:pt x="198" y="170"/>
                </a:lnTo>
                <a:lnTo>
                  <a:pt x="201" y="170"/>
                </a:lnTo>
                <a:lnTo>
                  <a:pt x="202" y="168"/>
                </a:lnTo>
                <a:lnTo>
                  <a:pt x="205" y="170"/>
                </a:lnTo>
                <a:lnTo>
                  <a:pt x="206" y="170"/>
                </a:lnTo>
                <a:lnTo>
                  <a:pt x="207" y="172"/>
                </a:lnTo>
                <a:lnTo>
                  <a:pt x="207" y="173"/>
                </a:lnTo>
                <a:lnTo>
                  <a:pt x="206" y="182"/>
                </a:lnTo>
                <a:lnTo>
                  <a:pt x="203" y="191"/>
                </a:lnTo>
                <a:lnTo>
                  <a:pt x="203" y="194"/>
                </a:lnTo>
                <a:lnTo>
                  <a:pt x="205" y="195"/>
                </a:lnTo>
                <a:lnTo>
                  <a:pt x="206" y="196"/>
                </a:lnTo>
                <a:lnTo>
                  <a:pt x="209" y="198"/>
                </a:lnTo>
                <a:lnTo>
                  <a:pt x="211" y="198"/>
                </a:lnTo>
                <a:lnTo>
                  <a:pt x="212" y="200"/>
                </a:lnTo>
                <a:lnTo>
                  <a:pt x="212" y="202"/>
                </a:lnTo>
                <a:lnTo>
                  <a:pt x="212" y="204"/>
                </a:lnTo>
                <a:lnTo>
                  <a:pt x="211" y="205"/>
                </a:lnTo>
                <a:lnTo>
                  <a:pt x="209" y="207"/>
                </a:lnTo>
                <a:lnTo>
                  <a:pt x="207" y="207"/>
                </a:lnTo>
                <a:lnTo>
                  <a:pt x="205" y="205"/>
                </a:lnTo>
                <a:lnTo>
                  <a:pt x="202" y="205"/>
                </a:lnTo>
                <a:lnTo>
                  <a:pt x="201" y="207"/>
                </a:lnTo>
                <a:lnTo>
                  <a:pt x="200" y="208"/>
                </a:lnTo>
                <a:lnTo>
                  <a:pt x="191" y="230"/>
                </a:lnTo>
                <a:lnTo>
                  <a:pt x="179" y="249"/>
                </a:lnTo>
                <a:lnTo>
                  <a:pt x="178" y="251"/>
                </a:lnTo>
                <a:lnTo>
                  <a:pt x="178" y="253"/>
                </a:lnTo>
                <a:lnTo>
                  <a:pt x="179" y="254"/>
                </a:lnTo>
                <a:lnTo>
                  <a:pt x="182" y="255"/>
                </a:lnTo>
                <a:lnTo>
                  <a:pt x="183" y="255"/>
                </a:lnTo>
                <a:lnTo>
                  <a:pt x="198" y="248"/>
                </a:lnTo>
                <a:lnTo>
                  <a:pt x="212" y="239"/>
                </a:lnTo>
                <a:lnTo>
                  <a:pt x="215" y="237"/>
                </a:lnTo>
                <a:lnTo>
                  <a:pt x="217" y="239"/>
                </a:lnTo>
                <a:lnTo>
                  <a:pt x="219" y="240"/>
                </a:lnTo>
                <a:lnTo>
                  <a:pt x="220" y="241"/>
                </a:lnTo>
                <a:lnTo>
                  <a:pt x="220" y="244"/>
                </a:lnTo>
                <a:lnTo>
                  <a:pt x="220" y="245"/>
                </a:lnTo>
                <a:lnTo>
                  <a:pt x="219" y="246"/>
                </a:lnTo>
                <a:lnTo>
                  <a:pt x="194" y="260"/>
                </a:lnTo>
                <a:lnTo>
                  <a:pt x="166" y="271"/>
                </a:lnTo>
                <a:lnTo>
                  <a:pt x="137" y="273"/>
                </a:lnTo>
                <a:lnTo>
                  <a:pt x="106" y="269"/>
                </a:lnTo>
                <a:lnTo>
                  <a:pt x="77" y="259"/>
                </a:lnTo>
                <a:lnTo>
                  <a:pt x="51" y="244"/>
                </a:lnTo>
                <a:lnTo>
                  <a:pt x="31" y="222"/>
                </a:lnTo>
                <a:lnTo>
                  <a:pt x="14" y="196"/>
                </a:lnTo>
                <a:lnTo>
                  <a:pt x="4" y="168"/>
                </a:lnTo>
                <a:lnTo>
                  <a:pt x="0" y="136"/>
                </a:lnTo>
                <a:lnTo>
                  <a:pt x="3" y="108"/>
                </a:lnTo>
                <a:lnTo>
                  <a:pt x="12" y="83"/>
                </a:lnTo>
                <a:lnTo>
                  <a:pt x="12" y="82"/>
                </a:lnTo>
                <a:lnTo>
                  <a:pt x="14" y="82"/>
                </a:lnTo>
                <a:lnTo>
                  <a:pt x="16" y="82"/>
                </a:lnTo>
                <a:lnTo>
                  <a:pt x="18" y="83"/>
                </a:lnTo>
                <a:lnTo>
                  <a:pt x="21" y="84"/>
                </a:lnTo>
                <a:lnTo>
                  <a:pt x="19" y="88"/>
                </a:lnTo>
                <a:lnTo>
                  <a:pt x="13" y="107"/>
                </a:lnTo>
                <a:lnTo>
                  <a:pt x="11" y="127"/>
                </a:lnTo>
                <a:lnTo>
                  <a:pt x="11" y="130"/>
                </a:lnTo>
                <a:lnTo>
                  <a:pt x="12" y="131"/>
                </a:lnTo>
                <a:lnTo>
                  <a:pt x="14" y="131"/>
                </a:lnTo>
                <a:lnTo>
                  <a:pt x="60" y="131"/>
                </a:lnTo>
                <a:lnTo>
                  <a:pt x="63" y="131"/>
                </a:lnTo>
                <a:lnTo>
                  <a:pt x="64" y="130"/>
                </a:lnTo>
                <a:lnTo>
                  <a:pt x="64" y="127"/>
                </a:lnTo>
                <a:lnTo>
                  <a:pt x="67" y="103"/>
                </a:lnTo>
                <a:lnTo>
                  <a:pt x="71" y="82"/>
                </a:lnTo>
                <a:lnTo>
                  <a:pt x="71" y="79"/>
                </a:lnTo>
                <a:lnTo>
                  <a:pt x="69" y="78"/>
                </a:lnTo>
                <a:lnTo>
                  <a:pt x="68" y="76"/>
                </a:lnTo>
                <a:lnTo>
                  <a:pt x="65" y="76"/>
                </a:lnTo>
                <a:lnTo>
                  <a:pt x="64" y="75"/>
                </a:lnTo>
                <a:lnTo>
                  <a:pt x="63" y="74"/>
                </a:lnTo>
                <a:lnTo>
                  <a:pt x="63" y="71"/>
                </a:lnTo>
                <a:lnTo>
                  <a:pt x="63" y="70"/>
                </a:lnTo>
                <a:lnTo>
                  <a:pt x="64" y="67"/>
                </a:lnTo>
                <a:lnTo>
                  <a:pt x="67" y="66"/>
                </a:lnTo>
                <a:lnTo>
                  <a:pt x="68" y="66"/>
                </a:lnTo>
                <a:lnTo>
                  <a:pt x="71" y="67"/>
                </a:lnTo>
                <a:lnTo>
                  <a:pt x="72" y="67"/>
                </a:lnTo>
                <a:lnTo>
                  <a:pt x="74" y="66"/>
                </a:lnTo>
                <a:lnTo>
                  <a:pt x="76" y="65"/>
                </a:lnTo>
                <a:lnTo>
                  <a:pt x="83" y="43"/>
                </a:lnTo>
                <a:lnTo>
                  <a:pt x="95" y="24"/>
                </a:lnTo>
                <a:lnTo>
                  <a:pt x="96" y="23"/>
                </a:lnTo>
                <a:lnTo>
                  <a:pt x="96" y="20"/>
                </a:lnTo>
                <a:lnTo>
                  <a:pt x="95" y="19"/>
                </a:lnTo>
                <a:lnTo>
                  <a:pt x="94" y="18"/>
                </a:lnTo>
                <a:lnTo>
                  <a:pt x="91" y="18"/>
                </a:lnTo>
                <a:lnTo>
                  <a:pt x="77" y="25"/>
                </a:lnTo>
                <a:lnTo>
                  <a:pt x="63" y="33"/>
                </a:lnTo>
                <a:lnTo>
                  <a:pt x="62" y="34"/>
                </a:lnTo>
                <a:lnTo>
                  <a:pt x="60" y="34"/>
                </a:lnTo>
                <a:lnTo>
                  <a:pt x="58" y="33"/>
                </a:lnTo>
                <a:lnTo>
                  <a:pt x="58" y="32"/>
                </a:lnTo>
                <a:lnTo>
                  <a:pt x="57" y="30"/>
                </a:lnTo>
                <a:lnTo>
                  <a:pt x="57" y="28"/>
                </a:lnTo>
                <a:lnTo>
                  <a:pt x="57" y="27"/>
                </a:lnTo>
                <a:lnTo>
                  <a:pt x="58" y="25"/>
                </a:lnTo>
                <a:lnTo>
                  <a:pt x="82" y="11"/>
                </a:lnTo>
                <a:lnTo>
                  <a:pt x="109" y="4"/>
                </a:lnTo>
                <a:lnTo>
                  <a:pt x="137" y="0"/>
                </a:lnTo>
                <a:close/>
              </a:path>
            </a:pathLst>
          </a:custGeom>
          <a:solidFill>
            <a:schemeClr val="bg1">
              <a:alpha val="10000"/>
            </a:schemeClr>
          </a:solidFill>
          <a:ln w="0">
            <a:noFill/>
            <a:prstDash val="solid"/>
            <a:round/>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微软雅黑" panose="020B0503020204020204" pitchFamily="34" charset="-122"/>
              <a:ea typeface="宋体" panose="02010600030101010101" pitchFamily="2" charset="-122"/>
              <a:cs typeface="+mn-cs"/>
            </a:endParaRPr>
          </a:p>
        </p:txBody>
      </p:sp>
      <p:sp>
        <p:nvSpPr>
          <p:cNvPr id="19" name="Freeform 463"/>
          <p:cNvSpPr>
            <a:spLocks noEditPoints="1"/>
          </p:cNvSpPr>
          <p:nvPr userDrawn="1"/>
        </p:nvSpPr>
        <p:spPr bwMode="auto">
          <a:xfrm rot="19468345">
            <a:off x="4877976" y="513678"/>
            <a:ext cx="1364153" cy="774137"/>
          </a:xfrm>
          <a:custGeom>
            <a:avLst/>
            <a:gdLst>
              <a:gd name="T0" fmla="*/ 250 w 326"/>
              <a:gd name="T1" fmla="*/ 94 h 185"/>
              <a:gd name="T2" fmla="*/ 253 w 326"/>
              <a:gd name="T3" fmla="*/ 98 h 185"/>
              <a:gd name="T4" fmla="*/ 249 w 326"/>
              <a:gd name="T5" fmla="*/ 148 h 185"/>
              <a:gd name="T6" fmla="*/ 225 w 326"/>
              <a:gd name="T7" fmla="*/ 163 h 185"/>
              <a:gd name="T8" fmla="*/ 185 w 326"/>
              <a:gd name="T9" fmla="*/ 171 h 185"/>
              <a:gd name="T10" fmla="*/ 142 w 326"/>
              <a:gd name="T11" fmla="*/ 171 h 185"/>
              <a:gd name="T12" fmla="*/ 102 w 326"/>
              <a:gd name="T13" fmla="*/ 163 h 185"/>
              <a:gd name="T14" fmla="*/ 78 w 326"/>
              <a:gd name="T15" fmla="*/ 148 h 185"/>
              <a:gd name="T16" fmla="*/ 74 w 326"/>
              <a:gd name="T17" fmla="*/ 99 h 185"/>
              <a:gd name="T18" fmla="*/ 76 w 326"/>
              <a:gd name="T19" fmla="*/ 94 h 185"/>
              <a:gd name="T20" fmla="*/ 82 w 326"/>
              <a:gd name="T21" fmla="*/ 94 h 185"/>
              <a:gd name="T22" fmla="*/ 163 w 326"/>
              <a:gd name="T23" fmla="*/ 126 h 185"/>
              <a:gd name="T24" fmla="*/ 245 w 326"/>
              <a:gd name="T25" fmla="*/ 93 h 185"/>
              <a:gd name="T26" fmla="*/ 163 w 326"/>
              <a:gd name="T27" fmla="*/ 0 h 185"/>
              <a:gd name="T28" fmla="*/ 322 w 326"/>
              <a:gd name="T29" fmla="*/ 46 h 185"/>
              <a:gd name="T30" fmla="*/ 326 w 326"/>
              <a:gd name="T31" fmla="*/ 50 h 185"/>
              <a:gd name="T32" fmla="*/ 324 w 326"/>
              <a:gd name="T33" fmla="*/ 53 h 185"/>
              <a:gd name="T34" fmla="*/ 168 w 326"/>
              <a:gd name="T35" fmla="*/ 120 h 185"/>
              <a:gd name="T36" fmla="*/ 157 w 326"/>
              <a:gd name="T37" fmla="*/ 120 h 185"/>
              <a:gd name="T38" fmla="*/ 42 w 326"/>
              <a:gd name="T39" fmla="*/ 72 h 185"/>
              <a:gd name="T40" fmla="*/ 39 w 326"/>
              <a:gd name="T41" fmla="*/ 75 h 185"/>
              <a:gd name="T42" fmla="*/ 39 w 326"/>
              <a:gd name="T43" fmla="*/ 110 h 185"/>
              <a:gd name="T44" fmla="*/ 42 w 326"/>
              <a:gd name="T45" fmla="*/ 110 h 185"/>
              <a:gd name="T46" fmla="*/ 45 w 326"/>
              <a:gd name="T47" fmla="*/ 110 h 185"/>
              <a:gd name="T48" fmla="*/ 46 w 326"/>
              <a:gd name="T49" fmla="*/ 112 h 185"/>
              <a:gd name="T50" fmla="*/ 46 w 326"/>
              <a:gd name="T51" fmla="*/ 116 h 185"/>
              <a:gd name="T52" fmla="*/ 45 w 326"/>
              <a:gd name="T53" fmla="*/ 122 h 185"/>
              <a:gd name="T54" fmla="*/ 46 w 326"/>
              <a:gd name="T55" fmla="*/ 124 h 185"/>
              <a:gd name="T56" fmla="*/ 46 w 326"/>
              <a:gd name="T57" fmla="*/ 126 h 185"/>
              <a:gd name="T58" fmla="*/ 45 w 326"/>
              <a:gd name="T59" fmla="*/ 127 h 185"/>
              <a:gd name="T60" fmla="*/ 52 w 326"/>
              <a:gd name="T61" fmla="*/ 149 h 185"/>
              <a:gd name="T62" fmla="*/ 50 w 326"/>
              <a:gd name="T63" fmla="*/ 171 h 185"/>
              <a:gd name="T64" fmla="*/ 42 w 326"/>
              <a:gd name="T65" fmla="*/ 181 h 185"/>
              <a:gd name="T66" fmla="*/ 42 w 326"/>
              <a:gd name="T67" fmla="*/ 175 h 185"/>
              <a:gd name="T68" fmla="*/ 42 w 326"/>
              <a:gd name="T69" fmla="*/ 171 h 185"/>
              <a:gd name="T70" fmla="*/ 41 w 326"/>
              <a:gd name="T71" fmla="*/ 172 h 185"/>
              <a:gd name="T72" fmla="*/ 39 w 326"/>
              <a:gd name="T73" fmla="*/ 179 h 185"/>
              <a:gd name="T74" fmla="*/ 36 w 326"/>
              <a:gd name="T75" fmla="*/ 185 h 185"/>
              <a:gd name="T76" fmla="*/ 34 w 326"/>
              <a:gd name="T77" fmla="*/ 185 h 185"/>
              <a:gd name="T78" fmla="*/ 33 w 326"/>
              <a:gd name="T79" fmla="*/ 170 h 185"/>
              <a:gd name="T80" fmla="*/ 32 w 326"/>
              <a:gd name="T81" fmla="*/ 167 h 185"/>
              <a:gd name="T82" fmla="*/ 32 w 326"/>
              <a:gd name="T83" fmla="*/ 171 h 185"/>
              <a:gd name="T84" fmla="*/ 30 w 326"/>
              <a:gd name="T85" fmla="*/ 179 h 185"/>
              <a:gd name="T86" fmla="*/ 30 w 326"/>
              <a:gd name="T87" fmla="*/ 179 h 185"/>
              <a:gd name="T88" fmla="*/ 29 w 326"/>
              <a:gd name="T89" fmla="*/ 172 h 185"/>
              <a:gd name="T90" fmla="*/ 28 w 326"/>
              <a:gd name="T91" fmla="*/ 172 h 185"/>
              <a:gd name="T92" fmla="*/ 28 w 326"/>
              <a:gd name="T93" fmla="*/ 180 h 185"/>
              <a:gd name="T94" fmla="*/ 28 w 326"/>
              <a:gd name="T95" fmla="*/ 181 h 185"/>
              <a:gd name="T96" fmla="*/ 16 w 326"/>
              <a:gd name="T97" fmla="*/ 157 h 185"/>
              <a:gd name="T98" fmla="*/ 25 w 326"/>
              <a:gd name="T99" fmla="*/ 127 h 185"/>
              <a:gd name="T100" fmla="*/ 24 w 326"/>
              <a:gd name="T101" fmla="*/ 126 h 185"/>
              <a:gd name="T102" fmla="*/ 24 w 326"/>
              <a:gd name="T103" fmla="*/ 122 h 185"/>
              <a:gd name="T104" fmla="*/ 27 w 326"/>
              <a:gd name="T105" fmla="*/ 121 h 185"/>
              <a:gd name="T106" fmla="*/ 25 w 326"/>
              <a:gd name="T107" fmla="*/ 116 h 185"/>
              <a:gd name="T108" fmla="*/ 25 w 326"/>
              <a:gd name="T109" fmla="*/ 112 h 185"/>
              <a:gd name="T110" fmla="*/ 28 w 326"/>
              <a:gd name="T111" fmla="*/ 108 h 185"/>
              <a:gd name="T112" fmla="*/ 30 w 326"/>
              <a:gd name="T113" fmla="*/ 110 h 185"/>
              <a:gd name="T114" fmla="*/ 33 w 326"/>
              <a:gd name="T115" fmla="*/ 108 h 185"/>
              <a:gd name="T116" fmla="*/ 32 w 326"/>
              <a:gd name="T117" fmla="*/ 67 h 185"/>
              <a:gd name="T118" fmla="*/ 2 w 326"/>
              <a:gd name="T119" fmla="*/ 55 h 185"/>
              <a:gd name="T120" fmla="*/ 0 w 326"/>
              <a:gd name="T121" fmla="*/ 52 h 185"/>
              <a:gd name="T122" fmla="*/ 1 w 326"/>
              <a:gd name="T123" fmla="*/ 47 h 185"/>
              <a:gd name="T124" fmla="*/ 159 w 326"/>
              <a:gd name="T125" fmla="*/ 0 h 1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26" h="185">
                <a:moveTo>
                  <a:pt x="248" y="93"/>
                </a:moveTo>
                <a:lnTo>
                  <a:pt x="250" y="94"/>
                </a:lnTo>
                <a:lnTo>
                  <a:pt x="251" y="95"/>
                </a:lnTo>
                <a:lnTo>
                  <a:pt x="253" y="98"/>
                </a:lnTo>
                <a:lnTo>
                  <a:pt x="253" y="138"/>
                </a:lnTo>
                <a:lnTo>
                  <a:pt x="249" y="148"/>
                </a:lnTo>
                <a:lnTo>
                  <a:pt x="239" y="157"/>
                </a:lnTo>
                <a:lnTo>
                  <a:pt x="225" y="163"/>
                </a:lnTo>
                <a:lnTo>
                  <a:pt x="207" y="168"/>
                </a:lnTo>
                <a:lnTo>
                  <a:pt x="185" y="171"/>
                </a:lnTo>
                <a:lnTo>
                  <a:pt x="163" y="172"/>
                </a:lnTo>
                <a:lnTo>
                  <a:pt x="142" y="171"/>
                </a:lnTo>
                <a:lnTo>
                  <a:pt x="120" y="168"/>
                </a:lnTo>
                <a:lnTo>
                  <a:pt x="102" y="163"/>
                </a:lnTo>
                <a:lnTo>
                  <a:pt x="87" y="157"/>
                </a:lnTo>
                <a:lnTo>
                  <a:pt x="78" y="148"/>
                </a:lnTo>
                <a:lnTo>
                  <a:pt x="74" y="138"/>
                </a:lnTo>
                <a:lnTo>
                  <a:pt x="74" y="99"/>
                </a:lnTo>
                <a:lnTo>
                  <a:pt x="75" y="97"/>
                </a:lnTo>
                <a:lnTo>
                  <a:pt x="76" y="94"/>
                </a:lnTo>
                <a:lnTo>
                  <a:pt x="79" y="93"/>
                </a:lnTo>
                <a:lnTo>
                  <a:pt x="82" y="94"/>
                </a:lnTo>
                <a:lnTo>
                  <a:pt x="158" y="125"/>
                </a:lnTo>
                <a:lnTo>
                  <a:pt x="163" y="126"/>
                </a:lnTo>
                <a:lnTo>
                  <a:pt x="168" y="125"/>
                </a:lnTo>
                <a:lnTo>
                  <a:pt x="245" y="93"/>
                </a:lnTo>
                <a:lnTo>
                  <a:pt x="248" y="93"/>
                </a:lnTo>
                <a:close/>
                <a:moveTo>
                  <a:pt x="163" y="0"/>
                </a:moveTo>
                <a:lnTo>
                  <a:pt x="167" y="0"/>
                </a:lnTo>
                <a:lnTo>
                  <a:pt x="322" y="46"/>
                </a:lnTo>
                <a:lnTo>
                  <a:pt x="324" y="47"/>
                </a:lnTo>
                <a:lnTo>
                  <a:pt x="326" y="50"/>
                </a:lnTo>
                <a:lnTo>
                  <a:pt x="326" y="52"/>
                </a:lnTo>
                <a:lnTo>
                  <a:pt x="324" y="53"/>
                </a:lnTo>
                <a:lnTo>
                  <a:pt x="323" y="55"/>
                </a:lnTo>
                <a:lnTo>
                  <a:pt x="168" y="120"/>
                </a:lnTo>
                <a:lnTo>
                  <a:pt x="163" y="121"/>
                </a:lnTo>
                <a:lnTo>
                  <a:pt x="157" y="120"/>
                </a:lnTo>
                <a:lnTo>
                  <a:pt x="43" y="72"/>
                </a:lnTo>
                <a:lnTo>
                  <a:pt x="42" y="72"/>
                </a:lnTo>
                <a:lnTo>
                  <a:pt x="39" y="74"/>
                </a:lnTo>
                <a:lnTo>
                  <a:pt x="39" y="75"/>
                </a:lnTo>
                <a:lnTo>
                  <a:pt x="39" y="110"/>
                </a:lnTo>
                <a:lnTo>
                  <a:pt x="39" y="110"/>
                </a:lnTo>
                <a:lnTo>
                  <a:pt x="41" y="111"/>
                </a:lnTo>
                <a:lnTo>
                  <a:pt x="42" y="110"/>
                </a:lnTo>
                <a:lnTo>
                  <a:pt x="43" y="110"/>
                </a:lnTo>
                <a:lnTo>
                  <a:pt x="45" y="110"/>
                </a:lnTo>
                <a:lnTo>
                  <a:pt x="45" y="111"/>
                </a:lnTo>
                <a:lnTo>
                  <a:pt x="46" y="112"/>
                </a:lnTo>
                <a:lnTo>
                  <a:pt x="46" y="115"/>
                </a:lnTo>
                <a:lnTo>
                  <a:pt x="46" y="116"/>
                </a:lnTo>
                <a:lnTo>
                  <a:pt x="46" y="120"/>
                </a:lnTo>
                <a:lnTo>
                  <a:pt x="45" y="122"/>
                </a:lnTo>
                <a:lnTo>
                  <a:pt x="45" y="124"/>
                </a:lnTo>
                <a:lnTo>
                  <a:pt x="46" y="124"/>
                </a:lnTo>
                <a:lnTo>
                  <a:pt x="47" y="125"/>
                </a:lnTo>
                <a:lnTo>
                  <a:pt x="46" y="126"/>
                </a:lnTo>
                <a:lnTo>
                  <a:pt x="45" y="127"/>
                </a:lnTo>
                <a:lnTo>
                  <a:pt x="45" y="127"/>
                </a:lnTo>
                <a:lnTo>
                  <a:pt x="50" y="138"/>
                </a:lnTo>
                <a:lnTo>
                  <a:pt x="52" y="149"/>
                </a:lnTo>
                <a:lnTo>
                  <a:pt x="52" y="161"/>
                </a:lnTo>
                <a:lnTo>
                  <a:pt x="50" y="171"/>
                </a:lnTo>
                <a:lnTo>
                  <a:pt x="42" y="180"/>
                </a:lnTo>
                <a:lnTo>
                  <a:pt x="42" y="181"/>
                </a:lnTo>
                <a:lnTo>
                  <a:pt x="42" y="180"/>
                </a:lnTo>
                <a:lnTo>
                  <a:pt x="42" y="175"/>
                </a:lnTo>
                <a:lnTo>
                  <a:pt x="42" y="172"/>
                </a:lnTo>
                <a:lnTo>
                  <a:pt x="42" y="171"/>
                </a:lnTo>
                <a:lnTo>
                  <a:pt x="42" y="171"/>
                </a:lnTo>
                <a:lnTo>
                  <a:pt x="41" y="172"/>
                </a:lnTo>
                <a:lnTo>
                  <a:pt x="41" y="175"/>
                </a:lnTo>
                <a:lnTo>
                  <a:pt x="39" y="179"/>
                </a:lnTo>
                <a:lnTo>
                  <a:pt x="37" y="182"/>
                </a:lnTo>
                <a:lnTo>
                  <a:pt x="36" y="185"/>
                </a:lnTo>
                <a:lnTo>
                  <a:pt x="34" y="185"/>
                </a:lnTo>
                <a:lnTo>
                  <a:pt x="34" y="185"/>
                </a:lnTo>
                <a:lnTo>
                  <a:pt x="33" y="173"/>
                </a:lnTo>
                <a:lnTo>
                  <a:pt x="33" y="170"/>
                </a:lnTo>
                <a:lnTo>
                  <a:pt x="33" y="168"/>
                </a:lnTo>
                <a:lnTo>
                  <a:pt x="32" y="167"/>
                </a:lnTo>
                <a:lnTo>
                  <a:pt x="32" y="168"/>
                </a:lnTo>
                <a:lnTo>
                  <a:pt x="32" y="171"/>
                </a:lnTo>
                <a:lnTo>
                  <a:pt x="32" y="179"/>
                </a:lnTo>
                <a:lnTo>
                  <a:pt x="30" y="179"/>
                </a:lnTo>
                <a:lnTo>
                  <a:pt x="30" y="180"/>
                </a:lnTo>
                <a:lnTo>
                  <a:pt x="30" y="179"/>
                </a:lnTo>
                <a:lnTo>
                  <a:pt x="29" y="175"/>
                </a:lnTo>
                <a:lnTo>
                  <a:pt x="29" y="172"/>
                </a:lnTo>
                <a:lnTo>
                  <a:pt x="28" y="172"/>
                </a:lnTo>
                <a:lnTo>
                  <a:pt x="28" y="172"/>
                </a:lnTo>
                <a:lnTo>
                  <a:pt x="28" y="175"/>
                </a:lnTo>
                <a:lnTo>
                  <a:pt x="28" y="180"/>
                </a:lnTo>
                <a:lnTo>
                  <a:pt x="28" y="181"/>
                </a:lnTo>
                <a:lnTo>
                  <a:pt x="28" y="181"/>
                </a:lnTo>
                <a:lnTo>
                  <a:pt x="19" y="170"/>
                </a:lnTo>
                <a:lnTo>
                  <a:pt x="16" y="157"/>
                </a:lnTo>
                <a:lnTo>
                  <a:pt x="19" y="141"/>
                </a:lnTo>
                <a:lnTo>
                  <a:pt x="25" y="127"/>
                </a:lnTo>
                <a:lnTo>
                  <a:pt x="25" y="126"/>
                </a:lnTo>
                <a:lnTo>
                  <a:pt x="24" y="126"/>
                </a:lnTo>
                <a:lnTo>
                  <a:pt x="24" y="124"/>
                </a:lnTo>
                <a:lnTo>
                  <a:pt x="24" y="122"/>
                </a:lnTo>
                <a:lnTo>
                  <a:pt x="25" y="122"/>
                </a:lnTo>
                <a:lnTo>
                  <a:pt x="27" y="121"/>
                </a:lnTo>
                <a:lnTo>
                  <a:pt x="25" y="118"/>
                </a:lnTo>
                <a:lnTo>
                  <a:pt x="25" y="116"/>
                </a:lnTo>
                <a:lnTo>
                  <a:pt x="25" y="113"/>
                </a:lnTo>
                <a:lnTo>
                  <a:pt x="25" y="112"/>
                </a:lnTo>
                <a:lnTo>
                  <a:pt x="27" y="110"/>
                </a:lnTo>
                <a:lnTo>
                  <a:pt x="28" y="108"/>
                </a:lnTo>
                <a:lnTo>
                  <a:pt x="30" y="108"/>
                </a:lnTo>
                <a:lnTo>
                  <a:pt x="30" y="110"/>
                </a:lnTo>
                <a:lnTo>
                  <a:pt x="32" y="108"/>
                </a:lnTo>
                <a:lnTo>
                  <a:pt x="33" y="108"/>
                </a:lnTo>
                <a:lnTo>
                  <a:pt x="33" y="70"/>
                </a:lnTo>
                <a:lnTo>
                  <a:pt x="32" y="67"/>
                </a:lnTo>
                <a:lnTo>
                  <a:pt x="30" y="66"/>
                </a:lnTo>
                <a:lnTo>
                  <a:pt x="2" y="55"/>
                </a:lnTo>
                <a:lnTo>
                  <a:pt x="1" y="53"/>
                </a:lnTo>
                <a:lnTo>
                  <a:pt x="0" y="52"/>
                </a:lnTo>
                <a:lnTo>
                  <a:pt x="0" y="50"/>
                </a:lnTo>
                <a:lnTo>
                  <a:pt x="1" y="47"/>
                </a:lnTo>
                <a:lnTo>
                  <a:pt x="4" y="46"/>
                </a:lnTo>
                <a:lnTo>
                  <a:pt x="159" y="0"/>
                </a:lnTo>
                <a:lnTo>
                  <a:pt x="163" y="0"/>
                </a:lnTo>
                <a:close/>
              </a:path>
            </a:pathLst>
          </a:custGeom>
          <a:solidFill>
            <a:schemeClr val="bg1">
              <a:alpha val="10000"/>
            </a:schemeClr>
          </a:solidFill>
          <a:ln w="0">
            <a:noFill/>
            <a:prstDash val="solid"/>
            <a:round/>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微软雅黑" panose="020B0503020204020204" pitchFamily="34" charset="-122"/>
              <a:ea typeface="宋体" panose="02010600030101010101" pitchFamily="2" charset="-122"/>
              <a:cs typeface="+mn-cs"/>
            </a:endParaRPr>
          </a:p>
        </p:txBody>
      </p:sp>
      <p:sp>
        <p:nvSpPr>
          <p:cNvPr id="21" name="Freeform 345"/>
          <p:cNvSpPr>
            <a:spLocks noEditPoints="1"/>
          </p:cNvSpPr>
          <p:nvPr userDrawn="1"/>
        </p:nvSpPr>
        <p:spPr bwMode="auto">
          <a:xfrm rot="19951744">
            <a:off x="485337" y="1535222"/>
            <a:ext cx="2166226" cy="3066048"/>
          </a:xfrm>
          <a:custGeom>
            <a:avLst/>
            <a:gdLst>
              <a:gd name="T0" fmla="*/ 190 w 195"/>
              <a:gd name="T1" fmla="*/ 163 h 276"/>
              <a:gd name="T2" fmla="*/ 195 w 195"/>
              <a:gd name="T3" fmla="*/ 174 h 276"/>
              <a:gd name="T4" fmla="*/ 192 w 195"/>
              <a:gd name="T5" fmla="*/ 180 h 276"/>
              <a:gd name="T6" fmla="*/ 105 w 195"/>
              <a:gd name="T7" fmla="*/ 212 h 276"/>
              <a:gd name="T8" fmla="*/ 98 w 195"/>
              <a:gd name="T9" fmla="*/ 202 h 276"/>
              <a:gd name="T10" fmla="*/ 101 w 195"/>
              <a:gd name="T11" fmla="*/ 195 h 276"/>
              <a:gd name="T12" fmla="*/ 187 w 195"/>
              <a:gd name="T13" fmla="*/ 160 h 276"/>
              <a:gd name="T14" fmla="*/ 20 w 195"/>
              <a:gd name="T15" fmla="*/ 147 h 276"/>
              <a:gd name="T16" fmla="*/ 15 w 195"/>
              <a:gd name="T17" fmla="*/ 157 h 276"/>
              <a:gd name="T18" fmla="*/ 20 w 195"/>
              <a:gd name="T19" fmla="*/ 168 h 276"/>
              <a:gd name="T20" fmla="*/ 32 w 195"/>
              <a:gd name="T21" fmla="*/ 169 h 276"/>
              <a:gd name="T22" fmla="*/ 40 w 195"/>
              <a:gd name="T23" fmla="*/ 161 h 276"/>
              <a:gd name="T24" fmla="*/ 37 w 195"/>
              <a:gd name="T25" fmla="*/ 150 h 276"/>
              <a:gd name="T26" fmla="*/ 27 w 195"/>
              <a:gd name="T27" fmla="*/ 145 h 276"/>
              <a:gd name="T28" fmla="*/ 102 w 195"/>
              <a:gd name="T29" fmla="*/ 2 h 276"/>
              <a:gd name="T30" fmla="*/ 105 w 195"/>
              <a:gd name="T31" fmla="*/ 12 h 276"/>
              <a:gd name="T32" fmla="*/ 100 w 195"/>
              <a:gd name="T33" fmla="*/ 14 h 276"/>
              <a:gd name="T34" fmla="*/ 151 w 195"/>
              <a:gd name="T35" fmla="*/ 146 h 276"/>
              <a:gd name="T36" fmla="*/ 148 w 195"/>
              <a:gd name="T37" fmla="*/ 149 h 276"/>
              <a:gd name="T38" fmla="*/ 147 w 195"/>
              <a:gd name="T39" fmla="*/ 151 h 276"/>
              <a:gd name="T40" fmla="*/ 148 w 195"/>
              <a:gd name="T41" fmla="*/ 160 h 276"/>
              <a:gd name="T42" fmla="*/ 144 w 195"/>
              <a:gd name="T43" fmla="*/ 166 h 276"/>
              <a:gd name="T44" fmla="*/ 129 w 195"/>
              <a:gd name="T45" fmla="*/ 169 h 276"/>
              <a:gd name="T46" fmla="*/ 124 w 195"/>
              <a:gd name="T47" fmla="*/ 161 h 276"/>
              <a:gd name="T48" fmla="*/ 120 w 195"/>
              <a:gd name="T49" fmla="*/ 160 h 276"/>
              <a:gd name="T50" fmla="*/ 118 w 195"/>
              <a:gd name="T51" fmla="*/ 160 h 276"/>
              <a:gd name="T52" fmla="*/ 91 w 195"/>
              <a:gd name="T53" fmla="*/ 97 h 276"/>
              <a:gd name="T54" fmla="*/ 84 w 195"/>
              <a:gd name="T55" fmla="*/ 97 h 276"/>
              <a:gd name="T56" fmla="*/ 52 w 195"/>
              <a:gd name="T57" fmla="*/ 136 h 276"/>
              <a:gd name="T58" fmla="*/ 55 w 195"/>
              <a:gd name="T59" fmla="*/ 151 h 276"/>
              <a:gd name="T60" fmla="*/ 52 w 195"/>
              <a:gd name="T61" fmla="*/ 170 h 276"/>
              <a:gd name="T62" fmla="*/ 46 w 195"/>
              <a:gd name="T63" fmla="*/ 180 h 276"/>
              <a:gd name="T64" fmla="*/ 59 w 195"/>
              <a:gd name="T65" fmla="*/ 216 h 276"/>
              <a:gd name="T66" fmla="*/ 87 w 195"/>
              <a:gd name="T67" fmla="*/ 243 h 276"/>
              <a:gd name="T68" fmla="*/ 185 w 195"/>
              <a:gd name="T69" fmla="*/ 244 h 276"/>
              <a:gd name="T70" fmla="*/ 193 w 195"/>
              <a:gd name="T71" fmla="*/ 256 h 276"/>
              <a:gd name="T72" fmla="*/ 189 w 195"/>
              <a:gd name="T73" fmla="*/ 274 h 276"/>
              <a:gd name="T74" fmla="*/ 22 w 195"/>
              <a:gd name="T75" fmla="*/ 276 h 276"/>
              <a:gd name="T76" fmla="*/ 12 w 195"/>
              <a:gd name="T77" fmla="*/ 270 h 276"/>
              <a:gd name="T78" fmla="*/ 12 w 195"/>
              <a:gd name="T79" fmla="*/ 251 h 276"/>
              <a:gd name="T80" fmla="*/ 22 w 195"/>
              <a:gd name="T81" fmla="*/ 244 h 276"/>
              <a:gd name="T82" fmla="*/ 29 w 195"/>
              <a:gd name="T83" fmla="*/ 241 h 276"/>
              <a:gd name="T84" fmla="*/ 17 w 195"/>
              <a:gd name="T85" fmla="*/ 210 h 276"/>
              <a:gd name="T86" fmla="*/ 8 w 195"/>
              <a:gd name="T87" fmla="*/ 177 h 276"/>
              <a:gd name="T88" fmla="*/ 0 w 195"/>
              <a:gd name="T89" fmla="*/ 157 h 276"/>
              <a:gd name="T90" fmla="*/ 15 w 195"/>
              <a:gd name="T91" fmla="*/ 131 h 276"/>
              <a:gd name="T92" fmla="*/ 38 w 195"/>
              <a:gd name="T93" fmla="*/ 91 h 276"/>
              <a:gd name="T94" fmla="*/ 75 w 195"/>
              <a:gd name="T95" fmla="*/ 62 h 276"/>
              <a:gd name="T96" fmla="*/ 65 w 195"/>
              <a:gd name="T97" fmla="*/ 31 h 276"/>
              <a:gd name="T98" fmla="*/ 61 w 195"/>
              <a:gd name="T99" fmla="*/ 30 h 276"/>
              <a:gd name="T100" fmla="*/ 56 w 195"/>
              <a:gd name="T101" fmla="*/ 31 h 276"/>
              <a:gd name="T102" fmla="*/ 52 w 195"/>
              <a:gd name="T103" fmla="*/ 20 h 276"/>
              <a:gd name="T104" fmla="*/ 59 w 195"/>
              <a:gd name="T105" fmla="*/ 16 h 276"/>
              <a:gd name="T106" fmla="*/ 101 w 195"/>
              <a:gd name="T107" fmla="*/ 0 h 2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95" h="276">
                <a:moveTo>
                  <a:pt x="187" y="160"/>
                </a:moveTo>
                <a:lnTo>
                  <a:pt x="189" y="161"/>
                </a:lnTo>
                <a:lnTo>
                  <a:pt x="190" y="163"/>
                </a:lnTo>
                <a:lnTo>
                  <a:pt x="193" y="165"/>
                </a:lnTo>
                <a:lnTo>
                  <a:pt x="195" y="172"/>
                </a:lnTo>
                <a:lnTo>
                  <a:pt x="195" y="174"/>
                </a:lnTo>
                <a:lnTo>
                  <a:pt x="195" y="177"/>
                </a:lnTo>
                <a:lnTo>
                  <a:pt x="193" y="178"/>
                </a:lnTo>
                <a:lnTo>
                  <a:pt x="192" y="180"/>
                </a:lnTo>
                <a:lnTo>
                  <a:pt x="110" y="212"/>
                </a:lnTo>
                <a:lnTo>
                  <a:pt x="107" y="212"/>
                </a:lnTo>
                <a:lnTo>
                  <a:pt x="105" y="212"/>
                </a:lnTo>
                <a:lnTo>
                  <a:pt x="103" y="211"/>
                </a:lnTo>
                <a:lnTo>
                  <a:pt x="101" y="209"/>
                </a:lnTo>
                <a:lnTo>
                  <a:pt x="98" y="202"/>
                </a:lnTo>
                <a:lnTo>
                  <a:pt x="98" y="200"/>
                </a:lnTo>
                <a:lnTo>
                  <a:pt x="98" y="197"/>
                </a:lnTo>
                <a:lnTo>
                  <a:pt x="101" y="195"/>
                </a:lnTo>
                <a:lnTo>
                  <a:pt x="102" y="193"/>
                </a:lnTo>
                <a:lnTo>
                  <a:pt x="184" y="161"/>
                </a:lnTo>
                <a:lnTo>
                  <a:pt x="187" y="160"/>
                </a:lnTo>
                <a:close/>
                <a:moveTo>
                  <a:pt x="27" y="145"/>
                </a:moveTo>
                <a:lnTo>
                  <a:pt x="23" y="145"/>
                </a:lnTo>
                <a:lnTo>
                  <a:pt x="20" y="147"/>
                </a:lnTo>
                <a:lnTo>
                  <a:pt x="17" y="150"/>
                </a:lnTo>
                <a:lnTo>
                  <a:pt x="15" y="154"/>
                </a:lnTo>
                <a:lnTo>
                  <a:pt x="15" y="157"/>
                </a:lnTo>
                <a:lnTo>
                  <a:pt x="15" y="161"/>
                </a:lnTo>
                <a:lnTo>
                  <a:pt x="17" y="165"/>
                </a:lnTo>
                <a:lnTo>
                  <a:pt x="20" y="168"/>
                </a:lnTo>
                <a:lnTo>
                  <a:pt x="23" y="169"/>
                </a:lnTo>
                <a:lnTo>
                  <a:pt x="27" y="170"/>
                </a:lnTo>
                <a:lnTo>
                  <a:pt x="32" y="169"/>
                </a:lnTo>
                <a:lnTo>
                  <a:pt x="35" y="168"/>
                </a:lnTo>
                <a:lnTo>
                  <a:pt x="37" y="165"/>
                </a:lnTo>
                <a:lnTo>
                  <a:pt x="40" y="161"/>
                </a:lnTo>
                <a:lnTo>
                  <a:pt x="40" y="157"/>
                </a:lnTo>
                <a:lnTo>
                  <a:pt x="40" y="154"/>
                </a:lnTo>
                <a:lnTo>
                  <a:pt x="37" y="150"/>
                </a:lnTo>
                <a:lnTo>
                  <a:pt x="35" y="147"/>
                </a:lnTo>
                <a:lnTo>
                  <a:pt x="32" y="145"/>
                </a:lnTo>
                <a:lnTo>
                  <a:pt x="27" y="145"/>
                </a:lnTo>
                <a:close/>
                <a:moveTo>
                  <a:pt x="101" y="0"/>
                </a:moveTo>
                <a:lnTo>
                  <a:pt x="102" y="0"/>
                </a:lnTo>
                <a:lnTo>
                  <a:pt x="102" y="2"/>
                </a:lnTo>
                <a:lnTo>
                  <a:pt x="106" y="9"/>
                </a:lnTo>
                <a:lnTo>
                  <a:pt x="106" y="11"/>
                </a:lnTo>
                <a:lnTo>
                  <a:pt x="105" y="12"/>
                </a:lnTo>
                <a:lnTo>
                  <a:pt x="103" y="13"/>
                </a:lnTo>
                <a:lnTo>
                  <a:pt x="101" y="14"/>
                </a:lnTo>
                <a:lnTo>
                  <a:pt x="100" y="14"/>
                </a:lnTo>
                <a:lnTo>
                  <a:pt x="100" y="16"/>
                </a:lnTo>
                <a:lnTo>
                  <a:pt x="100" y="18"/>
                </a:lnTo>
                <a:lnTo>
                  <a:pt x="151" y="146"/>
                </a:lnTo>
                <a:lnTo>
                  <a:pt x="151" y="147"/>
                </a:lnTo>
                <a:lnTo>
                  <a:pt x="149" y="149"/>
                </a:lnTo>
                <a:lnTo>
                  <a:pt x="148" y="149"/>
                </a:lnTo>
                <a:lnTo>
                  <a:pt x="148" y="150"/>
                </a:lnTo>
                <a:lnTo>
                  <a:pt x="147" y="150"/>
                </a:lnTo>
                <a:lnTo>
                  <a:pt x="147" y="151"/>
                </a:lnTo>
                <a:lnTo>
                  <a:pt x="147" y="152"/>
                </a:lnTo>
                <a:lnTo>
                  <a:pt x="148" y="157"/>
                </a:lnTo>
                <a:lnTo>
                  <a:pt x="148" y="160"/>
                </a:lnTo>
                <a:lnTo>
                  <a:pt x="148" y="163"/>
                </a:lnTo>
                <a:lnTo>
                  <a:pt x="147" y="164"/>
                </a:lnTo>
                <a:lnTo>
                  <a:pt x="144" y="166"/>
                </a:lnTo>
                <a:lnTo>
                  <a:pt x="134" y="169"/>
                </a:lnTo>
                <a:lnTo>
                  <a:pt x="132" y="170"/>
                </a:lnTo>
                <a:lnTo>
                  <a:pt x="129" y="169"/>
                </a:lnTo>
                <a:lnTo>
                  <a:pt x="128" y="168"/>
                </a:lnTo>
                <a:lnTo>
                  <a:pt x="125" y="165"/>
                </a:lnTo>
                <a:lnTo>
                  <a:pt x="124" y="161"/>
                </a:lnTo>
                <a:lnTo>
                  <a:pt x="124" y="161"/>
                </a:lnTo>
                <a:lnTo>
                  <a:pt x="123" y="160"/>
                </a:lnTo>
                <a:lnTo>
                  <a:pt x="120" y="160"/>
                </a:lnTo>
                <a:lnTo>
                  <a:pt x="120" y="160"/>
                </a:lnTo>
                <a:lnTo>
                  <a:pt x="119" y="161"/>
                </a:lnTo>
                <a:lnTo>
                  <a:pt x="118" y="160"/>
                </a:lnTo>
                <a:lnTo>
                  <a:pt x="116" y="159"/>
                </a:lnTo>
                <a:lnTo>
                  <a:pt x="93" y="100"/>
                </a:lnTo>
                <a:lnTo>
                  <a:pt x="91" y="97"/>
                </a:lnTo>
                <a:lnTo>
                  <a:pt x="89" y="96"/>
                </a:lnTo>
                <a:lnTo>
                  <a:pt x="87" y="96"/>
                </a:lnTo>
                <a:lnTo>
                  <a:pt x="84" y="97"/>
                </a:lnTo>
                <a:lnTo>
                  <a:pt x="70" y="108"/>
                </a:lnTo>
                <a:lnTo>
                  <a:pt x="60" y="120"/>
                </a:lnTo>
                <a:lnTo>
                  <a:pt x="52" y="136"/>
                </a:lnTo>
                <a:lnTo>
                  <a:pt x="51" y="140"/>
                </a:lnTo>
                <a:lnTo>
                  <a:pt x="52" y="145"/>
                </a:lnTo>
                <a:lnTo>
                  <a:pt x="55" y="151"/>
                </a:lnTo>
                <a:lnTo>
                  <a:pt x="55" y="157"/>
                </a:lnTo>
                <a:lnTo>
                  <a:pt x="55" y="164"/>
                </a:lnTo>
                <a:lnTo>
                  <a:pt x="52" y="170"/>
                </a:lnTo>
                <a:lnTo>
                  <a:pt x="49" y="175"/>
                </a:lnTo>
                <a:lnTo>
                  <a:pt x="47" y="178"/>
                </a:lnTo>
                <a:lnTo>
                  <a:pt x="46" y="180"/>
                </a:lnTo>
                <a:lnTo>
                  <a:pt x="46" y="184"/>
                </a:lnTo>
                <a:lnTo>
                  <a:pt x="51" y="201"/>
                </a:lnTo>
                <a:lnTo>
                  <a:pt x="59" y="216"/>
                </a:lnTo>
                <a:lnTo>
                  <a:pt x="69" y="230"/>
                </a:lnTo>
                <a:lnTo>
                  <a:pt x="83" y="242"/>
                </a:lnTo>
                <a:lnTo>
                  <a:pt x="87" y="243"/>
                </a:lnTo>
                <a:lnTo>
                  <a:pt x="89" y="244"/>
                </a:lnTo>
                <a:lnTo>
                  <a:pt x="181" y="244"/>
                </a:lnTo>
                <a:lnTo>
                  <a:pt x="185" y="244"/>
                </a:lnTo>
                <a:lnTo>
                  <a:pt x="189" y="247"/>
                </a:lnTo>
                <a:lnTo>
                  <a:pt x="192" y="251"/>
                </a:lnTo>
                <a:lnTo>
                  <a:pt x="193" y="256"/>
                </a:lnTo>
                <a:lnTo>
                  <a:pt x="193" y="265"/>
                </a:lnTo>
                <a:lnTo>
                  <a:pt x="192" y="270"/>
                </a:lnTo>
                <a:lnTo>
                  <a:pt x="189" y="274"/>
                </a:lnTo>
                <a:lnTo>
                  <a:pt x="185" y="276"/>
                </a:lnTo>
                <a:lnTo>
                  <a:pt x="181" y="276"/>
                </a:lnTo>
                <a:lnTo>
                  <a:pt x="22" y="276"/>
                </a:lnTo>
                <a:lnTo>
                  <a:pt x="18" y="276"/>
                </a:lnTo>
                <a:lnTo>
                  <a:pt x="14" y="274"/>
                </a:lnTo>
                <a:lnTo>
                  <a:pt x="12" y="270"/>
                </a:lnTo>
                <a:lnTo>
                  <a:pt x="10" y="265"/>
                </a:lnTo>
                <a:lnTo>
                  <a:pt x="10" y="256"/>
                </a:lnTo>
                <a:lnTo>
                  <a:pt x="12" y="251"/>
                </a:lnTo>
                <a:lnTo>
                  <a:pt x="14" y="247"/>
                </a:lnTo>
                <a:lnTo>
                  <a:pt x="18" y="244"/>
                </a:lnTo>
                <a:lnTo>
                  <a:pt x="22" y="244"/>
                </a:lnTo>
                <a:lnTo>
                  <a:pt x="24" y="244"/>
                </a:lnTo>
                <a:lnTo>
                  <a:pt x="27" y="243"/>
                </a:lnTo>
                <a:lnTo>
                  <a:pt x="29" y="241"/>
                </a:lnTo>
                <a:lnTo>
                  <a:pt x="29" y="238"/>
                </a:lnTo>
                <a:lnTo>
                  <a:pt x="28" y="235"/>
                </a:lnTo>
                <a:lnTo>
                  <a:pt x="17" y="210"/>
                </a:lnTo>
                <a:lnTo>
                  <a:pt x="10" y="183"/>
                </a:lnTo>
                <a:lnTo>
                  <a:pt x="9" y="179"/>
                </a:lnTo>
                <a:lnTo>
                  <a:pt x="8" y="177"/>
                </a:lnTo>
                <a:lnTo>
                  <a:pt x="4" y="170"/>
                </a:lnTo>
                <a:lnTo>
                  <a:pt x="0" y="164"/>
                </a:lnTo>
                <a:lnTo>
                  <a:pt x="0" y="157"/>
                </a:lnTo>
                <a:lnTo>
                  <a:pt x="3" y="143"/>
                </a:lnTo>
                <a:lnTo>
                  <a:pt x="13" y="133"/>
                </a:lnTo>
                <a:lnTo>
                  <a:pt x="15" y="131"/>
                </a:lnTo>
                <a:lnTo>
                  <a:pt x="17" y="128"/>
                </a:lnTo>
                <a:lnTo>
                  <a:pt x="27" y="109"/>
                </a:lnTo>
                <a:lnTo>
                  <a:pt x="38" y="91"/>
                </a:lnTo>
                <a:lnTo>
                  <a:pt x="54" y="76"/>
                </a:lnTo>
                <a:lnTo>
                  <a:pt x="73" y="63"/>
                </a:lnTo>
                <a:lnTo>
                  <a:pt x="75" y="62"/>
                </a:lnTo>
                <a:lnTo>
                  <a:pt x="75" y="59"/>
                </a:lnTo>
                <a:lnTo>
                  <a:pt x="75" y="57"/>
                </a:lnTo>
                <a:lnTo>
                  <a:pt x="65" y="31"/>
                </a:lnTo>
                <a:lnTo>
                  <a:pt x="65" y="30"/>
                </a:lnTo>
                <a:lnTo>
                  <a:pt x="64" y="30"/>
                </a:lnTo>
                <a:lnTo>
                  <a:pt x="61" y="30"/>
                </a:lnTo>
                <a:lnTo>
                  <a:pt x="59" y="31"/>
                </a:lnTo>
                <a:lnTo>
                  <a:pt x="58" y="31"/>
                </a:lnTo>
                <a:lnTo>
                  <a:pt x="56" y="31"/>
                </a:lnTo>
                <a:lnTo>
                  <a:pt x="55" y="30"/>
                </a:lnTo>
                <a:lnTo>
                  <a:pt x="52" y="22"/>
                </a:lnTo>
                <a:lnTo>
                  <a:pt x="52" y="20"/>
                </a:lnTo>
                <a:lnTo>
                  <a:pt x="52" y="18"/>
                </a:lnTo>
                <a:lnTo>
                  <a:pt x="54" y="18"/>
                </a:lnTo>
                <a:lnTo>
                  <a:pt x="59" y="16"/>
                </a:lnTo>
                <a:lnTo>
                  <a:pt x="93" y="2"/>
                </a:lnTo>
                <a:lnTo>
                  <a:pt x="98" y="0"/>
                </a:lnTo>
                <a:lnTo>
                  <a:pt x="101" y="0"/>
                </a:lnTo>
                <a:close/>
              </a:path>
            </a:pathLst>
          </a:custGeom>
          <a:solidFill>
            <a:schemeClr val="bg1">
              <a:alpha val="10000"/>
            </a:schemeClr>
          </a:solidFill>
          <a:ln w="0">
            <a:noFill/>
            <a:prstDash val="solid"/>
            <a:round/>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微软雅黑" panose="020B0503020204020204" pitchFamily="34" charset="-122"/>
              <a:ea typeface="宋体" panose="02010600030101010101" pitchFamily="2" charset="-122"/>
              <a:cs typeface="+mn-cs"/>
            </a:endParaRPr>
          </a:p>
        </p:txBody>
      </p:sp>
      <p:sp>
        <p:nvSpPr>
          <p:cNvPr id="22" name="Freeform 387"/>
          <p:cNvSpPr>
            <a:spLocks noEditPoints="1"/>
          </p:cNvSpPr>
          <p:nvPr userDrawn="1"/>
        </p:nvSpPr>
        <p:spPr bwMode="auto">
          <a:xfrm rot="1888595">
            <a:off x="2442159" y="392103"/>
            <a:ext cx="1572202" cy="2081915"/>
          </a:xfrm>
          <a:custGeom>
            <a:avLst/>
            <a:gdLst>
              <a:gd name="T0" fmla="*/ 68 w 219"/>
              <a:gd name="T1" fmla="*/ 188 h 290"/>
              <a:gd name="T2" fmla="*/ 108 w 219"/>
              <a:gd name="T3" fmla="*/ 177 h 290"/>
              <a:gd name="T4" fmla="*/ 114 w 219"/>
              <a:gd name="T5" fmla="*/ 174 h 290"/>
              <a:gd name="T6" fmla="*/ 168 w 219"/>
              <a:gd name="T7" fmla="*/ 174 h 290"/>
              <a:gd name="T8" fmla="*/ 52 w 219"/>
              <a:gd name="T9" fmla="*/ 172 h 290"/>
              <a:gd name="T10" fmla="*/ 100 w 219"/>
              <a:gd name="T11" fmla="*/ 170 h 290"/>
              <a:gd name="T12" fmla="*/ 52 w 219"/>
              <a:gd name="T13" fmla="*/ 117 h 290"/>
              <a:gd name="T14" fmla="*/ 44 w 219"/>
              <a:gd name="T15" fmla="*/ 168 h 290"/>
              <a:gd name="T16" fmla="*/ 53 w 219"/>
              <a:gd name="T17" fmla="*/ 118 h 290"/>
              <a:gd name="T18" fmla="*/ 89 w 219"/>
              <a:gd name="T19" fmla="*/ 138 h 290"/>
              <a:gd name="T20" fmla="*/ 137 w 219"/>
              <a:gd name="T21" fmla="*/ 145 h 290"/>
              <a:gd name="T22" fmla="*/ 150 w 219"/>
              <a:gd name="T23" fmla="*/ 141 h 290"/>
              <a:gd name="T24" fmla="*/ 175 w 219"/>
              <a:gd name="T25" fmla="*/ 169 h 290"/>
              <a:gd name="T26" fmla="*/ 172 w 219"/>
              <a:gd name="T27" fmla="*/ 114 h 290"/>
              <a:gd name="T28" fmla="*/ 31 w 219"/>
              <a:gd name="T29" fmla="*/ 152 h 290"/>
              <a:gd name="T30" fmla="*/ 43 w 219"/>
              <a:gd name="T31" fmla="*/ 112 h 290"/>
              <a:gd name="T32" fmla="*/ 115 w 219"/>
              <a:gd name="T33" fmla="*/ 109 h 290"/>
              <a:gd name="T34" fmla="*/ 164 w 219"/>
              <a:gd name="T35" fmla="*/ 112 h 290"/>
              <a:gd name="T36" fmla="*/ 73 w 219"/>
              <a:gd name="T37" fmla="*/ 83 h 290"/>
              <a:gd name="T38" fmla="*/ 83 w 219"/>
              <a:gd name="T39" fmla="*/ 131 h 290"/>
              <a:gd name="T40" fmla="*/ 77 w 219"/>
              <a:gd name="T41" fmla="*/ 82 h 290"/>
              <a:gd name="T42" fmla="*/ 175 w 219"/>
              <a:gd name="T43" fmla="*/ 108 h 290"/>
              <a:gd name="T44" fmla="*/ 196 w 219"/>
              <a:gd name="T45" fmla="*/ 90 h 290"/>
              <a:gd name="T46" fmla="*/ 82 w 219"/>
              <a:gd name="T47" fmla="*/ 77 h 290"/>
              <a:gd name="T48" fmla="*/ 129 w 219"/>
              <a:gd name="T49" fmla="*/ 85 h 290"/>
              <a:gd name="T50" fmla="*/ 174 w 219"/>
              <a:gd name="T51" fmla="*/ 51 h 290"/>
              <a:gd name="T52" fmla="*/ 156 w 219"/>
              <a:gd name="T53" fmla="*/ 96 h 290"/>
              <a:gd name="T54" fmla="*/ 178 w 219"/>
              <a:gd name="T55" fmla="*/ 77 h 290"/>
              <a:gd name="T56" fmla="*/ 43 w 219"/>
              <a:gd name="T57" fmla="*/ 51 h 290"/>
              <a:gd name="T58" fmla="*/ 49 w 219"/>
              <a:gd name="T59" fmla="*/ 104 h 290"/>
              <a:gd name="T60" fmla="*/ 184 w 219"/>
              <a:gd name="T61" fmla="*/ 41 h 290"/>
              <a:gd name="T62" fmla="*/ 202 w 219"/>
              <a:gd name="T63" fmla="*/ 89 h 290"/>
              <a:gd name="T64" fmla="*/ 112 w 219"/>
              <a:gd name="T65" fmla="*/ 205 h 290"/>
              <a:gd name="T66" fmla="*/ 41 w 219"/>
              <a:gd name="T67" fmla="*/ 183 h 290"/>
              <a:gd name="T68" fmla="*/ 137 w 219"/>
              <a:gd name="T69" fmla="*/ 209 h 290"/>
              <a:gd name="T70" fmla="*/ 201 w 219"/>
              <a:gd name="T71" fmla="*/ 64 h 290"/>
              <a:gd name="T72" fmla="*/ 118 w 219"/>
              <a:gd name="T73" fmla="*/ 49 h 290"/>
              <a:gd name="T74" fmla="*/ 138 w 219"/>
              <a:gd name="T75" fmla="*/ 76 h 290"/>
              <a:gd name="T76" fmla="*/ 92 w 219"/>
              <a:gd name="T77" fmla="*/ 23 h 290"/>
              <a:gd name="T78" fmla="*/ 75 w 219"/>
              <a:gd name="T79" fmla="*/ 71 h 290"/>
              <a:gd name="T80" fmla="*/ 95 w 219"/>
              <a:gd name="T81" fmla="*/ 23 h 290"/>
              <a:gd name="T82" fmla="*/ 110 w 219"/>
              <a:gd name="T83" fmla="*/ 43 h 290"/>
              <a:gd name="T84" fmla="*/ 151 w 219"/>
              <a:gd name="T85" fmla="*/ 32 h 290"/>
              <a:gd name="T86" fmla="*/ 219 w 219"/>
              <a:gd name="T87" fmla="*/ 12 h 290"/>
              <a:gd name="T88" fmla="*/ 195 w 219"/>
              <a:gd name="T89" fmla="*/ 30 h 290"/>
              <a:gd name="T90" fmla="*/ 219 w 219"/>
              <a:gd name="T91" fmla="*/ 101 h 290"/>
              <a:gd name="T92" fmla="*/ 118 w 219"/>
              <a:gd name="T93" fmla="*/ 219 h 290"/>
              <a:gd name="T94" fmla="*/ 126 w 219"/>
              <a:gd name="T95" fmla="*/ 243 h 290"/>
              <a:gd name="T96" fmla="*/ 118 w 219"/>
              <a:gd name="T97" fmla="*/ 266 h 290"/>
              <a:gd name="T98" fmla="*/ 183 w 219"/>
              <a:gd name="T99" fmla="*/ 290 h 290"/>
              <a:gd name="T100" fmla="*/ 77 w 219"/>
              <a:gd name="T101" fmla="*/ 269 h 290"/>
              <a:gd name="T102" fmla="*/ 95 w 219"/>
              <a:gd name="T103" fmla="*/ 251 h 290"/>
              <a:gd name="T104" fmla="*/ 103 w 219"/>
              <a:gd name="T105" fmla="*/ 220 h 290"/>
              <a:gd name="T106" fmla="*/ 30 w 219"/>
              <a:gd name="T107" fmla="*/ 193 h 290"/>
              <a:gd name="T108" fmla="*/ 20 w 219"/>
              <a:gd name="T109" fmla="*/ 219 h 290"/>
              <a:gd name="T110" fmla="*/ 13 w 219"/>
              <a:gd name="T111" fmla="*/ 188 h 290"/>
              <a:gd name="T112" fmla="*/ 37 w 219"/>
              <a:gd name="T113" fmla="*/ 173 h 290"/>
              <a:gd name="T114" fmla="*/ 62 w 219"/>
              <a:gd name="T115" fmla="*/ 27 h 290"/>
              <a:gd name="T116" fmla="*/ 177 w 219"/>
              <a:gd name="T117" fmla="*/ 39 h 290"/>
              <a:gd name="T118" fmla="*/ 192 w 219"/>
              <a:gd name="T119" fmla="*/ 6 h 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219" h="290">
                <a:moveTo>
                  <a:pt x="106" y="175"/>
                </a:moveTo>
                <a:lnTo>
                  <a:pt x="104" y="175"/>
                </a:lnTo>
                <a:lnTo>
                  <a:pt x="87" y="183"/>
                </a:lnTo>
                <a:lnTo>
                  <a:pt x="68" y="187"/>
                </a:lnTo>
                <a:lnTo>
                  <a:pt x="68" y="187"/>
                </a:lnTo>
                <a:lnTo>
                  <a:pt x="67" y="188"/>
                </a:lnTo>
                <a:lnTo>
                  <a:pt x="68" y="188"/>
                </a:lnTo>
                <a:lnTo>
                  <a:pt x="90" y="196"/>
                </a:lnTo>
                <a:lnTo>
                  <a:pt x="113" y="198"/>
                </a:lnTo>
                <a:lnTo>
                  <a:pt x="114" y="198"/>
                </a:lnTo>
                <a:lnTo>
                  <a:pt x="115" y="196"/>
                </a:lnTo>
                <a:lnTo>
                  <a:pt x="115" y="195"/>
                </a:lnTo>
                <a:lnTo>
                  <a:pt x="113" y="186"/>
                </a:lnTo>
                <a:lnTo>
                  <a:pt x="108" y="177"/>
                </a:lnTo>
                <a:lnTo>
                  <a:pt x="108" y="177"/>
                </a:lnTo>
                <a:lnTo>
                  <a:pt x="106" y="175"/>
                </a:lnTo>
                <a:close/>
                <a:moveTo>
                  <a:pt x="142" y="150"/>
                </a:moveTo>
                <a:lnTo>
                  <a:pt x="141" y="150"/>
                </a:lnTo>
                <a:lnTo>
                  <a:pt x="115" y="170"/>
                </a:lnTo>
                <a:lnTo>
                  <a:pt x="114" y="172"/>
                </a:lnTo>
                <a:lnTo>
                  <a:pt x="114" y="174"/>
                </a:lnTo>
                <a:lnTo>
                  <a:pt x="123" y="195"/>
                </a:lnTo>
                <a:lnTo>
                  <a:pt x="124" y="197"/>
                </a:lnTo>
                <a:lnTo>
                  <a:pt x="126" y="197"/>
                </a:lnTo>
                <a:lnTo>
                  <a:pt x="147" y="189"/>
                </a:lnTo>
                <a:lnTo>
                  <a:pt x="168" y="177"/>
                </a:lnTo>
                <a:lnTo>
                  <a:pt x="168" y="175"/>
                </a:lnTo>
                <a:lnTo>
                  <a:pt x="168" y="174"/>
                </a:lnTo>
                <a:lnTo>
                  <a:pt x="168" y="173"/>
                </a:lnTo>
                <a:lnTo>
                  <a:pt x="145" y="150"/>
                </a:lnTo>
                <a:lnTo>
                  <a:pt x="143" y="150"/>
                </a:lnTo>
                <a:lnTo>
                  <a:pt x="142" y="150"/>
                </a:lnTo>
                <a:close/>
                <a:moveTo>
                  <a:pt x="81" y="143"/>
                </a:moveTo>
                <a:lnTo>
                  <a:pt x="80" y="143"/>
                </a:lnTo>
                <a:lnTo>
                  <a:pt x="52" y="172"/>
                </a:lnTo>
                <a:lnTo>
                  <a:pt x="52" y="174"/>
                </a:lnTo>
                <a:lnTo>
                  <a:pt x="52" y="175"/>
                </a:lnTo>
                <a:lnTo>
                  <a:pt x="53" y="177"/>
                </a:lnTo>
                <a:lnTo>
                  <a:pt x="64" y="179"/>
                </a:lnTo>
                <a:lnTo>
                  <a:pt x="77" y="179"/>
                </a:lnTo>
                <a:lnTo>
                  <a:pt x="90" y="175"/>
                </a:lnTo>
                <a:lnTo>
                  <a:pt x="100" y="170"/>
                </a:lnTo>
                <a:lnTo>
                  <a:pt x="101" y="169"/>
                </a:lnTo>
                <a:lnTo>
                  <a:pt x="103" y="168"/>
                </a:lnTo>
                <a:lnTo>
                  <a:pt x="101" y="166"/>
                </a:lnTo>
                <a:lnTo>
                  <a:pt x="85" y="143"/>
                </a:lnTo>
                <a:lnTo>
                  <a:pt x="83" y="143"/>
                </a:lnTo>
                <a:lnTo>
                  <a:pt x="81" y="143"/>
                </a:lnTo>
                <a:close/>
                <a:moveTo>
                  <a:pt x="52" y="117"/>
                </a:moveTo>
                <a:lnTo>
                  <a:pt x="50" y="118"/>
                </a:lnTo>
                <a:lnTo>
                  <a:pt x="49" y="119"/>
                </a:lnTo>
                <a:lnTo>
                  <a:pt x="44" y="129"/>
                </a:lnTo>
                <a:lnTo>
                  <a:pt x="40" y="142"/>
                </a:lnTo>
                <a:lnTo>
                  <a:pt x="40" y="155"/>
                </a:lnTo>
                <a:lnTo>
                  <a:pt x="43" y="166"/>
                </a:lnTo>
                <a:lnTo>
                  <a:pt x="44" y="168"/>
                </a:lnTo>
                <a:lnTo>
                  <a:pt x="45" y="168"/>
                </a:lnTo>
                <a:lnTo>
                  <a:pt x="48" y="168"/>
                </a:lnTo>
                <a:lnTo>
                  <a:pt x="76" y="140"/>
                </a:lnTo>
                <a:lnTo>
                  <a:pt x="76" y="138"/>
                </a:lnTo>
                <a:lnTo>
                  <a:pt x="76" y="136"/>
                </a:lnTo>
                <a:lnTo>
                  <a:pt x="76" y="135"/>
                </a:lnTo>
                <a:lnTo>
                  <a:pt x="53" y="118"/>
                </a:lnTo>
                <a:lnTo>
                  <a:pt x="52" y="117"/>
                </a:lnTo>
                <a:close/>
                <a:moveTo>
                  <a:pt x="110" y="115"/>
                </a:moveTo>
                <a:lnTo>
                  <a:pt x="109" y="115"/>
                </a:lnTo>
                <a:lnTo>
                  <a:pt x="108" y="117"/>
                </a:lnTo>
                <a:lnTo>
                  <a:pt x="89" y="135"/>
                </a:lnTo>
                <a:lnTo>
                  <a:pt x="89" y="136"/>
                </a:lnTo>
                <a:lnTo>
                  <a:pt x="89" y="138"/>
                </a:lnTo>
                <a:lnTo>
                  <a:pt x="89" y="140"/>
                </a:lnTo>
                <a:lnTo>
                  <a:pt x="108" y="164"/>
                </a:lnTo>
                <a:lnTo>
                  <a:pt x="109" y="164"/>
                </a:lnTo>
                <a:lnTo>
                  <a:pt x="110" y="165"/>
                </a:lnTo>
                <a:lnTo>
                  <a:pt x="112" y="164"/>
                </a:lnTo>
                <a:lnTo>
                  <a:pt x="136" y="146"/>
                </a:lnTo>
                <a:lnTo>
                  <a:pt x="137" y="145"/>
                </a:lnTo>
                <a:lnTo>
                  <a:pt x="137" y="142"/>
                </a:lnTo>
                <a:lnTo>
                  <a:pt x="136" y="141"/>
                </a:lnTo>
                <a:lnTo>
                  <a:pt x="112" y="117"/>
                </a:lnTo>
                <a:lnTo>
                  <a:pt x="110" y="115"/>
                </a:lnTo>
                <a:close/>
                <a:moveTo>
                  <a:pt x="172" y="114"/>
                </a:moveTo>
                <a:lnTo>
                  <a:pt x="169" y="115"/>
                </a:lnTo>
                <a:lnTo>
                  <a:pt x="150" y="141"/>
                </a:lnTo>
                <a:lnTo>
                  <a:pt x="149" y="142"/>
                </a:lnTo>
                <a:lnTo>
                  <a:pt x="149" y="145"/>
                </a:lnTo>
                <a:lnTo>
                  <a:pt x="150" y="146"/>
                </a:lnTo>
                <a:lnTo>
                  <a:pt x="172" y="168"/>
                </a:lnTo>
                <a:lnTo>
                  <a:pt x="173" y="169"/>
                </a:lnTo>
                <a:lnTo>
                  <a:pt x="174" y="169"/>
                </a:lnTo>
                <a:lnTo>
                  <a:pt x="175" y="169"/>
                </a:lnTo>
                <a:lnTo>
                  <a:pt x="177" y="168"/>
                </a:lnTo>
                <a:lnTo>
                  <a:pt x="189" y="149"/>
                </a:lnTo>
                <a:lnTo>
                  <a:pt x="196" y="127"/>
                </a:lnTo>
                <a:lnTo>
                  <a:pt x="196" y="124"/>
                </a:lnTo>
                <a:lnTo>
                  <a:pt x="195" y="123"/>
                </a:lnTo>
                <a:lnTo>
                  <a:pt x="173" y="114"/>
                </a:lnTo>
                <a:lnTo>
                  <a:pt x="172" y="114"/>
                </a:lnTo>
                <a:close/>
                <a:moveTo>
                  <a:pt x="25" y="104"/>
                </a:moveTo>
                <a:lnTo>
                  <a:pt x="23" y="104"/>
                </a:lnTo>
                <a:lnTo>
                  <a:pt x="21" y="105"/>
                </a:lnTo>
                <a:lnTo>
                  <a:pt x="21" y="106"/>
                </a:lnTo>
                <a:lnTo>
                  <a:pt x="23" y="129"/>
                </a:lnTo>
                <a:lnTo>
                  <a:pt x="31" y="151"/>
                </a:lnTo>
                <a:lnTo>
                  <a:pt x="31" y="152"/>
                </a:lnTo>
                <a:lnTo>
                  <a:pt x="32" y="151"/>
                </a:lnTo>
                <a:lnTo>
                  <a:pt x="32" y="151"/>
                </a:lnTo>
                <a:lnTo>
                  <a:pt x="36" y="132"/>
                </a:lnTo>
                <a:lnTo>
                  <a:pt x="44" y="115"/>
                </a:lnTo>
                <a:lnTo>
                  <a:pt x="44" y="113"/>
                </a:lnTo>
                <a:lnTo>
                  <a:pt x="43" y="112"/>
                </a:lnTo>
                <a:lnTo>
                  <a:pt x="43" y="112"/>
                </a:lnTo>
                <a:lnTo>
                  <a:pt x="34" y="106"/>
                </a:lnTo>
                <a:lnTo>
                  <a:pt x="25" y="104"/>
                </a:lnTo>
                <a:close/>
                <a:moveTo>
                  <a:pt x="137" y="89"/>
                </a:moveTo>
                <a:lnTo>
                  <a:pt x="136" y="89"/>
                </a:lnTo>
                <a:lnTo>
                  <a:pt x="135" y="90"/>
                </a:lnTo>
                <a:lnTo>
                  <a:pt x="117" y="108"/>
                </a:lnTo>
                <a:lnTo>
                  <a:pt x="115" y="109"/>
                </a:lnTo>
                <a:lnTo>
                  <a:pt x="115" y="110"/>
                </a:lnTo>
                <a:lnTo>
                  <a:pt x="117" y="112"/>
                </a:lnTo>
                <a:lnTo>
                  <a:pt x="141" y="137"/>
                </a:lnTo>
                <a:lnTo>
                  <a:pt x="142" y="137"/>
                </a:lnTo>
                <a:lnTo>
                  <a:pt x="145" y="137"/>
                </a:lnTo>
                <a:lnTo>
                  <a:pt x="164" y="113"/>
                </a:lnTo>
                <a:lnTo>
                  <a:pt x="164" y="112"/>
                </a:lnTo>
                <a:lnTo>
                  <a:pt x="164" y="109"/>
                </a:lnTo>
                <a:lnTo>
                  <a:pt x="163" y="109"/>
                </a:lnTo>
                <a:lnTo>
                  <a:pt x="138" y="90"/>
                </a:lnTo>
                <a:lnTo>
                  <a:pt x="137" y="89"/>
                </a:lnTo>
                <a:close/>
                <a:moveTo>
                  <a:pt x="77" y="82"/>
                </a:moveTo>
                <a:lnTo>
                  <a:pt x="75" y="82"/>
                </a:lnTo>
                <a:lnTo>
                  <a:pt x="73" y="83"/>
                </a:lnTo>
                <a:lnTo>
                  <a:pt x="55" y="108"/>
                </a:lnTo>
                <a:lnTo>
                  <a:pt x="54" y="109"/>
                </a:lnTo>
                <a:lnTo>
                  <a:pt x="55" y="110"/>
                </a:lnTo>
                <a:lnTo>
                  <a:pt x="55" y="112"/>
                </a:lnTo>
                <a:lnTo>
                  <a:pt x="80" y="131"/>
                </a:lnTo>
                <a:lnTo>
                  <a:pt x="81" y="131"/>
                </a:lnTo>
                <a:lnTo>
                  <a:pt x="83" y="131"/>
                </a:lnTo>
                <a:lnTo>
                  <a:pt x="85" y="131"/>
                </a:lnTo>
                <a:lnTo>
                  <a:pt x="103" y="112"/>
                </a:lnTo>
                <a:lnTo>
                  <a:pt x="104" y="110"/>
                </a:lnTo>
                <a:lnTo>
                  <a:pt x="104" y="109"/>
                </a:lnTo>
                <a:lnTo>
                  <a:pt x="103" y="108"/>
                </a:lnTo>
                <a:lnTo>
                  <a:pt x="78" y="83"/>
                </a:lnTo>
                <a:lnTo>
                  <a:pt x="77" y="82"/>
                </a:lnTo>
                <a:close/>
                <a:moveTo>
                  <a:pt x="187" y="68"/>
                </a:moveTo>
                <a:lnTo>
                  <a:pt x="186" y="68"/>
                </a:lnTo>
                <a:lnTo>
                  <a:pt x="186" y="69"/>
                </a:lnTo>
                <a:lnTo>
                  <a:pt x="183" y="87"/>
                </a:lnTo>
                <a:lnTo>
                  <a:pt x="175" y="105"/>
                </a:lnTo>
                <a:lnTo>
                  <a:pt x="175" y="106"/>
                </a:lnTo>
                <a:lnTo>
                  <a:pt x="175" y="108"/>
                </a:lnTo>
                <a:lnTo>
                  <a:pt x="177" y="109"/>
                </a:lnTo>
                <a:lnTo>
                  <a:pt x="186" y="113"/>
                </a:lnTo>
                <a:lnTo>
                  <a:pt x="195" y="117"/>
                </a:lnTo>
                <a:lnTo>
                  <a:pt x="196" y="117"/>
                </a:lnTo>
                <a:lnTo>
                  <a:pt x="197" y="115"/>
                </a:lnTo>
                <a:lnTo>
                  <a:pt x="197" y="114"/>
                </a:lnTo>
                <a:lnTo>
                  <a:pt x="196" y="90"/>
                </a:lnTo>
                <a:lnTo>
                  <a:pt x="187" y="68"/>
                </a:lnTo>
                <a:lnTo>
                  <a:pt x="187" y="68"/>
                </a:lnTo>
                <a:close/>
                <a:moveTo>
                  <a:pt x="108" y="55"/>
                </a:moveTo>
                <a:lnTo>
                  <a:pt x="106" y="55"/>
                </a:lnTo>
                <a:lnTo>
                  <a:pt x="82" y="74"/>
                </a:lnTo>
                <a:lnTo>
                  <a:pt x="82" y="76"/>
                </a:lnTo>
                <a:lnTo>
                  <a:pt x="82" y="77"/>
                </a:lnTo>
                <a:lnTo>
                  <a:pt x="82" y="77"/>
                </a:lnTo>
                <a:lnTo>
                  <a:pt x="82" y="78"/>
                </a:lnTo>
                <a:lnTo>
                  <a:pt x="108" y="103"/>
                </a:lnTo>
                <a:lnTo>
                  <a:pt x="109" y="104"/>
                </a:lnTo>
                <a:lnTo>
                  <a:pt x="110" y="104"/>
                </a:lnTo>
                <a:lnTo>
                  <a:pt x="112" y="103"/>
                </a:lnTo>
                <a:lnTo>
                  <a:pt x="129" y="85"/>
                </a:lnTo>
                <a:lnTo>
                  <a:pt x="131" y="83"/>
                </a:lnTo>
                <a:lnTo>
                  <a:pt x="131" y="82"/>
                </a:lnTo>
                <a:lnTo>
                  <a:pt x="129" y="81"/>
                </a:lnTo>
                <a:lnTo>
                  <a:pt x="110" y="57"/>
                </a:lnTo>
                <a:lnTo>
                  <a:pt x="109" y="55"/>
                </a:lnTo>
                <a:lnTo>
                  <a:pt x="108" y="55"/>
                </a:lnTo>
                <a:close/>
                <a:moveTo>
                  <a:pt x="174" y="51"/>
                </a:moveTo>
                <a:lnTo>
                  <a:pt x="173" y="51"/>
                </a:lnTo>
                <a:lnTo>
                  <a:pt x="172" y="53"/>
                </a:lnTo>
                <a:lnTo>
                  <a:pt x="143" y="81"/>
                </a:lnTo>
                <a:lnTo>
                  <a:pt x="142" y="83"/>
                </a:lnTo>
                <a:lnTo>
                  <a:pt x="145" y="86"/>
                </a:lnTo>
                <a:lnTo>
                  <a:pt x="150" y="91"/>
                </a:lnTo>
                <a:lnTo>
                  <a:pt x="156" y="96"/>
                </a:lnTo>
                <a:lnTo>
                  <a:pt x="161" y="100"/>
                </a:lnTo>
                <a:lnTo>
                  <a:pt x="165" y="103"/>
                </a:lnTo>
                <a:lnTo>
                  <a:pt x="166" y="103"/>
                </a:lnTo>
                <a:lnTo>
                  <a:pt x="169" y="103"/>
                </a:lnTo>
                <a:lnTo>
                  <a:pt x="170" y="101"/>
                </a:lnTo>
                <a:lnTo>
                  <a:pt x="174" y="90"/>
                </a:lnTo>
                <a:lnTo>
                  <a:pt x="178" y="77"/>
                </a:lnTo>
                <a:lnTo>
                  <a:pt x="179" y="64"/>
                </a:lnTo>
                <a:lnTo>
                  <a:pt x="177" y="53"/>
                </a:lnTo>
                <a:lnTo>
                  <a:pt x="175" y="53"/>
                </a:lnTo>
                <a:lnTo>
                  <a:pt x="174" y="51"/>
                </a:lnTo>
                <a:close/>
                <a:moveTo>
                  <a:pt x="45" y="51"/>
                </a:moveTo>
                <a:lnTo>
                  <a:pt x="44" y="51"/>
                </a:lnTo>
                <a:lnTo>
                  <a:pt x="43" y="51"/>
                </a:lnTo>
                <a:lnTo>
                  <a:pt x="30" y="72"/>
                </a:lnTo>
                <a:lnTo>
                  <a:pt x="22" y="94"/>
                </a:lnTo>
                <a:lnTo>
                  <a:pt x="22" y="95"/>
                </a:lnTo>
                <a:lnTo>
                  <a:pt x="25" y="96"/>
                </a:lnTo>
                <a:lnTo>
                  <a:pt x="45" y="105"/>
                </a:lnTo>
                <a:lnTo>
                  <a:pt x="48" y="105"/>
                </a:lnTo>
                <a:lnTo>
                  <a:pt x="49" y="104"/>
                </a:lnTo>
                <a:lnTo>
                  <a:pt x="69" y="78"/>
                </a:lnTo>
                <a:lnTo>
                  <a:pt x="69" y="77"/>
                </a:lnTo>
                <a:lnTo>
                  <a:pt x="69" y="76"/>
                </a:lnTo>
                <a:lnTo>
                  <a:pt x="69" y="74"/>
                </a:lnTo>
                <a:lnTo>
                  <a:pt x="46" y="51"/>
                </a:lnTo>
                <a:lnTo>
                  <a:pt x="45" y="51"/>
                </a:lnTo>
                <a:close/>
                <a:moveTo>
                  <a:pt x="184" y="41"/>
                </a:moveTo>
                <a:lnTo>
                  <a:pt x="183" y="41"/>
                </a:lnTo>
                <a:lnTo>
                  <a:pt x="182" y="43"/>
                </a:lnTo>
                <a:lnTo>
                  <a:pt x="181" y="43"/>
                </a:lnTo>
                <a:lnTo>
                  <a:pt x="181" y="45"/>
                </a:lnTo>
                <a:lnTo>
                  <a:pt x="181" y="48"/>
                </a:lnTo>
                <a:lnTo>
                  <a:pt x="195" y="67"/>
                </a:lnTo>
                <a:lnTo>
                  <a:pt x="202" y="89"/>
                </a:lnTo>
                <a:lnTo>
                  <a:pt x="205" y="112"/>
                </a:lnTo>
                <a:lnTo>
                  <a:pt x="201" y="135"/>
                </a:lnTo>
                <a:lnTo>
                  <a:pt x="192" y="158"/>
                </a:lnTo>
                <a:lnTo>
                  <a:pt x="177" y="177"/>
                </a:lnTo>
                <a:lnTo>
                  <a:pt x="158" y="192"/>
                </a:lnTo>
                <a:lnTo>
                  <a:pt x="136" y="201"/>
                </a:lnTo>
                <a:lnTo>
                  <a:pt x="112" y="205"/>
                </a:lnTo>
                <a:lnTo>
                  <a:pt x="89" y="203"/>
                </a:lnTo>
                <a:lnTo>
                  <a:pt x="67" y="195"/>
                </a:lnTo>
                <a:lnTo>
                  <a:pt x="46" y="182"/>
                </a:lnTo>
                <a:lnTo>
                  <a:pt x="44" y="181"/>
                </a:lnTo>
                <a:lnTo>
                  <a:pt x="43" y="182"/>
                </a:lnTo>
                <a:lnTo>
                  <a:pt x="41" y="183"/>
                </a:lnTo>
                <a:lnTo>
                  <a:pt x="41" y="183"/>
                </a:lnTo>
                <a:lnTo>
                  <a:pt x="40" y="184"/>
                </a:lnTo>
                <a:lnTo>
                  <a:pt x="41" y="186"/>
                </a:lnTo>
                <a:lnTo>
                  <a:pt x="41" y="187"/>
                </a:lnTo>
                <a:lnTo>
                  <a:pt x="63" y="201"/>
                </a:lnTo>
                <a:lnTo>
                  <a:pt x="87" y="210"/>
                </a:lnTo>
                <a:lnTo>
                  <a:pt x="113" y="212"/>
                </a:lnTo>
                <a:lnTo>
                  <a:pt x="137" y="209"/>
                </a:lnTo>
                <a:lnTo>
                  <a:pt x="160" y="198"/>
                </a:lnTo>
                <a:lnTo>
                  <a:pt x="182" y="182"/>
                </a:lnTo>
                <a:lnTo>
                  <a:pt x="198" y="161"/>
                </a:lnTo>
                <a:lnTo>
                  <a:pt x="207" y="138"/>
                </a:lnTo>
                <a:lnTo>
                  <a:pt x="211" y="113"/>
                </a:lnTo>
                <a:lnTo>
                  <a:pt x="209" y="89"/>
                </a:lnTo>
                <a:lnTo>
                  <a:pt x="201" y="64"/>
                </a:lnTo>
                <a:lnTo>
                  <a:pt x="186" y="43"/>
                </a:lnTo>
                <a:lnTo>
                  <a:pt x="186" y="41"/>
                </a:lnTo>
                <a:lnTo>
                  <a:pt x="184" y="41"/>
                </a:lnTo>
                <a:close/>
                <a:moveTo>
                  <a:pt x="155" y="40"/>
                </a:moveTo>
                <a:lnTo>
                  <a:pt x="142" y="41"/>
                </a:lnTo>
                <a:lnTo>
                  <a:pt x="129" y="45"/>
                </a:lnTo>
                <a:lnTo>
                  <a:pt x="118" y="49"/>
                </a:lnTo>
                <a:lnTo>
                  <a:pt x="117" y="50"/>
                </a:lnTo>
                <a:lnTo>
                  <a:pt x="117" y="53"/>
                </a:lnTo>
                <a:lnTo>
                  <a:pt x="117" y="54"/>
                </a:lnTo>
                <a:lnTo>
                  <a:pt x="135" y="76"/>
                </a:lnTo>
                <a:lnTo>
                  <a:pt x="136" y="77"/>
                </a:lnTo>
                <a:lnTo>
                  <a:pt x="137" y="77"/>
                </a:lnTo>
                <a:lnTo>
                  <a:pt x="138" y="76"/>
                </a:lnTo>
                <a:lnTo>
                  <a:pt x="166" y="48"/>
                </a:lnTo>
                <a:lnTo>
                  <a:pt x="168" y="46"/>
                </a:lnTo>
                <a:lnTo>
                  <a:pt x="168" y="45"/>
                </a:lnTo>
                <a:lnTo>
                  <a:pt x="166" y="44"/>
                </a:lnTo>
                <a:lnTo>
                  <a:pt x="166" y="43"/>
                </a:lnTo>
                <a:lnTo>
                  <a:pt x="155" y="40"/>
                </a:lnTo>
                <a:close/>
                <a:moveTo>
                  <a:pt x="92" y="23"/>
                </a:moveTo>
                <a:lnTo>
                  <a:pt x="71" y="30"/>
                </a:lnTo>
                <a:lnTo>
                  <a:pt x="52" y="43"/>
                </a:lnTo>
                <a:lnTo>
                  <a:pt x="50" y="44"/>
                </a:lnTo>
                <a:lnTo>
                  <a:pt x="50" y="46"/>
                </a:lnTo>
                <a:lnTo>
                  <a:pt x="52" y="48"/>
                </a:lnTo>
                <a:lnTo>
                  <a:pt x="73" y="69"/>
                </a:lnTo>
                <a:lnTo>
                  <a:pt x="75" y="71"/>
                </a:lnTo>
                <a:lnTo>
                  <a:pt x="77" y="71"/>
                </a:lnTo>
                <a:lnTo>
                  <a:pt x="78" y="69"/>
                </a:lnTo>
                <a:lnTo>
                  <a:pt x="104" y="50"/>
                </a:lnTo>
                <a:lnTo>
                  <a:pt x="105" y="48"/>
                </a:lnTo>
                <a:lnTo>
                  <a:pt x="105" y="46"/>
                </a:lnTo>
                <a:lnTo>
                  <a:pt x="96" y="25"/>
                </a:lnTo>
                <a:lnTo>
                  <a:pt x="95" y="23"/>
                </a:lnTo>
                <a:lnTo>
                  <a:pt x="92" y="23"/>
                </a:lnTo>
                <a:close/>
                <a:moveTo>
                  <a:pt x="105" y="22"/>
                </a:moveTo>
                <a:lnTo>
                  <a:pt x="104" y="22"/>
                </a:lnTo>
                <a:lnTo>
                  <a:pt x="103" y="23"/>
                </a:lnTo>
                <a:lnTo>
                  <a:pt x="103" y="25"/>
                </a:lnTo>
                <a:lnTo>
                  <a:pt x="106" y="34"/>
                </a:lnTo>
                <a:lnTo>
                  <a:pt x="110" y="43"/>
                </a:lnTo>
                <a:lnTo>
                  <a:pt x="112" y="44"/>
                </a:lnTo>
                <a:lnTo>
                  <a:pt x="113" y="44"/>
                </a:lnTo>
                <a:lnTo>
                  <a:pt x="114" y="44"/>
                </a:lnTo>
                <a:lnTo>
                  <a:pt x="132" y="36"/>
                </a:lnTo>
                <a:lnTo>
                  <a:pt x="150" y="34"/>
                </a:lnTo>
                <a:lnTo>
                  <a:pt x="151" y="34"/>
                </a:lnTo>
                <a:lnTo>
                  <a:pt x="151" y="32"/>
                </a:lnTo>
                <a:lnTo>
                  <a:pt x="151" y="32"/>
                </a:lnTo>
                <a:lnTo>
                  <a:pt x="129" y="23"/>
                </a:lnTo>
                <a:lnTo>
                  <a:pt x="105" y="22"/>
                </a:lnTo>
                <a:close/>
                <a:moveTo>
                  <a:pt x="198" y="0"/>
                </a:moveTo>
                <a:lnTo>
                  <a:pt x="207" y="0"/>
                </a:lnTo>
                <a:lnTo>
                  <a:pt x="214" y="6"/>
                </a:lnTo>
                <a:lnTo>
                  <a:pt x="219" y="12"/>
                </a:lnTo>
                <a:lnTo>
                  <a:pt x="219" y="21"/>
                </a:lnTo>
                <a:lnTo>
                  <a:pt x="214" y="27"/>
                </a:lnTo>
                <a:lnTo>
                  <a:pt x="210" y="31"/>
                </a:lnTo>
                <a:lnTo>
                  <a:pt x="206" y="32"/>
                </a:lnTo>
                <a:lnTo>
                  <a:pt x="201" y="32"/>
                </a:lnTo>
                <a:lnTo>
                  <a:pt x="196" y="31"/>
                </a:lnTo>
                <a:lnTo>
                  <a:pt x="195" y="30"/>
                </a:lnTo>
                <a:lnTo>
                  <a:pt x="193" y="31"/>
                </a:lnTo>
                <a:lnTo>
                  <a:pt x="191" y="34"/>
                </a:lnTo>
                <a:lnTo>
                  <a:pt x="189" y="35"/>
                </a:lnTo>
                <a:lnTo>
                  <a:pt x="191" y="37"/>
                </a:lnTo>
                <a:lnTo>
                  <a:pt x="205" y="57"/>
                </a:lnTo>
                <a:lnTo>
                  <a:pt x="214" y="78"/>
                </a:lnTo>
                <a:lnTo>
                  <a:pt x="219" y="101"/>
                </a:lnTo>
                <a:lnTo>
                  <a:pt x="218" y="124"/>
                </a:lnTo>
                <a:lnTo>
                  <a:pt x="212" y="147"/>
                </a:lnTo>
                <a:lnTo>
                  <a:pt x="202" y="168"/>
                </a:lnTo>
                <a:lnTo>
                  <a:pt x="187" y="187"/>
                </a:lnTo>
                <a:lnTo>
                  <a:pt x="165" y="203"/>
                </a:lnTo>
                <a:lnTo>
                  <a:pt x="142" y="214"/>
                </a:lnTo>
                <a:lnTo>
                  <a:pt x="118" y="219"/>
                </a:lnTo>
                <a:lnTo>
                  <a:pt x="115" y="220"/>
                </a:lnTo>
                <a:lnTo>
                  <a:pt x="115" y="221"/>
                </a:lnTo>
                <a:lnTo>
                  <a:pt x="115" y="225"/>
                </a:lnTo>
                <a:lnTo>
                  <a:pt x="115" y="228"/>
                </a:lnTo>
                <a:lnTo>
                  <a:pt x="117" y="228"/>
                </a:lnTo>
                <a:lnTo>
                  <a:pt x="123" y="234"/>
                </a:lnTo>
                <a:lnTo>
                  <a:pt x="126" y="243"/>
                </a:lnTo>
                <a:lnTo>
                  <a:pt x="123" y="251"/>
                </a:lnTo>
                <a:lnTo>
                  <a:pt x="117" y="257"/>
                </a:lnTo>
                <a:lnTo>
                  <a:pt x="115" y="257"/>
                </a:lnTo>
                <a:lnTo>
                  <a:pt x="115" y="260"/>
                </a:lnTo>
                <a:lnTo>
                  <a:pt x="115" y="264"/>
                </a:lnTo>
                <a:lnTo>
                  <a:pt x="115" y="265"/>
                </a:lnTo>
                <a:lnTo>
                  <a:pt x="118" y="266"/>
                </a:lnTo>
                <a:lnTo>
                  <a:pt x="141" y="269"/>
                </a:lnTo>
                <a:lnTo>
                  <a:pt x="164" y="275"/>
                </a:lnTo>
                <a:lnTo>
                  <a:pt x="184" y="285"/>
                </a:lnTo>
                <a:lnTo>
                  <a:pt x="186" y="287"/>
                </a:lnTo>
                <a:lnTo>
                  <a:pt x="186" y="288"/>
                </a:lnTo>
                <a:lnTo>
                  <a:pt x="184" y="290"/>
                </a:lnTo>
                <a:lnTo>
                  <a:pt x="183" y="290"/>
                </a:lnTo>
                <a:lnTo>
                  <a:pt x="35" y="290"/>
                </a:lnTo>
                <a:lnTo>
                  <a:pt x="34" y="290"/>
                </a:lnTo>
                <a:lnTo>
                  <a:pt x="32" y="288"/>
                </a:lnTo>
                <a:lnTo>
                  <a:pt x="32" y="287"/>
                </a:lnTo>
                <a:lnTo>
                  <a:pt x="34" y="285"/>
                </a:lnTo>
                <a:lnTo>
                  <a:pt x="55" y="275"/>
                </a:lnTo>
                <a:lnTo>
                  <a:pt x="77" y="269"/>
                </a:lnTo>
                <a:lnTo>
                  <a:pt x="100" y="266"/>
                </a:lnTo>
                <a:lnTo>
                  <a:pt x="103" y="265"/>
                </a:lnTo>
                <a:lnTo>
                  <a:pt x="104" y="264"/>
                </a:lnTo>
                <a:lnTo>
                  <a:pt x="104" y="260"/>
                </a:lnTo>
                <a:lnTo>
                  <a:pt x="103" y="257"/>
                </a:lnTo>
                <a:lnTo>
                  <a:pt x="101" y="257"/>
                </a:lnTo>
                <a:lnTo>
                  <a:pt x="95" y="251"/>
                </a:lnTo>
                <a:lnTo>
                  <a:pt x="94" y="243"/>
                </a:lnTo>
                <a:lnTo>
                  <a:pt x="95" y="234"/>
                </a:lnTo>
                <a:lnTo>
                  <a:pt x="101" y="228"/>
                </a:lnTo>
                <a:lnTo>
                  <a:pt x="103" y="228"/>
                </a:lnTo>
                <a:lnTo>
                  <a:pt x="104" y="225"/>
                </a:lnTo>
                <a:lnTo>
                  <a:pt x="104" y="221"/>
                </a:lnTo>
                <a:lnTo>
                  <a:pt x="103" y="220"/>
                </a:lnTo>
                <a:lnTo>
                  <a:pt x="101" y="219"/>
                </a:lnTo>
                <a:lnTo>
                  <a:pt x="78" y="215"/>
                </a:lnTo>
                <a:lnTo>
                  <a:pt x="57" y="206"/>
                </a:lnTo>
                <a:lnTo>
                  <a:pt x="36" y="192"/>
                </a:lnTo>
                <a:lnTo>
                  <a:pt x="35" y="191"/>
                </a:lnTo>
                <a:lnTo>
                  <a:pt x="32" y="192"/>
                </a:lnTo>
                <a:lnTo>
                  <a:pt x="30" y="193"/>
                </a:lnTo>
                <a:lnTo>
                  <a:pt x="30" y="196"/>
                </a:lnTo>
                <a:lnTo>
                  <a:pt x="30" y="197"/>
                </a:lnTo>
                <a:lnTo>
                  <a:pt x="31" y="202"/>
                </a:lnTo>
                <a:lnTo>
                  <a:pt x="31" y="206"/>
                </a:lnTo>
                <a:lnTo>
                  <a:pt x="30" y="211"/>
                </a:lnTo>
                <a:lnTo>
                  <a:pt x="27" y="215"/>
                </a:lnTo>
                <a:lnTo>
                  <a:pt x="20" y="219"/>
                </a:lnTo>
                <a:lnTo>
                  <a:pt x="12" y="219"/>
                </a:lnTo>
                <a:lnTo>
                  <a:pt x="4" y="215"/>
                </a:lnTo>
                <a:lnTo>
                  <a:pt x="0" y="207"/>
                </a:lnTo>
                <a:lnTo>
                  <a:pt x="0" y="200"/>
                </a:lnTo>
                <a:lnTo>
                  <a:pt x="4" y="192"/>
                </a:lnTo>
                <a:lnTo>
                  <a:pt x="8" y="189"/>
                </a:lnTo>
                <a:lnTo>
                  <a:pt x="13" y="188"/>
                </a:lnTo>
                <a:lnTo>
                  <a:pt x="17" y="188"/>
                </a:lnTo>
                <a:lnTo>
                  <a:pt x="22" y="189"/>
                </a:lnTo>
                <a:lnTo>
                  <a:pt x="23" y="189"/>
                </a:lnTo>
                <a:lnTo>
                  <a:pt x="26" y="189"/>
                </a:lnTo>
                <a:lnTo>
                  <a:pt x="37" y="177"/>
                </a:lnTo>
                <a:lnTo>
                  <a:pt x="39" y="175"/>
                </a:lnTo>
                <a:lnTo>
                  <a:pt x="37" y="173"/>
                </a:lnTo>
                <a:lnTo>
                  <a:pt x="25" y="152"/>
                </a:lnTo>
                <a:lnTo>
                  <a:pt x="16" y="131"/>
                </a:lnTo>
                <a:lnTo>
                  <a:pt x="14" y="108"/>
                </a:lnTo>
                <a:lnTo>
                  <a:pt x="18" y="83"/>
                </a:lnTo>
                <a:lnTo>
                  <a:pt x="27" y="62"/>
                </a:lnTo>
                <a:lnTo>
                  <a:pt x="43" y="43"/>
                </a:lnTo>
                <a:lnTo>
                  <a:pt x="62" y="27"/>
                </a:lnTo>
                <a:lnTo>
                  <a:pt x="85" y="18"/>
                </a:lnTo>
                <a:lnTo>
                  <a:pt x="108" y="14"/>
                </a:lnTo>
                <a:lnTo>
                  <a:pt x="131" y="17"/>
                </a:lnTo>
                <a:lnTo>
                  <a:pt x="152" y="25"/>
                </a:lnTo>
                <a:lnTo>
                  <a:pt x="172" y="39"/>
                </a:lnTo>
                <a:lnTo>
                  <a:pt x="174" y="39"/>
                </a:lnTo>
                <a:lnTo>
                  <a:pt x="177" y="39"/>
                </a:lnTo>
                <a:lnTo>
                  <a:pt x="188" y="26"/>
                </a:lnTo>
                <a:lnTo>
                  <a:pt x="189" y="25"/>
                </a:lnTo>
                <a:lnTo>
                  <a:pt x="188" y="23"/>
                </a:lnTo>
                <a:lnTo>
                  <a:pt x="187" y="18"/>
                </a:lnTo>
                <a:lnTo>
                  <a:pt x="187" y="13"/>
                </a:lnTo>
                <a:lnTo>
                  <a:pt x="188" y="9"/>
                </a:lnTo>
                <a:lnTo>
                  <a:pt x="192" y="6"/>
                </a:lnTo>
                <a:lnTo>
                  <a:pt x="198" y="0"/>
                </a:lnTo>
                <a:close/>
              </a:path>
            </a:pathLst>
          </a:custGeom>
          <a:solidFill>
            <a:schemeClr val="bg1">
              <a:alpha val="10000"/>
            </a:schemeClr>
          </a:solidFill>
          <a:ln w="0">
            <a:noFill/>
            <a:prstDash val="solid"/>
            <a:round/>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微软雅黑" panose="020B0503020204020204" pitchFamily="34" charset="-122"/>
              <a:ea typeface="宋体" panose="02010600030101010101" pitchFamily="2" charset="-122"/>
              <a:cs typeface="+mn-cs"/>
            </a:endParaRPr>
          </a:p>
        </p:txBody>
      </p:sp>
      <p:pic>
        <p:nvPicPr>
          <p:cNvPr id="2" name="图片 1" descr="傲梦LOGO蓝蓝"/>
          <p:cNvPicPr>
            <a:picLocks noChangeAspect="1"/>
          </p:cNvPicPr>
          <p:nvPr userDrawn="1"/>
        </p:nvPicPr>
        <p:blipFill>
          <a:blip r:embed="rId2" cstate="print"/>
          <a:stretch>
            <a:fillRect/>
          </a:stretch>
        </p:blipFill>
        <p:spPr>
          <a:xfrm>
            <a:off x="9966960" y="189230"/>
            <a:ext cx="1746885" cy="493395"/>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8_标题幻灯片">
    <p:bg>
      <p:bgPr>
        <a:gradFill flip="none" rotWithShape="1">
          <a:gsLst>
            <a:gs pos="0">
              <a:schemeClr val="accent4">
                <a:lumMod val="89000"/>
              </a:schemeClr>
            </a:gs>
            <a:gs pos="23000">
              <a:schemeClr val="accent4">
                <a:lumMod val="89000"/>
              </a:schemeClr>
            </a:gs>
            <a:gs pos="69000">
              <a:schemeClr val="accent4">
                <a:lumMod val="75000"/>
              </a:schemeClr>
            </a:gs>
            <a:gs pos="97000">
              <a:schemeClr val="accent4">
                <a:lumMod val="70000"/>
              </a:schemeClr>
            </a:gs>
          </a:gsLst>
          <a:path path="circle">
            <a:fillToRect l="50000" t="50000" r="50000" b="50000"/>
          </a:path>
          <a:tileRect/>
        </a:gradFill>
        <a:effectLst/>
      </p:bgPr>
    </p:bg>
    <p:spTree>
      <p:nvGrpSpPr>
        <p:cNvPr id="1" name=""/>
        <p:cNvGrpSpPr/>
        <p:nvPr/>
      </p:nvGrpSpPr>
      <p:grpSpPr>
        <a:xfrm>
          <a:off x="0" y="0"/>
          <a:ext cx="0" cy="0"/>
          <a:chOff x="0" y="0"/>
          <a:chExt cx="0" cy="0"/>
        </a:xfrm>
      </p:grpSpPr>
      <p:pic>
        <p:nvPicPr>
          <p:cNvPr id="3" name="图片 2" descr="傲梦LOGO蓝蓝"/>
          <p:cNvPicPr>
            <a:picLocks noChangeAspect="1"/>
          </p:cNvPicPr>
          <p:nvPr userDrawn="1"/>
        </p:nvPicPr>
        <p:blipFill>
          <a:blip r:embed="rId2" cstate="print"/>
          <a:stretch>
            <a:fillRect/>
          </a:stretch>
        </p:blipFill>
        <p:spPr>
          <a:xfrm>
            <a:off x="9966960" y="189230"/>
            <a:ext cx="1746885" cy="493395"/>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7_标题幻灯片">
    <p:bg>
      <p:bgPr>
        <a:gradFill flip="none" rotWithShape="1">
          <a:gsLst>
            <a:gs pos="0">
              <a:schemeClr val="accent4">
                <a:lumMod val="89000"/>
              </a:schemeClr>
            </a:gs>
            <a:gs pos="23000">
              <a:schemeClr val="accent4">
                <a:lumMod val="89000"/>
              </a:schemeClr>
            </a:gs>
            <a:gs pos="69000">
              <a:schemeClr val="accent4">
                <a:lumMod val="75000"/>
              </a:schemeClr>
            </a:gs>
            <a:gs pos="97000">
              <a:schemeClr val="accent4">
                <a:lumMod val="70000"/>
              </a:schemeClr>
            </a:gs>
          </a:gsLst>
          <a:path path="circle">
            <a:fillToRect l="50000" t="50000" r="50000" b="50000"/>
          </a:path>
          <a:tileRect/>
        </a:gradFill>
        <a:effectLst/>
      </p:bgPr>
    </p:bg>
    <p:spTree>
      <p:nvGrpSpPr>
        <p:cNvPr id="1" name=""/>
        <p:cNvGrpSpPr/>
        <p:nvPr/>
      </p:nvGrpSpPr>
      <p:grpSpPr>
        <a:xfrm>
          <a:off x="0" y="0"/>
          <a:ext cx="0" cy="0"/>
          <a:chOff x="0" y="0"/>
          <a:chExt cx="0" cy="0"/>
        </a:xfrm>
      </p:grpSpPr>
      <p:sp>
        <p:nvSpPr>
          <p:cNvPr id="23" name="Freeform 77"/>
          <p:cNvSpPr>
            <a:spLocks noEditPoints="1"/>
          </p:cNvSpPr>
          <p:nvPr userDrawn="1"/>
        </p:nvSpPr>
        <p:spPr bwMode="auto">
          <a:xfrm rot="20644514">
            <a:off x="1047441" y="681857"/>
            <a:ext cx="1042017" cy="802702"/>
          </a:xfrm>
          <a:custGeom>
            <a:avLst/>
            <a:gdLst/>
            <a:ahLst/>
            <a:cxnLst>
              <a:cxn ang="0">
                <a:pos x="402" y="8"/>
              </a:cxn>
              <a:cxn ang="0">
                <a:pos x="402" y="6"/>
              </a:cxn>
              <a:cxn ang="0">
                <a:pos x="398" y="2"/>
              </a:cxn>
              <a:cxn ang="0">
                <a:pos x="242" y="0"/>
              </a:cxn>
              <a:cxn ang="0">
                <a:pos x="232" y="2"/>
              </a:cxn>
              <a:cxn ang="0">
                <a:pos x="216" y="10"/>
              </a:cxn>
              <a:cxn ang="0">
                <a:pos x="210" y="18"/>
              </a:cxn>
              <a:cxn ang="0">
                <a:pos x="210" y="18"/>
              </a:cxn>
              <a:cxn ang="0">
                <a:pos x="196" y="6"/>
              </a:cxn>
              <a:cxn ang="0">
                <a:pos x="178" y="0"/>
              </a:cxn>
              <a:cxn ang="0">
                <a:pos x="26" y="0"/>
              </a:cxn>
              <a:cxn ang="0">
                <a:pos x="20" y="4"/>
              </a:cxn>
              <a:cxn ang="0">
                <a:pos x="16" y="8"/>
              </a:cxn>
              <a:cxn ang="0">
                <a:pos x="0" y="34"/>
              </a:cxn>
              <a:cxn ang="0">
                <a:pos x="174" y="306"/>
              </a:cxn>
              <a:cxn ang="0">
                <a:pos x="182" y="314"/>
              </a:cxn>
              <a:cxn ang="0">
                <a:pos x="200" y="322"/>
              </a:cxn>
              <a:cxn ang="0">
                <a:pos x="210" y="322"/>
              </a:cxn>
              <a:cxn ang="0">
                <a:pos x="230" y="318"/>
              </a:cxn>
              <a:cxn ang="0">
                <a:pos x="246" y="306"/>
              </a:cxn>
              <a:cxn ang="0">
                <a:pos x="418" y="34"/>
              </a:cxn>
              <a:cxn ang="0">
                <a:pos x="34" y="18"/>
              </a:cxn>
              <a:cxn ang="0">
                <a:pos x="178" y="18"/>
              </a:cxn>
              <a:cxn ang="0">
                <a:pos x="194" y="24"/>
              </a:cxn>
              <a:cxn ang="0">
                <a:pos x="202" y="42"/>
              </a:cxn>
              <a:cxn ang="0">
                <a:pos x="202" y="194"/>
              </a:cxn>
              <a:cxn ang="0">
                <a:pos x="204" y="200"/>
              </a:cxn>
              <a:cxn ang="0">
                <a:pos x="210" y="202"/>
              </a:cxn>
              <a:cxn ang="0">
                <a:pos x="212" y="202"/>
              </a:cxn>
              <a:cxn ang="0">
                <a:pos x="218" y="198"/>
              </a:cxn>
              <a:cxn ang="0">
                <a:pos x="218" y="42"/>
              </a:cxn>
              <a:cxn ang="0">
                <a:pos x="220" y="32"/>
              </a:cxn>
              <a:cxn ang="0">
                <a:pos x="232" y="18"/>
              </a:cxn>
              <a:cxn ang="0">
                <a:pos x="386" y="18"/>
              </a:cxn>
              <a:cxn ang="0">
                <a:pos x="242" y="274"/>
              </a:cxn>
              <a:cxn ang="0">
                <a:pos x="232" y="276"/>
              </a:cxn>
              <a:cxn ang="0">
                <a:pos x="216" y="284"/>
              </a:cxn>
              <a:cxn ang="0">
                <a:pos x="210" y="290"/>
              </a:cxn>
              <a:cxn ang="0">
                <a:pos x="210" y="290"/>
              </a:cxn>
              <a:cxn ang="0">
                <a:pos x="196" y="278"/>
              </a:cxn>
              <a:cxn ang="0">
                <a:pos x="178" y="274"/>
              </a:cxn>
              <a:cxn ang="0">
                <a:pos x="34" y="18"/>
              </a:cxn>
            </a:cxnLst>
            <a:rect l="0" t="0" r="r" b="b"/>
            <a:pathLst>
              <a:path w="418" h="322">
                <a:moveTo>
                  <a:pt x="402" y="34"/>
                </a:moveTo>
                <a:lnTo>
                  <a:pt x="402" y="8"/>
                </a:lnTo>
                <a:lnTo>
                  <a:pt x="402" y="8"/>
                </a:lnTo>
                <a:lnTo>
                  <a:pt x="402" y="6"/>
                </a:lnTo>
                <a:lnTo>
                  <a:pt x="400" y="4"/>
                </a:lnTo>
                <a:lnTo>
                  <a:pt x="398" y="2"/>
                </a:lnTo>
                <a:lnTo>
                  <a:pt x="394" y="0"/>
                </a:lnTo>
                <a:lnTo>
                  <a:pt x="242" y="0"/>
                </a:lnTo>
                <a:lnTo>
                  <a:pt x="242" y="0"/>
                </a:lnTo>
                <a:lnTo>
                  <a:pt x="232" y="2"/>
                </a:lnTo>
                <a:lnTo>
                  <a:pt x="224" y="6"/>
                </a:lnTo>
                <a:lnTo>
                  <a:pt x="216" y="10"/>
                </a:lnTo>
                <a:lnTo>
                  <a:pt x="210" y="18"/>
                </a:lnTo>
                <a:lnTo>
                  <a:pt x="210" y="18"/>
                </a:lnTo>
                <a:lnTo>
                  <a:pt x="210" y="18"/>
                </a:lnTo>
                <a:lnTo>
                  <a:pt x="210" y="18"/>
                </a:lnTo>
                <a:lnTo>
                  <a:pt x="204" y="10"/>
                </a:lnTo>
                <a:lnTo>
                  <a:pt x="196" y="6"/>
                </a:lnTo>
                <a:lnTo>
                  <a:pt x="188" y="2"/>
                </a:lnTo>
                <a:lnTo>
                  <a:pt x="178" y="0"/>
                </a:lnTo>
                <a:lnTo>
                  <a:pt x="26" y="0"/>
                </a:lnTo>
                <a:lnTo>
                  <a:pt x="26" y="0"/>
                </a:lnTo>
                <a:lnTo>
                  <a:pt x="22" y="2"/>
                </a:lnTo>
                <a:lnTo>
                  <a:pt x="20" y="4"/>
                </a:lnTo>
                <a:lnTo>
                  <a:pt x="18" y="6"/>
                </a:lnTo>
                <a:lnTo>
                  <a:pt x="16" y="8"/>
                </a:lnTo>
                <a:lnTo>
                  <a:pt x="16" y="34"/>
                </a:lnTo>
                <a:lnTo>
                  <a:pt x="0" y="34"/>
                </a:lnTo>
                <a:lnTo>
                  <a:pt x="0" y="306"/>
                </a:lnTo>
                <a:lnTo>
                  <a:pt x="174" y="306"/>
                </a:lnTo>
                <a:lnTo>
                  <a:pt x="174" y="306"/>
                </a:lnTo>
                <a:lnTo>
                  <a:pt x="182" y="314"/>
                </a:lnTo>
                <a:lnTo>
                  <a:pt x="190" y="318"/>
                </a:lnTo>
                <a:lnTo>
                  <a:pt x="200" y="322"/>
                </a:lnTo>
                <a:lnTo>
                  <a:pt x="210" y="322"/>
                </a:lnTo>
                <a:lnTo>
                  <a:pt x="210" y="322"/>
                </a:lnTo>
                <a:lnTo>
                  <a:pt x="220" y="322"/>
                </a:lnTo>
                <a:lnTo>
                  <a:pt x="230" y="318"/>
                </a:lnTo>
                <a:lnTo>
                  <a:pt x="238" y="314"/>
                </a:lnTo>
                <a:lnTo>
                  <a:pt x="246" y="306"/>
                </a:lnTo>
                <a:lnTo>
                  <a:pt x="418" y="306"/>
                </a:lnTo>
                <a:lnTo>
                  <a:pt x="418" y="34"/>
                </a:lnTo>
                <a:lnTo>
                  <a:pt x="402" y="34"/>
                </a:lnTo>
                <a:close/>
                <a:moveTo>
                  <a:pt x="34" y="18"/>
                </a:moveTo>
                <a:lnTo>
                  <a:pt x="178" y="18"/>
                </a:lnTo>
                <a:lnTo>
                  <a:pt x="178" y="18"/>
                </a:lnTo>
                <a:lnTo>
                  <a:pt x="188" y="18"/>
                </a:lnTo>
                <a:lnTo>
                  <a:pt x="194" y="24"/>
                </a:lnTo>
                <a:lnTo>
                  <a:pt x="200" y="32"/>
                </a:lnTo>
                <a:lnTo>
                  <a:pt x="202" y="42"/>
                </a:lnTo>
                <a:lnTo>
                  <a:pt x="202" y="194"/>
                </a:lnTo>
                <a:lnTo>
                  <a:pt x="202" y="194"/>
                </a:lnTo>
                <a:lnTo>
                  <a:pt x="202" y="198"/>
                </a:lnTo>
                <a:lnTo>
                  <a:pt x="204" y="200"/>
                </a:lnTo>
                <a:lnTo>
                  <a:pt x="206" y="202"/>
                </a:lnTo>
                <a:lnTo>
                  <a:pt x="210" y="202"/>
                </a:lnTo>
                <a:lnTo>
                  <a:pt x="210" y="202"/>
                </a:lnTo>
                <a:lnTo>
                  <a:pt x="212" y="202"/>
                </a:lnTo>
                <a:lnTo>
                  <a:pt x="216" y="200"/>
                </a:lnTo>
                <a:lnTo>
                  <a:pt x="218" y="198"/>
                </a:lnTo>
                <a:lnTo>
                  <a:pt x="218" y="194"/>
                </a:lnTo>
                <a:lnTo>
                  <a:pt x="218" y="42"/>
                </a:lnTo>
                <a:lnTo>
                  <a:pt x="218" y="42"/>
                </a:lnTo>
                <a:lnTo>
                  <a:pt x="220" y="32"/>
                </a:lnTo>
                <a:lnTo>
                  <a:pt x="224" y="24"/>
                </a:lnTo>
                <a:lnTo>
                  <a:pt x="232" y="18"/>
                </a:lnTo>
                <a:lnTo>
                  <a:pt x="242" y="18"/>
                </a:lnTo>
                <a:lnTo>
                  <a:pt x="386" y="18"/>
                </a:lnTo>
                <a:lnTo>
                  <a:pt x="386" y="274"/>
                </a:lnTo>
                <a:lnTo>
                  <a:pt x="242" y="274"/>
                </a:lnTo>
                <a:lnTo>
                  <a:pt x="242" y="274"/>
                </a:lnTo>
                <a:lnTo>
                  <a:pt x="232" y="276"/>
                </a:lnTo>
                <a:lnTo>
                  <a:pt x="224" y="278"/>
                </a:lnTo>
                <a:lnTo>
                  <a:pt x="216" y="284"/>
                </a:lnTo>
                <a:lnTo>
                  <a:pt x="210" y="290"/>
                </a:lnTo>
                <a:lnTo>
                  <a:pt x="210" y="290"/>
                </a:lnTo>
                <a:lnTo>
                  <a:pt x="210" y="290"/>
                </a:lnTo>
                <a:lnTo>
                  <a:pt x="210" y="290"/>
                </a:lnTo>
                <a:lnTo>
                  <a:pt x="204" y="284"/>
                </a:lnTo>
                <a:lnTo>
                  <a:pt x="196" y="278"/>
                </a:lnTo>
                <a:lnTo>
                  <a:pt x="188" y="276"/>
                </a:lnTo>
                <a:lnTo>
                  <a:pt x="178" y="274"/>
                </a:lnTo>
                <a:lnTo>
                  <a:pt x="34" y="274"/>
                </a:lnTo>
                <a:lnTo>
                  <a:pt x="34" y="18"/>
                </a:lnTo>
                <a:close/>
              </a:path>
            </a:pathLst>
          </a:custGeom>
          <a:solidFill>
            <a:schemeClr val="bg1">
              <a:alpha val="10000"/>
            </a:schemeClr>
          </a:solidFill>
          <a:ln w="0">
            <a:noFill/>
            <a:prstDash val="solid"/>
            <a:round/>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微软雅黑" panose="020B0503020204020204" pitchFamily="34" charset="-122"/>
              <a:ea typeface="宋体" panose="02010600030101010101" pitchFamily="2" charset="-122"/>
              <a:cs typeface="+mn-cs"/>
            </a:endParaRPr>
          </a:p>
        </p:txBody>
      </p:sp>
      <p:sp>
        <p:nvSpPr>
          <p:cNvPr id="18" name="Freeform 363"/>
          <p:cNvSpPr>
            <a:spLocks noEditPoints="1"/>
          </p:cNvSpPr>
          <p:nvPr userDrawn="1"/>
        </p:nvSpPr>
        <p:spPr bwMode="auto">
          <a:xfrm rot="1658487">
            <a:off x="6583748" y="312642"/>
            <a:ext cx="773335" cy="770514"/>
          </a:xfrm>
          <a:custGeom>
            <a:avLst/>
            <a:gdLst>
              <a:gd name="T0" fmla="*/ 145 w 274"/>
              <a:gd name="T1" fmla="*/ 262 h 273"/>
              <a:gd name="T2" fmla="*/ 189 w 274"/>
              <a:gd name="T3" fmla="*/ 204 h 273"/>
              <a:gd name="T4" fmla="*/ 263 w 274"/>
              <a:gd name="T5" fmla="*/ 204 h 273"/>
              <a:gd name="T6" fmla="*/ 216 w 274"/>
              <a:gd name="T7" fmla="*/ 217 h 273"/>
              <a:gd name="T8" fmla="*/ 104 w 274"/>
              <a:gd name="T9" fmla="*/ 199 h 273"/>
              <a:gd name="T10" fmla="*/ 55 w 274"/>
              <a:gd name="T11" fmla="*/ 186 h 273"/>
              <a:gd name="T12" fmla="*/ 14 w 274"/>
              <a:gd name="T13" fmla="*/ 168 h 273"/>
              <a:gd name="T14" fmla="*/ 44 w 274"/>
              <a:gd name="T15" fmla="*/ 207 h 273"/>
              <a:gd name="T16" fmla="*/ 45 w 274"/>
              <a:gd name="T17" fmla="*/ 217 h 273"/>
              <a:gd name="T18" fmla="*/ 95 w 274"/>
              <a:gd name="T19" fmla="*/ 254 h 273"/>
              <a:gd name="T20" fmla="*/ 86 w 274"/>
              <a:gd name="T21" fmla="*/ 232 h 273"/>
              <a:gd name="T22" fmla="*/ 114 w 274"/>
              <a:gd name="T23" fmla="*/ 255 h 273"/>
              <a:gd name="T24" fmla="*/ 131 w 274"/>
              <a:gd name="T25" fmla="*/ 196 h 273"/>
              <a:gd name="T26" fmla="*/ 110 w 274"/>
              <a:gd name="T27" fmla="*/ 189 h 273"/>
              <a:gd name="T28" fmla="*/ 132 w 274"/>
              <a:gd name="T29" fmla="*/ 145 h 273"/>
              <a:gd name="T30" fmla="*/ 74 w 274"/>
              <a:gd name="T31" fmla="*/ 145 h 273"/>
              <a:gd name="T32" fmla="*/ 67 w 274"/>
              <a:gd name="T33" fmla="*/ 166 h 273"/>
              <a:gd name="T34" fmla="*/ 205 w 274"/>
              <a:gd name="T35" fmla="*/ 111 h 273"/>
              <a:gd name="T36" fmla="*/ 192 w 274"/>
              <a:gd name="T37" fmla="*/ 159 h 273"/>
              <a:gd name="T38" fmla="*/ 150 w 274"/>
              <a:gd name="T39" fmla="*/ 59 h 273"/>
              <a:gd name="T40" fmla="*/ 114 w 274"/>
              <a:gd name="T41" fmla="*/ 94 h 273"/>
              <a:gd name="T42" fmla="*/ 57 w 274"/>
              <a:gd name="T43" fmla="*/ 42 h 273"/>
              <a:gd name="T44" fmla="*/ 9 w 274"/>
              <a:gd name="T45" fmla="*/ 55 h 273"/>
              <a:gd name="T46" fmla="*/ 178 w 274"/>
              <a:gd name="T47" fmla="*/ 23 h 273"/>
              <a:gd name="T48" fmla="*/ 230 w 274"/>
              <a:gd name="T49" fmla="*/ 57 h 273"/>
              <a:gd name="T50" fmla="*/ 137 w 274"/>
              <a:gd name="T51" fmla="*/ 0 h 273"/>
              <a:gd name="T52" fmla="*/ 271 w 274"/>
              <a:gd name="T53" fmla="*/ 108 h 273"/>
              <a:gd name="T54" fmla="*/ 257 w 274"/>
              <a:gd name="T55" fmla="*/ 189 h 273"/>
              <a:gd name="T56" fmla="*/ 260 w 274"/>
              <a:gd name="T57" fmla="*/ 142 h 273"/>
              <a:gd name="T58" fmla="*/ 238 w 274"/>
              <a:gd name="T59" fmla="*/ 133 h 273"/>
              <a:gd name="T60" fmla="*/ 261 w 274"/>
              <a:gd name="T61" fmla="*/ 105 h 273"/>
              <a:gd name="T62" fmla="*/ 206 w 274"/>
              <a:gd name="T63" fmla="*/ 76 h 273"/>
              <a:gd name="T64" fmla="*/ 206 w 274"/>
              <a:gd name="T65" fmla="*/ 103 h 273"/>
              <a:gd name="T66" fmla="*/ 193 w 274"/>
              <a:gd name="T67" fmla="*/ 82 h 273"/>
              <a:gd name="T68" fmla="*/ 169 w 274"/>
              <a:gd name="T69" fmla="*/ 79 h 273"/>
              <a:gd name="T70" fmla="*/ 189 w 274"/>
              <a:gd name="T71" fmla="*/ 66 h 273"/>
              <a:gd name="T72" fmla="*/ 142 w 274"/>
              <a:gd name="T73" fmla="*/ 13 h 273"/>
              <a:gd name="T74" fmla="*/ 136 w 274"/>
              <a:gd name="T75" fmla="*/ 50 h 273"/>
              <a:gd name="T76" fmla="*/ 127 w 274"/>
              <a:gd name="T77" fmla="*/ 11 h 273"/>
              <a:gd name="T78" fmla="*/ 86 w 274"/>
              <a:gd name="T79" fmla="*/ 71 h 273"/>
              <a:gd name="T80" fmla="*/ 104 w 274"/>
              <a:gd name="T81" fmla="*/ 83 h 273"/>
              <a:gd name="T82" fmla="*/ 76 w 274"/>
              <a:gd name="T83" fmla="*/ 105 h 273"/>
              <a:gd name="T84" fmla="*/ 132 w 274"/>
              <a:gd name="T85" fmla="*/ 130 h 273"/>
              <a:gd name="T86" fmla="*/ 140 w 274"/>
              <a:gd name="T87" fmla="*/ 113 h 273"/>
              <a:gd name="T88" fmla="*/ 146 w 274"/>
              <a:gd name="T89" fmla="*/ 131 h 273"/>
              <a:gd name="T90" fmla="*/ 171 w 274"/>
              <a:gd name="T91" fmla="*/ 140 h 273"/>
              <a:gd name="T92" fmla="*/ 142 w 274"/>
              <a:gd name="T93" fmla="*/ 182 h 273"/>
              <a:gd name="T94" fmla="*/ 193 w 274"/>
              <a:gd name="T95" fmla="*/ 191 h 273"/>
              <a:gd name="T96" fmla="*/ 206 w 274"/>
              <a:gd name="T97" fmla="*/ 170 h 273"/>
              <a:gd name="T98" fmla="*/ 206 w 274"/>
              <a:gd name="T99" fmla="*/ 196 h 273"/>
              <a:gd name="T100" fmla="*/ 209 w 274"/>
              <a:gd name="T101" fmla="*/ 207 h 273"/>
              <a:gd name="T102" fmla="*/ 179 w 274"/>
              <a:gd name="T103" fmla="*/ 249 h 273"/>
              <a:gd name="T104" fmla="*/ 212 w 274"/>
              <a:gd name="T105" fmla="*/ 239 h 273"/>
              <a:gd name="T106" fmla="*/ 219 w 274"/>
              <a:gd name="T107" fmla="*/ 246 h 273"/>
              <a:gd name="T108" fmla="*/ 31 w 274"/>
              <a:gd name="T109" fmla="*/ 222 h 273"/>
              <a:gd name="T110" fmla="*/ 14 w 274"/>
              <a:gd name="T111" fmla="*/ 82 h 273"/>
              <a:gd name="T112" fmla="*/ 11 w 274"/>
              <a:gd name="T113" fmla="*/ 130 h 273"/>
              <a:gd name="T114" fmla="*/ 67 w 274"/>
              <a:gd name="T115" fmla="*/ 103 h 273"/>
              <a:gd name="T116" fmla="*/ 63 w 274"/>
              <a:gd name="T117" fmla="*/ 74 h 273"/>
              <a:gd name="T118" fmla="*/ 72 w 274"/>
              <a:gd name="T119" fmla="*/ 67 h 273"/>
              <a:gd name="T120" fmla="*/ 95 w 274"/>
              <a:gd name="T121" fmla="*/ 19 h 273"/>
              <a:gd name="T122" fmla="*/ 58 w 274"/>
              <a:gd name="T123" fmla="*/ 33 h 273"/>
              <a:gd name="T124" fmla="*/ 109 w 274"/>
              <a:gd name="T125" fmla="*/ 4 h 2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74" h="273">
                <a:moveTo>
                  <a:pt x="146" y="196"/>
                </a:moveTo>
                <a:lnTo>
                  <a:pt x="143" y="196"/>
                </a:lnTo>
                <a:lnTo>
                  <a:pt x="142" y="198"/>
                </a:lnTo>
                <a:lnTo>
                  <a:pt x="142" y="200"/>
                </a:lnTo>
                <a:lnTo>
                  <a:pt x="142" y="258"/>
                </a:lnTo>
                <a:lnTo>
                  <a:pt x="142" y="260"/>
                </a:lnTo>
                <a:lnTo>
                  <a:pt x="145" y="262"/>
                </a:lnTo>
                <a:lnTo>
                  <a:pt x="147" y="262"/>
                </a:lnTo>
                <a:lnTo>
                  <a:pt x="159" y="255"/>
                </a:lnTo>
                <a:lnTo>
                  <a:pt x="169" y="245"/>
                </a:lnTo>
                <a:lnTo>
                  <a:pt x="178" y="234"/>
                </a:lnTo>
                <a:lnTo>
                  <a:pt x="184" y="219"/>
                </a:lnTo>
                <a:lnTo>
                  <a:pt x="189" y="207"/>
                </a:lnTo>
                <a:lnTo>
                  <a:pt x="189" y="204"/>
                </a:lnTo>
                <a:lnTo>
                  <a:pt x="189" y="203"/>
                </a:lnTo>
                <a:lnTo>
                  <a:pt x="187" y="202"/>
                </a:lnTo>
                <a:lnTo>
                  <a:pt x="168" y="198"/>
                </a:lnTo>
                <a:lnTo>
                  <a:pt x="146" y="196"/>
                </a:lnTo>
                <a:close/>
                <a:moveTo>
                  <a:pt x="242" y="191"/>
                </a:moveTo>
                <a:lnTo>
                  <a:pt x="254" y="195"/>
                </a:lnTo>
                <a:lnTo>
                  <a:pt x="263" y="204"/>
                </a:lnTo>
                <a:lnTo>
                  <a:pt x="267" y="217"/>
                </a:lnTo>
                <a:lnTo>
                  <a:pt x="263" y="230"/>
                </a:lnTo>
                <a:lnTo>
                  <a:pt x="254" y="239"/>
                </a:lnTo>
                <a:lnTo>
                  <a:pt x="242" y="242"/>
                </a:lnTo>
                <a:lnTo>
                  <a:pt x="229" y="239"/>
                </a:lnTo>
                <a:lnTo>
                  <a:pt x="219" y="230"/>
                </a:lnTo>
                <a:lnTo>
                  <a:pt x="216" y="217"/>
                </a:lnTo>
                <a:lnTo>
                  <a:pt x="219" y="204"/>
                </a:lnTo>
                <a:lnTo>
                  <a:pt x="229" y="195"/>
                </a:lnTo>
                <a:lnTo>
                  <a:pt x="242" y="191"/>
                </a:lnTo>
                <a:close/>
                <a:moveTo>
                  <a:pt x="78" y="173"/>
                </a:moveTo>
                <a:lnTo>
                  <a:pt x="91" y="177"/>
                </a:lnTo>
                <a:lnTo>
                  <a:pt x="100" y="186"/>
                </a:lnTo>
                <a:lnTo>
                  <a:pt x="104" y="199"/>
                </a:lnTo>
                <a:lnTo>
                  <a:pt x="100" y="212"/>
                </a:lnTo>
                <a:lnTo>
                  <a:pt x="91" y="222"/>
                </a:lnTo>
                <a:lnTo>
                  <a:pt x="78" y="225"/>
                </a:lnTo>
                <a:lnTo>
                  <a:pt x="65" y="222"/>
                </a:lnTo>
                <a:lnTo>
                  <a:pt x="55" y="212"/>
                </a:lnTo>
                <a:lnTo>
                  <a:pt x="53" y="199"/>
                </a:lnTo>
                <a:lnTo>
                  <a:pt x="55" y="186"/>
                </a:lnTo>
                <a:lnTo>
                  <a:pt x="65" y="177"/>
                </a:lnTo>
                <a:lnTo>
                  <a:pt x="78" y="173"/>
                </a:lnTo>
                <a:close/>
                <a:moveTo>
                  <a:pt x="14" y="142"/>
                </a:moveTo>
                <a:lnTo>
                  <a:pt x="12" y="142"/>
                </a:lnTo>
                <a:lnTo>
                  <a:pt x="11" y="144"/>
                </a:lnTo>
                <a:lnTo>
                  <a:pt x="11" y="145"/>
                </a:lnTo>
                <a:lnTo>
                  <a:pt x="14" y="168"/>
                </a:lnTo>
                <a:lnTo>
                  <a:pt x="22" y="189"/>
                </a:lnTo>
                <a:lnTo>
                  <a:pt x="32" y="208"/>
                </a:lnTo>
                <a:lnTo>
                  <a:pt x="34" y="209"/>
                </a:lnTo>
                <a:lnTo>
                  <a:pt x="36" y="211"/>
                </a:lnTo>
                <a:lnTo>
                  <a:pt x="37" y="209"/>
                </a:lnTo>
                <a:lnTo>
                  <a:pt x="42" y="207"/>
                </a:lnTo>
                <a:lnTo>
                  <a:pt x="44" y="207"/>
                </a:lnTo>
                <a:lnTo>
                  <a:pt x="45" y="207"/>
                </a:lnTo>
                <a:lnTo>
                  <a:pt x="46" y="208"/>
                </a:lnTo>
                <a:lnTo>
                  <a:pt x="48" y="211"/>
                </a:lnTo>
                <a:lnTo>
                  <a:pt x="48" y="212"/>
                </a:lnTo>
                <a:lnTo>
                  <a:pt x="48" y="214"/>
                </a:lnTo>
                <a:lnTo>
                  <a:pt x="46" y="216"/>
                </a:lnTo>
                <a:lnTo>
                  <a:pt x="45" y="217"/>
                </a:lnTo>
                <a:lnTo>
                  <a:pt x="42" y="218"/>
                </a:lnTo>
                <a:lnTo>
                  <a:pt x="42" y="221"/>
                </a:lnTo>
                <a:lnTo>
                  <a:pt x="44" y="222"/>
                </a:lnTo>
                <a:lnTo>
                  <a:pt x="65" y="241"/>
                </a:lnTo>
                <a:lnTo>
                  <a:pt x="91" y="255"/>
                </a:lnTo>
                <a:lnTo>
                  <a:pt x="94" y="255"/>
                </a:lnTo>
                <a:lnTo>
                  <a:pt x="95" y="254"/>
                </a:lnTo>
                <a:lnTo>
                  <a:pt x="96" y="253"/>
                </a:lnTo>
                <a:lnTo>
                  <a:pt x="96" y="251"/>
                </a:lnTo>
                <a:lnTo>
                  <a:pt x="95" y="249"/>
                </a:lnTo>
                <a:lnTo>
                  <a:pt x="91" y="242"/>
                </a:lnTo>
                <a:lnTo>
                  <a:pt x="86" y="235"/>
                </a:lnTo>
                <a:lnTo>
                  <a:pt x="86" y="234"/>
                </a:lnTo>
                <a:lnTo>
                  <a:pt x="86" y="232"/>
                </a:lnTo>
                <a:lnTo>
                  <a:pt x="87" y="231"/>
                </a:lnTo>
                <a:lnTo>
                  <a:pt x="90" y="230"/>
                </a:lnTo>
                <a:lnTo>
                  <a:pt x="91" y="228"/>
                </a:lnTo>
                <a:lnTo>
                  <a:pt x="94" y="230"/>
                </a:lnTo>
                <a:lnTo>
                  <a:pt x="95" y="231"/>
                </a:lnTo>
                <a:lnTo>
                  <a:pt x="104" y="244"/>
                </a:lnTo>
                <a:lnTo>
                  <a:pt x="114" y="255"/>
                </a:lnTo>
                <a:lnTo>
                  <a:pt x="127" y="262"/>
                </a:lnTo>
                <a:lnTo>
                  <a:pt x="129" y="262"/>
                </a:lnTo>
                <a:lnTo>
                  <a:pt x="132" y="260"/>
                </a:lnTo>
                <a:lnTo>
                  <a:pt x="132" y="258"/>
                </a:lnTo>
                <a:lnTo>
                  <a:pt x="132" y="200"/>
                </a:lnTo>
                <a:lnTo>
                  <a:pt x="132" y="198"/>
                </a:lnTo>
                <a:lnTo>
                  <a:pt x="131" y="196"/>
                </a:lnTo>
                <a:lnTo>
                  <a:pt x="128" y="196"/>
                </a:lnTo>
                <a:lnTo>
                  <a:pt x="114" y="198"/>
                </a:lnTo>
                <a:lnTo>
                  <a:pt x="111" y="196"/>
                </a:lnTo>
                <a:lnTo>
                  <a:pt x="110" y="195"/>
                </a:lnTo>
                <a:lnTo>
                  <a:pt x="109" y="194"/>
                </a:lnTo>
                <a:lnTo>
                  <a:pt x="109" y="191"/>
                </a:lnTo>
                <a:lnTo>
                  <a:pt x="110" y="189"/>
                </a:lnTo>
                <a:lnTo>
                  <a:pt x="111" y="189"/>
                </a:lnTo>
                <a:lnTo>
                  <a:pt x="113" y="188"/>
                </a:lnTo>
                <a:lnTo>
                  <a:pt x="128" y="186"/>
                </a:lnTo>
                <a:lnTo>
                  <a:pt x="131" y="186"/>
                </a:lnTo>
                <a:lnTo>
                  <a:pt x="132" y="185"/>
                </a:lnTo>
                <a:lnTo>
                  <a:pt x="132" y="182"/>
                </a:lnTo>
                <a:lnTo>
                  <a:pt x="132" y="145"/>
                </a:lnTo>
                <a:lnTo>
                  <a:pt x="132" y="143"/>
                </a:lnTo>
                <a:lnTo>
                  <a:pt x="131" y="142"/>
                </a:lnTo>
                <a:lnTo>
                  <a:pt x="128" y="142"/>
                </a:lnTo>
                <a:lnTo>
                  <a:pt x="78" y="142"/>
                </a:lnTo>
                <a:lnTo>
                  <a:pt x="76" y="142"/>
                </a:lnTo>
                <a:lnTo>
                  <a:pt x="74" y="143"/>
                </a:lnTo>
                <a:lnTo>
                  <a:pt x="74" y="145"/>
                </a:lnTo>
                <a:lnTo>
                  <a:pt x="76" y="163"/>
                </a:lnTo>
                <a:lnTo>
                  <a:pt x="74" y="166"/>
                </a:lnTo>
                <a:lnTo>
                  <a:pt x="73" y="167"/>
                </a:lnTo>
                <a:lnTo>
                  <a:pt x="72" y="168"/>
                </a:lnTo>
                <a:lnTo>
                  <a:pt x="69" y="168"/>
                </a:lnTo>
                <a:lnTo>
                  <a:pt x="68" y="167"/>
                </a:lnTo>
                <a:lnTo>
                  <a:pt x="67" y="166"/>
                </a:lnTo>
                <a:lnTo>
                  <a:pt x="65" y="165"/>
                </a:lnTo>
                <a:lnTo>
                  <a:pt x="64" y="145"/>
                </a:lnTo>
                <a:lnTo>
                  <a:pt x="64" y="143"/>
                </a:lnTo>
                <a:lnTo>
                  <a:pt x="63" y="142"/>
                </a:lnTo>
                <a:lnTo>
                  <a:pt x="60" y="142"/>
                </a:lnTo>
                <a:lnTo>
                  <a:pt x="14" y="142"/>
                </a:lnTo>
                <a:close/>
                <a:moveTo>
                  <a:pt x="205" y="111"/>
                </a:moveTo>
                <a:lnTo>
                  <a:pt x="217" y="115"/>
                </a:lnTo>
                <a:lnTo>
                  <a:pt x="226" y="124"/>
                </a:lnTo>
                <a:lnTo>
                  <a:pt x="230" y="136"/>
                </a:lnTo>
                <a:lnTo>
                  <a:pt x="226" y="149"/>
                </a:lnTo>
                <a:lnTo>
                  <a:pt x="217" y="159"/>
                </a:lnTo>
                <a:lnTo>
                  <a:pt x="205" y="162"/>
                </a:lnTo>
                <a:lnTo>
                  <a:pt x="192" y="159"/>
                </a:lnTo>
                <a:lnTo>
                  <a:pt x="183" y="149"/>
                </a:lnTo>
                <a:lnTo>
                  <a:pt x="179" y="136"/>
                </a:lnTo>
                <a:lnTo>
                  <a:pt x="183" y="124"/>
                </a:lnTo>
                <a:lnTo>
                  <a:pt x="192" y="115"/>
                </a:lnTo>
                <a:lnTo>
                  <a:pt x="205" y="111"/>
                </a:lnTo>
                <a:close/>
                <a:moveTo>
                  <a:pt x="137" y="56"/>
                </a:moveTo>
                <a:lnTo>
                  <a:pt x="150" y="59"/>
                </a:lnTo>
                <a:lnTo>
                  <a:pt x="159" y="69"/>
                </a:lnTo>
                <a:lnTo>
                  <a:pt x="163" y="82"/>
                </a:lnTo>
                <a:lnTo>
                  <a:pt x="159" y="94"/>
                </a:lnTo>
                <a:lnTo>
                  <a:pt x="150" y="103"/>
                </a:lnTo>
                <a:lnTo>
                  <a:pt x="137" y="107"/>
                </a:lnTo>
                <a:lnTo>
                  <a:pt x="124" y="103"/>
                </a:lnTo>
                <a:lnTo>
                  <a:pt x="114" y="94"/>
                </a:lnTo>
                <a:lnTo>
                  <a:pt x="111" y="82"/>
                </a:lnTo>
                <a:lnTo>
                  <a:pt x="114" y="69"/>
                </a:lnTo>
                <a:lnTo>
                  <a:pt x="124" y="59"/>
                </a:lnTo>
                <a:lnTo>
                  <a:pt x="137" y="56"/>
                </a:lnTo>
                <a:close/>
                <a:moveTo>
                  <a:pt x="35" y="29"/>
                </a:moveTo>
                <a:lnTo>
                  <a:pt x="48" y="33"/>
                </a:lnTo>
                <a:lnTo>
                  <a:pt x="57" y="42"/>
                </a:lnTo>
                <a:lnTo>
                  <a:pt x="60" y="55"/>
                </a:lnTo>
                <a:lnTo>
                  <a:pt x="57" y="67"/>
                </a:lnTo>
                <a:lnTo>
                  <a:pt x="48" y="76"/>
                </a:lnTo>
                <a:lnTo>
                  <a:pt x="35" y="80"/>
                </a:lnTo>
                <a:lnTo>
                  <a:pt x="22" y="76"/>
                </a:lnTo>
                <a:lnTo>
                  <a:pt x="13" y="67"/>
                </a:lnTo>
                <a:lnTo>
                  <a:pt x="9" y="55"/>
                </a:lnTo>
                <a:lnTo>
                  <a:pt x="13" y="42"/>
                </a:lnTo>
                <a:lnTo>
                  <a:pt x="22" y="33"/>
                </a:lnTo>
                <a:lnTo>
                  <a:pt x="35" y="29"/>
                </a:lnTo>
                <a:close/>
                <a:moveTo>
                  <a:pt x="182" y="18"/>
                </a:moveTo>
                <a:lnTo>
                  <a:pt x="179" y="19"/>
                </a:lnTo>
                <a:lnTo>
                  <a:pt x="178" y="20"/>
                </a:lnTo>
                <a:lnTo>
                  <a:pt x="178" y="23"/>
                </a:lnTo>
                <a:lnTo>
                  <a:pt x="179" y="24"/>
                </a:lnTo>
                <a:lnTo>
                  <a:pt x="191" y="43"/>
                </a:lnTo>
                <a:lnTo>
                  <a:pt x="200" y="65"/>
                </a:lnTo>
                <a:lnTo>
                  <a:pt x="201" y="66"/>
                </a:lnTo>
                <a:lnTo>
                  <a:pt x="202" y="67"/>
                </a:lnTo>
                <a:lnTo>
                  <a:pt x="205" y="67"/>
                </a:lnTo>
                <a:lnTo>
                  <a:pt x="230" y="57"/>
                </a:lnTo>
                <a:lnTo>
                  <a:pt x="232" y="55"/>
                </a:lnTo>
                <a:lnTo>
                  <a:pt x="232" y="53"/>
                </a:lnTo>
                <a:lnTo>
                  <a:pt x="230" y="51"/>
                </a:lnTo>
                <a:lnTo>
                  <a:pt x="209" y="32"/>
                </a:lnTo>
                <a:lnTo>
                  <a:pt x="183" y="18"/>
                </a:lnTo>
                <a:lnTo>
                  <a:pt x="182" y="18"/>
                </a:lnTo>
                <a:close/>
                <a:moveTo>
                  <a:pt x="137" y="0"/>
                </a:moveTo>
                <a:lnTo>
                  <a:pt x="164" y="2"/>
                </a:lnTo>
                <a:lnTo>
                  <a:pt x="189" y="10"/>
                </a:lnTo>
                <a:lnTo>
                  <a:pt x="212" y="23"/>
                </a:lnTo>
                <a:lnTo>
                  <a:pt x="233" y="39"/>
                </a:lnTo>
                <a:lnTo>
                  <a:pt x="249" y="59"/>
                </a:lnTo>
                <a:lnTo>
                  <a:pt x="262" y="83"/>
                </a:lnTo>
                <a:lnTo>
                  <a:pt x="271" y="108"/>
                </a:lnTo>
                <a:lnTo>
                  <a:pt x="274" y="136"/>
                </a:lnTo>
                <a:lnTo>
                  <a:pt x="271" y="163"/>
                </a:lnTo>
                <a:lnTo>
                  <a:pt x="263" y="188"/>
                </a:lnTo>
                <a:lnTo>
                  <a:pt x="263" y="189"/>
                </a:lnTo>
                <a:lnTo>
                  <a:pt x="262" y="190"/>
                </a:lnTo>
                <a:lnTo>
                  <a:pt x="260" y="190"/>
                </a:lnTo>
                <a:lnTo>
                  <a:pt x="257" y="189"/>
                </a:lnTo>
                <a:lnTo>
                  <a:pt x="254" y="186"/>
                </a:lnTo>
                <a:lnTo>
                  <a:pt x="254" y="184"/>
                </a:lnTo>
                <a:lnTo>
                  <a:pt x="261" y="166"/>
                </a:lnTo>
                <a:lnTo>
                  <a:pt x="263" y="145"/>
                </a:lnTo>
                <a:lnTo>
                  <a:pt x="263" y="144"/>
                </a:lnTo>
                <a:lnTo>
                  <a:pt x="262" y="142"/>
                </a:lnTo>
                <a:lnTo>
                  <a:pt x="260" y="142"/>
                </a:lnTo>
                <a:lnTo>
                  <a:pt x="240" y="142"/>
                </a:lnTo>
                <a:lnTo>
                  <a:pt x="239" y="142"/>
                </a:lnTo>
                <a:lnTo>
                  <a:pt x="238" y="140"/>
                </a:lnTo>
                <a:lnTo>
                  <a:pt x="237" y="139"/>
                </a:lnTo>
                <a:lnTo>
                  <a:pt x="237" y="136"/>
                </a:lnTo>
                <a:lnTo>
                  <a:pt x="237" y="135"/>
                </a:lnTo>
                <a:lnTo>
                  <a:pt x="238" y="133"/>
                </a:lnTo>
                <a:lnTo>
                  <a:pt x="239" y="133"/>
                </a:lnTo>
                <a:lnTo>
                  <a:pt x="240" y="131"/>
                </a:lnTo>
                <a:lnTo>
                  <a:pt x="260" y="131"/>
                </a:lnTo>
                <a:lnTo>
                  <a:pt x="262" y="131"/>
                </a:lnTo>
                <a:lnTo>
                  <a:pt x="263" y="130"/>
                </a:lnTo>
                <a:lnTo>
                  <a:pt x="263" y="127"/>
                </a:lnTo>
                <a:lnTo>
                  <a:pt x="261" y="105"/>
                </a:lnTo>
                <a:lnTo>
                  <a:pt x="253" y="84"/>
                </a:lnTo>
                <a:lnTo>
                  <a:pt x="242" y="65"/>
                </a:lnTo>
                <a:lnTo>
                  <a:pt x="240" y="64"/>
                </a:lnTo>
                <a:lnTo>
                  <a:pt x="239" y="64"/>
                </a:lnTo>
                <a:lnTo>
                  <a:pt x="237" y="64"/>
                </a:lnTo>
                <a:lnTo>
                  <a:pt x="223" y="71"/>
                </a:lnTo>
                <a:lnTo>
                  <a:pt x="206" y="76"/>
                </a:lnTo>
                <a:lnTo>
                  <a:pt x="205" y="78"/>
                </a:lnTo>
                <a:lnTo>
                  <a:pt x="203" y="79"/>
                </a:lnTo>
                <a:lnTo>
                  <a:pt x="203" y="82"/>
                </a:lnTo>
                <a:lnTo>
                  <a:pt x="206" y="90"/>
                </a:lnTo>
                <a:lnTo>
                  <a:pt x="207" y="101"/>
                </a:lnTo>
                <a:lnTo>
                  <a:pt x="207" y="102"/>
                </a:lnTo>
                <a:lnTo>
                  <a:pt x="206" y="103"/>
                </a:lnTo>
                <a:lnTo>
                  <a:pt x="205" y="105"/>
                </a:lnTo>
                <a:lnTo>
                  <a:pt x="203" y="105"/>
                </a:lnTo>
                <a:lnTo>
                  <a:pt x="201" y="105"/>
                </a:lnTo>
                <a:lnTo>
                  <a:pt x="198" y="103"/>
                </a:lnTo>
                <a:lnTo>
                  <a:pt x="198" y="102"/>
                </a:lnTo>
                <a:lnTo>
                  <a:pt x="194" y="84"/>
                </a:lnTo>
                <a:lnTo>
                  <a:pt x="193" y="82"/>
                </a:lnTo>
                <a:lnTo>
                  <a:pt x="192" y="82"/>
                </a:lnTo>
                <a:lnTo>
                  <a:pt x="191" y="82"/>
                </a:lnTo>
                <a:lnTo>
                  <a:pt x="173" y="84"/>
                </a:lnTo>
                <a:lnTo>
                  <a:pt x="171" y="84"/>
                </a:lnTo>
                <a:lnTo>
                  <a:pt x="170" y="83"/>
                </a:lnTo>
                <a:lnTo>
                  <a:pt x="169" y="82"/>
                </a:lnTo>
                <a:lnTo>
                  <a:pt x="169" y="79"/>
                </a:lnTo>
                <a:lnTo>
                  <a:pt x="169" y="78"/>
                </a:lnTo>
                <a:lnTo>
                  <a:pt x="170" y="75"/>
                </a:lnTo>
                <a:lnTo>
                  <a:pt x="171" y="74"/>
                </a:lnTo>
                <a:lnTo>
                  <a:pt x="187" y="71"/>
                </a:lnTo>
                <a:lnTo>
                  <a:pt x="189" y="71"/>
                </a:lnTo>
                <a:lnTo>
                  <a:pt x="189" y="69"/>
                </a:lnTo>
                <a:lnTo>
                  <a:pt x="189" y="66"/>
                </a:lnTo>
                <a:lnTo>
                  <a:pt x="184" y="53"/>
                </a:lnTo>
                <a:lnTo>
                  <a:pt x="178" y="41"/>
                </a:lnTo>
                <a:lnTo>
                  <a:pt x="169" y="28"/>
                </a:lnTo>
                <a:lnTo>
                  <a:pt x="159" y="18"/>
                </a:lnTo>
                <a:lnTo>
                  <a:pt x="147" y="11"/>
                </a:lnTo>
                <a:lnTo>
                  <a:pt x="145" y="11"/>
                </a:lnTo>
                <a:lnTo>
                  <a:pt x="142" y="13"/>
                </a:lnTo>
                <a:lnTo>
                  <a:pt x="142" y="15"/>
                </a:lnTo>
                <a:lnTo>
                  <a:pt x="142" y="46"/>
                </a:lnTo>
                <a:lnTo>
                  <a:pt x="142" y="47"/>
                </a:lnTo>
                <a:lnTo>
                  <a:pt x="141" y="48"/>
                </a:lnTo>
                <a:lnTo>
                  <a:pt x="140" y="50"/>
                </a:lnTo>
                <a:lnTo>
                  <a:pt x="137" y="50"/>
                </a:lnTo>
                <a:lnTo>
                  <a:pt x="136" y="50"/>
                </a:lnTo>
                <a:lnTo>
                  <a:pt x="133" y="48"/>
                </a:lnTo>
                <a:lnTo>
                  <a:pt x="133" y="47"/>
                </a:lnTo>
                <a:lnTo>
                  <a:pt x="132" y="46"/>
                </a:lnTo>
                <a:lnTo>
                  <a:pt x="132" y="15"/>
                </a:lnTo>
                <a:lnTo>
                  <a:pt x="132" y="13"/>
                </a:lnTo>
                <a:lnTo>
                  <a:pt x="129" y="11"/>
                </a:lnTo>
                <a:lnTo>
                  <a:pt x="127" y="11"/>
                </a:lnTo>
                <a:lnTo>
                  <a:pt x="115" y="18"/>
                </a:lnTo>
                <a:lnTo>
                  <a:pt x="105" y="28"/>
                </a:lnTo>
                <a:lnTo>
                  <a:pt x="96" y="41"/>
                </a:lnTo>
                <a:lnTo>
                  <a:pt x="90" y="53"/>
                </a:lnTo>
                <a:lnTo>
                  <a:pt x="85" y="66"/>
                </a:lnTo>
                <a:lnTo>
                  <a:pt x="85" y="69"/>
                </a:lnTo>
                <a:lnTo>
                  <a:pt x="86" y="71"/>
                </a:lnTo>
                <a:lnTo>
                  <a:pt x="87" y="71"/>
                </a:lnTo>
                <a:lnTo>
                  <a:pt x="101" y="74"/>
                </a:lnTo>
                <a:lnTo>
                  <a:pt x="104" y="75"/>
                </a:lnTo>
                <a:lnTo>
                  <a:pt x="104" y="78"/>
                </a:lnTo>
                <a:lnTo>
                  <a:pt x="105" y="79"/>
                </a:lnTo>
                <a:lnTo>
                  <a:pt x="104" y="82"/>
                </a:lnTo>
                <a:lnTo>
                  <a:pt x="104" y="83"/>
                </a:lnTo>
                <a:lnTo>
                  <a:pt x="101" y="84"/>
                </a:lnTo>
                <a:lnTo>
                  <a:pt x="100" y="84"/>
                </a:lnTo>
                <a:lnTo>
                  <a:pt x="85" y="82"/>
                </a:lnTo>
                <a:lnTo>
                  <a:pt x="82" y="82"/>
                </a:lnTo>
                <a:lnTo>
                  <a:pt x="81" y="82"/>
                </a:lnTo>
                <a:lnTo>
                  <a:pt x="80" y="84"/>
                </a:lnTo>
                <a:lnTo>
                  <a:pt x="76" y="105"/>
                </a:lnTo>
                <a:lnTo>
                  <a:pt x="74" y="127"/>
                </a:lnTo>
                <a:lnTo>
                  <a:pt x="74" y="130"/>
                </a:lnTo>
                <a:lnTo>
                  <a:pt x="76" y="131"/>
                </a:lnTo>
                <a:lnTo>
                  <a:pt x="78" y="131"/>
                </a:lnTo>
                <a:lnTo>
                  <a:pt x="128" y="131"/>
                </a:lnTo>
                <a:lnTo>
                  <a:pt x="131" y="131"/>
                </a:lnTo>
                <a:lnTo>
                  <a:pt x="132" y="130"/>
                </a:lnTo>
                <a:lnTo>
                  <a:pt x="132" y="127"/>
                </a:lnTo>
                <a:lnTo>
                  <a:pt x="132" y="117"/>
                </a:lnTo>
                <a:lnTo>
                  <a:pt x="133" y="116"/>
                </a:lnTo>
                <a:lnTo>
                  <a:pt x="133" y="115"/>
                </a:lnTo>
                <a:lnTo>
                  <a:pt x="136" y="113"/>
                </a:lnTo>
                <a:lnTo>
                  <a:pt x="137" y="113"/>
                </a:lnTo>
                <a:lnTo>
                  <a:pt x="140" y="113"/>
                </a:lnTo>
                <a:lnTo>
                  <a:pt x="141" y="115"/>
                </a:lnTo>
                <a:lnTo>
                  <a:pt x="142" y="116"/>
                </a:lnTo>
                <a:lnTo>
                  <a:pt x="142" y="117"/>
                </a:lnTo>
                <a:lnTo>
                  <a:pt x="142" y="127"/>
                </a:lnTo>
                <a:lnTo>
                  <a:pt x="142" y="130"/>
                </a:lnTo>
                <a:lnTo>
                  <a:pt x="143" y="131"/>
                </a:lnTo>
                <a:lnTo>
                  <a:pt x="146" y="131"/>
                </a:lnTo>
                <a:lnTo>
                  <a:pt x="169" y="131"/>
                </a:lnTo>
                <a:lnTo>
                  <a:pt x="170" y="133"/>
                </a:lnTo>
                <a:lnTo>
                  <a:pt x="171" y="133"/>
                </a:lnTo>
                <a:lnTo>
                  <a:pt x="173" y="135"/>
                </a:lnTo>
                <a:lnTo>
                  <a:pt x="173" y="136"/>
                </a:lnTo>
                <a:lnTo>
                  <a:pt x="173" y="139"/>
                </a:lnTo>
                <a:lnTo>
                  <a:pt x="171" y="140"/>
                </a:lnTo>
                <a:lnTo>
                  <a:pt x="170" y="142"/>
                </a:lnTo>
                <a:lnTo>
                  <a:pt x="169" y="142"/>
                </a:lnTo>
                <a:lnTo>
                  <a:pt x="146" y="142"/>
                </a:lnTo>
                <a:lnTo>
                  <a:pt x="143" y="142"/>
                </a:lnTo>
                <a:lnTo>
                  <a:pt x="142" y="143"/>
                </a:lnTo>
                <a:lnTo>
                  <a:pt x="142" y="145"/>
                </a:lnTo>
                <a:lnTo>
                  <a:pt x="142" y="182"/>
                </a:lnTo>
                <a:lnTo>
                  <a:pt x="142" y="185"/>
                </a:lnTo>
                <a:lnTo>
                  <a:pt x="143" y="186"/>
                </a:lnTo>
                <a:lnTo>
                  <a:pt x="146" y="186"/>
                </a:lnTo>
                <a:lnTo>
                  <a:pt x="169" y="189"/>
                </a:lnTo>
                <a:lnTo>
                  <a:pt x="191" y="193"/>
                </a:lnTo>
                <a:lnTo>
                  <a:pt x="192" y="193"/>
                </a:lnTo>
                <a:lnTo>
                  <a:pt x="193" y="191"/>
                </a:lnTo>
                <a:lnTo>
                  <a:pt x="194" y="189"/>
                </a:lnTo>
                <a:lnTo>
                  <a:pt x="198" y="172"/>
                </a:lnTo>
                <a:lnTo>
                  <a:pt x="198" y="170"/>
                </a:lnTo>
                <a:lnTo>
                  <a:pt x="201" y="170"/>
                </a:lnTo>
                <a:lnTo>
                  <a:pt x="202" y="168"/>
                </a:lnTo>
                <a:lnTo>
                  <a:pt x="205" y="170"/>
                </a:lnTo>
                <a:lnTo>
                  <a:pt x="206" y="170"/>
                </a:lnTo>
                <a:lnTo>
                  <a:pt x="207" y="172"/>
                </a:lnTo>
                <a:lnTo>
                  <a:pt x="207" y="173"/>
                </a:lnTo>
                <a:lnTo>
                  <a:pt x="206" y="182"/>
                </a:lnTo>
                <a:lnTo>
                  <a:pt x="203" y="191"/>
                </a:lnTo>
                <a:lnTo>
                  <a:pt x="203" y="194"/>
                </a:lnTo>
                <a:lnTo>
                  <a:pt x="205" y="195"/>
                </a:lnTo>
                <a:lnTo>
                  <a:pt x="206" y="196"/>
                </a:lnTo>
                <a:lnTo>
                  <a:pt x="209" y="198"/>
                </a:lnTo>
                <a:lnTo>
                  <a:pt x="211" y="198"/>
                </a:lnTo>
                <a:lnTo>
                  <a:pt x="212" y="200"/>
                </a:lnTo>
                <a:lnTo>
                  <a:pt x="212" y="202"/>
                </a:lnTo>
                <a:lnTo>
                  <a:pt x="212" y="204"/>
                </a:lnTo>
                <a:lnTo>
                  <a:pt x="211" y="205"/>
                </a:lnTo>
                <a:lnTo>
                  <a:pt x="209" y="207"/>
                </a:lnTo>
                <a:lnTo>
                  <a:pt x="207" y="207"/>
                </a:lnTo>
                <a:lnTo>
                  <a:pt x="205" y="205"/>
                </a:lnTo>
                <a:lnTo>
                  <a:pt x="202" y="205"/>
                </a:lnTo>
                <a:lnTo>
                  <a:pt x="201" y="207"/>
                </a:lnTo>
                <a:lnTo>
                  <a:pt x="200" y="208"/>
                </a:lnTo>
                <a:lnTo>
                  <a:pt x="191" y="230"/>
                </a:lnTo>
                <a:lnTo>
                  <a:pt x="179" y="249"/>
                </a:lnTo>
                <a:lnTo>
                  <a:pt x="178" y="251"/>
                </a:lnTo>
                <a:lnTo>
                  <a:pt x="178" y="253"/>
                </a:lnTo>
                <a:lnTo>
                  <a:pt x="179" y="254"/>
                </a:lnTo>
                <a:lnTo>
                  <a:pt x="182" y="255"/>
                </a:lnTo>
                <a:lnTo>
                  <a:pt x="183" y="255"/>
                </a:lnTo>
                <a:lnTo>
                  <a:pt x="198" y="248"/>
                </a:lnTo>
                <a:lnTo>
                  <a:pt x="212" y="239"/>
                </a:lnTo>
                <a:lnTo>
                  <a:pt x="215" y="237"/>
                </a:lnTo>
                <a:lnTo>
                  <a:pt x="217" y="239"/>
                </a:lnTo>
                <a:lnTo>
                  <a:pt x="219" y="240"/>
                </a:lnTo>
                <a:lnTo>
                  <a:pt x="220" y="241"/>
                </a:lnTo>
                <a:lnTo>
                  <a:pt x="220" y="244"/>
                </a:lnTo>
                <a:lnTo>
                  <a:pt x="220" y="245"/>
                </a:lnTo>
                <a:lnTo>
                  <a:pt x="219" y="246"/>
                </a:lnTo>
                <a:lnTo>
                  <a:pt x="194" y="260"/>
                </a:lnTo>
                <a:lnTo>
                  <a:pt x="166" y="271"/>
                </a:lnTo>
                <a:lnTo>
                  <a:pt x="137" y="273"/>
                </a:lnTo>
                <a:lnTo>
                  <a:pt x="106" y="269"/>
                </a:lnTo>
                <a:lnTo>
                  <a:pt x="77" y="259"/>
                </a:lnTo>
                <a:lnTo>
                  <a:pt x="51" y="244"/>
                </a:lnTo>
                <a:lnTo>
                  <a:pt x="31" y="222"/>
                </a:lnTo>
                <a:lnTo>
                  <a:pt x="14" y="196"/>
                </a:lnTo>
                <a:lnTo>
                  <a:pt x="4" y="168"/>
                </a:lnTo>
                <a:lnTo>
                  <a:pt x="0" y="136"/>
                </a:lnTo>
                <a:lnTo>
                  <a:pt x="3" y="108"/>
                </a:lnTo>
                <a:lnTo>
                  <a:pt x="12" y="83"/>
                </a:lnTo>
                <a:lnTo>
                  <a:pt x="12" y="82"/>
                </a:lnTo>
                <a:lnTo>
                  <a:pt x="14" y="82"/>
                </a:lnTo>
                <a:lnTo>
                  <a:pt x="16" y="82"/>
                </a:lnTo>
                <a:lnTo>
                  <a:pt x="18" y="83"/>
                </a:lnTo>
                <a:lnTo>
                  <a:pt x="21" y="84"/>
                </a:lnTo>
                <a:lnTo>
                  <a:pt x="19" y="88"/>
                </a:lnTo>
                <a:lnTo>
                  <a:pt x="13" y="107"/>
                </a:lnTo>
                <a:lnTo>
                  <a:pt x="11" y="127"/>
                </a:lnTo>
                <a:lnTo>
                  <a:pt x="11" y="130"/>
                </a:lnTo>
                <a:lnTo>
                  <a:pt x="12" y="131"/>
                </a:lnTo>
                <a:lnTo>
                  <a:pt x="14" y="131"/>
                </a:lnTo>
                <a:lnTo>
                  <a:pt x="60" y="131"/>
                </a:lnTo>
                <a:lnTo>
                  <a:pt x="63" y="131"/>
                </a:lnTo>
                <a:lnTo>
                  <a:pt x="64" y="130"/>
                </a:lnTo>
                <a:lnTo>
                  <a:pt x="64" y="127"/>
                </a:lnTo>
                <a:lnTo>
                  <a:pt x="67" y="103"/>
                </a:lnTo>
                <a:lnTo>
                  <a:pt x="71" y="82"/>
                </a:lnTo>
                <a:lnTo>
                  <a:pt x="71" y="79"/>
                </a:lnTo>
                <a:lnTo>
                  <a:pt x="69" y="78"/>
                </a:lnTo>
                <a:lnTo>
                  <a:pt x="68" y="76"/>
                </a:lnTo>
                <a:lnTo>
                  <a:pt x="65" y="76"/>
                </a:lnTo>
                <a:lnTo>
                  <a:pt x="64" y="75"/>
                </a:lnTo>
                <a:lnTo>
                  <a:pt x="63" y="74"/>
                </a:lnTo>
                <a:lnTo>
                  <a:pt x="63" y="71"/>
                </a:lnTo>
                <a:lnTo>
                  <a:pt x="63" y="70"/>
                </a:lnTo>
                <a:lnTo>
                  <a:pt x="64" y="67"/>
                </a:lnTo>
                <a:lnTo>
                  <a:pt x="67" y="66"/>
                </a:lnTo>
                <a:lnTo>
                  <a:pt x="68" y="66"/>
                </a:lnTo>
                <a:lnTo>
                  <a:pt x="71" y="67"/>
                </a:lnTo>
                <a:lnTo>
                  <a:pt x="72" y="67"/>
                </a:lnTo>
                <a:lnTo>
                  <a:pt x="74" y="66"/>
                </a:lnTo>
                <a:lnTo>
                  <a:pt x="76" y="65"/>
                </a:lnTo>
                <a:lnTo>
                  <a:pt x="83" y="43"/>
                </a:lnTo>
                <a:lnTo>
                  <a:pt x="95" y="24"/>
                </a:lnTo>
                <a:lnTo>
                  <a:pt x="96" y="23"/>
                </a:lnTo>
                <a:lnTo>
                  <a:pt x="96" y="20"/>
                </a:lnTo>
                <a:lnTo>
                  <a:pt x="95" y="19"/>
                </a:lnTo>
                <a:lnTo>
                  <a:pt x="94" y="18"/>
                </a:lnTo>
                <a:lnTo>
                  <a:pt x="91" y="18"/>
                </a:lnTo>
                <a:lnTo>
                  <a:pt x="77" y="25"/>
                </a:lnTo>
                <a:lnTo>
                  <a:pt x="63" y="33"/>
                </a:lnTo>
                <a:lnTo>
                  <a:pt x="62" y="34"/>
                </a:lnTo>
                <a:lnTo>
                  <a:pt x="60" y="34"/>
                </a:lnTo>
                <a:lnTo>
                  <a:pt x="58" y="33"/>
                </a:lnTo>
                <a:lnTo>
                  <a:pt x="58" y="32"/>
                </a:lnTo>
                <a:lnTo>
                  <a:pt x="57" y="30"/>
                </a:lnTo>
                <a:lnTo>
                  <a:pt x="57" y="28"/>
                </a:lnTo>
                <a:lnTo>
                  <a:pt x="57" y="27"/>
                </a:lnTo>
                <a:lnTo>
                  <a:pt x="58" y="25"/>
                </a:lnTo>
                <a:lnTo>
                  <a:pt x="82" y="11"/>
                </a:lnTo>
                <a:lnTo>
                  <a:pt x="109" y="4"/>
                </a:lnTo>
                <a:lnTo>
                  <a:pt x="137" y="0"/>
                </a:lnTo>
                <a:close/>
              </a:path>
            </a:pathLst>
          </a:custGeom>
          <a:solidFill>
            <a:schemeClr val="bg1">
              <a:alpha val="10000"/>
            </a:schemeClr>
          </a:solidFill>
          <a:ln w="0">
            <a:noFill/>
            <a:prstDash val="solid"/>
            <a:round/>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微软雅黑" panose="020B0503020204020204" pitchFamily="34" charset="-122"/>
              <a:ea typeface="宋体" panose="02010600030101010101" pitchFamily="2" charset="-122"/>
              <a:cs typeface="+mn-cs"/>
            </a:endParaRPr>
          </a:p>
        </p:txBody>
      </p:sp>
      <p:sp>
        <p:nvSpPr>
          <p:cNvPr id="19" name="Freeform 463"/>
          <p:cNvSpPr>
            <a:spLocks noEditPoints="1"/>
          </p:cNvSpPr>
          <p:nvPr userDrawn="1"/>
        </p:nvSpPr>
        <p:spPr bwMode="auto">
          <a:xfrm rot="19468345">
            <a:off x="4877976" y="513678"/>
            <a:ext cx="1364153" cy="774137"/>
          </a:xfrm>
          <a:custGeom>
            <a:avLst/>
            <a:gdLst>
              <a:gd name="T0" fmla="*/ 250 w 326"/>
              <a:gd name="T1" fmla="*/ 94 h 185"/>
              <a:gd name="T2" fmla="*/ 253 w 326"/>
              <a:gd name="T3" fmla="*/ 98 h 185"/>
              <a:gd name="T4" fmla="*/ 249 w 326"/>
              <a:gd name="T5" fmla="*/ 148 h 185"/>
              <a:gd name="T6" fmla="*/ 225 w 326"/>
              <a:gd name="T7" fmla="*/ 163 h 185"/>
              <a:gd name="T8" fmla="*/ 185 w 326"/>
              <a:gd name="T9" fmla="*/ 171 h 185"/>
              <a:gd name="T10" fmla="*/ 142 w 326"/>
              <a:gd name="T11" fmla="*/ 171 h 185"/>
              <a:gd name="T12" fmla="*/ 102 w 326"/>
              <a:gd name="T13" fmla="*/ 163 h 185"/>
              <a:gd name="T14" fmla="*/ 78 w 326"/>
              <a:gd name="T15" fmla="*/ 148 h 185"/>
              <a:gd name="T16" fmla="*/ 74 w 326"/>
              <a:gd name="T17" fmla="*/ 99 h 185"/>
              <a:gd name="T18" fmla="*/ 76 w 326"/>
              <a:gd name="T19" fmla="*/ 94 h 185"/>
              <a:gd name="T20" fmla="*/ 82 w 326"/>
              <a:gd name="T21" fmla="*/ 94 h 185"/>
              <a:gd name="T22" fmla="*/ 163 w 326"/>
              <a:gd name="T23" fmla="*/ 126 h 185"/>
              <a:gd name="T24" fmla="*/ 245 w 326"/>
              <a:gd name="T25" fmla="*/ 93 h 185"/>
              <a:gd name="T26" fmla="*/ 163 w 326"/>
              <a:gd name="T27" fmla="*/ 0 h 185"/>
              <a:gd name="T28" fmla="*/ 322 w 326"/>
              <a:gd name="T29" fmla="*/ 46 h 185"/>
              <a:gd name="T30" fmla="*/ 326 w 326"/>
              <a:gd name="T31" fmla="*/ 50 h 185"/>
              <a:gd name="T32" fmla="*/ 324 w 326"/>
              <a:gd name="T33" fmla="*/ 53 h 185"/>
              <a:gd name="T34" fmla="*/ 168 w 326"/>
              <a:gd name="T35" fmla="*/ 120 h 185"/>
              <a:gd name="T36" fmla="*/ 157 w 326"/>
              <a:gd name="T37" fmla="*/ 120 h 185"/>
              <a:gd name="T38" fmla="*/ 42 w 326"/>
              <a:gd name="T39" fmla="*/ 72 h 185"/>
              <a:gd name="T40" fmla="*/ 39 w 326"/>
              <a:gd name="T41" fmla="*/ 75 h 185"/>
              <a:gd name="T42" fmla="*/ 39 w 326"/>
              <a:gd name="T43" fmla="*/ 110 h 185"/>
              <a:gd name="T44" fmla="*/ 42 w 326"/>
              <a:gd name="T45" fmla="*/ 110 h 185"/>
              <a:gd name="T46" fmla="*/ 45 w 326"/>
              <a:gd name="T47" fmla="*/ 110 h 185"/>
              <a:gd name="T48" fmla="*/ 46 w 326"/>
              <a:gd name="T49" fmla="*/ 112 h 185"/>
              <a:gd name="T50" fmla="*/ 46 w 326"/>
              <a:gd name="T51" fmla="*/ 116 h 185"/>
              <a:gd name="T52" fmla="*/ 45 w 326"/>
              <a:gd name="T53" fmla="*/ 122 h 185"/>
              <a:gd name="T54" fmla="*/ 46 w 326"/>
              <a:gd name="T55" fmla="*/ 124 h 185"/>
              <a:gd name="T56" fmla="*/ 46 w 326"/>
              <a:gd name="T57" fmla="*/ 126 h 185"/>
              <a:gd name="T58" fmla="*/ 45 w 326"/>
              <a:gd name="T59" fmla="*/ 127 h 185"/>
              <a:gd name="T60" fmla="*/ 52 w 326"/>
              <a:gd name="T61" fmla="*/ 149 h 185"/>
              <a:gd name="T62" fmla="*/ 50 w 326"/>
              <a:gd name="T63" fmla="*/ 171 h 185"/>
              <a:gd name="T64" fmla="*/ 42 w 326"/>
              <a:gd name="T65" fmla="*/ 181 h 185"/>
              <a:gd name="T66" fmla="*/ 42 w 326"/>
              <a:gd name="T67" fmla="*/ 175 h 185"/>
              <a:gd name="T68" fmla="*/ 42 w 326"/>
              <a:gd name="T69" fmla="*/ 171 h 185"/>
              <a:gd name="T70" fmla="*/ 41 w 326"/>
              <a:gd name="T71" fmla="*/ 172 h 185"/>
              <a:gd name="T72" fmla="*/ 39 w 326"/>
              <a:gd name="T73" fmla="*/ 179 h 185"/>
              <a:gd name="T74" fmla="*/ 36 w 326"/>
              <a:gd name="T75" fmla="*/ 185 h 185"/>
              <a:gd name="T76" fmla="*/ 34 w 326"/>
              <a:gd name="T77" fmla="*/ 185 h 185"/>
              <a:gd name="T78" fmla="*/ 33 w 326"/>
              <a:gd name="T79" fmla="*/ 170 h 185"/>
              <a:gd name="T80" fmla="*/ 32 w 326"/>
              <a:gd name="T81" fmla="*/ 167 h 185"/>
              <a:gd name="T82" fmla="*/ 32 w 326"/>
              <a:gd name="T83" fmla="*/ 171 h 185"/>
              <a:gd name="T84" fmla="*/ 30 w 326"/>
              <a:gd name="T85" fmla="*/ 179 h 185"/>
              <a:gd name="T86" fmla="*/ 30 w 326"/>
              <a:gd name="T87" fmla="*/ 179 h 185"/>
              <a:gd name="T88" fmla="*/ 29 w 326"/>
              <a:gd name="T89" fmla="*/ 172 h 185"/>
              <a:gd name="T90" fmla="*/ 28 w 326"/>
              <a:gd name="T91" fmla="*/ 172 h 185"/>
              <a:gd name="T92" fmla="*/ 28 w 326"/>
              <a:gd name="T93" fmla="*/ 180 h 185"/>
              <a:gd name="T94" fmla="*/ 28 w 326"/>
              <a:gd name="T95" fmla="*/ 181 h 185"/>
              <a:gd name="T96" fmla="*/ 16 w 326"/>
              <a:gd name="T97" fmla="*/ 157 h 185"/>
              <a:gd name="T98" fmla="*/ 25 w 326"/>
              <a:gd name="T99" fmla="*/ 127 h 185"/>
              <a:gd name="T100" fmla="*/ 24 w 326"/>
              <a:gd name="T101" fmla="*/ 126 h 185"/>
              <a:gd name="T102" fmla="*/ 24 w 326"/>
              <a:gd name="T103" fmla="*/ 122 h 185"/>
              <a:gd name="T104" fmla="*/ 27 w 326"/>
              <a:gd name="T105" fmla="*/ 121 h 185"/>
              <a:gd name="T106" fmla="*/ 25 w 326"/>
              <a:gd name="T107" fmla="*/ 116 h 185"/>
              <a:gd name="T108" fmla="*/ 25 w 326"/>
              <a:gd name="T109" fmla="*/ 112 h 185"/>
              <a:gd name="T110" fmla="*/ 28 w 326"/>
              <a:gd name="T111" fmla="*/ 108 h 185"/>
              <a:gd name="T112" fmla="*/ 30 w 326"/>
              <a:gd name="T113" fmla="*/ 110 h 185"/>
              <a:gd name="T114" fmla="*/ 33 w 326"/>
              <a:gd name="T115" fmla="*/ 108 h 185"/>
              <a:gd name="T116" fmla="*/ 32 w 326"/>
              <a:gd name="T117" fmla="*/ 67 h 185"/>
              <a:gd name="T118" fmla="*/ 2 w 326"/>
              <a:gd name="T119" fmla="*/ 55 h 185"/>
              <a:gd name="T120" fmla="*/ 0 w 326"/>
              <a:gd name="T121" fmla="*/ 52 h 185"/>
              <a:gd name="T122" fmla="*/ 1 w 326"/>
              <a:gd name="T123" fmla="*/ 47 h 185"/>
              <a:gd name="T124" fmla="*/ 159 w 326"/>
              <a:gd name="T125" fmla="*/ 0 h 1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26" h="185">
                <a:moveTo>
                  <a:pt x="248" y="93"/>
                </a:moveTo>
                <a:lnTo>
                  <a:pt x="250" y="94"/>
                </a:lnTo>
                <a:lnTo>
                  <a:pt x="251" y="95"/>
                </a:lnTo>
                <a:lnTo>
                  <a:pt x="253" y="98"/>
                </a:lnTo>
                <a:lnTo>
                  <a:pt x="253" y="138"/>
                </a:lnTo>
                <a:lnTo>
                  <a:pt x="249" y="148"/>
                </a:lnTo>
                <a:lnTo>
                  <a:pt x="239" y="157"/>
                </a:lnTo>
                <a:lnTo>
                  <a:pt x="225" y="163"/>
                </a:lnTo>
                <a:lnTo>
                  <a:pt x="207" y="168"/>
                </a:lnTo>
                <a:lnTo>
                  <a:pt x="185" y="171"/>
                </a:lnTo>
                <a:lnTo>
                  <a:pt x="163" y="172"/>
                </a:lnTo>
                <a:lnTo>
                  <a:pt x="142" y="171"/>
                </a:lnTo>
                <a:lnTo>
                  <a:pt x="120" y="168"/>
                </a:lnTo>
                <a:lnTo>
                  <a:pt x="102" y="163"/>
                </a:lnTo>
                <a:lnTo>
                  <a:pt x="87" y="157"/>
                </a:lnTo>
                <a:lnTo>
                  <a:pt x="78" y="148"/>
                </a:lnTo>
                <a:lnTo>
                  <a:pt x="74" y="138"/>
                </a:lnTo>
                <a:lnTo>
                  <a:pt x="74" y="99"/>
                </a:lnTo>
                <a:lnTo>
                  <a:pt x="75" y="97"/>
                </a:lnTo>
                <a:lnTo>
                  <a:pt x="76" y="94"/>
                </a:lnTo>
                <a:lnTo>
                  <a:pt x="79" y="93"/>
                </a:lnTo>
                <a:lnTo>
                  <a:pt x="82" y="94"/>
                </a:lnTo>
                <a:lnTo>
                  <a:pt x="158" y="125"/>
                </a:lnTo>
                <a:lnTo>
                  <a:pt x="163" y="126"/>
                </a:lnTo>
                <a:lnTo>
                  <a:pt x="168" y="125"/>
                </a:lnTo>
                <a:lnTo>
                  <a:pt x="245" y="93"/>
                </a:lnTo>
                <a:lnTo>
                  <a:pt x="248" y="93"/>
                </a:lnTo>
                <a:close/>
                <a:moveTo>
                  <a:pt x="163" y="0"/>
                </a:moveTo>
                <a:lnTo>
                  <a:pt x="167" y="0"/>
                </a:lnTo>
                <a:lnTo>
                  <a:pt x="322" y="46"/>
                </a:lnTo>
                <a:lnTo>
                  <a:pt x="324" y="47"/>
                </a:lnTo>
                <a:lnTo>
                  <a:pt x="326" y="50"/>
                </a:lnTo>
                <a:lnTo>
                  <a:pt x="326" y="52"/>
                </a:lnTo>
                <a:lnTo>
                  <a:pt x="324" y="53"/>
                </a:lnTo>
                <a:lnTo>
                  <a:pt x="323" y="55"/>
                </a:lnTo>
                <a:lnTo>
                  <a:pt x="168" y="120"/>
                </a:lnTo>
                <a:lnTo>
                  <a:pt x="163" y="121"/>
                </a:lnTo>
                <a:lnTo>
                  <a:pt x="157" y="120"/>
                </a:lnTo>
                <a:lnTo>
                  <a:pt x="43" y="72"/>
                </a:lnTo>
                <a:lnTo>
                  <a:pt x="42" y="72"/>
                </a:lnTo>
                <a:lnTo>
                  <a:pt x="39" y="74"/>
                </a:lnTo>
                <a:lnTo>
                  <a:pt x="39" y="75"/>
                </a:lnTo>
                <a:lnTo>
                  <a:pt x="39" y="110"/>
                </a:lnTo>
                <a:lnTo>
                  <a:pt x="39" y="110"/>
                </a:lnTo>
                <a:lnTo>
                  <a:pt x="41" y="111"/>
                </a:lnTo>
                <a:lnTo>
                  <a:pt x="42" y="110"/>
                </a:lnTo>
                <a:lnTo>
                  <a:pt x="43" y="110"/>
                </a:lnTo>
                <a:lnTo>
                  <a:pt x="45" y="110"/>
                </a:lnTo>
                <a:lnTo>
                  <a:pt x="45" y="111"/>
                </a:lnTo>
                <a:lnTo>
                  <a:pt x="46" y="112"/>
                </a:lnTo>
                <a:lnTo>
                  <a:pt x="46" y="115"/>
                </a:lnTo>
                <a:lnTo>
                  <a:pt x="46" y="116"/>
                </a:lnTo>
                <a:lnTo>
                  <a:pt x="46" y="120"/>
                </a:lnTo>
                <a:lnTo>
                  <a:pt x="45" y="122"/>
                </a:lnTo>
                <a:lnTo>
                  <a:pt x="45" y="124"/>
                </a:lnTo>
                <a:lnTo>
                  <a:pt x="46" y="124"/>
                </a:lnTo>
                <a:lnTo>
                  <a:pt x="47" y="125"/>
                </a:lnTo>
                <a:lnTo>
                  <a:pt x="46" y="126"/>
                </a:lnTo>
                <a:lnTo>
                  <a:pt x="45" y="127"/>
                </a:lnTo>
                <a:lnTo>
                  <a:pt x="45" y="127"/>
                </a:lnTo>
                <a:lnTo>
                  <a:pt x="50" y="138"/>
                </a:lnTo>
                <a:lnTo>
                  <a:pt x="52" y="149"/>
                </a:lnTo>
                <a:lnTo>
                  <a:pt x="52" y="161"/>
                </a:lnTo>
                <a:lnTo>
                  <a:pt x="50" y="171"/>
                </a:lnTo>
                <a:lnTo>
                  <a:pt x="42" y="180"/>
                </a:lnTo>
                <a:lnTo>
                  <a:pt x="42" y="181"/>
                </a:lnTo>
                <a:lnTo>
                  <a:pt x="42" y="180"/>
                </a:lnTo>
                <a:lnTo>
                  <a:pt x="42" y="175"/>
                </a:lnTo>
                <a:lnTo>
                  <a:pt x="42" y="172"/>
                </a:lnTo>
                <a:lnTo>
                  <a:pt x="42" y="171"/>
                </a:lnTo>
                <a:lnTo>
                  <a:pt x="42" y="171"/>
                </a:lnTo>
                <a:lnTo>
                  <a:pt x="41" y="172"/>
                </a:lnTo>
                <a:lnTo>
                  <a:pt x="41" y="175"/>
                </a:lnTo>
                <a:lnTo>
                  <a:pt x="39" y="179"/>
                </a:lnTo>
                <a:lnTo>
                  <a:pt x="37" y="182"/>
                </a:lnTo>
                <a:lnTo>
                  <a:pt x="36" y="185"/>
                </a:lnTo>
                <a:lnTo>
                  <a:pt x="34" y="185"/>
                </a:lnTo>
                <a:lnTo>
                  <a:pt x="34" y="185"/>
                </a:lnTo>
                <a:lnTo>
                  <a:pt x="33" y="173"/>
                </a:lnTo>
                <a:lnTo>
                  <a:pt x="33" y="170"/>
                </a:lnTo>
                <a:lnTo>
                  <a:pt x="33" y="168"/>
                </a:lnTo>
                <a:lnTo>
                  <a:pt x="32" y="167"/>
                </a:lnTo>
                <a:lnTo>
                  <a:pt x="32" y="168"/>
                </a:lnTo>
                <a:lnTo>
                  <a:pt x="32" y="171"/>
                </a:lnTo>
                <a:lnTo>
                  <a:pt x="32" y="179"/>
                </a:lnTo>
                <a:lnTo>
                  <a:pt x="30" y="179"/>
                </a:lnTo>
                <a:lnTo>
                  <a:pt x="30" y="180"/>
                </a:lnTo>
                <a:lnTo>
                  <a:pt x="30" y="179"/>
                </a:lnTo>
                <a:lnTo>
                  <a:pt x="29" y="175"/>
                </a:lnTo>
                <a:lnTo>
                  <a:pt x="29" y="172"/>
                </a:lnTo>
                <a:lnTo>
                  <a:pt x="28" y="172"/>
                </a:lnTo>
                <a:lnTo>
                  <a:pt x="28" y="172"/>
                </a:lnTo>
                <a:lnTo>
                  <a:pt x="28" y="175"/>
                </a:lnTo>
                <a:lnTo>
                  <a:pt x="28" y="180"/>
                </a:lnTo>
                <a:lnTo>
                  <a:pt x="28" y="181"/>
                </a:lnTo>
                <a:lnTo>
                  <a:pt x="28" y="181"/>
                </a:lnTo>
                <a:lnTo>
                  <a:pt x="19" y="170"/>
                </a:lnTo>
                <a:lnTo>
                  <a:pt x="16" y="157"/>
                </a:lnTo>
                <a:lnTo>
                  <a:pt x="19" y="141"/>
                </a:lnTo>
                <a:lnTo>
                  <a:pt x="25" y="127"/>
                </a:lnTo>
                <a:lnTo>
                  <a:pt x="25" y="126"/>
                </a:lnTo>
                <a:lnTo>
                  <a:pt x="24" y="126"/>
                </a:lnTo>
                <a:lnTo>
                  <a:pt x="24" y="124"/>
                </a:lnTo>
                <a:lnTo>
                  <a:pt x="24" y="122"/>
                </a:lnTo>
                <a:lnTo>
                  <a:pt x="25" y="122"/>
                </a:lnTo>
                <a:lnTo>
                  <a:pt x="27" y="121"/>
                </a:lnTo>
                <a:lnTo>
                  <a:pt x="25" y="118"/>
                </a:lnTo>
                <a:lnTo>
                  <a:pt x="25" y="116"/>
                </a:lnTo>
                <a:lnTo>
                  <a:pt x="25" y="113"/>
                </a:lnTo>
                <a:lnTo>
                  <a:pt x="25" y="112"/>
                </a:lnTo>
                <a:lnTo>
                  <a:pt x="27" y="110"/>
                </a:lnTo>
                <a:lnTo>
                  <a:pt x="28" y="108"/>
                </a:lnTo>
                <a:lnTo>
                  <a:pt x="30" y="108"/>
                </a:lnTo>
                <a:lnTo>
                  <a:pt x="30" y="110"/>
                </a:lnTo>
                <a:lnTo>
                  <a:pt x="32" y="108"/>
                </a:lnTo>
                <a:lnTo>
                  <a:pt x="33" y="108"/>
                </a:lnTo>
                <a:lnTo>
                  <a:pt x="33" y="70"/>
                </a:lnTo>
                <a:lnTo>
                  <a:pt x="32" y="67"/>
                </a:lnTo>
                <a:lnTo>
                  <a:pt x="30" y="66"/>
                </a:lnTo>
                <a:lnTo>
                  <a:pt x="2" y="55"/>
                </a:lnTo>
                <a:lnTo>
                  <a:pt x="1" y="53"/>
                </a:lnTo>
                <a:lnTo>
                  <a:pt x="0" y="52"/>
                </a:lnTo>
                <a:lnTo>
                  <a:pt x="0" y="50"/>
                </a:lnTo>
                <a:lnTo>
                  <a:pt x="1" y="47"/>
                </a:lnTo>
                <a:lnTo>
                  <a:pt x="4" y="46"/>
                </a:lnTo>
                <a:lnTo>
                  <a:pt x="159" y="0"/>
                </a:lnTo>
                <a:lnTo>
                  <a:pt x="163" y="0"/>
                </a:lnTo>
                <a:close/>
              </a:path>
            </a:pathLst>
          </a:custGeom>
          <a:solidFill>
            <a:schemeClr val="bg1">
              <a:alpha val="10000"/>
            </a:schemeClr>
          </a:solidFill>
          <a:ln w="0">
            <a:noFill/>
            <a:prstDash val="solid"/>
            <a:round/>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微软雅黑" panose="020B0503020204020204" pitchFamily="34" charset="-122"/>
              <a:ea typeface="宋体" panose="02010600030101010101" pitchFamily="2" charset="-122"/>
              <a:cs typeface="+mn-cs"/>
            </a:endParaRPr>
          </a:p>
        </p:txBody>
      </p:sp>
      <p:sp>
        <p:nvSpPr>
          <p:cNvPr id="21" name="Freeform 345"/>
          <p:cNvSpPr>
            <a:spLocks noEditPoints="1"/>
          </p:cNvSpPr>
          <p:nvPr userDrawn="1"/>
        </p:nvSpPr>
        <p:spPr bwMode="auto">
          <a:xfrm rot="19951744">
            <a:off x="485337" y="1535222"/>
            <a:ext cx="2166226" cy="3066048"/>
          </a:xfrm>
          <a:custGeom>
            <a:avLst/>
            <a:gdLst>
              <a:gd name="T0" fmla="*/ 190 w 195"/>
              <a:gd name="T1" fmla="*/ 163 h 276"/>
              <a:gd name="T2" fmla="*/ 195 w 195"/>
              <a:gd name="T3" fmla="*/ 174 h 276"/>
              <a:gd name="T4" fmla="*/ 192 w 195"/>
              <a:gd name="T5" fmla="*/ 180 h 276"/>
              <a:gd name="T6" fmla="*/ 105 w 195"/>
              <a:gd name="T7" fmla="*/ 212 h 276"/>
              <a:gd name="T8" fmla="*/ 98 w 195"/>
              <a:gd name="T9" fmla="*/ 202 h 276"/>
              <a:gd name="T10" fmla="*/ 101 w 195"/>
              <a:gd name="T11" fmla="*/ 195 h 276"/>
              <a:gd name="T12" fmla="*/ 187 w 195"/>
              <a:gd name="T13" fmla="*/ 160 h 276"/>
              <a:gd name="T14" fmla="*/ 20 w 195"/>
              <a:gd name="T15" fmla="*/ 147 h 276"/>
              <a:gd name="T16" fmla="*/ 15 w 195"/>
              <a:gd name="T17" fmla="*/ 157 h 276"/>
              <a:gd name="T18" fmla="*/ 20 w 195"/>
              <a:gd name="T19" fmla="*/ 168 h 276"/>
              <a:gd name="T20" fmla="*/ 32 w 195"/>
              <a:gd name="T21" fmla="*/ 169 h 276"/>
              <a:gd name="T22" fmla="*/ 40 w 195"/>
              <a:gd name="T23" fmla="*/ 161 h 276"/>
              <a:gd name="T24" fmla="*/ 37 w 195"/>
              <a:gd name="T25" fmla="*/ 150 h 276"/>
              <a:gd name="T26" fmla="*/ 27 w 195"/>
              <a:gd name="T27" fmla="*/ 145 h 276"/>
              <a:gd name="T28" fmla="*/ 102 w 195"/>
              <a:gd name="T29" fmla="*/ 2 h 276"/>
              <a:gd name="T30" fmla="*/ 105 w 195"/>
              <a:gd name="T31" fmla="*/ 12 h 276"/>
              <a:gd name="T32" fmla="*/ 100 w 195"/>
              <a:gd name="T33" fmla="*/ 14 h 276"/>
              <a:gd name="T34" fmla="*/ 151 w 195"/>
              <a:gd name="T35" fmla="*/ 146 h 276"/>
              <a:gd name="T36" fmla="*/ 148 w 195"/>
              <a:gd name="T37" fmla="*/ 149 h 276"/>
              <a:gd name="T38" fmla="*/ 147 w 195"/>
              <a:gd name="T39" fmla="*/ 151 h 276"/>
              <a:gd name="T40" fmla="*/ 148 w 195"/>
              <a:gd name="T41" fmla="*/ 160 h 276"/>
              <a:gd name="T42" fmla="*/ 144 w 195"/>
              <a:gd name="T43" fmla="*/ 166 h 276"/>
              <a:gd name="T44" fmla="*/ 129 w 195"/>
              <a:gd name="T45" fmla="*/ 169 h 276"/>
              <a:gd name="T46" fmla="*/ 124 w 195"/>
              <a:gd name="T47" fmla="*/ 161 h 276"/>
              <a:gd name="T48" fmla="*/ 120 w 195"/>
              <a:gd name="T49" fmla="*/ 160 h 276"/>
              <a:gd name="T50" fmla="*/ 118 w 195"/>
              <a:gd name="T51" fmla="*/ 160 h 276"/>
              <a:gd name="T52" fmla="*/ 91 w 195"/>
              <a:gd name="T53" fmla="*/ 97 h 276"/>
              <a:gd name="T54" fmla="*/ 84 w 195"/>
              <a:gd name="T55" fmla="*/ 97 h 276"/>
              <a:gd name="T56" fmla="*/ 52 w 195"/>
              <a:gd name="T57" fmla="*/ 136 h 276"/>
              <a:gd name="T58" fmla="*/ 55 w 195"/>
              <a:gd name="T59" fmla="*/ 151 h 276"/>
              <a:gd name="T60" fmla="*/ 52 w 195"/>
              <a:gd name="T61" fmla="*/ 170 h 276"/>
              <a:gd name="T62" fmla="*/ 46 w 195"/>
              <a:gd name="T63" fmla="*/ 180 h 276"/>
              <a:gd name="T64" fmla="*/ 59 w 195"/>
              <a:gd name="T65" fmla="*/ 216 h 276"/>
              <a:gd name="T66" fmla="*/ 87 w 195"/>
              <a:gd name="T67" fmla="*/ 243 h 276"/>
              <a:gd name="T68" fmla="*/ 185 w 195"/>
              <a:gd name="T69" fmla="*/ 244 h 276"/>
              <a:gd name="T70" fmla="*/ 193 w 195"/>
              <a:gd name="T71" fmla="*/ 256 h 276"/>
              <a:gd name="T72" fmla="*/ 189 w 195"/>
              <a:gd name="T73" fmla="*/ 274 h 276"/>
              <a:gd name="T74" fmla="*/ 22 w 195"/>
              <a:gd name="T75" fmla="*/ 276 h 276"/>
              <a:gd name="T76" fmla="*/ 12 w 195"/>
              <a:gd name="T77" fmla="*/ 270 h 276"/>
              <a:gd name="T78" fmla="*/ 12 w 195"/>
              <a:gd name="T79" fmla="*/ 251 h 276"/>
              <a:gd name="T80" fmla="*/ 22 w 195"/>
              <a:gd name="T81" fmla="*/ 244 h 276"/>
              <a:gd name="T82" fmla="*/ 29 w 195"/>
              <a:gd name="T83" fmla="*/ 241 h 276"/>
              <a:gd name="T84" fmla="*/ 17 w 195"/>
              <a:gd name="T85" fmla="*/ 210 h 276"/>
              <a:gd name="T86" fmla="*/ 8 w 195"/>
              <a:gd name="T87" fmla="*/ 177 h 276"/>
              <a:gd name="T88" fmla="*/ 0 w 195"/>
              <a:gd name="T89" fmla="*/ 157 h 276"/>
              <a:gd name="T90" fmla="*/ 15 w 195"/>
              <a:gd name="T91" fmla="*/ 131 h 276"/>
              <a:gd name="T92" fmla="*/ 38 w 195"/>
              <a:gd name="T93" fmla="*/ 91 h 276"/>
              <a:gd name="T94" fmla="*/ 75 w 195"/>
              <a:gd name="T95" fmla="*/ 62 h 276"/>
              <a:gd name="T96" fmla="*/ 65 w 195"/>
              <a:gd name="T97" fmla="*/ 31 h 276"/>
              <a:gd name="T98" fmla="*/ 61 w 195"/>
              <a:gd name="T99" fmla="*/ 30 h 276"/>
              <a:gd name="T100" fmla="*/ 56 w 195"/>
              <a:gd name="T101" fmla="*/ 31 h 276"/>
              <a:gd name="T102" fmla="*/ 52 w 195"/>
              <a:gd name="T103" fmla="*/ 20 h 276"/>
              <a:gd name="T104" fmla="*/ 59 w 195"/>
              <a:gd name="T105" fmla="*/ 16 h 276"/>
              <a:gd name="T106" fmla="*/ 101 w 195"/>
              <a:gd name="T107" fmla="*/ 0 h 2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95" h="276">
                <a:moveTo>
                  <a:pt x="187" y="160"/>
                </a:moveTo>
                <a:lnTo>
                  <a:pt x="189" y="161"/>
                </a:lnTo>
                <a:lnTo>
                  <a:pt x="190" y="163"/>
                </a:lnTo>
                <a:lnTo>
                  <a:pt x="193" y="165"/>
                </a:lnTo>
                <a:lnTo>
                  <a:pt x="195" y="172"/>
                </a:lnTo>
                <a:lnTo>
                  <a:pt x="195" y="174"/>
                </a:lnTo>
                <a:lnTo>
                  <a:pt x="195" y="177"/>
                </a:lnTo>
                <a:lnTo>
                  <a:pt x="193" y="178"/>
                </a:lnTo>
                <a:lnTo>
                  <a:pt x="192" y="180"/>
                </a:lnTo>
                <a:lnTo>
                  <a:pt x="110" y="212"/>
                </a:lnTo>
                <a:lnTo>
                  <a:pt x="107" y="212"/>
                </a:lnTo>
                <a:lnTo>
                  <a:pt x="105" y="212"/>
                </a:lnTo>
                <a:lnTo>
                  <a:pt x="103" y="211"/>
                </a:lnTo>
                <a:lnTo>
                  <a:pt x="101" y="209"/>
                </a:lnTo>
                <a:lnTo>
                  <a:pt x="98" y="202"/>
                </a:lnTo>
                <a:lnTo>
                  <a:pt x="98" y="200"/>
                </a:lnTo>
                <a:lnTo>
                  <a:pt x="98" y="197"/>
                </a:lnTo>
                <a:lnTo>
                  <a:pt x="101" y="195"/>
                </a:lnTo>
                <a:lnTo>
                  <a:pt x="102" y="193"/>
                </a:lnTo>
                <a:lnTo>
                  <a:pt x="184" y="161"/>
                </a:lnTo>
                <a:lnTo>
                  <a:pt x="187" y="160"/>
                </a:lnTo>
                <a:close/>
                <a:moveTo>
                  <a:pt x="27" y="145"/>
                </a:moveTo>
                <a:lnTo>
                  <a:pt x="23" y="145"/>
                </a:lnTo>
                <a:lnTo>
                  <a:pt x="20" y="147"/>
                </a:lnTo>
                <a:lnTo>
                  <a:pt x="17" y="150"/>
                </a:lnTo>
                <a:lnTo>
                  <a:pt x="15" y="154"/>
                </a:lnTo>
                <a:lnTo>
                  <a:pt x="15" y="157"/>
                </a:lnTo>
                <a:lnTo>
                  <a:pt x="15" y="161"/>
                </a:lnTo>
                <a:lnTo>
                  <a:pt x="17" y="165"/>
                </a:lnTo>
                <a:lnTo>
                  <a:pt x="20" y="168"/>
                </a:lnTo>
                <a:lnTo>
                  <a:pt x="23" y="169"/>
                </a:lnTo>
                <a:lnTo>
                  <a:pt x="27" y="170"/>
                </a:lnTo>
                <a:lnTo>
                  <a:pt x="32" y="169"/>
                </a:lnTo>
                <a:lnTo>
                  <a:pt x="35" y="168"/>
                </a:lnTo>
                <a:lnTo>
                  <a:pt x="37" y="165"/>
                </a:lnTo>
                <a:lnTo>
                  <a:pt x="40" y="161"/>
                </a:lnTo>
                <a:lnTo>
                  <a:pt x="40" y="157"/>
                </a:lnTo>
                <a:lnTo>
                  <a:pt x="40" y="154"/>
                </a:lnTo>
                <a:lnTo>
                  <a:pt x="37" y="150"/>
                </a:lnTo>
                <a:lnTo>
                  <a:pt x="35" y="147"/>
                </a:lnTo>
                <a:lnTo>
                  <a:pt x="32" y="145"/>
                </a:lnTo>
                <a:lnTo>
                  <a:pt x="27" y="145"/>
                </a:lnTo>
                <a:close/>
                <a:moveTo>
                  <a:pt x="101" y="0"/>
                </a:moveTo>
                <a:lnTo>
                  <a:pt x="102" y="0"/>
                </a:lnTo>
                <a:lnTo>
                  <a:pt x="102" y="2"/>
                </a:lnTo>
                <a:lnTo>
                  <a:pt x="106" y="9"/>
                </a:lnTo>
                <a:lnTo>
                  <a:pt x="106" y="11"/>
                </a:lnTo>
                <a:lnTo>
                  <a:pt x="105" y="12"/>
                </a:lnTo>
                <a:lnTo>
                  <a:pt x="103" y="13"/>
                </a:lnTo>
                <a:lnTo>
                  <a:pt x="101" y="14"/>
                </a:lnTo>
                <a:lnTo>
                  <a:pt x="100" y="14"/>
                </a:lnTo>
                <a:lnTo>
                  <a:pt x="100" y="16"/>
                </a:lnTo>
                <a:lnTo>
                  <a:pt x="100" y="18"/>
                </a:lnTo>
                <a:lnTo>
                  <a:pt x="151" y="146"/>
                </a:lnTo>
                <a:lnTo>
                  <a:pt x="151" y="147"/>
                </a:lnTo>
                <a:lnTo>
                  <a:pt x="149" y="149"/>
                </a:lnTo>
                <a:lnTo>
                  <a:pt x="148" y="149"/>
                </a:lnTo>
                <a:lnTo>
                  <a:pt x="148" y="150"/>
                </a:lnTo>
                <a:lnTo>
                  <a:pt x="147" y="150"/>
                </a:lnTo>
                <a:lnTo>
                  <a:pt x="147" y="151"/>
                </a:lnTo>
                <a:lnTo>
                  <a:pt x="147" y="152"/>
                </a:lnTo>
                <a:lnTo>
                  <a:pt x="148" y="157"/>
                </a:lnTo>
                <a:lnTo>
                  <a:pt x="148" y="160"/>
                </a:lnTo>
                <a:lnTo>
                  <a:pt x="148" y="163"/>
                </a:lnTo>
                <a:lnTo>
                  <a:pt x="147" y="164"/>
                </a:lnTo>
                <a:lnTo>
                  <a:pt x="144" y="166"/>
                </a:lnTo>
                <a:lnTo>
                  <a:pt x="134" y="169"/>
                </a:lnTo>
                <a:lnTo>
                  <a:pt x="132" y="170"/>
                </a:lnTo>
                <a:lnTo>
                  <a:pt x="129" y="169"/>
                </a:lnTo>
                <a:lnTo>
                  <a:pt x="128" y="168"/>
                </a:lnTo>
                <a:lnTo>
                  <a:pt x="125" y="165"/>
                </a:lnTo>
                <a:lnTo>
                  <a:pt x="124" y="161"/>
                </a:lnTo>
                <a:lnTo>
                  <a:pt x="124" y="161"/>
                </a:lnTo>
                <a:lnTo>
                  <a:pt x="123" y="160"/>
                </a:lnTo>
                <a:lnTo>
                  <a:pt x="120" y="160"/>
                </a:lnTo>
                <a:lnTo>
                  <a:pt x="120" y="160"/>
                </a:lnTo>
                <a:lnTo>
                  <a:pt x="119" y="161"/>
                </a:lnTo>
                <a:lnTo>
                  <a:pt x="118" y="160"/>
                </a:lnTo>
                <a:lnTo>
                  <a:pt x="116" y="159"/>
                </a:lnTo>
                <a:lnTo>
                  <a:pt x="93" y="100"/>
                </a:lnTo>
                <a:lnTo>
                  <a:pt x="91" y="97"/>
                </a:lnTo>
                <a:lnTo>
                  <a:pt x="89" y="96"/>
                </a:lnTo>
                <a:lnTo>
                  <a:pt x="87" y="96"/>
                </a:lnTo>
                <a:lnTo>
                  <a:pt x="84" y="97"/>
                </a:lnTo>
                <a:lnTo>
                  <a:pt x="70" y="108"/>
                </a:lnTo>
                <a:lnTo>
                  <a:pt x="60" y="120"/>
                </a:lnTo>
                <a:lnTo>
                  <a:pt x="52" y="136"/>
                </a:lnTo>
                <a:lnTo>
                  <a:pt x="51" y="140"/>
                </a:lnTo>
                <a:lnTo>
                  <a:pt x="52" y="145"/>
                </a:lnTo>
                <a:lnTo>
                  <a:pt x="55" y="151"/>
                </a:lnTo>
                <a:lnTo>
                  <a:pt x="55" y="157"/>
                </a:lnTo>
                <a:lnTo>
                  <a:pt x="55" y="164"/>
                </a:lnTo>
                <a:lnTo>
                  <a:pt x="52" y="170"/>
                </a:lnTo>
                <a:lnTo>
                  <a:pt x="49" y="175"/>
                </a:lnTo>
                <a:lnTo>
                  <a:pt x="47" y="178"/>
                </a:lnTo>
                <a:lnTo>
                  <a:pt x="46" y="180"/>
                </a:lnTo>
                <a:lnTo>
                  <a:pt x="46" y="184"/>
                </a:lnTo>
                <a:lnTo>
                  <a:pt x="51" y="201"/>
                </a:lnTo>
                <a:lnTo>
                  <a:pt x="59" y="216"/>
                </a:lnTo>
                <a:lnTo>
                  <a:pt x="69" y="230"/>
                </a:lnTo>
                <a:lnTo>
                  <a:pt x="83" y="242"/>
                </a:lnTo>
                <a:lnTo>
                  <a:pt x="87" y="243"/>
                </a:lnTo>
                <a:lnTo>
                  <a:pt x="89" y="244"/>
                </a:lnTo>
                <a:lnTo>
                  <a:pt x="181" y="244"/>
                </a:lnTo>
                <a:lnTo>
                  <a:pt x="185" y="244"/>
                </a:lnTo>
                <a:lnTo>
                  <a:pt x="189" y="247"/>
                </a:lnTo>
                <a:lnTo>
                  <a:pt x="192" y="251"/>
                </a:lnTo>
                <a:lnTo>
                  <a:pt x="193" y="256"/>
                </a:lnTo>
                <a:lnTo>
                  <a:pt x="193" y="265"/>
                </a:lnTo>
                <a:lnTo>
                  <a:pt x="192" y="270"/>
                </a:lnTo>
                <a:lnTo>
                  <a:pt x="189" y="274"/>
                </a:lnTo>
                <a:lnTo>
                  <a:pt x="185" y="276"/>
                </a:lnTo>
                <a:lnTo>
                  <a:pt x="181" y="276"/>
                </a:lnTo>
                <a:lnTo>
                  <a:pt x="22" y="276"/>
                </a:lnTo>
                <a:lnTo>
                  <a:pt x="18" y="276"/>
                </a:lnTo>
                <a:lnTo>
                  <a:pt x="14" y="274"/>
                </a:lnTo>
                <a:lnTo>
                  <a:pt x="12" y="270"/>
                </a:lnTo>
                <a:lnTo>
                  <a:pt x="10" y="265"/>
                </a:lnTo>
                <a:lnTo>
                  <a:pt x="10" y="256"/>
                </a:lnTo>
                <a:lnTo>
                  <a:pt x="12" y="251"/>
                </a:lnTo>
                <a:lnTo>
                  <a:pt x="14" y="247"/>
                </a:lnTo>
                <a:lnTo>
                  <a:pt x="18" y="244"/>
                </a:lnTo>
                <a:lnTo>
                  <a:pt x="22" y="244"/>
                </a:lnTo>
                <a:lnTo>
                  <a:pt x="24" y="244"/>
                </a:lnTo>
                <a:lnTo>
                  <a:pt x="27" y="243"/>
                </a:lnTo>
                <a:lnTo>
                  <a:pt x="29" y="241"/>
                </a:lnTo>
                <a:lnTo>
                  <a:pt x="29" y="238"/>
                </a:lnTo>
                <a:lnTo>
                  <a:pt x="28" y="235"/>
                </a:lnTo>
                <a:lnTo>
                  <a:pt x="17" y="210"/>
                </a:lnTo>
                <a:lnTo>
                  <a:pt x="10" y="183"/>
                </a:lnTo>
                <a:lnTo>
                  <a:pt x="9" y="179"/>
                </a:lnTo>
                <a:lnTo>
                  <a:pt x="8" y="177"/>
                </a:lnTo>
                <a:lnTo>
                  <a:pt x="4" y="170"/>
                </a:lnTo>
                <a:lnTo>
                  <a:pt x="0" y="164"/>
                </a:lnTo>
                <a:lnTo>
                  <a:pt x="0" y="157"/>
                </a:lnTo>
                <a:lnTo>
                  <a:pt x="3" y="143"/>
                </a:lnTo>
                <a:lnTo>
                  <a:pt x="13" y="133"/>
                </a:lnTo>
                <a:lnTo>
                  <a:pt x="15" y="131"/>
                </a:lnTo>
                <a:lnTo>
                  <a:pt x="17" y="128"/>
                </a:lnTo>
                <a:lnTo>
                  <a:pt x="27" y="109"/>
                </a:lnTo>
                <a:lnTo>
                  <a:pt x="38" y="91"/>
                </a:lnTo>
                <a:lnTo>
                  <a:pt x="54" y="76"/>
                </a:lnTo>
                <a:lnTo>
                  <a:pt x="73" y="63"/>
                </a:lnTo>
                <a:lnTo>
                  <a:pt x="75" y="62"/>
                </a:lnTo>
                <a:lnTo>
                  <a:pt x="75" y="59"/>
                </a:lnTo>
                <a:lnTo>
                  <a:pt x="75" y="57"/>
                </a:lnTo>
                <a:lnTo>
                  <a:pt x="65" y="31"/>
                </a:lnTo>
                <a:lnTo>
                  <a:pt x="65" y="30"/>
                </a:lnTo>
                <a:lnTo>
                  <a:pt x="64" y="30"/>
                </a:lnTo>
                <a:lnTo>
                  <a:pt x="61" y="30"/>
                </a:lnTo>
                <a:lnTo>
                  <a:pt x="59" y="31"/>
                </a:lnTo>
                <a:lnTo>
                  <a:pt x="58" y="31"/>
                </a:lnTo>
                <a:lnTo>
                  <a:pt x="56" y="31"/>
                </a:lnTo>
                <a:lnTo>
                  <a:pt x="55" y="30"/>
                </a:lnTo>
                <a:lnTo>
                  <a:pt x="52" y="22"/>
                </a:lnTo>
                <a:lnTo>
                  <a:pt x="52" y="20"/>
                </a:lnTo>
                <a:lnTo>
                  <a:pt x="52" y="18"/>
                </a:lnTo>
                <a:lnTo>
                  <a:pt x="54" y="18"/>
                </a:lnTo>
                <a:lnTo>
                  <a:pt x="59" y="16"/>
                </a:lnTo>
                <a:lnTo>
                  <a:pt x="93" y="2"/>
                </a:lnTo>
                <a:lnTo>
                  <a:pt x="98" y="0"/>
                </a:lnTo>
                <a:lnTo>
                  <a:pt x="101" y="0"/>
                </a:lnTo>
                <a:close/>
              </a:path>
            </a:pathLst>
          </a:custGeom>
          <a:solidFill>
            <a:schemeClr val="bg1">
              <a:alpha val="10000"/>
            </a:schemeClr>
          </a:solidFill>
          <a:ln w="0">
            <a:noFill/>
            <a:prstDash val="solid"/>
            <a:round/>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微软雅黑" panose="020B0503020204020204" pitchFamily="34" charset="-122"/>
              <a:ea typeface="宋体" panose="02010600030101010101" pitchFamily="2" charset="-122"/>
              <a:cs typeface="+mn-cs"/>
            </a:endParaRPr>
          </a:p>
        </p:txBody>
      </p:sp>
      <p:sp>
        <p:nvSpPr>
          <p:cNvPr id="22" name="Freeform 387"/>
          <p:cNvSpPr>
            <a:spLocks noEditPoints="1"/>
          </p:cNvSpPr>
          <p:nvPr userDrawn="1"/>
        </p:nvSpPr>
        <p:spPr bwMode="auto">
          <a:xfrm rot="1888595">
            <a:off x="2442159" y="392103"/>
            <a:ext cx="1572202" cy="2081915"/>
          </a:xfrm>
          <a:custGeom>
            <a:avLst/>
            <a:gdLst>
              <a:gd name="T0" fmla="*/ 68 w 219"/>
              <a:gd name="T1" fmla="*/ 188 h 290"/>
              <a:gd name="T2" fmla="*/ 108 w 219"/>
              <a:gd name="T3" fmla="*/ 177 h 290"/>
              <a:gd name="T4" fmla="*/ 114 w 219"/>
              <a:gd name="T5" fmla="*/ 174 h 290"/>
              <a:gd name="T6" fmla="*/ 168 w 219"/>
              <a:gd name="T7" fmla="*/ 174 h 290"/>
              <a:gd name="T8" fmla="*/ 52 w 219"/>
              <a:gd name="T9" fmla="*/ 172 h 290"/>
              <a:gd name="T10" fmla="*/ 100 w 219"/>
              <a:gd name="T11" fmla="*/ 170 h 290"/>
              <a:gd name="T12" fmla="*/ 52 w 219"/>
              <a:gd name="T13" fmla="*/ 117 h 290"/>
              <a:gd name="T14" fmla="*/ 44 w 219"/>
              <a:gd name="T15" fmla="*/ 168 h 290"/>
              <a:gd name="T16" fmla="*/ 53 w 219"/>
              <a:gd name="T17" fmla="*/ 118 h 290"/>
              <a:gd name="T18" fmla="*/ 89 w 219"/>
              <a:gd name="T19" fmla="*/ 138 h 290"/>
              <a:gd name="T20" fmla="*/ 137 w 219"/>
              <a:gd name="T21" fmla="*/ 145 h 290"/>
              <a:gd name="T22" fmla="*/ 150 w 219"/>
              <a:gd name="T23" fmla="*/ 141 h 290"/>
              <a:gd name="T24" fmla="*/ 175 w 219"/>
              <a:gd name="T25" fmla="*/ 169 h 290"/>
              <a:gd name="T26" fmla="*/ 172 w 219"/>
              <a:gd name="T27" fmla="*/ 114 h 290"/>
              <a:gd name="T28" fmla="*/ 31 w 219"/>
              <a:gd name="T29" fmla="*/ 152 h 290"/>
              <a:gd name="T30" fmla="*/ 43 w 219"/>
              <a:gd name="T31" fmla="*/ 112 h 290"/>
              <a:gd name="T32" fmla="*/ 115 w 219"/>
              <a:gd name="T33" fmla="*/ 109 h 290"/>
              <a:gd name="T34" fmla="*/ 164 w 219"/>
              <a:gd name="T35" fmla="*/ 112 h 290"/>
              <a:gd name="T36" fmla="*/ 73 w 219"/>
              <a:gd name="T37" fmla="*/ 83 h 290"/>
              <a:gd name="T38" fmla="*/ 83 w 219"/>
              <a:gd name="T39" fmla="*/ 131 h 290"/>
              <a:gd name="T40" fmla="*/ 77 w 219"/>
              <a:gd name="T41" fmla="*/ 82 h 290"/>
              <a:gd name="T42" fmla="*/ 175 w 219"/>
              <a:gd name="T43" fmla="*/ 108 h 290"/>
              <a:gd name="T44" fmla="*/ 196 w 219"/>
              <a:gd name="T45" fmla="*/ 90 h 290"/>
              <a:gd name="T46" fmla="*/ 82 w 219"/>
              <a:gd name="T47" fmla="*/ 77 h 290"/>
              <a:gd name="T48" fmla="*/ 129 w 219"/>
              <a:gd name="T49" fmla="*/ 85 h 290"/>
              <a:gd name="T50" fmla="*/ 174 w 219"/>
              <a:gd name="T51" fmla="*/ 51 h 290"/>
              <a:gd name="T52" fmla="*/ 156 w 219"/>
              <a:gd name="T53" fmla="*/ 96 h 290"/>
              <a:gd name="T54" fmla="*/ 178 w 219"/>
              <a:gd name="T55" fmla="*/ 77 h 290"/>
              <a:gd name="T56" fmla="*/ 43 w 219"/>
              <a:gd name="T57" fmla="*/ 51 h 290"/>
              <a:gd name="T58" fmla="*/ 49 w 219"/>
              <a:gd name="T59" fmla="*/ 104 h 290"/>
              <a:gd name="T60" fmla="*/ 184 w 219"/>
              <a:gd name="T61" fmla="*/ 41 h 290"/>
              <a:gd name="T62" fmla="*/ 202 w 219"/>
              <a:gd name="T63" fmla="*/ 89 h 290"/>
              <a:gd name="T64" fmla="*/ 112 w 219"/>
              <a:gd name="T65" fmla="*/ 205 h 290"/>
              <a:gd name="T66" fmla="*/ 41 w 219"/>
              <a:gd name="T67" fmla="*/ 183 h 290"/>
              <a:gd name="T68" fmla="*/ 137 w 219"/>
              <a:gd name="T69" fmla="*/ 209 h 290"/>
              <a:gd name="T70" fmla="*/ 201 w 219"/>
              <a:gd name="T71" fmla="*/ 64 h 290"/>
              <a:gd name="T72" fmla="*/ 118 w 219"/>
              <a:gd name="T73" fmla="*/ 49 h 290"/>
              <a:gd name="T74" fmla="*/ 138 w 219"/>
              <a:gd name="T75" fmla="*/ 76 h 290"/>
              <a:gd name="T76" fmla="*/ 92 w 219"/>
              <a:gd name="T77" fmla="*/ 23 h 290"/>
              <a:gd name="T78" fmla="*/ 75 w 219"/>
              <a:gd name="T79" fmla="*/ 71 h 290"/>
              <a:gd name="T80" fmla="*/ 95 w 219"/>
              <a:gd name="T81" fmla="*/ 23 h 290"/>
              <a:gd name="T82" fmla="*/ 110 w 219"/>
              <a:gd name="T83" fmla="*/ 43 h 290"/>
              <a:gd name="T84" fmla="*/ 151 w 219"/>
              <a:gd name="T85" fmla="*/ 32 h 290"/>
              <a:gd name="T86" fmla="*/ 219 w 219"/>
              <a:gd name="T87" fmla="*/ 12 h 290"/>
              <a:gd name="T88" fmla="*/ 195 w 219"/>
              <a:gd name="T89" fmla="*/ 30 h 290"/>
              <a:gd name="T90" fmla="*/ 219 w 219"/>
              <a:gd name="T91" fmla="*/ 101 h 290"/>
              <a:gd name="T92" fmla="*/ 118 w 219"/>
              <a:gd name="T93" fmla="*/ 219 h 290"/>
              <a:gd name="T94" fmla="*/ 126 w 219"/>
              <a:gd name="T95" fmla="*/ 243 h 290"/>
              <a:gd name="T96" fmla="*/ 118 w 219"/>
              <a:gd name="T97" fmla="*/ 266 h 290"/>
              <a:gd name="T98" fmla="*/ 183 w 219"/>
              <a:gd name="T99" fmla="*/ 290 h 290"/>
              <a:gd name="T100" fmla="*/ 77 w 219"/>
              <a:gd name="T101" fmla="*/ 269 h 290"/>
              <a:gd name="T102" fmla="*/ 95 w 219"/>
              <a:gd name="T103" fmla="*/ 251 h 290"/>
              <a:gd name="T104" fmla="*/ 103 w 219"/>
              <a:gd name="T105" fmla="*/ 220 h 290"/>
              <a:gd name="T106" fmla="*/ 30 w 219"/>
              <a:gd name="T107" fmla="*/ 193 h 290"/>
              <a:gd name="T108" fmla="*/ 20 w 219"/>
              <a:gd name="T109" fmla="*/ 219 h 290"/>
              <a:gd name="T110" fmla="*/ 13 w 219"/>
              <a:gd name="T111" fmla="*/ 188 h 290"/>
              <a:gd name="T112" fmla="*/ 37 w 219"/>
              <a:gd name="T113" fmla="*/ 173 h 290"/>
              <a:gd name="T114" fmla="*/ 62 w 219"/>
              <a:gd name="T115" fmla="*/ 27 h 290"/>
              <a:gd name="T116" fmla="*/ 177 w 219"/>
              <a:gd name="T117" fmla="*/ 39 h 290"/>
              <a:gd name="T118" fmla="*/ 192 w 219"/>
              <a:gd name="T119" fmla="*/ 6 h 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219" h="290">
                <a:moveTo>
                  <a:pt x="106" y="175"/>
                </a:moveTo>
                <a:lnTo>
                  <a:pt x="104" y="175"/>
                </a:lnTo>
                <a:lnTo>
                  <a:pt x="87" y="183"/>
                </a:lnTo>
                <a:lnTo>
                  <a:pt x="68" y="187"/>
                </a:lnTo>
                <a:lnTo>
                  <a:pt x="68" y="187"/>
                </a:lnTo>
                <a:lnTo>
                  <a:pt x="67" y="188"/>
                </a:lnTo>
                <a:lnTo>
                  <a:pt x="68" y="188"/>
                </a:lnTo>
                <a:lnTo>
                  <a:pt x="90" y="196"/>
                </a:lnTo>
                <a:lnTo>
                  <a:pt x="113" y="198"/>
                </a:lnTo>
                <a:lnTo>
                  <a:pt x="114" y="198"/>
                </a:lnTo>
                <a:lnTo>
                  <a:pt x="115" y="196"/>
                </a:lnTo>
                <a:lnTo>
                  <a:pt x="115" y="195"/>
                </a:lnTo>
                <a:lnTo>
                  <a:pt x="113" y="186"/>
                </a:lnTo>
                <a:lnTo>
                  <a:pt x="108" y="177"/>
                </a:lnTo>
                <a:lnTo>
                  <a:pt x="108" y="177"/>
                </a:lnTo>
                <a:lnTo>
                  <a:pt x="106" y="175"/>
                </a:lnTo>
                <a:close/>
                <a:moveTo>
                  <a:pt x="142" y="150"/>
                </a:moveTo>
                <a:lnTo>
                  <a:pt x="141" y="150"/>
                </a:lnTo>
                <a:lnTo>
                  <a:pt x="115" y="170"/>
                </a:lnTo>
                <a:lnTo>
                  <a:pt x="114" y="172"/>
                </a:lnTo>
                <a:lnTo>
                  <a:pt x="114" y="174"/>
                </a:lnTo>
                <a:lnTo>
                  <a:pt x="123" y="195"/>
                </a:lnTo>
                <a:lnTo>
                  <a:pt x="124" y="197"/>
                </a:lnTo>
                <a:lnTo>
                  <a:pt x="126" y="197"/>
                </a:lnTo>
                <a:lnTo>
                  <a:pt x="147" y="189"/>
                </a:lnTo>
                <a:lnTo>
                  <a:pt x="168" y="177"/>
                </a:lnTo>
                <a:lnTo>
                  <a:pt x="168" y="175"/>
                </a:lnTo>
                <a:lnTo>
                  <a:pt x="168" y="174"/>
                </a:lnTo>
                <a:lnTo>
                  <a:pt x="168" y="173"/>
                </a:lnTo>
                <a:lnTo>
                  <a:pt x="145" y="150"/>
                </a:lnTo>
                <a:lnTo>
                  <a:pt x="143" y="150"/>
                </a:lnTo>
                <a:lnTo>
                  <a:pt x="142" y="150"/>
                </a:lnTo>
                <a:close/>
                <a:moveTo>
                  <a:pt x="81" y="143"/>
                </a:moveTo>
                <a:lnTo>
                  <a:pt x="80" y="143"/>
                </a:lnTo>
                <a:lnTo>
                  <a:pt x="52" y="172"/>
                </a:lnTo>
                <a:lnTo>
                  <a:pt x="52" y="174"/>
                </a:lnTo>
                <a:lnTo>
                  <a:pt x="52" y="175"/>
                </a:lnTo>
                <a:lnTo>
                  <a:pt x="53" y="177"/>
                </a:lnTo>
                <a:lnTo>
                  <a:pt x="64" y="179"/>
                </a:lnTo>
                <a:lnTo>
                  <a:pt x="77" y="179"/>
                </a:lnTo>
                <a:lnTo>
                  <a:pt x="90" y="175"/>
                </a:lnTo>
                <a:lnTo>
                  <a:pt x="100" y="170"/>
                </a:lnTo>
                <a:lnTo>
                  <a:pt x="101" y="169"/>
                </a:lnTo>
                <a:lnTo>
                  <a:pt x="103" y="168"/>
                </a:lnTo>
                <a:lnTo>
                  <a:pt x="101" y="166"/>
                </a:lnTo>
                <a:lnTo>
                  <a:pt x="85" y="143"/>
                </a:lnTo>
                <a:lnTo>
                  <a:pt x="83" y="143"/>
                </a:lnTo>
                <a:lnTo>
                  <a:pt x="81" y="143"/>
                </a:lnTo>
                <a:close/>
                <a:moveTo>
                  <a:pt x="52" y="117"/>
                </a:moveTo>
                <a:lnTo>
                  <a:pt x="50" y="118"/>
                </a:lnTo>
                <a:lnTo>
                  <a:pt x="49" y="119"/>
                </a:lnTo>
                <a:lnTo>
                  <a:pt x="44" y="129"/>
                </a:lnTo>
                <a:lnTo>
                  <a:pt x="40" y="142"/>
                </a:lnTo>
                <a:lnTo>
                  <a:pt x="40" y="155"/>
                </a:lnTo>
                <a:lnTo>
                  <a:pt x="43" y="166"/>
                </a:lnTo>
                <a:lnTo>
                  <a:pt x="44" y="168"/>
                </a:lnTo>
                <a:lnTo>
                  <a:pt x="45" y="168"/>
                </a:lnTo>
                <a:lnTo>
                  <a:pt x="48" y="168"/>
                </a:lnTo>
                <a:lnTo>
                  <a:pt x="76" y="140"/>
                </a:lnTo>
                <a:lnTo>
                  <a:pt x="76" y="138"/>
                </a:lnTo>
                <a:lnTo>
                  <a:pt x="76" y="136"/>
                </a:lnTo>
                <a:lnTo>
                  <a:pt x="76" y="135"/>
                </a:lnTo>
                <a:lnTo>
                  <a:pt x="53" y="118"/>
                </a:lnTo>
                <a:lnTo>
                  <a:pt x="52" y="117"/>
                </a:lnTo>
                <a:close/>
                <a:moveTo>
                  <a:pt x="110" y="115"/>
                </a:moveTo>
                <a:lnTo>
                  <a:pt x="109" y="115"/>
                </a:lnTo>
                <a:lnTo>
                  <a:pt x="108" y="117"/>
                </a:lnTo>
                <a:lnTo>
                  <a:pt x="89" y="135"/>
                </a:lnTo>
                <a:lnTo>
                  <a:pt x="89" y="136"/>
                </a:lnTo>
                <a:lnTo>
                  <a:pt x="89" y="138"/>
                </a:lnTo>
                <a:lnTo>
                  <a:pt x="89" y="140"/>
                </a:lnTo>
                <a:lnTo>
                  <a:pt x="108" y="164"/>
                </a:lnTo>
                <a:lnTo>
                  <a:pt x="109" y="164"/>
                </a:lnTo>
                <a:lnTo>
                  <a:pt x="110" y="165"/>
                </a:lnTo>
                <a:lnTo>
                  <a:pt x="112" y="164"/>
                </a:lnTo>
                <a:lnTo>
                  <a:pt x="136" y="146"/>
                </a:lnTo>
                <a:lnTo>
                  <a:pt x="137" y="145"/>
                </a:lnTo>
                <a:lnTo>
                  <a:pt x="137" y="142"/>
                </a:lnTo>
                <a:lnTo>
                  <a:pt x="136" y="141"/>
                </a:lnTo>
                <a:lnTo>
                  <a:pt x="112" y="117"/>
                </a:lnTo>
                <a:lnTo>
                  <a:pt x="110" y="115"/>
                </a:lnTo>
                <a:close/>
                <a:moveTo>
                  <a:pt x="172" y="114"/>
                </a:moveTo>
                <a:lnTo>
                  <a:pt x="169" y="115"/>
                </a:lnTo>
                <a:lnTo>
                  <a:pt x="150" y="141"/>
                </a:lnTo>
                <a:lnTo>
                  <a:pt x="149" y="142"/>
                </a:lnTo>
                <a:lnTo>
                  <a:pt x="149" y="145"/>
                </a:lnTo>
                <a:lnTo>
                  <a:pt x="150" y="146"/>
                </a:lnTo>
                <a:lnTo>
                  <a:pt x="172" y="168"/>
                </a:lnTo>
                <a:lnTo>
                  <a:pt x="173" y="169"/>
                </a:lnTo>
                <a:lnTo>
                  <a:pt x="174" y="169"/>
                </a:lnTo>
                <a:lnTo>
                  <a:pt x="175" y="169"/>
                </a:lnTo>
                <a:lnTo>
                  <a:pt x="177" y="168"/>
                </a:lnTo>
                <a:lnTo>
                  <a:pt x="189" y="149"/>
                </a:lnTo>
                <a:lnTo>
                  <a:pt x="196" y="127"/>
                </a:lnTo>
                <a:lnTo>
                  <a:pt x="196" y="124"/>
                </a:lnTo>
                <a:lnTo>
                  <a:pt x="195" y="123"/>
                </a:lnTo>
                <a:lnTo>
                  <a:pt x="173" y="114"/>
                </a:lnTo>
                <a:lnTo>
                  <a:pt x="172" y="114"/>
                </a:lnTo>
                <a:close/>
                <a:moveTo>
                  <a:pt x="25" y="104"/>
                </a:moveTo>
                <a:lnTo>
                  <a:pt x="23" y="104"/>
                </a:lnTo>
                <a:lnTo>
                  <a:pt x="21" y="105"/>
                </a:lnTo>
                <a:lnTo>
                  <a:pt x="21" y="106"/>
                </a:lnTo>
                <a:lnTo>
                  <a:pt x="23" y="129"/>
                </a:lnTo>
                <a:lnTo>
                  <a:pt x="31" y="151"/>
                </a:lnTo>
                <a:lnTo>
                  <a:pt x="31" y="152"/>
                </a:lnTo>
                <a:lnTo>
                  <a:pt x="32" y="151"/>
                </a:lnTo>
                <a:lnTo>
                  <a:pt x="32" y="151"/>
                </a:lnTo>
                <a:lnTo>
                  <a:pt x="36" y="132"/>
                </a:lnTo>
                <a:lnTo>
                  <a:pt x="44" y="115"/>
                </a:lnTo>
                <a:lnTo>
                  <a:pt x="44" y="113"/>
                </a:lnTo>
                <a:lnTo>
                  <a:pt x="43" y="112"/>
                </a:lnTo>
                <a:lnTo>
                  <a:pt x="43" y="112"/>
                </a:lnTo>
                <a:lnTo>
                  <a:pt x="34" y="106"/>
                </a:lnTo>
                <a:lnTo>
                  <a:pt x="25" y="104"/>
                </a:lnTo>
                <a:close/>
                <a:moveTo>
                  <a:pt x="137" y="89"/>
                </a:moveTo>
                <a:lnTo>
                  <a:pt x="136" y="89"/>
                </a:lnTo>
                <a:lnTo>
                  <a:pt x="135" y="90"/>
                </a:lnTo>
                <a:lnTo>
                  <a:pt x="117" y="108"/>
                </a:lnTo>
                <a:lnTo>
                  <a:pt x="115" y="109"/>
                </a:lnTo>
                <a:lnTo>
                  <a:pt x="115" y="110"/>
                </a:lnTo>
                <a:lnTo>
                  <a:pt x="117" y="112"/>
                </a:lnTo>
                <a:lnTo>
                  <a:pt x="141" y="137"/>
                </a:lnTo>
                <a:lnTo>
                  <a:pt x="142" y="137"/>
                </a:lnTo>
                <a:lnTo>
                  <a:pt x="145" y="137"/>
                </a:lnTo>
                <a:lnTo>
                  <a:pt x="164" y="113"/>
                </a:lnTo>
                <a:lnTo>
                  <a:pt x="164" y="112"/>
                </a:lnTo>
                <a:lnTo>
                  <a:pt x="164" y="109"/>
                </a:lnTo>
                <a:lnTo>
                  <a:pt x="163" y="109"/>
                </a:lnTo>
                <a:lnTo>
                  <a:pt x="138" y="90"/>
                </a:lnTo>
                <a:lnTo>
                  <a:pt x="137" y="89"/>
                </a:lnTo>
                <a:close/>
                <a:moveTo>
                  <a:pt x="77" y="82"/>
                </a:moveTo>
                <a:lnTo>
                  <a:pt x="75" y="82"/>
                </a:lnTo>
                <a:lnTo>
                  <a:pt x="73" y="83"/>
                </a:lnTo>
                <a:lnTo>
                  <a:pt x="55" y="108"/>
                </a:lnTo>
                <a:lnTo>
                  <a:pt x="54" y="109"/>
                </a:lnTo>
                <a:lnTo>
                  <a:pt x="55" y="110"/>
                </a:lnTo>
                <a:lnTo>
                  <a:pt x="55" y="112"/>
                </a:lnTo>
                <a:lnTo>
                  <a:pt x="80" y="131"/>
                </a:lnTo>
                <a:lnTo>
                  <a:pt x="81" y="131"/>
                </a:lnTo>
                <a:lnTo>
                  <a:pt x="83" y="131"/>
                </a:lnTo>
                <a:lnTo>
                  <a:pt x="85" y="131"/>
                </a:lnTo>
                <a:lnTo>
                  <a:pt x="103" y="112"/>
                </a:lnTo>
                <a:lnTo>
                  <a:pt x="104" y="110"/>
                </a:lnTo>
                <a:lnTo>
                  <a:pt x="104" y="109"/>
                </a:lnTo>
                <a:lnTo>
                  <a:pt x="103" y="108"/>
                </a:lnTo>
                <a:lnTo>
                  <a:pt x="78" y="83"/>
                </a:lnTo>
                <a:lnTo>
                  <a:pt x="77" y="82"/>
                </a:lnTo>
                <a:close/>
                <a:moveTo>
                  <a:pt x="187" y="68"/>
                </a:moveTo>
                <a:lnTo>
                  <a:pt x="186" y="68"/>
                </a:lnTo>
                <a:lnTo>
                  <a:pt x="186" y="69"/>
                </a:lnTo>
                <a:lnTo>
                  <a:pt x="183" y="87"/>
                </a:lnTo>
                <a:lnTo>
                  <a:pt x="175" y="105"/>
                </a:lnTo>
                <a:lnTo>
                  <a:pt x="175" y="106"/>
                </a:lnTo>
                <a:lnTo>
                  <a:pt x="175" y="108"/>
                </a:lnTo>
                <a:lnTo>
                  <a:pt x="177" y="109"/>
                </a:lnTo>
                <a:lnTo>
                  <a:pt x="186" y="113"/>
                </a:lnTo>
                <a:lnTo>
                  <a:pt x="195" y="117"/>
                </a:lnTo>
                <a:lnTo>
                  <a:pt x="196" y="117"/>
                </a:lnTo>
                <a:lnTo>
                  <a:pt x="197" y="115"/>
                </a:lnTo>
                <a:lnTo>
                  <a:pt x="197" y="114"/>
                </a:lnTo>
                <a:lnTo>
                  <a:pt x="196" y="90"/>
                </a:lnTo>
                <a:lnTo>
                  <a:pt x="187" y="68"/>
                </a:lnTo>
                <a:lnTo>
                  <a:pt x="187" y="68"/>
                </a:lnTo>
                <a:close/>
                <a:moveTo>
                  <a:pt x="108" y="55"/>
                </a:moveTo>
                <a:lnTo>
                  <a:pt x="106" y="55"/>
                </a:lnTo>
                <a:lnTo>
                  <a:pt x="82" y="74"/>
                </a:lnTo>
                <a:lnTo>
                  <a:pt x="82" y="76"/>
                </a:lnTo>
                <a:lnTo>
                  <a:pt x="82" y="77"/>
                </a:lnTo>
                <a:lnTo>
                  <a:pt x="82" y="77"/>
                </a:lnTo>
                <a:lnTo>
                  <a:pt x="82" y="78"/>
                </a:lnTo>
                <a:lnTo>
                  <a:pt x="108" y="103"/>
                </a:lnTo>
                <a:lnTo>
                  <a:pt x="109" y="104"/>
                </a:lnTo>
                <a:lnTo>
                  <a:pt x="110" y="104"/>
                </a:lnTo>
                <a:lnTo>
                  <a:pt x="112" y="103"/>
                </a:lnTo>
                <a:lnTo>
                  <a:pt x="129" y="85"/>
                </a:lnTo>
                <a:lnTo>
                  <a:pt x="131" y="83"/>
                </a:lnTo>
                <a:lnTo>
                  <a:pt x="131" y="82"/>
                </a:lnTo>
                <a:lnTo>
                  <a:pt x="129" y="81"/>
                </a:lnTo>
                <a:lnTo>
                  <a:pt x="110" y="57"/>
                </a:lnTo>
                <a:lnTo>
                  <a:pt x="109" y="55"/>
                </a:lnTo>
                <a:lnTo>
                  <a:pt x="108" y="55"/>
                </a:lnTo>
                <a:close/>
                <a:moveTo>
                  <a:pt x="174" y="51"/>
                </a:moveTo>
                <a:lnTo>
                  <a:pt x="173" y="51"/>
                </a:lnTo>
                <a:lnTo>
                  <a:pt x="172" y="53"/>
                </a:lnTo>
                <a:lnTo>
                  <a:pt x="143" y="81"/>
                </a:lnTo>
                <a:lnTo>
                  <a:pt x="142" y="83"/>
                </a:lnTo>
                <a:lnTo>
                  <a:pt x="145" y="86"/>
                </a:lnTo>
                <a:lnTo>
                  <a:pt x="150" y="91"/>
                </a:lnTo>
                <a:lnTo>
                  <a:pt x="156" y="96"/>
                </a:lnTo>
                <a:lnTo>
                  <a:pt x="161" y="100"/>
                </a:lnTo>
                <a:lnTo>
                  <a:pt x="165" y="103"/>
                </a:lnTo>
                <a:lnTo>
                  <a:pt x="166" y="103"/>
                </a:lnTo>
                <a:lnTo>
                  <a:pt x="169" y="103"/>
                </a:lnTo>
                <a:lnTo>
                  <a:pt x="170" y="101"/>
                </a:lnTo>
                <a:lnTo>
                  <a:pt x="174" y="90"/>
                </a:lnTo>
                <a:lnTo>
                  <a:pt x="178" y="77"/>
                </a:lnTo>
                <a:lnTo>
                  <a:pt x="179" y="64"/>
                </a:lnTo>
                <a:lnTo>
                  <a:pt x="177" y="53"/>
                </a:lnTo>
                <a:lnTo>
                  <a:pt x="175" y="53"/>
                </a:lnTo>
                <a:lnTo>
                  <a:pt x="174" y="51"/>
                </a:lnTo>
                <a:close/>
                <a:moveTo>
                  <a:pt x="45" y="51"/>
                </a:moveTo>
                <a:lnTo>
                  <a:pt x="44" y="51"/>
                </a:lnTo>
                <a:lnTo>
                  <a:pt x="43" y="51"/>
                </a:lnTo>
                <a:lnTo>
                  <a:pt x="30" y="72"/>
                </a:lnTo>
                <a:lnTo>
                  <a:pt x="22" y="94"/>
                </a:lnTo>
                <a:lnTo>
                  <a:pt x="22" y="95"/>
                </a:lnTo>
                <a:lnTo>
                  <a:pt x="25" y="96"/>
                </a:lnTo>
                <a:lnTo>
                  <a:pt x="45" y="105"/>
                </a:lnTo>
                <a:lnTo>
                  <a:pt x="48" y="105"/>
                </a:lnTo>
                <a:lnTo>
                  <a:pt x="49" y="104"/>
                </a:lnTo>
                <a:lnTo>
                  <a:pt x="69" y="78"/>
                </a:lnTo>
                <a:lnTo>
                  <a:pt x="69" y="77"/>
                </a:lnTo>
                <a:lnTo>
                  <a:pt x="69" y="76"/>
                </a:lnTo>
                <a:lnTo>
                  <a:pt x="69" y="74"/>
                </a:lnTo>
                <a:lnTo>
                  <a:pt x="46" y="51"/>
                </a:lnTo>
                <a:lnTo>
                  <a:pt x="45" y="51"/>
                </a:lnTo>
                <a:close/>
                <a:moveTo>
                  <a:pt x="184" y="41"/>
                </a:moveTo>
                <a:lnTo>
                  <a:pt x="183" y="41"/>
                </a:lnTo>
                <a:lnTo>
                  <a:pt x="182" y="43"/>
                </a:lnTo>
                <a:lnTo>
                  <a:pt x="181" y="43"/>
                </a:lnTo>
                <a:lnTo>
                  <a:pt x="181" y="45"/>
                </a:lnTo>
                <a:lnTo>
                  <a:pt x="181" y="48"/>
                </a:lnTo>
                <a:lnTo>
                  <a:pt x="195" y="67"/>
                </a:lnTo>
                <a:lnTo>
                  <a:pt x="202" y="89"/>
                </a:lnTo>
                <a:lnTo>
                  <a:pt x="205" y="112"/>
                </a:lnTo>
                <a:lnTo>
                  <a:pt x="201" y="135"/>
                </a:lnTo>
                <a:lnTo>
                  <a:pt x="192" y="158"/>
                </a:lnTo>
                <a:lnTo>
                  <a:pt x="177" y="177"/>
                </a:lnTo>
                <a:lnTo>
                  <a:pt x="158" y="192"/>
                </a:lnTo>
                <a:lnTo>
                  <a:pt x="136" y="201"/>
                </a:lnTo>
                <a:lnTo>
                  <a:pt x="112" y="205"/>
                </a:lnTo>
                <a:lnTo>
                  <a:pt x="89" y="203"/>
                </a:lnTo>
                <a:lnTo>
                  <a:pt x="67" y="195"/>
                </a:lnTo>
                <a:lnTo>
                  <a:pt x="46" y="182"/>
                </a:lnTo>
                <a:lnTo>
                  <a:pt x="44" y="181"/>
                </a:lnTo>
                <a:lnTo>
                  <a:pt x="43" y="182"/>
                </a:lnTo>
                <a:lnTo>
                  <a:pt x="41" y="183"/>
                </a:lnTo>
                <a:lnTo>
                  <a:pt x="41" y="183"/>
                </a:lnTo>
                <a:lnTo>
                  <a:pt x="40" y="184"/>
                </a:lnTo>
                <a:lnTo>
                  <a:pt x="41" y="186"/>
                </a:lnTo>
                <a:lnTo>
                  <a:pt x="41" y="187"/>
                </a:lnTo>
                <a:lnTo>
                  <a:pt x="63" y="201"/>
                </a:lnTo>
                <a:lnTo>
                  <a:pt x="87" y="210"/>
                </a:lnTo>
                <a:lnTo>
                  <a:pt x="113" y="212"/>
                </a:lnTo>
                <a:lnTo>
                  <a:pt x="137" y="209"/>
                </a:lnTo>
                <a:lnTo>
                  <a:pt x="160" y="198"/>
                </a:lnTo>
                <a:lnTo>
                  <a:pt x="182" y="182"/>
                </a:lnTo>
                <a:lnTo>
                  <a:pt x="198" y="161"/>
                </a:lnTo>
                <a:lnTo>
                  <a:pt x="207" y="138"/>
                </a:lnTo>
                <a:lnTo>
                  <a:pt x="211" y="113"/>
                </a:lnTo>
                <a:lnTo>
                  <a:pt x="209" y="89"/>
                </a:lnTo>
                <a:lnTo>
                  <a:pt x="201" y="64"/>
                </a:lnTo>
                <a:lnTo>
                  <a:pt x="186" y="43"/>
                </a:lnTo>
                <a:lnTo>
                  <a:pt x="186" y="41"/>
                </a:lnTo>
                <a:lnTo>
                  <a:pt x="184" y="41"/>
                </a:lnTo>
                <a:close/>
                <a:moveTo>
                  <a:pt x="155" y="40"/>
                </a:moveTo>
                <a:lnTo>
                  <a:pt x="142" y="41"/>
                </a:lnTo>
                <a:lnTo>
                  <a:pt x="129" y="45"/>
                </a:lnTo>
                <a:lnTo>
                  <a:pt x="118" y="49"/>
                </a:lnTo>
                <a:lnTo>
                  <a:pt x="117" y="50"/>
                </a:lnTo>
                <a:lnTo>
                  <a:pt x="117" y="53"/>
                </a:lnTo>
                <a:lnTo>
                  <a:pt x="117" y="54"/>
                </a:lnTo>
                <a:lnTo>
                  <a:pt x="135" y="76"/>
                </a:lnTo>
                <a:lnTo>
                  <a:pt x="136" y="77"/>
                </a:lnTo>
                <a:lnTo>
                  <a:pt x="137" y="77"/>
                </a:lnTo>
                <a:lnTo>
                  <a:pt x="138" y="76"/>
                </a:lnTo>
                <a:lnTo>
                  <a:pt x="166" y="48"/>
                </a:lnTo>
                <a:lnTo>
                  <a:pt x="168" y="46"/>
                </a:lnTo>
                <a:lnTo>
                  <a:pt x="168" y="45"/>
                </a:lnTo>
                <a:lnTo>
                  <a:pt x="166" y="44"/>
                </a:lnTo>
                <a:lnTo>
                  <a:pt x="166" y="43"/>
                </a:lnTo>
                <a:lnTo>
                  <a:pt x="155" y="40"/>
                </a:lnTo>
                <a:close/>
                <a:moveTo>
                  <a:pt x="92" y="23"/>
                </a:moveTo>
                <a:lnTo>
                  <a:pt x="71" y="30"/>
                </a:lnTo>
                <a:lnTo>
                  <a:pt x="52" y="43"/>
                </a:lnTo>
                <a:lnTo>
                  <a:pt x="50" y="44"/>
                </a:lnTo>
                <a:lnTo>
                  <a:pt x="50" y="46"/>
                </a:lnTo>
                <a:lnTo>
                  <a:pt x="52" y="48"/>
                </a:lnTo>
                <a:lnTo>
                  <a:pt x="73" y="69"/>
                </a:lnTo>
                <a:lnTo>
                  <a:pt x="75" y="71"/>
                </a:lnTo>
                <a:lnTo>
                  <a:pt x="77" y="71"/>
                </a:lnTo>
                <a:lnTo>
                  <a:pt x="78" y="69"/>
                </a:lnTo>
                <a:lnTo>
                  <a:pt x="104" y="50"/>
                </a:lnTo>
                <a:lnTo>
                  <a:pt x="105" y="48"/>
                </a:lnTo>
                <a:lnTo>
                  <a:pt x="105" y="46"/>
                </a:lnTo>
                <a:lnTo>
                  <a:pt x="96" y="25"/>
                </a:lnTo>
                <a:lnTo>
                  <a:pt x="95" y="23"/>
                </a:lnTo>
                <a:lnTo>
                  <a:pt x="92" y="23"/>
                </a:lnTo>
                <a:close/>
                <a:moveTo>
                  <a:pt x="105" y="22"/>
                </a:moveTo>
                <a:lnTo>
                  <a:pt x="104" y="22"/>
                </a:lnTo>
                <a:lnTo>
                  <a:pt x="103" y="23"/>
                </a:lnTo>
                <a:lnTo>
                  <a:pt x="103" y="25"/>
                </a:lnTo>
                <a:lnTo>
                  <a:pt x="106" y="34"/>
                </a:lnTo>
                <a:lnTo>
                  <a:pt x="110" y="43"/>
                </a:lnTo>
                <a:lnTo>
                  <a:pt x="112" y="44"/>
                </a:lnTo>
                <a:lnTo>
                  <a:pt x="113" y="44"/>
                </a:lnTo>
                <a:lnTo>
                  <a:pt x="114" y="44"/>
                </a:lnTo>
                <a:lnTo>
                  <a:pt x="132" y="36"/>
                </a:lnTo>
                <a:lnTo>
                  <a:pt x="150" y="34"/>
                </a:lnTo>
                <a:lnTo>
                  <a:pt x="151" y="34"/>
                </a:lnTo>
                <a:lnTo>
                  <a:pt x="151" y="32"/>
                </a:lnTo>
                <a:lnTo>
                  <a:pt x="151" y="32"/>
                </a:lnTo>
                <a:lnTo>
                  <a:pt x="129" y="23"/>
                </a:lnTo>
                <a:lnTo>
                  <a:pt x="105" y="22"/>
                </a:lnTo>
                <a:close/>
                <a:moveTo>
                  <a:pt x="198" y="0"/>
                </a:moveTo>
                <a:lnTo>
                  <a:pt x="207" y="0"/>
                </a:lnTo>
                <a:lnTo>
                  <a:pt x="214" y="6"/>
                </a:lnTo>
                <a:lnTo>
                  <a:pt x="219" y="12"/>
                </a:lnTo>
                <a:lnTo>
                  <a:pt x="219" y="21"/>
                </a:lnTo>
                <a:lnTo>
                  <a:pt x="214" y="27"/>
                </a:lnTo>
                <a:lnTo>
                  <a:pt x="210" y="31"/>
                </a:lnTo>
                <a:lnTo>
                  <a:pt x="206" y="32"/>
                </a:lnTo>
                <a:lnTo>
                  <a:pt x="201" y="32"/>
                </a:lnTo>
                <a:lnTo>
                  <a:pt x="196" y="31"/>
                </a:lnTo>
                <a:lnTo>
                  <a:pt x="195" y="30"/>
                </a:lnTo>
                <a:lnTo>
                  <a:pt x="193" y="31"/>
                </a:lnTo>
                <a:lnTo>
                  <a:pt x="191" y="34"/>
                </a:lnTo>
                <a:lnTo>
                  <a:pt x="189" y="35"/>
                </a:lnTo>
                <a:lnTo>
                  <a:pt x="191" y="37"/>
                </a:lnTo>
                <a:lnTo>
                  <a:pt x="205" y="57"/>
                </a:lnTo>
                <a:lnTo>
                  <a:pt x="214" y="78"/>
                </a:lnTo>
                <a:lnTo>
                  <a:pt x="219" y="101"/>
                </a:lnTo>
                <a:lnTo>
                  <a:pt x="218" y="124"/>
                </a:lnTo>
                <a:lnTo>
                  <a:pt x="212" y="147"/>
                </a:lnTo>
                <a:lnTo>
                  <a:pt x="202" y="168"/>
                </a:lnTo>
                <a:lnTo>
                  <a:pt x="187" y="187"/>
                </a:lnTo>
                <a:lnTo>
                  <a:pt x="165" y="203"/>
                </a:lnTo>
                <a:lnTo>
                  <a:pt x="142" y="214"/>
                </a:lnTo>
                <a:lnTo>
                  <a:pt x="118" y="219"/>
                </a:lnTo>
                <a:lnTo>
                  <a:pt x="115" y="220"/>
                </a:lnTo>
                <a:lnTo>
                  <a:pt x="115" y="221"/>
                </a:lnTo>
                <a:lnTo>
                  <a:pt x="115" y="225"/>
                </a:lnTo>
                <a:lnTo>
                  <a:pt x="115" y="228"/>
                </a:lnTo>
                <a:lnTo>
                  <a:pt x="117" y="228"/>
                </a:lnTo>
                <a:lnTo>
                  <a:pt x="123" y="234"/>
                </a:lnTo>
                <a:lnTo>
                  <a:pt x="126" y="243"/>
                </a:lnTo>
                <a:lnTo>
                  <a:pt x="123" y="251"/>
                </a:lnTo>
                <a:lnTo>
                  <a:pt x="117" y="257"/>
                </a:lnTo>
                <a:lnTo>
                  <a:pt x="115" y="257"/>
                </a:lnTo>
                <a:lnTo>
                  <a:pt x="115" y="260"/>
                </a:lnTo>
                <a:lnTo>
                  <a:pt x="115" y="264"/>
                </a:lnTo>
                <a:lnTo>
                  <a:pt x="115" y="265"/>
                </a:lnTo>
                <a:lnTo>
                  <a:pt x="118" y="266"/>
                </a:lnTo>
                <a:lnTo>
                  <a:pt x="141" y="269"/>
                </a:lnTo>
                <a:lnTo>
                  <a:pt x="164" y="275"/>
                </a:lnTo>
                <a:lnTo>
                  <a:pt x="184" y="285"/>
                </a:lnTo>
                <a:lnTo>
                  <a:pt x="186" y="287"/>
                </a:lnTo>
                <a:lnTo>
                  <a:pt x="186" y="288"/>
                </a:lnTo>
                <a:lnTo>
                  <a:pt x="184" y="290"/>
                </a:lnTo>
                <a:lnTo>
                  <a:pt x="183" y="290"/>
                </a:lnTo>
                <a:lnTo>
                  <a:pt x="35" y="290"/>
                </a:lnTo>
                <a:lnTo>
                  <a:pt x="34" y="290"/>
                </a:lnTo>
                <a:lnTo>
                  <a:pt x="32" y="288"/>
                </a:lnTo>
                <a:lnTo>
                  <a:pt x="32" y="287"/>
                </a:lnTo>
                <a:lnTo>
                  <a:pt x="34" y="285"/>
                </a:lnTo>
                <a:lnTo>
                  <a:pt x="55" y="275"/>
                </a:lnTo>
                <a:lnTo>
                  <a:pt x="77" y="269"/>
                </a:lnTo>
                <a:lnTo>
                  <a:pt x="100" y="266"/>
                </a:lnTo>
                <a:lnTo>
                  <a:pt x="103" y="265"/>
                </a:lnTo>
                <a:lnTo>
                  <a:pt x="104" y="264"/>
                </a:lnTo>
                <a:lnTo>
                  <a:pt x="104" y="260"/>
                </a:lnTo>
                <a:lnTo>
                  <a:pt x="103" y="257"/>
                </a:lnTo>
                <a:lnTo>
                  <a:pt x="101" y="257"/>
                </a:lnTo>
                <a:lnTo>
                  <a:pt x="95" y="251"/>
                </a:lnTo>
                <a:lnTo>
                  <a:pt x="94" y="243"/>
                </a:lnTo>
                <a:lnTo>
                  <a:pt x="95" y="234"/>
                </a:lnTo>
                <a:lnTo>
                  <a:pt x="101" y="228"/>
                </a:lnTo>
                <a:lnTo>
                  <a:pt x="103" y="228"/>
                </a:lnTo>
                <a:lnTo>
                  <a:pt x="104" y="225"/>
                </a:lnTo>
                <a:lnTo>
                  <a:pt x="104" y="221"/>
                </a:lnTo>
                <a:lnTo>
                  <a:pt x="103" y="220"/>
                </a:lnTo>
                <a:lnTo>
                  <a:pt x="101" y="219"/>
                </a:lnTo>
                <a:lnTo>
                  <a:pt x="78" y="215"/>
                </a:lnTo>
                <a:lnTo>
                  <a:pt x="57" y="206"/>
                </a:lnTo>
                <a:lnTo>
                  <a:pt x="36" y="192"/>
                </a:lnTo>
                <a:lnTo>
                  <a:pt x="35" y="191"/>
                </a:lnTo>
                <a:lnTo>
                  <a:pt x="32" y="192"/>
                </a:lnTo>
                <a:lnTo>
                  <a:pt x="30" y="193"/>
                </a:lnTo>
                <a:lnTo>
                  <a:pt x="30" y="196"/>
                </a:lnTo>
                <a:lnTo>
                  <a:pt x="30" y="197"/>
                </a:lnTo>
                <a:lnTo>
                  <a:pt x="31" y="202"/>
                </a:lnTo>
                <a:lnTo>
                  <a:pt x="31" y="206"/>
                </a:lnTo>
                <a:lnTo>
                  <a:pt x="30" y="211"/>
                </a:lnTo>
                <a:lnTo>
                  <a:pt x="27" y="215"/>
                </a:lnTo>
                <a:lnTo>
                  <a:pt x="20" y="219"/>
                </a:lnTo>
                <a:lnTo>
                  <a:pt x="12" y="219"/>
                </a:lnTo>
                <a:lnTo>
                  <a:pt x="4" y="215"/>
                </a:lnTo>
                <a:lnTo>
                  <a:pt x="0" y="207"/>
                </a:lnTo>
                <a:lnTo>
                  <a:pt x="0" y="200"/>
                </a:lnTo>
                <a:lnTo>
                  <a:pt x="4" y="192"/>
                </a:lnTo>
                <a:lnTo>
                  <a:pt x="8" y="189"/>
                </a:lnTo>
                <a:lnTo>
                  <a:pt x="13" y="188"/>
                </a:lnTo>
                <a:lnTo>
                  <a:pt x="17" y="188"/>
                </a:lnTo>
                <a:lnTo>
                  <a:pt x="22" y="189"/>
                </a:lnTo>
                <a:lnTo>
                  <a:pt x="23" y="189"/>
                </a:lnTo>
                <a:lnTo>
                  <a:pt x="26" y="189"/>
                </a:lnTo>
                <a:lnTo>
                  <a:pt x="37" y="177"/>
                </a:lnTo>
                <a:lnTo>
                  <a:pt x="39" y="175"/>
                </a:lnTo>
                <a:lnTo>
                  <a:pt x="37" y="173"/>
                </a:lnTo>
                <a:lnTo>
                  <a:pt x="25" y="152"/>
                </a:lnTo>
                <a:lnTo>
                  <a:pt x="16" y="131"/>
                </a:lnTo>
                <a:lnTo>
                  <a:pt x="14" y="108"/>
                </a:lnTo>
                <a:lnTo>
                  <a:pt x="18" y="83"/>
                </a:lnTo>
                <a:lnTo>
                  <a:pt x="27" y="62"/>
                </a:lnTo>
                <a:lnTo>
                  <a:pt x="43" y="43"/>
                </a:lnTo>
                <a:lnTo>
                  <a:pt x="62" y="27"/>
                </a:lnTo>
                <a:lnTo>
                  <a:pt x="85" y="18"/>
                </a:lnTo>
                <a:lnTo>
                  <a:pt x="108" y="14"/>
                </a:lnTo>
                <a:lnTo>
                  <a:pt x="131" y="17"/>
                </a:lnTo>
                <a:lnTo>
                  <a:pt x="152" y="25"/>
                </a:lnTo>
                <a:lnTo>
                  <a:pt x="172" y="39"/>
                </a:lnTo>
                <a:lnTo>
                  <a:pt x="174" y="39"/>
                </a:lnTo>
                <a:lnTo>
                  <a:pt x="177" y="39"/>
                </a:lnTo>
                <a:lnTo>
                  <a:pt x="188" y="26"/>
                </a:lnTo>
                <a:lnTo>
                  <a:pt x="189" y="25"/>
                </a:lnTo>
                <a:lnTo>
                  <a:pt x="188" y="23"/>
                </a:lnTo>
                <a:lnTo>
                  <a:pt x="187" y="18"/>
                </a:lnTo>
                <a:lnTo>
                  <a:pt x="187" y="13"/>
                </a:lnTo>
                <a:lnTo>
                  <a:pt x="188" y="9"/>
                </a:lnTo>
                <a:lnTo>
                  <a:pt x="192" y="6"/>
                </a:lnTo>
                <a:lnTo>
                  <a:pt x="198" y="0"/>
                </a:lnTo>
                <a:close/>
              </a:path>
            </a:pathLst>
          </a:custGeom>
          <a:solidFill>
            <a:schemeClr val="bg1">
              <a:alpha val="10000"/>
            </a:schemeClr>
          </a:solidFill>
          <a:ln w="0">
            <a:noFill/>
            <a:prstDash val="solid"/>
            <a:round/>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微软雅黑" panose="020B0503020204020204" pitchFamily="34" charset="-122"/>
              <a:ea typeface="宋体" panose="02010600030101010101" pitchFamily="2" charset="-122"/>
              <a:cs typeface="+mn-cs"/>
            </a:endParaRPr>
          </a:p>
        </p:txBody>
      </p:sp>
      <p:pic>
        <p:nvPicPr>
          <p:cNvPr id="2" name="图片 1" descr="傲梦LOGO蓝蓝"/>
          <p:cNvPicPr>
            <a:picLocks noChangeAspect="1"/>
          </p:cNvPicPr>
          <p:nvPr userDrawn="1"/>
        </p:nvPicPr>
        <p:blipFill>
          <a:blip r:embed="rId2" cstate="print"/>
          <a:stretch>
            <a:fillRect/>
          </a:stretch>
        </p:blipFill>
        <p:spPr>
          <a:xfrm>
            <a:off x="9966960" y="189230"/>
            <a:ext cx="1746885" cy="493395"/>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7_标题幻灯片">
    <p:bg>
      <p:bgPr>
        <a:gradFill flip="none" rotWithShape="1">
          <a:gsLst>
            <a:gs pos="0">
              <a:schemeClr val="accent4">
                <a:lumMod val="89000"/>
              </a:schemeClr>
            </a:gs>
            <a:gs pos="23000">
              <a:schemeClr val="accent4">
                <a:lumMod val="89000"/>
              </a:schemeClr>
            </a:gs>
            <a:gs pos="69000">
              <a:schemeClr val="accent4">
                <a:lumMod val="75000"/>
              </a:schemeClr>
            </a:gs>
            <a:gs pos="97000">
              <a:schemeClr val="accent4">
                <a:lumMod val="70000"/>
              </a:schemeClr>
            </a:gs>
          </a:gsLst>
          <a:path path="circle">
            <a:fillToRect l="50000" t="50000" r="50000" b="50000"/>
          </a:path>
          <a:tileRect/>
        </a:gradFill>
        <a:effectLst/>
      </p:bgPr>
    </p:bg>
    <p:spTree>
      <p:nvGrpSpPr>
        <p:cNvPr id="1" name=""/>
        <p:cNvGrpSpPr/>
        <p:nvPr/>
      </p:nvGrpSpPr>
      <p:grpSpPr>
        <a:xfrm>
          <a:off x="0" y="0"/>
          <a:ext cx="0" cy="0"/>
          <a:chOff x="0" y="0"/>
          <a:chExt cx="0" cy="0"/>
        </a:xfrm>
      </p:grpSpPr>
      <p:sp>
        <p:nvSpPr>
          <p:cNvPr id="23" name="Freeform 77"/>
          <p:cNvSpPr>
            <a:spLocks noEditPoints="1"/>
          </p:cNvSpPr>
          <p:nvPr userDrawn="1"/>
        </p:nvSpPr>
        <p:spPr bwMode="auto">
          <a:xfrm rot="20644514">
            <a:off x="1047441" y="681857"/>
            <a:ext cx="1042017" cy="802702"/>
          </a:xfrm>
          <a:custGeom>
            <a:avLst/>
            <a:gdLst/>
            <a:ahLst/>
            <a:cxnLst>
              <a:cxn ang="0">
                <a:pos x="402" y="8"/>
              </a:cxn>
              <a:cxn ang="0">
                <a:pos x="402" y="6"/>
              </a:cxn>
              <a:cxn ang="0">
                <a:pos x="398" y="2"/>
              </a:cxn>
              <a:cxn ang="0">
                <a:pos x="242" y="0"/>
              </a:cxn>
              <a:cxn ang="0">
                <a:pos x="232" y="2"/>
              </a:cxn>
              <a:cxn ang="0">
                <a:pos x="216" y="10"/>
              </a:cxn>
              <a:cxn ang="0">
                <a:pos x="210" y="18"/>
              </a:cxn>
              <a:cxn ang="0">
                <a:pos x="210" y="18"/>
              </a:cxn>
              <a:cxn ang="0">
                <a:pos x="196" y="6"/>
              </a:cxn>
              <a:cxn ang="0">
                <a:pos x="178" y="0"/>
              </a:cxn>
              <a:cxn ang="0">
                <a:pos x="26" y="0"/>
              </a:cxn>
              <a:cxn ang="0">
                <a:pos x="20" y="4"/>
              </a:cxn>
              <a:cxn ang="0">
                <a:pos x="16" y="8"/>
              </a:cxn>
              <a:cxn ang="0">
                <a:pos x="0" y="34"/>
              </a:cxn>
              <a:cxn ang="0">
                <a:pos x="174" y="306"/>
              </a:cxn>
              <a:cxn ang="0">
                <a:pos x="182" y="314"/>
              </a:cxn>
              <a:cxn ang="0">
                <a:pos x="200" y="322"/>
              </a:cxn>
              <a:cxn ang="0">
                <a:pos x="210" y="322"/>
              </a:cxn>
              <a:cxn ang="0">
                <a:pos x="230" y="318"/>
              </a:cxn>
              <a:cxn ang="0">
                <a:pos x="246" y="306"/>
              </a:cxn>
              <a:cxn ang="0">
                <a:pos x="418" y="34"/>
              </a:cxn>
              <a:cxn ang="0">
                <a:pos x="34" y="18"/>
              </a:cxn>
              <a:cxn ang="0">
                <a:pos x="178" y="18"/>
              </a:cxn>
              <a:cxn ang="0">
                <a:pos x="194" y="24"/>
              </a:cxn>
              <a:cxn ang="0">
                <a:pos x="202" y="42"/>
              </a:cxn>
              <a:cxn ang="0">
                <a:pos x="202" y="194"/>
              </a:cxn>
              <a:cxn ang="0">
                <a:pos x="204" y="200"/>
              </a:cxn>
              <a:cxn ang="0">
                <a:pos x="210" y="202"/>
              </a:cxn>
              <a:cxn ang="0">
                <a:pos x="212" y="202"/>
              </a:cxn>
              <a:cxn ang="0">
                <a:pos x="218" y="198"/>
              </a:cxn>
              <a:cxn ang="0">
                <a:pos x="218" y="42"/>
              </a:cxn>
              <a:cxn ang="0">
                <a:pos x="220" y="32"/>
              </a:cxn>
              <a:cxn ang="0">
                <a:pos x="232" y="18"/>
              </a:cxn>
              <a:cxn ang="0">
                <a:pos x="386" y="18"/>
              </a:cxn>
              <a:cxn ang="0">
                <a:pos x="242" y="274"/>
              </a:cxn>
              <a:cxn ang="0">
                <a:pos x="232" y="276"/>
              </a:cxn>
              <a:cxn ang="0">
                <a:pos x="216" y="284"/>
              </a:cxn>
              <a:cxn ang="0">
                <a:pos x="210" y="290"/>
              </a:cxn>
              <a:cxn ang="0">
                <a:pos x="210" y="290"/>
              </a:cxn>
              <a:cxn ang="0">
                <a:pos x="196" y="278"/>
              </a:cxn>
              <a:cxn ang="0">
                <a:pos x="178" y="274"/>
              </a:cxn>
              <a:cxn ang="0">
                <a:pos x="34" y="18"/>
              </a:cxn>
            </a:cxnLst>
            <a:rect l="0" t="0" r="r" b="b"/>
            <a:pathLst>
              <a:path w="418" h="322">
                <a:moveTo>
                  <a:pt x="402" y="34"/>
                </a:moveTo>
                <a:lnTo>
                  <a:pt x="402" y="8"/>
                </a:lnTo>
                <a:lnTo>
                  <a:pt x="402" y="8"/>
                </a:lnTo>
                <a:lnTo>
                  <a:pt x="402" y="6"/>
                </a:lnTo>
                <a:lnTo>
                  <a:pt x="400" y="4"/>
                </a:lnTo>
                <a:lnTo>
                  <a:pt x="398" y="2"/>
                </a:lnTo>
                <a:lnTo>
                  <a:pt x="394" y="0"/>
                </a:lnTo>
                <a:lnTo>
                  <a:pt x="242" y="0"/>
                </a:lnTo>
                <a:lnTo>
                  <a:pt x="242" y="0"/>
                </a:lnTo>
                <a:lnTo>
                  <a:pt x="232" y="2"/>
                </a:lnTo>
                <a:lnTo>
                  <a:pt x="224" y="6"/>
                </a:lnTo>
                <a:lnTo>
                  <a:pt x="216" y="10"/>
                </a:lnTo>
                <a:lnTo>
                  <a:pt x="210" y="18"/>
                </a:lnTo>
                <a:lnTo>
                  <a:pt x="210" y="18"/>
                </a:lnTo>
                <a:lnTo>
                  <a:pt x="210" y="18"/>
                </a:lnTo>
                <a:lnTo>
                  <a:pt x="210" y="18"/>
                </a:lnTo>
                <a:lnTo>
                  <a:pt x="204" y="10"/>
                </a:lnTo>
                <a:lnTo>
                  <a:pt x="196" y="6"/>
                </a:lnTo>
                <a:lnTo>
                  <a:pt x="188" y="2"/>
                </a:lnTo>
                <a:lnTo>
                  <a:pt x="178" y="0"/>
                </a:lnTo>
                <a:lnTo>
                  <a:pt x="26" y="0"/>
                </a:lnTo>
                <a:lnTo>
                  <a:pt x="26" y="0"/>
                </a:lnTo>
                <a:lnTo>
                  <a:pt x="22" y="2"/>
                </a:lnTo>
                <a:lnTo>
                  <a:pt x="20" y="4"/>
                </a:lnTo>
                <a:lnTo>
                  <a:pt x="18" y="6"/>
                </a:lnTo>
                <a:lnTo>
                  <a:pt x="16" y="8"/>
                </a:lnTo>
                <a:lnTo>
                  <a:pt x="16" y="34"/>
                </a:lnTo>
                <a:lnTo>
                  <a:pt x="0" y="34"/>
                </a:lnTo>
                <a:lnTo>
                  <a:pt x="0" y="306"/>
                </a:lnTo>
                <a:lnTo>
                  <a:pt x="174" y="306"/>
                </a:lnTo>
                <a:lnTo>
                  <a:pt x="174" y="306"/>
                </a:lnTo>
                <a:lnTo>
                  <a:pt x="182" y="314"/>
                </a:lnTo>
                <a:lnTo>
                  <a:pt x="190" y="318"/>
                </a:lnTo>
                <a:lnTo>
                  <a:pt x="200" y="322"/>
                </a:lnTo>
                <a:lnTo>
                  <a:pt x="210" y="322"/>
                </a:lnTo>
                <a:lnTo>
                  <a:pt x="210" y="322"/>
                </a:lnTo>
                <a:lnTo>
                  <a:pt x="220" y="322"/>
                </a:lnTo>
                <a:lnTo>
                  <a:pt x="230" y="318"/>
                </a:lnTo>
                <a:lnTo>
                  <a:pt x="238" y="314"/>
                </a:lnTo>
                <a:lnTo>
                  <a:pt x="246" y="306"/>
                </a:lnTo>
                <a:lnTo>
                  <a:pt x="418" y="306"/>
                </a:lnTo>
                <a:lnTo>
                  <a:pt x="418" y="34"/>
                </a:lnTo>
                <a:lnTo>
                  <a:pt x="402" y="34"/>
                </a:lnTo>
                <a:close/>
                <a:moveTo>
                  <a:pt x="34" y="18"/>
                </a:moveTo>
                <a:lnTo>
                  <a:pt x="178" y="18"/>
                </a:lnTo>
                <a:lnTo>
                  <a:pt x="178" y="18"/>
                </a:lnTo>
                <a:lnTo>
                  <a:pt x="188" y="18"/>
                </a:lnTo>
                <a:lnTo>
                  <a:pt x="194" y="24"/>
                </a:lnTo>
                <a:lnTo>
                  <a:pt x="200" y="32"/>
                </a:lnTo>
                <a:lnTo>
                  <a:pt x="202" y="42"/>
                </a:lnTo>
                <a:lnTo>
                  <a:pt x="202" y="194"/>
                </a:lnTo>
                <a:lnTo>
                  <a:pt x="202" y="194"/>
                </a:lnTo>
                <a:lnTo>
                  <a:pt x="202" y="198"/>
                </a:lnTo>
                <a:lnTo>
                  <a:pt x="204" y="200"/>
                </a:lnTo>
                <a:lnTo>
                  <a:pt x="206" y="202"/>
                </a:lnTo>
                <a:lnTo>
                  <a:pt x="210" y="202"/>
                </a:lnTo>
                <a:lnTo>
                  <a:pt x="210" y="202"/>
                </a:lnTo>
                <a:lnTo>
                  <a:pt x="212" y="202"/>
                </a:lnTo>
                <a:lnTo>
                  <a:pt x="216" y="200"/>
                </a:lnTo>
                <a:lnTo>
                  <a:pt x="218" y="198"/>
                </a:lnTo>
                <a:lnTo>
                  <a:pt x="218" y="194"/>
                </a:lnTo>
                <a:lnTo>
                  <a:pt x="218" y="42"/>
                </a:lnTo>
                <a:lnTo>
                  <a:pt x="218" y="42"/>
                </a:lnTo>
                <a:lnTo>
                  <a:pt x="220" y="32"/>
                </a:lnTo>
                <a:lnTo>
                  <a:pt x="224" y="24"/>
                </a:lnTo>
                <a:lnTo>
                  <a:pt x="232" y="18"/>
                </a:lnTo>
                <a:lnTo>
                  <a:pt x="242" y="18"/>
                </a:lnTo>
                <a:lnTo>
                  <a:pt x="386" y="18"/>
                </a:lnTo>
                <a:lnTo>
                  <a:pt x="386" y="274"/>
                </a:lnTo>
                <a:lnTo>
                  <a:pt x="242" y="274"/>
                </a:lnTo>
                <a:lnTo>
                  <a:pt x="242" y="274"/>
                </a:lnTo>
                <a:lnTo>
                  <a:pt x="232" y="276"/>
                </a:lnTo>
                <a:lnTo>
                  <a:pt x="224" y="278"/>
                </a:lnTo>
                <a:lnTo>
                  <a:pt x="216" y="284"/>
                </a:lnTo>
                <a:lnTo>
                  <a:pt x="210" y="290"/>
                </a:lnTo>
                <a:lnTo>
                  <a:pt x="210" y="290"/>
                </a:lnTo>
                <a:lnTo>
                  <a:pt x="210" y="290"/>
                </a:lnTo>
                <a:lnTo>
                  <a:pt x="210" y="290"/>
                </a:lnTo>
                <a:lnTo>
                  <a:pt x="204" y="284"/>
                </a:lnTo>
                <a:lnTo>
                  <a:pt x="196" y="278"/>
                </a:lnTo>
                <a:lnTo>
                  <a:pt x="188" y="276"/>
                </a:lnTo>
                <a:lnTo>
                  <a:pt x="178" y="274"/>
                </a:lnTo>
                <a:lnTo>
                  <a:pt x="34" y="274"/>
                </a:lnTo>
                <a:lnTo>
                  <a:pt x="34" y="18"/>
                </a:lnTo>
                <a:close/>
              </a:path>
            </a:pathLst>
          </a:custGeom>
          <a:solidFill>
            <a:schemeClr val="bg1">
              <a:alpha val="10000"/>
            </a:schemeClr>
          </a:solidFill>
          <a:ln w="0">
            <a:noFill/>
            <a:prstDash val="solid"/>
            <a:round/>
          </a:ln>
        </p:spPr>
        <p:txBody>
          <a:bodyPr vert="horz" wrap="square" lIns="91440" tIns="45720" rIns="91440" bIns="45720" numCol="1" anchor="t" anchorCtr="0" compatLnSpc="1"/>
          <a:lstStyle/>
          <a:p>
            <a:pPr defTabSz="914400">
              <a:defRPr/>
            </a:pPr>
            <a:endParaRPr lang="zh-CN" altLang="en-US" sz="1800">
              <a:solidFill>
                <a:srgbClr val="000000"/>
              </a:solidFill>
              <a:latin typeface="微软雅黑" panose="020B0503020204020204" pitchFamily="34" charset="-122"/>
            </a:endParaRPr>
          </a:p>
        </p:txBody>
      </p:sp>
      <p:sp>
        <p:nvSpPr>
          <p:cNvPr id="18" name="Freeform 363"/>
          <p:cNvSpPr>
            <a:spLocks noEditPoints="1"/>
          </p:cNvSpPr>
          <p:nvPr userDrawn="1"/>
        </p:nvSpPr>
        <p:spPr bwMode="auto">
          <a:xfrm rot="1658487">
            <a:off x="6583748" y="312642"/>
            <a:ext cx="773335" cy="770514"/>
          </a:xfrm>
          <a:custGeom>
            <a:avLst/>
            <a:gdLst>
              <a:gd name="T0" fmla="*/ 145 w 274"/>
              <a:gd name="T1" fmla="*/ 262 h 273"/>
              <a:gd name="T2" fmla="*/ 189 w 274"/>
              <a:gd name="T3" fmla="*/ 204 h 273"/>
              <a:gd name="T4" fmla="*/ 263 w 274"/>
              <a:gd name="T5" fmla="*/ 204 h 273"/>
              <a:gd name="T6" fmla="*/ 216 w 274"/>
              <a:gd name="T7" fmla="*/ 217 h 273"/>
              <a:gd name="T8" fmla="*/ 104 w 274"/>
              <a:gd name="T9" fmla="*/ 199 h 273"/>
              <a:gd name="T10" fmla="*/ 55 w 274"/>
              <a:gd name="T11" fmla="*/ 186 h 273"/>
              <a:gd name="T12" fmla="*/ 14 w 274"/>
              <a:gd name="T13" fmla="*/ 168 h 273"/>
              <a:gd name="T14" fmla="*/ 44 w 274"/>
              <a:gd name="T15" fmla="*/ 207 h 273"/>
              <a:gd name="T16" fmla="*/ 45 w 274"/>
              <a:gd name="T17" fmla="*/ 217 h 273"/>
              <a:gd name="T18" fmla="*/ 95 w 274"/>
              <a:gd name="T19" fmla="*/ 254 h 273"/>
              <a:gd name="T20" fmla="*/ 86 w 274"/>
              <a:gd name="T21" fmla="*/ 232 h 273"/>
              <a:gd name="T22" fmla="*/ 114 w 274"/>
              <a:gd name="T23" fmla="*/ 255 h 273"/>
              <a:gd name="T24" fmla="*/ 131 w 274"/>
              <a:gd name="T25" fmla="*/ 196 h 273"/>
              <a:gd name="T26" fmla="*/ 110 w 274"/>
              <a:gd name="T27" fmla="*/ 189 h 273"/>
              <a:gd name="T28" fmla="*/ 132 w 274"/>
              <a:gd name="T29" fmla="*/ 145 h 273"/>
              <a:gd name="T30" fmla="*/ 74 w 274"/>
              <a:gd name="T31" fmla="*/ 145 h 273"/>
              <a:gd name="T32" fmla="*/ 67 w 274"/>
              <a:gd name="T33" fmla="*/ 166 h 273"/>
              <a:gd name="T34" fmla="*/ 205 w 274"/>
              <a:gd name="T35" fmla="*/ 111 h 273"/>
              <a:gd name="T36" fmla="*/ 192 w 274"/>
              <a:gd name="T37" fmla="*/ 159 h 273"/>
              <a:gd name="T38" fmla="*/ 150 w 274"/>
              <a:gd name="T39" fmla="*/ 59 h 273"/>
              <a:gd name="T40" fmla="*/ 114 w 274"/>
              <a:gd name="T41" fmla="*/ 94 h 273"/>
              <a:gd name="T42" fmla="*/ 57 w 274"/>
              <a:gd name="T43" fmla="*/ 42 h 273"/>
              <a:gd name="T44" fmla="*/ 9 w 274"/>
              <a:gd name="T45" fmla="*/ 55 h 273"/>
              <a:gd name="T46" fmla="*/ 178 w 274"/>
              <a:gd name="T47" fmla="*/ 23 h 273"/>
              <a:gd name="T48" fmla="*/ 230 w 274"/>
              <a:gd name="T49" fmla="*/ 57 h 273"/>
              <a:gd name="T50" fmla="*/ 137 w 274"/>
              <a:gd name="T51" fmla="*/ 0 h 273"/>
              <a:gd name="T52" fmla="*/ 271 w 274"/>
              <a:gd name="T53" fmla="*/ 108 h 273"/>
              <a:gd name="T54" fmla="*/ 257 w 274"/>
              <a:gd name="T55" fmla="*/ 189 h 273"/>
              <a:gd name="T56" fmla="*/ 260 w 274"/>
              <a:gd name="T57" fmla="*/ 142 h 273"/>
              <a:gd name="T58" fmla="*/ 238 w 274"/>
              <a:gd name="T59" fmla="*/ 133 h 273"/>
              <a:gd name="T60" fmla="*/ 261 w 274"/>
              <a:gd name="T61" fmla="*/ 105 h 273"/>
              <a:gd name="T62" fmla="*/ 206 w 274"/>
              <a:gd name="T63" fmla="*/ 76 h 273"/>
              <a:gd name="T64" fmla="*/ 206 w 274"/>
              <a:gd name="T65" fmla="*/ 103 h 273"/>
              <a:gd name="T66" fmla="*/ 193 w 274"/>
              <a:gd name="T67" fmla="*/ 82 h 273"/>
              <a:gd name="T68" fmla="*/ 169 w 274"/>
              <a:gd name="T69" fmla="*/ 79 h 273"/>
              <a:gd name="T70" fmla="*/ 189 w 274"/>
              <a:gd name="T71" fmla="*/ 66 h 273"/>
              <a:gd name="T72" fmla="*/ 142 w 274"/>
              <a:gd name="T73" fmla="*/ 13 h 273"/>
              <a:gd name="T74" fmla="*/ 136 w 274"/>
              <a:gd name="T75" fmla="*/ 50 h 273"/>
              <a:gd name="T76" fmla="*/ 127 w 274"/>
              <a:gd name="T77" fmla="*/ 11 h 273"/>
              <a:gd name="T78" fmla="*/ 86 w 274"/>
              <a:gd name="T79" fmla="*/ 71 h 273"/>
              <a:gd name="T80" fmla="*/ 104 w 274"/>
              <a:gd name="T81" fmla="*/ 83 h 273"/>
              <a:gd name="T82" fmla="*/ 76 w 274"/>
              <a:gd name="T83" fmla="*/ 105 h 273"/>
              <a:gd name="T84" fmla="*/ 132 w 274"/>
              <a:gd name="T85" fmla="*/ 130 h 273"/>
              <a:gd name="T86" fmla="*/ 140 w 274"/>
              <a:gd name="T87" fmla="*/ 113 h 273"/>
              <a:gd name="T88" fmla="*/ 146 w 274"/>
              <a:gd name="T89" fmla="*/ 131 h 273"/>
              <a:gd name="T90" fmla="*/ 171 w 274"/>
              <a:gd name="T91" fmla="*/ 140 h 273"/>
              <a:gd name="T92" fmla="*/ 142 w 274"/>
              <a:gd name="T93" fmla="*/ 182 h 273"/>
              <a:gd name="T94" fmla="*/ 193 w 274"/>
              <a:gd name="T95" fmla="*/ 191 h 273"/>
              <a:gd name="T96" fmla="*/ 206 w 274"/>
              <a:gd name="T97" fmla="*/ 170 h 273"/>
              <a:gd name="T98" fmla="*/ 206 w 274"/>
              <a:gd name="T99" fmla="*/ 196 h 273"/>
              <a:gd name="T100" fmla="*/ 209 w 274"/>
              <a:gd name="T101" fmla="*/ 207 h 273"/>
              <a:gd name="T102" fmla="*/ 179 w 274"/>
              <a:gd name="T103" fmla="*/ 249 h 273"/>
              <a:gd name="T104" fmla="*/ 212 w 274"/>
              <a:gd name="T105" fmla="*/ 239 h 273"/>
              <a:gd name="T106" fmla="*/ 219 w 274"/>
              <a:gd name="T107" fmla="*/ 246 h 273"/>
              <a:gd name="T108" fmla="*/ 31 w 274"/>
              <a:gd name="T109" fmla="*/ 222 h 273"/>
              <a:gd name="T110" fmla="*/ 14 w 274"/>
              <a:gd name="T111" fmla="*/ 82 h 273"/>
              <a:gd name="T112" fmla="*/ 11 w 274"/>
              <a:gd name="T113" fmla="*/ 130 h 273"/>
              <a:gd name="T114" fmla="*/ 67 w 274"/>
              <a:gd name="T115" fmla="*/ 103 h 273"/>
              <a:gd name="T116" fmla="*/ 63 w 274"/>
              <a:gd name="T117" fmla="*/ 74 h 273"/>
              <a:gd name="T118" fmla="*/ 72 w 274"/>
              <a:gd name="T119" fmla="*/ 67 h 273"/>
              <a:gd name="T120" fmla="*/ 95 w 274"/>
              <a:gd name="T121" fmla="*/ 19 h 273"/>
              <a:gd name="T122" fmla="*/ 58 w 274"/>
              <a:gd name="T123" fmla="*/ 33 h 273"/>
              <a:gd name="T124" fmla="*/ 109 w 274"/>
              <a:gd name="T125" fmla="*/ 4 h 2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74" h="273">
                <a:moveTo>
                  <a:pt x="146" y="196"/>
                </a:moveTo>
                <a:lnTo>
                  <a:pt x="143" y="196"/>
                </a:lnTo>
                <a:lnTo>
                  <a:pt x="142" y="198"/>
                </a:lnTo>
                <a:lnTo>
                  <a:pt x="142" y="200"/>
                </a:lnTo>
                <a:lnTo>
                  <a:pt x="142" y="258"/>
                </a:lnTo>
                <a:lnTo>
                  <a:pt x="142" y="260"/>
                </a:lnTo>
                <a:lnTo>
                  <a:pt x="145" y="262"/>
                </a:lnTo>
                <a:lnTo>
                  <a:pt x="147" y="262"/>
                </a:lnTo>
                <a:lnTo>
                  <a:pt x="159" y="255"/>
                </a:lnTo>
                <a:lnTo>
                  <a:pt x="169" y="245"/>
                </a:lnTo>
                <a:lnTo>
                  <a:pt x="178" y="234"/>
                </a:lnTo>
                <a:lnTo>
                  <a:pt x="184" y="219"/>
                </a:lnTo>
                <a:lnTo>
                  <a:pt x="189" y="207"/>
                </a:lnTo>
                <a:lnTo>
                  <a:pt x="189" y="204"/>
                </a:lnTo>
                <a:lnTo>
                  <a:pt x="189" y="203"/>
                </a:lnTo>
                <a:lnTo>
                  <a:pt x="187" y="202"/>
                </a:lnTo>
                <a:lnTo>
                  <a:pt x="168" y="198"/>
                </a:lnTo>
                <a:lnTo>
                  <a:pt x="146" y="196"/>
                </a:lnTo>
                <a:close/>
                <a:moveTo>
                  <a:pt x="242" y="191"/>
                </a:moveTo>
                <a:lnTo>
                  <a:pt x="254" y="195"/>
                </a:lnTo>
                <a:lnTo>
                  <a:pt x="263" y="204"/>
                </a:lnTo>
                <a:lnTo>
                  <a:pt x="267" y="217"/>
                </a:lnTo>
                <a:lnTo>
                  <a:pt x="263" y="230"/>
                </a:lnTo>
                <a:lnTo>
                  <a:pt x="254" y="239"/>
                </a:lnTo>
                <a:lnTo>
                  <a:pt x="242" y="242"/>
                </a:lnTo>
                <a:lnTo>
                  <a:pt x="229" y="239"/>
                </a:lnTo>
                <a:lnTo>
                  <a:pt x="219" y="230"/>
                </a:lnTo>
                <a:lnTo>
                  <a:pt x="216" y="217"/>
                </a:lnTo>
                <a:lnTo>
                  <a:pt x="219" y="204"/>
                </a:lnTo>
                <a:lnTo>
                  <a:pt x="229" y="195"/>
                </a:lnTo>
                <a:lnTo>
                  <a:pt x="242" y="191"/>
                </a:lnTo>
                <a:close/>
                <a:moveTo>
                  <a:pt x="78" y="173"/>
                </a:moveTo>
                <a:lnTo>
                  <a:pt x="91" y="177"/>
                </a:lnTo>
                <a:lnTo>
                  <a:pt x="100" y="186"/>
                </a:lnTo>
                <a:lnTo>
                  <a:pt x="104" y="199"/>
                </a:lnTo>
                <a:lnTo>
                  <a:pt x="100" y="212"/>
                </a:lnTo>
                <a:lnTo>
                  <a:pt x="91" y="222"/>
                </a:lnTo>
                <a:lnTo>
                  <a:pt x="78" y="225"/>
                </a:lnTo>
                <a:lnTo>
                  <a:pt x="65" y="222"/>
                </a:lnTo>
                <a:lnTo>
                  <a:pt x="55" y="212"/>
                </a:lnTo>
                <a:lnTo>
                  <a:pt x="53" y="199"/>
                </a:lnTo>
                <a:lnTo>
                  <a:pt x="55" y="186"/>
                </a:lnTo>
                <a:lnTo>
                  <a:pt x="65" y="177"/>
                </a:lnTo>
                <a:lnTo>
                  <a:pt x="78" y="173"/>
                </a:lnTo>
                <a:close/>
                <a:moveTo>
                  <a:pt x="14" y="142"/>
                </a:moveTo>
                <a:lnTo>
                  <a:pt x="12" y="142"/>
                </a:lnTo>
                <a:lnTo>
                  <a:pt x="11" y="144"/>
                </a:lnTo>
                <a:lnTo>
                  <a:pt x="11" y="145"/>
                </a:lnTo>
                <a:lnTo>
                  <a:pt x="14" y="168"/>
                </a:lnTo>
                <a:lnTo>
                  <a:pt x="22" y="189"/>
                </a:lnTo>
                <a:lnTo>
                  <a:pt x="32" y="208"/>
                </a:lnTo>
                <a:lnTo>
                  <a:pt x="34" y="209"/>
                </a:lnTo>
                <a:lnTo>
                  <a:pt x="36" y="211"/>
                </a:lnTo>
                <a:lnTo>
                  <a:pt x="37" y="209"/>
                </a:lnTo>
                <a:lnTo>
                  <a:pt x="42" y="207"/>
                </a:lnTo>
                <a:lnTo>
                  <a:pt x="44" y="207"/>
                </a:lnTo>
                <a:lnTo>
                  <a:pt x="45" y="207"/>
                </a:lnTo>
                <a:lnTo>
                  <a:pt x="46" y="208"/>
                </a:lnTo>
                <a:lnTo>
                  <a:pt x="48" y="211"/>
                </a:lnTo>
                <a:lnTo>
                  <a:pt x="48" y="212"/>
                </a:lnTo>
                <a:lnTo>
                  <a:pt x="48" y="214"/>
                </a:lnTo>
                <a:lnTo>
                  <a:pt x="46" y="216"/>
                </a:lnTo>
                <a:lnTo>
                  <a:pt x="45" y="217"/>
                </a:lnTo>
                <a:lnTo>
                  <a:pt x="42" y="218"/>
                </a:lnTo>
                <a:lnTo>
                  <a:pt x="42" y="221"/>
                </a:lnTo>
                <a:lnTo>
                  <a:pt x="44" y="222"/>
                </a:lnTo>
                <a:lnTo>
                  <a:pt x="65" y="241"/>
                </a:lnTo>
                <a:lnTo>
                  <a:pt x="91" y="255"/>
                </a:lnTo>
                <a:lnTo>
                  <a:pt x="94" y="255"/>
                </a:lnTo>
                <a:lnTo>
                  <a:pt x="95" y="254"/>
                </a:lnTo>
                <a:lnTo>
                  <a:pt x="96" y="253"/>
                </a:lnTo>
                <a:lnTo>
                  <a:pt x="96" y="251"/>
                </a:lnTo>
                <a:lnTo>
                  <a:pt x="95" y="249"/>
                </a:lnTo>
                <a:lnTo>
                  <a:pt x="91" y="242"/>
                </a:lnTo>
                <a:lnTo>
                  <a:pt x="86" y="235"/>
                </a:lnTo>
                <a:lnTo>
                  <a:pt x="86" y="234"/>
                </a:lnTo>
                <a:lnTo>
                  <a:pt x="86" y="232"/>
                </a:lnTo>
                <a:lnTo>
                  <a:pt x="87" y="231"/>
                </a:lnTo>
                <a:lnTo>
                  <a:pt x="90" y="230"/>
                </a:lnTo>
                <a:lnTo>
                  <a:pt x="91" y="228"/>
                </a:lnTo>
                <a:lnTo>
                  <a:pt x="94" y="230"/>
                </a:lnTo>
                <a:lnTo>
                  <a:pt x="95" y="231"/>
                </a:lnTo>
                <a:lnTo>
                  <a:pt x="104" y="244"/>
                </a:lnTo>
                <a:lnTo>
                  <a:pt x="114" y="255"/>
                </a:lnTo>
                <a:lnTo>
                  <a:pt x="127" y="262"/>
                </a:lnTo>
                <a:lnTo>
                  <a:pt x="129" y="262"/>
                </a:lnTo>
                <a:lnTo>
                  <a:pt x="132" y="260"/>
                </a:lnTo>
                <a:lnTo>
                  <a:pt x="132" y="258"/>
                </a:lnTo>
                <a:lnTo>
                  <a:pt x="132" y="200"/>
                </a:lnTo>
                <a:lnTo>
                  <a:pt x="132" y="198"/>
                </a:lnTo>
                <a:lnTo>
                  <a:pt x="131" y="196"/>
                </a:lnTo>
                <a:lnTo>
                  <a:pt x="128" y="196"/>
                </a:lnTo>
                <a:lnTo>
                  <a:pt x="114" y="198"/>
                </a:lnTo>
                <a:lnTo>
                  <a:pt x="111" y="196"/>
                </a:lnTo>
                <a:lnTo>
                  <a:pt x="110" y="195"/>
                </a:lnTo>
                <a:lnTo>
                  <a:pt x="109" y="194"/>
                </a:lnTo>
                <a:lnTo>
                  <a:pt x="109" y="191"/>
                </a:lnTo>
                <a:lnTo>
                  <a:pt x="110" y="189"/>
                </a:lnTo>
                <a:lnTo>
                  <a:pt x="111" y="189"/>
                </a:lnTo>
                <a:lnTo>
                  <a:pt x="113" y="188"/>
                </a:lnTo>
                <a:lnTo>
                  <a:pt x="128" y="186"/>
                </a:lnTo>
                <a:lnTo>
                  <a:pt x="131" y="186"/>
                </a:lnTo>
                <a:lnTo>
                  <a:pt x="132" y="185"/>
                </a:lnTo>
                <a:lnTo>
                  <a:pt x="132" y="182"/>
                </a:lnTo>
                <a:lnTo>
                  <a:pt x="132" y="145"/>
                </a:lnTo>
                <a:lnTo>
                  <a:pt x="132" y="143"/>
                </a:lnTo>
                <a:lnTo>
                  <a:pt x="131" y="142"/>
                </a:lnTo>
                <a:lnTo>
                  <a:pt x="128" y="142"/>
                </a:lnTo>
                <a:lnTo>
                  <a:pt x="78" y="142"/>
                </a:lnTo>
                <a:lnTo>
                  <a:pt x="76" y="142"/>
                </a:lnTo>
                <a:lnTo>
                  <a:pt x="74" y="143"/>
                </a:lnTo>
                <a:lnTo>
                  <a:pt x="74" y="145"/>
                </a:lnTo>
                <a:lnTo>
                  <a:pt x="76" y="163"/>
                </a:lnTo>
                <a:lnTo>
                  <a:pt x="74" y="166"/>
                </a:lnTo>
                <a:lnTo>
                  <a:pt x="73" y="167"/>
                </a:lnTo>
                <a:lnTo>
                  <a:pt x="72" y="168"/>
                </a:lnTo>
                <a:lnTo>
                  <a:pt x="69" y="168"/>
                </a:lnTo>
                <a:lnTo>
                  <a:pt x="68" y="167"/>
                </a:lnTo>
                <a:lnTo>
                  <a:pt x="67" y="166"/>
                </a:lnTo>
                <a:lnTo>
                  <a:pt x="65" y="165"/>
                </a:lnTo>
                <a:lnTo>
                  <a:pt x="64" y="145"/>
                </a:lnTo>
                <a:lnTo>
                  <a:pt x="64" y="143"/>
                </a:lnTo>
                <a:lnTo>
                  <a:pt x="63" y="142"/>
                </a:lnTo>
                <a:lnTo>
                  <a:pt x="60" y="142"/>
                </a:lnTo>
                <a:lnTo>
                  <a:pt x="14" y="142"/>
                </a:lnTo>
                <a:close/>
                <a:moveTo>
                  <a:pt x="205" y="111"/>
                </a:moveTo>
                <a:lnTo>
                  <a:pt x="217" y="115"/>
                </a:lnTo>
                <a:lnTo>
                  <a:pt x="226" y="124"/>
                </a:lnTo>
                <a:lnTo>
                  <a:pt x="230" y="136"/>
                </a:lnTo>
                <a:lnTo>
                  <a:pt x="226" y="149"/>
                </a:lnTo>
                <a:lnTo>
                  <a:pt x="217" y="159"/>
                </a:lnTo>
                <a:lnTo>
                  <a:pt x="205" y="162"/>
                </a:lnTo>
                <a:lnTo>
                  <a:pt x="192" y="159"/>
                </a:lnTo>
                <a:lnTo>
                  <a:pt x="183" y="149"/>
                </a:lnTo>
                <a:lnTo>
                  <a:pt x="179" y="136"/>
                </a:lnTo>
                <a:lnTo>
                  <a:pt x="183" y="124"/>
                </a:lnTo>
                <a:lnTo>
                  <a:pt x="192" y="115"/>
                </a:lnTo>
                <a:lnTo>
                  <a:pt x="205" y="111"/>
                </a:lnTo>
                <a:close/>
                <a:moveTo>
                  <a:pt x="137" y="56"/>
                </a:moveTo>
                <a:lnTo>
                  <a:pt x="150" y="59"/>
                </a:lnTo>
                <a:lnTo>
                  <a:pt x="159" y="69"/>
                </a:lnTo>
                <a:lnTo>
                  <a:pt x="163" y="82"/>
                </a:lnTo>
                <a:lnTo>
                  <a:pt x="159" y="94"/>
                </a:lnTo>
                <a:lnTo>
                  <a:pt x="150" y="103"/>
                </a:lnTo>
                <a:lnTo>
                  <a:pt x="137" y="107"/>
                </a:lnTo>
                <a:lnTo>
                  <a:pt x="124" y="103"/>
                </a:lnTo>
                <a:lnTo>
                  <a:pt x="114" y="94"/>
                </a:lnTo>
                <a:lnTo>
                  <a:pt x="111" y="82"/>
                </a:lnTo>
                <a:lnTo>
                  <a:pt x="114" y="69"/>
                </a:lnTo>
                <a:lnTo>
                  <a:pt x="124" y="59"/>
                </a:lnTo>
                <a:lnTo>
                  <a:pt x="137" y="56"/>
                </a:lnTo>
                <a:close/>
                <a:moveTo>
                  <a:pt x="35" y="29"/>
                </a:moveTo>
                <a:lnTo>
                  <a:pt x="48" y="33"/>
                </a:lnTo>
                <a:lnTo>
                  <a:pt x="57" y="42"/>
                </a:lnTo>
                <a:lnTo>
                  <a:pt x="60" y="55"/>
                </a:lnTo>
                <a:lnTo>
                  <a:pt x="57" y="67"/>
                </a:lnTo>
                <a:lnTo>
                  <a:pt x="48" y="76"/>
                </a:lnTo>
                <a:lnTo>
                  <a:pt x="35" y="80"/>
                </a:lnTo>
                <a:lnTo>
                  <a:pt x="22" y="76"/>
                </a:lnTo>
                <a:lnTo>
                  <a:pt x="13" y="67"/>
                </a:lnTo>
                <a:lnTo>
                  <a:pt x="9" y="55"/>
                </a:lnTo>
                <a:lnTo>
                  <a:pt x="13" y="42"/>
                </a:lnTo>
                <a:lnTo>
                  <a:pt x="22" y="33"/>
                </a:lnTo>
                <a:lnTo>
                  <a:pt x="35" y="29"/>
                </a:lnTo>
                <a:close/>
                <a:moveTo>
                  <a:pt x="182" y="18"/>
                </a:moveTo>
                <a:lnTo>
                  <a:pt x="179" y="19"/>
                </a:lnTo>
                <a:lnTo>
                  <a:pt x="178" y="20"/>
                </a:lnTo>
                <a:lnTo>
                  <a:pt x="178" y="23"/>
                </a:lnTo>
                <a:lnTo>
                  <a:pt x="179" y="24"/>
                </a:lnTo>
                <a:lnTo>
                  <a:pt x="191" y="43"/>
                </a:lnTo>
                <a:lnTo>
                  <a:pt x="200" y="65"/>
                </a:lnTo>
                <a:lnTo>
                  <a:pt x="201" y="66"/>
                </a:lnTo>
                <a:lnTo>
                  <a:pt x="202" y="67"/>
                </a:lnTo>
                <a:lnTo>
                  <a:pt x="205" y="67"/>
                </a:lnTo>
                <a:lnTo>
                  <a:pt x="230" y="57"/>
                </a:lnTo>
                <a:lnTo>
                  <a:pt x="232" y="55"/>
                </a:lnTo>
                <a:lnTo>
                  <a:pt x="232" y="53"/>
                </a:lnTo>
                <a:lnTo>
                  <a:pt x="230" y="51"/>
                </a:lnTo>
                <a:lnTo>
                  <a:pt x="209" y="32"/>
                </a:lnTo>
                <a:lnTo>
                  <a:pt x="183" y="18"/>
                </a:lnTo>
                <a:lnTo>
                  <a:pt x="182" y="18"/>
                </a:lnTo>
                <a:close/>
                <a:moveTo>
                  <a:pt x="137" y="0"/>
                </a:moveTo>
                <a:lnTo>
                  <a:pt x="164" y="2"/>
                </a:lnTo>
                <a:lnTo>
                  <a:pt x="189" y="10"/>
                </a:lnTo>
                <a:lnTo>
                  <a:pt x="212" y="23"/>
                </a:lnTo>
                <a:lnTo>
                  <a:pt x="233" y="39"/>
                </a:lnTo>
                <a:lnTo>
                  <a:pt x="249" y="59"/>
                </a:lnTo>
                <a:lnTo>
                  <a:pt x="262" y="83"/>
                </a:lnTo>
                <a:lnTo>
                  <a:pt x="271" y="108"/>
                </a:lnTo>
                <a:lnTo>
                  <a:pt x="274" y="136"/>
                </a:lnTo>
                <a:lnTo>
                  <a:pt x="271" y="163"/>
                </a:lnTo>
                <a:lnTo>
                  <a:pt x="263" y="188"/>
                </a:lnTo>
                <a:lnTo>
                  <a:pt x="263" y="189"/>
                </a:lnTo>
                <a:lnTo>
                  <a:pt x="262" y="190"/>
                </a:lnTo>
                <a:lnTo>
                  <a:pt x="260" y="190"/>
                </a:lnTo>
                <a:lnTo>
                  <a:pt x="257" y="189"/>
                </a:lnTo>
                <a:lnTo>
                  <a:pt x="254" y="186"/>
                </a:lnTo>
                <a:lnTo>
                  <a:pt x="254" y="184"/>
                </a:lnTo>
                <a:lnTo>
                  <a:pt x="261" y="166"/>
                </a:lnTo>
                <a:lnTo>
                  <a:pt x="263" y="145"/>
                </a:lnTo>
                <a:lnTo>
                  <a:pt x="263" y="144"/>
                </a:lnTo>
                <a:lnTo>
                  <a:pt x="262" y="142"/>
                </a:lnTo>
                <a:lnTo>
                  <a:pt x="260" y="142"/>
                </a:lnTo>
                <a:lnTo>
                  <a:pt x="240" y="142"/>
                </a:lnTo>
                <a:lnTo>
                  <a:pt x="239" y="142"/>
                </a:lnTo>
                <a:lnTo>
                  <a:pt x="238" y="140"/>
                </a:lnTo>
                <a:lnTo>
                  <a:pt x="237" y="139"/>
                </a:lnTo>
                <a:lnTo>
                  <a:pt x="237" y="136"/>
                </a:lnTo>
                <a:lnTo>
                  <a:pt x="237" y="135"/>
                </a:lnTo>
                <a:lnTo>
                  <a:pt x="238" y="133"/>
                </a:lnTo>
                <a:lnTo>
                  <a:pt x="239" y="133"/>
                </a:lnTo>
                <a:lnTo>
                  <a:pt x="240" y="131"/>
                </a:lnTo>
                <a:lnTo>
                  <a:pt x="260" y="131"/>
                </a:lnTo>
                <a:lnTo>
                  <a:pt x="262" y="131"/>
                </a:lnTo>
                <a:lnTo>
                  <a:pt x="263" y="130"/>
                </a:lnTo>
                <a:lnTo>
                  <a:pt x="263" y="127"/>
                </a:lnTo>
                <a:lnTo>
                  <a:pt x="261" y="105"/>
                </a:lnTo>
                <a:lnTo>
                  <a:pt x="253" y="84"/>
                </a:lnTo>
                <a:lnTo>
                  <a:pt x="242" y="65"/>
                </a:lnTo>
                <a:lnTo>
                  <a:pt x="240" y="64"/>
                </a:lnTo>
                <a:lnTo>
                  <a:pt x="239" y="64"/>
                </a:lnTo>
                <a:lnTo>
                  <a:pt x="237" y="64"/>
                </a:lnTo>
                <a:lnTo>
                  <a:pt x="223" y="71"/>
                </a:lnTo>
                <a:lnTo>
                  <a:pt x="206" y="76"/>
                </a:lnTo>
                <a:lnTo>
                  <a:pt x="205" y="78"/>
                </a:lnTo>
                <a:lnTo>
                  <a:pt x="203" y="79"/>
                </a:lnTo>
                <a:lnTo>
                  <a:pt x="203" y="82"/>
                </a:lnTo>
                <a:lnTo>
                  <a:pt x="206" y="90"/>
                </a:lnTo>
                <a:lnTo>
                  <a:pt x="207" y="101"/>
                </a:lnTo>
                <a:lnTo>
                  <a:pt x="207" y="102"/>
                </a:lnTo>
                <a:lnTo>
                  <a:pt x="206" y="103"/>
                </a:lnTo>
                <a:lnTo>
                  <a:pt x="205" y="105"/>
                </a:lnTo>
                <a:lnTo>
                  <a:pt x="203" y="105"/>
                </a:lnTo>
                <a:lnTo>
                  <a:pt x="201" y="105"/>
                </a:lnTo>
                <a:lnTo>
                  <a:pt x="198" y="103"/>
                </a:lnTo>
                <a:lnTo>
                  <a:pt x="198" y="102"/>
                </a:lnTo>
                <a:lnTo>
                  <a:pt x="194" y="84"/>
                </a:lnTo>
                <a:lnTo>
                  <a:pt x="193" y="82"/>
                </a:lnTo>
                <a:lnTo>
                  <a:pt x="192" y="82"/>
                </a:lnTo>
                <a:lnTo>
                  <a:pt x="191" y="82"/>
                </a:lnTo>
                <a:lnTo>
                  <a:pt x="173" y="84"/>
                </a:lnTo>
                <a:lnTo>
                  <a:pt x="171" y="84"/>
                </a:lnTo>
                <a:lnTo>
                  <a:pt x="170" y="83"/>
                </a:lnTo>
                <a:lnTo>
                  <a:pt x="169" y="82"/>
                </a:lnTo>
                <a:lnTo>
                  <a:pt x="169" y="79"/>
                </a:lnTo>
                <a:lnTo>
                  <a:pt x="169" y="78"/>
                </a:lnTo>
                <a:lnTo>
                  <a:pt x="170" y="75"/>
                </a:lnTo>
                <a:lnTo>
                  <a:pt x="171" y="74"/>
                </a:lnTo>
                <a:lnTo>
                  <a:pt x="187" y="71"/>
                </a:lnTo>
                <a:lnTo>
                  <a:pt x="189" y="71"/>
                </a:lnTo>
                <a:lnTo>
                  <a:pt x="189" y="69"/>
                </a:lnTo>
                <a:lnTo>
                  <a:pt x="189" y="66"/>
                </a:lnTo>
                <a:lnTo>
                  <a:pt x="184" y="53"/>
                </a:lnTo>
                <a:lnTo>
                  <a:pt x="178" y="41"/>
                </a:lnTo>
                <a:lnTo>
                  <a:pt x="169" y="28"/>
                </a:lnTo>
                <a:lnTo>
                  <a:pt x="159" y="18"/>
                </a:lnTo>
                <a:lnTo>
                  <a:pt x="147" y="11"/>
                </a:lnTo>
                <a:lnTo>
                  <a:pt x="145" y="11"/>
                </a:lnTo>
                <a:lnTo>
                  <a:pt x="142" y="13"/>
                </a:lnTo>
                <a:lnTo>
                  <a:pt x="142" y="15"/>
                </a:lnTo>
                <a:lnTo>
                  <a:pt x="142" y="46"/>
                </a:lnTo>
                <a:lnTo>
                  <a:pt x="142" y="47"/>
                </a:lnTo>
                <a:lnTo>
                  <a:pt x="141" y="48"/>
                </a:lnTo>
                <a:lnTo>
                  <a:pt x="140" y="50"/>
                </a:lnTo>
                <a:lnTo>
                  <a:pt x="137" y="50"/>
                </a:lnTo>
                <a:lnTo>
                  <a:pt x="136" y="50"/>
                </a:lnTo>
                <a:lnTo>
                  <a:pt x="133" y="48"/>
                </a:lnTo>
                <a:lnTo>
                  <a:pt x="133" y="47"/>
                </a:lnTo>
                <a:lnTo>
                  <a:pt x="132" y="46"/>
                </a:lnTo>
                <a:lnTo>
                  <a:pt x="132" y="15"/>
                </a:lnTo>
                <a:lnTo>
                  <a:pt x="132" y="13"/>
                </a:lnTo>
                <a:lnTo>
                  <a:pt x="129" y="11"/>
                </a:lnTo>
                <a:lnTo>
                  <a:pt x="127" y="11"/>
                </a:lnTo>
                <a:lnTo>
                  <a:pt x="115" y="18"/>
                </a:lnTo>
                <a:lnTo>
                  <a:pt x="105" y="28"/>
                </a:lnTo>
                <a:lnTo>
                  <a:pt x="96" y="41"/>
                </a:lnTo>
                <a:lnTo>
                  <a:pt x="90" y="53"/>
                </a:lnTo>
                <a:lnTo>
                  <a:pt x="85" y="66"/>
                </a:lnTo>
                <a:lnTo>
                  <a:pt x="85" y="69"/>
                </a:lnTo>
                <a:lnTo>
                  <a:pt x="86" y="71"/>
                </a:lnTo>
                <a:lnTo>
                  <a:pt x="87" y="71"/>
                </a:lnTo>
                <a:lnTo>
                  <a:pt x="101" y="74"/>
                </a:lnTo>
                <a:lnTo>
                  <a:pt x="104" y="75"/>
                </a:lnTo>
                <a:lnTo>
                  <a:pt x="104" y="78"/>
                </a:lnTo>
                <a:lnTo>
                  <a:pt x="105" y="79"/>
                </a:lnTo>
                <a:lnTo>
                  <a:pt x="104" y="82"/>
                </a:lnTo>
                <a:lnTo>
                  <a:pt x="104" y="83"/>
                </a:lnTo>
                <a:lnTo>
                  <a:pt x="101" y="84"/>
                </a:lnTo>
                <a:lnTo>
                  <a:pt x="100" y="84"/>
                </a:lnTo>
                <a:lnTo>
                  <a:pt x="85" y="82"/>
                </a:lnTo>
                <a:lnTo>
                  <a:pt x="82" y="82"/>
                </a:lnTo>
                <a:lnTo>
                  <a:pt x="81" y="82"/>
                </a:lnTo>
                <a:lnTo>
                  <a:pt x="80" y="84"/>
                </a:lnTo>
                <a:lnTo>
                  <a:pt x="76" y="105"/>
                </a:lnTo>
                <a:lnTo>
                  <a:pt x="74" y="127"/>
                </a:lnTo>
                <a:lnTo>
                  <a:pt x="74" y="130"/>
                </a:lnTo>
                <a:lnTo>
                  <a:pt x="76" y="131"/>
                </a:lnTo>
                <a:lnTo>
                  <a:pt x="78" y="131"/>
                </a:lnTo>
                <a:lnTo>
                  <a:pt x="128" y="131"/>
                </a:lnTo>
                <a:lnTo>
                  <a:pt x="131" y="131"/>
                </a:lnTo>
                <a:lnTo>
                  <a:pt x="132" y="130"/>
                </a:lnTo>
                <a:lnTo>
                  <a:pt x="132" y="127"/>
                </a:lnTo>
                <a:lnTo>
                  <a:pt x="132" y="117"/>
                </a:lnTo>
                <a:lnTo>
                  <a:pt x="133" y="116"/>
                </a:lnTo>
                <a:lnTo>
                  <a:pt x="133" y="115"/>
                </a:lnTo>
                <a:lnTo>
                  <a:pt x="136" y="113"/>
                </a:lnTo>
                <a:lnTo>
                  <a:pt x="137" y="113"/>
                </a:lnTo>
                <a:lnTo>
                  <a:pt x="140" y="113"/>
                </a:lnTo>
                <a:lnTo>
                  <a:pt x="141" y="115"/>
                </a:lnTo>
                <a:lnTo>
                  <a:pt x="142" y="116"/>
                </a:lnTo>
                <a:lnTo>
                  <a:pt x="142" y="117"/>
                </a:lnTo>
                <a:lnTo>
                  <a:pt x="142" y="127"/>
                </a:lnTo>
                <a:lnTo>
                  <a:pt x="142" y="130"/>
                </a:lnTo>
                <a:lnTo>
                  <a:pt x="143" y="131"/>
                </a:lnTo>
                <a:lnTo>
                  <a:pt x="146" y="131"/>
                </a:lnTo>
                <a:lnTo>
                  <a:pt x="169" y="131"/>
                </a:lnTo>
                <a:lnTo>
                  <a:pt x="170" y="133"/>
                </a:lnTo>
                <a:lnTo>
                  <a:pt x="171" y="133"/>
                </a:lnTo>
                <a:lnTo>
                  <a:pt x="173" y="135"/>
                </a:lnTo>
                <a:lnTo>
                  <a:pt x="173" y="136"/>
                </a:lnTo>
                <a:lnTo>
                  <a:pt x="173" y="139"/>
                </a:lnTo>
                <a:lnTo>
                  <a:pt x="171" y="140"/>
                </a:lnTo>
                <a:lnTo>
                  <a:pt x="170" y="142"/>
                </a:lnTo>
                <a:lnTo>
                  <a:pt x="169" y="142"/>
                </a:lnTo>
                <a:lnTo>
                  <a:pt x="146" y="142"/>
                </a:lnTo>
                <a:lnTo>
                  <a:pt x="143" y="142"/>
                </a:lnTo>
                <a:lnTo>
                  <a:pt x="142" y="143"/>
                </a:lnTo>
                <a:lnTo>
                  <a:pt x="142" y="145"/>
                </a:lnTo>
                <a:lnTo>
                  <a:pt x="142" y="182"/>
                </a:lnTo>
                <a:lnTo>
                  <a:pt x="142" y="185"/>
                </a:lnTo>
                <a:lnTo>
                  <a:pt x="143" y="186"/>
                </a:lnTo>
                <a:lnTo>
                  <a:pt x="146" y="186"/>
                </a:lnTo>
                <a:lnTo>
                  <a:pt x="169" y="189"/>
                </a:lnTo>
                <a:lnTo>
                  <a:pt x="191" y="193"/>
                </a:lnTo>
                <a:lnTo>
                  <a:pt x="192" y="193"/>
                </a:lnTo>
                <a:lnTo>
                  <a:pt x="193" y="191"/>
                </a:lnTo>
                <a:lnTo>
                  <a:pt x="194" y="189"/>
                </a:lnTo>
                <a:lnTo>
                  <a:pt x="198" y="172"/>
                </a:lnTo>
                <a:lnTo>
                  <a:pt x="198" y="170"/>
                </a:lnTo>
                <a:lnTo>
                  <a:pt x="201" y="170"/>
                </a:lnTo>
                <a:lnTo>
                  <a:pt x="202" y="168"/>
                </a:lnTo>
                <a:lnTo>
                  <a:pt x="205" y="170"/>
                </a:lnTo>
                <a:lnTo>
                  <a:pt x="206" y="170"/>
                </a:lnTo>
                <a:lnTo>
                  <a:pt x="207" y="172"/>
                </a:lnTo>
                <a:lnTo>
                  <a:pt x="207" y="173"/>
                </a:lnTo>
                <a:lnTo>
                  <a:pt x="206" y="182"/>
                </a:lnTo>
                <a:lnTo>
                  <a:pt x="203" y="191"/>
                </a:lnTo>
                <a:lnTo>
                  <a:pt x="203" y="194"/>
                </a:lnTo>
                <a:lnTo>
                  <a:pt x="205" y="195"/>
                </a:lnTo>
                <a:lnTo>
                  <a:pt x="206" y="196"/>
                </a:lnTo>
                <a:lnTo>
                  <a:pt x="209" y="198"/>
                </a:lnTo>
                <a:lnTo>
                  <a:pt x="211" y="198"/>
                </a:lnTo>
                <a:lnTo>
                  <a:pt x="212" y="200"/>
                </a:lnTo>
                <a:lnTo>
                  <a:pt x="212" y="202"/>
                </a:lnTo>
                <a:lnTo>
                  <a:pt x="212" y="204"/>
                </a:lnTo>
                <a:lnTo>
                  <a:pt x="211" y="205"/>
                </a:lnTo>
                <a:lnTo>
                  <a:pt x="209" y="207"/>
                </a:lnTo>
                <a:lnTo>
                  <a:pt x="207" y="207"/>
                </a:lnTo>
                <a:lnTo>
                  <a:pt x="205" y="205"/>
                </a:lnTo>
                <a:lnTo>
                  <a:pt x="202" y="205"/>
                </a:lnTo>
                <a:lnTo>
                  <a:pt x="201" y="207"/>
                </a:lnTo>
                <a:lnTo>
                  <a:pt x="200" y="208"/>
                </a:lnTo>
                <a:lnTo>
                  <a:pt x="191" y="230"/>
                </a:lnTo>
                <a:lnTo>
                  <a:pt x="179" y="249"/>
                </a:lnTo>
                <a:lnTo>
                  <a:pt x="178" y="251"/>
                </a:lnTo>
                <a:lnTo>
                  <a:pt x="178" y="253"/>
                </a:lnTo>
                <a:lnTo>
                  <a:pt x="179" y="254"/>
                </a:lnTo>
                <a:lnTo>
                  <a:pt x="182" y="255"/>
                </a:lnTo>
                <a:lnTo>
                  <a:pt x="183" y="255"/>
                </a:lnTo>
                <a:lnTo>
                  <a:pt x="198" y="248"/>
                </a:lnTo>
                <a:lnTo>
                  <a:pt x="212" y="239"/>
                </a:lnTo>
                <a:lnTo>
                  <a:pt x="215" y="237"/>
                </a:lnTo>
                <a:lnTo>
                  <a:pt x="217" y="239"/>
                </a:lnTo>
                <a:lnTo>
                  <a:pt x="219" y="240"/>
                </a:lnTo>
                <a:lnTo>
                  <a:pt x="220" y="241"/>
                </a:lnTo>
                <a:lnTo>
                  <a:pt x="220" y="244"/>
                </a:lnTo>
                <a:lnTo>
                  <a:pt x="220" y="245"/>
                </a:lnTo>
                <a:lnTo>
                  <a:pt x="219" y="246"/>
                </a:lnTo>
                <a:lnTo>
                  <a:pt x="194" y="260"/>
                </a:lnTo>
                <a:lnTo>
                  <a:pt x="166" y="271"/>
                </a:lnTo>
                <a:lnTo>
                  <a:pt x="137" y="273"/>
                </a:lnTo>
                <a:lnTo>
                  <a:pt x="106" y="269"/>
                </a:lnTo>
                <a:lnTo>
                  <a:pt x="77" y="259"/>
                </a:lnTo>
                <a:lnTo>
                  <a:pt x="51" y="244"/>
                </a:lnTo>
                <a:lnTo>
                  <a:pt x="31" y="222"/>
                </a:lnTo>
                <a:lnTo>
                  <a:pt x="14" y="196"/>
                </a:lnTo>
                <a:lnTo>
                  <a:pt x="4" y="168"/>
                </a:lnTo>
                <a:lnTo>
                  <a:pt x="0" y="136"/>
                </a:lnTo>
                <a:lnTo>
                  <a:pt x="3" y="108"/>
                </a:lnTo>
                <a:lnTo>
                  <a:pt x="12" y="83"/>
                </a:lnTo>
                <a:lnTo>
                  <a:pt x="12" y="82"/>
                </a:lnTo>
                <a:lnTo>
                  <a:pt x="14" y="82"/>
                </a:lnTo>
                <a:lnTo>
                  <a:pt x="16" y="82"/>
                </a:lnTo>
                <a:lnTo>
                  <a:pt x="18" y="83"/>
                </a:lnTo>
                <a:lnTo>
                  <a:pt x="21" y="84"/>
                </a:lnTo>
                <a:lnTo>
                  <a:pt x="19" y="88"/>
                </a:lnTo>
                <a:lnTo>
                  <a:pt x="13" y="107"/>
                </a:lnTo>
                <a:lnTo>
                  <a:pt x="11" y="127"/>
                </a:lnTo>
                <a:lnTo>
                  <a:pt x="11" y="130"/>
                </a:lnTo>
                <a:lnTo>
                  <a:pt x="12" y="131"/>
                </a:lnTo>
                <a:lnTo>
                  <a:pt x="14" y="131"/>
                </a:lnTo>
                <a:lnTo>
                  <a:pt x="60" y="131"/>
                </a:lnTo>
                <a:lnTo>
                  <a:pt x="63" y="131"/>
                </a:lnTo>
                <a:lnTo>
                  <a:pt x="64" y="130"/>
                </a:lnTo>
                <a:lnTo>
                  <a:pt x="64" y="127"/>
                </a:lnTo>
                <a:lnTo>
                  <a:pt x="67" y="103"/>
                </a:lnTo>
                <a:lnTo>
                  <a:pt x="71" y="82"/>
                </a:lnTo>
                <a:lnTo>
                  <a:pt x="71" y="79"/>
                </a:lnTo>
                <a:lnTo>
                  <a:pt x="69" y="78"/>
                </a:lnTo>
                <a:lnTo>
                  <a:pt x="68" y="76"/>
                </a:lnTo>
                <a:lnTo>
                  <a:pt x="65" y="76"/>
                </a:lnTo>
                <a:lnTo>
                  <a:pt x="64" y="75"/>
                </a:lnTo>
                <a:lnTo>
                  <a:pt x="63" y="74"/>
                </a:lnTo>
                <a:lnTo>
                  <a:pt x="63" y="71"/>
                </a:lnTo>
                <a:lnTo>
                  <a:pt x="63" y="70"/>
                </a:lnTo>
                <a:lnTo>
                  <a:pt x="64" y="67"/>
                </a:lnTo>
                <a:lnTo>
                  <a:pt x="67" y="66"/>
                </a:lnTo>
                <a:lnTo>
                  <a:pt x="68" y="66"/>
                </a:lnTo>
                <a:lnTo>
                  <a:pt x="71" y="67"/>
                </a:lnTo>
                <a:lnTo>
                  <a:pt x="72" y="67"/>
                </a:lnTo>
                <a:lnTo>
                  <a:pt x="74" y="66"/>
                </a:lnTo>
                <a:lnTo>
                  <a:pt x="76" y="65"/>
                </a:lnTo>
                <a:lnTo>
                  <a:pt x="83" y="43"/>
                </a:lnTo>
                <a:lnTo>
                  <a:pt x="95" y="24"/>
                </a:lnTo>
                <a:lnTo>
                  <a:pt x="96" y="23"/>
                </a:lnTo>
                <a:lnTo>
                  <a:pt x="96" y="20"/>
                </a:lnTo>
                <a:lnTo>
                  <a:pt x="95" y="19"/>
                </a:lnTo>
                <a:lnTo>
                  <a:pt x="94" y="18"/>
                </a:lnTo>
                <a:lnTo>
                  <a:pt x="91" y="18"/>
                </a:lnTo>
                <a:lnTo>
                  <a:pt x="77" y="25"/>
                </a:lnTo>
                <a:lnTo>
                  <a:pt x="63" y="33"/>
                </a:lnTo>
                <a:lnTo>
                  <a:pt x="62" y="34"/>
                </a:lnTo>
                <a:lnTo>
                  <a:pt x="60" y="34"/>
                </a:lnTo>
                <a:lnTo>
                  <a:pt x="58" y="33"/>
                </a:lnTo>
                <a:lnTo>
                  <a:pt x="58" y="32"/>
                </a:lnTo>
                <a:lnTo>
                  <a:pt x="57" y="30"/>
                </a:lnTo>
                <a:lnTo>
                  <a:pt x="57" y="28"/>
                </a:lnTo>
                <a:lnTo>
                  <a:pt x="57" y="27"/>
                </a:lnTo>
                <a:lnTo>
                  <a:pt x="58" y="25"/>
                </a:lnTo>
                <a:lnTo>
                  <a:pt x="82" y="11"/>
                </a:lnTo>
                <a:lnTo>
                  <a:pt x="109" y="4"/>
                </a:lnTo>
                <a:lnTo>
                  <a:pt x="137" y="0"/>
                </a:lnTo>
                <a:close/>
              </a:path>
            </a:pathLst>
          </a:custGeom>
          <a:solidFill>
            <a:schemeClr val="bg1">
              <a:alpha val="10000"/>
            </a:schemeClr>
          </a:solidFill>
          <a:ln w="0">
            <a:noFill/>
            <a:prstDash val="solid"/>
            <a:round/>
          </a:ln>
        </p:spPr>
        <p:txBody>
          <a:bodyPr vert="horz" wrap="square" lIns="91440" tIns="45720" rIns="91440" bIns="45720" numCol="1" anchor="t" anchorCtr="0" compatLnSpc="1"/>
          <a:lstStyle/>
          <a:p>
            <a:pPr defTabSz="914400">
              <a:defRPr/>
            </a:pPr>
            <a:endParaRPr lang="zh-CN" altLang="en-US" sz="1800">
              <a:solidFill>
                <a:srgbClr val="000000"/>
              </a:solidFill>
              <a:latin typeface="微软雅黑" panose="020B0503020204020204" pitchFamily="34" charset="-122"/>
            </a:endParaRPr>
          </a:p>
        </p:txBody>
      </p:sp>
      <p:sp>
        <p:nvSpPr>
          <p:cNvPr id="19" name="Freeform 463"/>
          <p:cNvSpPr>
            <a:spLocks noEditPoints="1"/>
          </p:cNvSpPr>
          <p:nvPr userDrawn="1"/>
        </p:nvSpPr>
        <p:spPr bwMode="auto">
          <a:xfrm rot="19468345">
            <a:off x="4877976" y="513678"/>
            <a:ext cx="1364153" cy="774137"/>
          </a:xfrm>
          <a:custGeom>
            <a:avLst/>
            <a:gdLst>
              <a:gd name="T0" fmla="*/ 250 w 326"/>
              <a:gd name="T1" fmla="*/ 94 h 185"/>
              <a:gd name="T2" fmla="*/ 253 w 326"/>
              <a:gd name="T3" fmla="*/ 98 h 185"/>
              <a:gd name="T4" fmla="*/ 249 w 326"/>
              <a:gd name="T5" fmla="*/ 148 h 185"/>
              <a:gd name="T6" fmla="*/ 225 w 326"/>
              <a:gd name="T7" fmla="*/ 163 h 185"/>
              <a:gd name="T8" fmla="*/ 185 w 326"/>
              <a:gd name="T9" fmla="*/ 171 h 185"/>
              <a:gd name="T10" fmla="*/ 142 w 326"/>
              <a:gd name="T11" fmla="*/ 171 h 185"/>
              <a:gd name="T12" fmla="*/ 102 w 326"/>
              <a:gd name="T13" fmla="*/ 163 h 185"/>
              <a:gd name="T14" fmla="*/ 78 w 326"/>
              <a:gd name="T15" fmla="*/ 148 h 185"/>
              <a:gd name="T16" fmla="*/ 74 w 326"/>
              <a:gd name="T17" fmla="*/ 99 h 185"/>
              <a:gd name="T18" fmla="*/ 76 w 326"/>
              <a:gd name="T19" fmla="*/ 94 h 185"/>
              <a:gd name="T20" fmla="*/ 82 w 326"/>
              <a:gd name="T21" fmla="*/ 94 h 185"/>
              <a:gd name="T22" fmla="*/ 163 w 326"/>
              <a:gd name="T23" fmla="*/ 126 h 185"/>
              <a:gd name="T24" fmla="*/ 245 w 326"/>
              <a:gd name="T25" fmla="*/ 93 h 185"/>
              <a:gd name="T26" fmla="*/ 163 w 326"/>
              <a:gd name="T27" fmla="*/ 0 h 185"/>
              <a:gd name="T28" fmla="*/ 322 w 326"/>
              <a:gd name="T29" fmla="*/ 46 h 185"/>
              <a:gd name="T30" fmla="*/ 326 w 326"/>
              <a:gd name="T31" fmla="*/ 50 h 185"/>
              <a:gd name="T32" fmla="*/ 324 w 326"/>
              <a:gd name="T33" fmla="*/ 53 h 185"/>
              <a:gd name="T34" fmla="*/ 168 w 326"/>
              <a:gd name="T35" fmla="*/ 120 h 185"/>
              <a:gd name="T36" fmla="*/ 157 w 326"/>
              <a:gd name="T37" fmla="*/ 120 h 185"/>
              <a:gd name="T38" fmla="*/ 42 w 326"/>
              <a:gd name="T39" fmla="*/ 72 h 185"/>
              <a:gd name="T40" fmla="*/ 39 w 326"/>
              <a:gd name="T41" fmla="*/ 75 h 185"/>
              <a:gd name="T42" fmla="*/ 39 w 326"/>
              <a:gd name="T43" fmla="*/ 110 h 185"/>
              <a:gd name="T44" fmla="*/ 42 w 326"/>
              <a:gd name="T45" fmla="*/ 110 h 185"/>
              <a:gd name="T46" fmla="*/ 45 w 326"/>
              <a:gd name="T47" fmla="*/ 110 h 185"/>
              <a:gd name="T48" fmla="*/ 46 w 326"/>
              <a:gd name="T49" fmla="*/ 112 h 185"/>
              <a:gd name="T50" fmla="*/ 46 w 326"/>
              <a:gd name="T51" fmla="*/ 116 h 185"/>
              <a:gd name="T52" fmla="*/ 45 w 326"/>
              <a:gd name="T53" fmla="*/ 122 h 185"/>
              <a:gd name="T54" fmla="*/ 46 w 326"/>
              <a:gd name="T55" fmla="*/ 124 h 185"/>
              <a:gd name="T56" fmla="*/ 46 w 326"/>
              <a:gd name="T57" fmla="*/ 126 h 185"/>
              <a:gd name="T58" fmla="*/ 45 w 326"/>
              <a:gd name="T59" fmla="*/ 127 h 185"/>
              <a:gd name="T60" fmla="*/ 52 w 326"/>
              <a:gd name="T61" fmla="*/ 149 h 185"/>
              <a:gd name="T62" fmla="*/ 50 w 326"/>
              <a:gd name="T63" fmla="*/ 171 h 185"/>
              <a:gd name="T64" fmla="*/ 42 w 326"/>
              <a:gd name="T65" fmla="*/ 181 h 185"/>
              <a:gd name="T66" fmla="*/ 42 w 326"/>
              <a:gd name="T67" fmla="*/ 175 h 185"/>
              <a:gd name="T68" fmla="*/ 42 w 326"/>
              <a:gd name="T69" fmla="*/ 171 h 185"/>
              <a:gd name="T70" fmla="*/ 41 w 326"/>
              <a:gd name="T71" fmla="*/ 172 h 185"/>
              <a:gd name="T72" fmla="*/ 39 w 326"/>
              <a:gd name="T73" fmla="*/ 179 h 185"/>
              <a:gd name="T74" fmla="*/ 36 w 326"/>
              <a:gd name="T75" fmla="*/ 185 h 185"/>
              <a:gd name="T76" fmla="*/ 34 w 326"/>
              <a:gd name="T77" fmla="*/ 185 h 185"/>
              <a:gd name="T78" fmla="*/ 33 w 326"/>
              <a:gd name="T79" fmla="*/ 170 h 185"/>
              <a:gd name="T80" fmla="*/ 32 w 326"/>
              <a:gd name="T81" fmla="*/ 167 h 185"/>
              <a:gd name="T82" fmla="*/ 32 w 326"/>
              <a:gd name="T83" fmla="*/ 171 h 185"/>
              <a:gd name="T84" fmla="*/ 30 w 326"/>
              <a:gd name="T85" fmla="*/ 179 h 185"/>
              <a:gd name="T86" fmla="*/ 30 w 326"/>
              <a:gd name="T87" fmla="*/ 179 h 185"/>
              <a:gd name="T88" fmla="*/ 29 w 326"/>
              <a:gd name="T89" fmla="*/ 172 h 185"/>
              <a:gd name="T90" fmla="*/ 28 w 326"/>
              <a:gd name="T91" fmla="*/ 172 h 185"/>
              <a:gd name="T92" fmla="*/ 28 w 326"/>
              <a:gd name="T93" fmla="*/ 180 h 185"/>
              <a:gd name="T94" fmla="*/ 28 w 326"/>
              <a:gd name="T95" fmla="*/ 181 h 185"/>
              <a:gd name="T96" fmla="*/ 16 w 326"/>
              <a:gd name="T97" fmla="*/ 157 h 185"/>
              <a:gd name="T98" fmla="*/ 25 w 326"/>
              <a:gd name="T99" fmla="*/ 127 h 185"/>
              <a:gd name="T100" fmla="*/ 24 w 326"/>
              <a:gd name="T101" fmla="*/ 126 h 185"/>
              <a:gd name="T102" fmla="*/ 24 w 326"/>
              <a:gd name="T103" fmla="*/ 122 h 185"/>
              <a:gd name="T104" fmla="*/ 27 w 326"/>
              <a:gd name="T105" fmla="*/ 121 h 185"/>
              <a:gd name="T106" fmla="*/ 25 w 326"/>
              <a:gd name="T107" fmla="*/ 116 h 185"/>
              <a:gd name="T108" fmla="*/ 25 w 326"/>
              <a:gd name="T109" fmla="*/ 112 h 185"/>
              <a:gd name="T110" fmla="*/ 28 w 326"/>
              <a:gd name="T111" fmla="*/ 108 h 185"/>
              <a:gd name="T112" fmla="*/ 30 w 326"/>
              <a:gd name="T113" fmla="*/ 110 h 185"/>
              <a:gd name="T114" fmla="*/ 33 w 326"/>
              <a:gd name="T115" fmla="*/ 108 h 185"/>
              <a:gd name="T116" fmla="*/ 32 w 326"/>
              <a:gd name="T117" fmla="*/ 67 h 185"/>
              <a:gd name="T118" fmla="*/ 2 w 326"/>
              <a:gd name="T119" fmla="*/ 55 h 185"/>
              <a:gd name="T120" fmla="*/ 0 w 326"/>
              <a:gd name="T121" fmla="*/ 52 h 185"/>
              <a:gd name="T122" fmla="*/ 1 w 326"/>
              <a:gd name="T123" fmla="*/ 47 h 185"/>
              <a:gd name="T124" fmla="*/ 159 w 326"/>
              <a:gd name="T125" fmla="*/ 0 h 1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26" h="185">
                <a:moveTo>
                  <a:pt x="248" y="93"/>
                </a:moveTo>
                <a:lnTo>
                  <a:pt x="250" y="94"/>
                </a:lnTo>
                <a:lnTo>
                  <a:pt x="251" y="95"/>
                </a:lnTo>
                <a:lnTo>
                  <a:pt x="253" y="98"/>
                </a:lnTo>
                <a:lnTo>
                  <a:pt x="253" y="138"/>
                </a:lnTo>
                <a:lnTo>
                  <a:pt x="249" y="148"/>
                </a:lnTo>
                <a:lnTo>
                  <a:pt x="239" y="157"/>
                </a:lnTo>
                <a:lnTo>
                  <a:pt x="225" y="163"/>
                </a:lnTo>
                <a:lnTo>
                  <a:pt x="207" y="168"/>
                </a:lnTo>
                <a:lnTo>
                  <a:pt x="185" y="171"/>
                </a:lnTo>
                <a:lnTo>
                  <a:pt x="163" y="172"/>
                </a:lnTo>
                <a:lnTo>
                  <a:pt x="142" y="171"/>
                </a:lnTo>
                <a:lnTo>
                  <a:pt x="120" y="168"/>
                </a:lnTo>
                <a:lnTo>
                  <a:pt x="102" y="163"/>
                </a:lnTo>
                <a:lnTo>
                  <a:pt x="87" y="157"/>
                </a:lnTo>
                <a:lnTo>
                  <a:pt x="78" y="148"/>
                </a:lnTo>
                <a:lnTo>
                  <a:pt x="74" y="138"/>
                </a:lnTo>
                <a:lnTo>
                  <a:pt x="74" y="99"/>
                </a:lnTo>
                <a:lnTo>
                  <a:pt x="75" y="97"/>
                </a:lnTo>
                <a:lnTo>
                  <a:pt x="76" y="94"/>
                </a:lnTo>
                <a:lnTo>
                  <a:pt x="79" y="93"/>
                </a:lnTo>
                <a:lnTo>
                  <a:pt x="82" y="94"/>
                </a:lnTo>
                <a:lnTo>
                  <a:pt x="158" y="125"/>
                </a:lnTo>
                <a:lnTo>
                  <a:pt x="163" y="126"/>
                </a:lnTo>
                <a:lnTo>
                  <a:pt x="168" y="125"/>
                </a:lnTo>
                <a:lnTo>
                  <a:pt x="245" y="93"/>
                </a:lnTo>
                <a:lnTo>
                  <a:pt x="248" y="93"/>
                </a:lnTo>
                <a:close/>
                <a:moveTo>
                  <a:pt x="163" y="0"/>
                </a:moveTo>
                <a:lnTo>
                  <a:pt x="167" y="0"/>
                </a:lnTo>
                <a:lnTo>
                  <a:pt x="322" y="46"/>
                </a:lnTo>
                <a:lnTo>
                  <a:pt x="324" y="47"/>
                </a:lnTo>
                <a:lnTo>
                  <a:pt x="326" y="50"/>
                </a:lnTo>
                <a:lnTo>
                  <a:pt x="326" y="52"/>
                </a:lnTo>
                <a:lnTo>
                  <a:pt x="324" y="53"/>
                </a:lnTo>
                <a:lnTo>
                  <a:pt x="323" y="55"/>
                </a:lnTo>
                <a:lnTo>
                  <a:pt x="168" y="120"/>
                </a:lnTo>
                <a:lnTo>
                  <a:pt x="163" y="121"/>
                </a:lnTo>
                <a:lnTo>
                  <a:pt x="157" y="120"/>
                </a:lnTo>
                <a:lnTo>
                  <a:pt x="43" y="72"/>
                </a:lnTo>
                <a:lnTo>
                  <a:pt x="42" y="72"/>
                </a:lnTo>
                <a:lnTo>
                  <a:pt x="39" y="74"/>
                </a:lnTo>
                <a:lnTo>
                  <a:pt x="39" y="75"/>
                </a:lnTo>
                <a:lnTo>
                  <a:pt x="39" y="110"/>
                </a:lnTo>
                <a:lnTo>
                  <a:pt x="39" y="110"/>
                </a:lnTo>
                <a:lnTo>
                  <a:pt x="41" y="111"/>
                </a:lnTo>
                <a:lnTo>
                  <a:pt x="42" y="110"/>
                </a:lnTo>
                <a:lnTo>
                  <a:pt x="43" y="110"/>
                </a:lnTo>
                <a:lnTo>
                  <a:pt x="45" y="110"/>
                </a:lnTo>
                <a:lnTo>
                  <a:pt x="45" y="111"/>
                </a:lnTo>
                <a:lnTo>
                  <a:pt x="46" y="112"/>
                </a:lnTo>
                <a:lnTo>
                  <a:pt x="46" y="115"/>
                </a:lnTo>
                <a:lnTo>
                  <a:pt x="46" y="116"/>
                </a:lnTo>
                <a:lnTo>
                  <a:pt x="46" y="120"/>
                </a:lnTo>
                <a:lnTo>
                  <a:pt x="45" y="122"/>
                </a:lnTo>
                <a:lnTo>
                  <a:pt x="45" y="124"/>
                </a:lnTo>
                <a:lnTo>
                  <a:pt x="46" y="124"/>
                </a:lnTo>
                <a:lnTo>
                  <a:pt x="47" y="125"/>
                </a:lnTo>
                <a:lnTo>
                  <a:pt x="46" y="126"/>
                </a:lnTo>
                <a:lnTo>
                  <a:pt x="45" y="127"/>
                </a:lnTo>
                <a:lnTo>
                  <a:pt x="45" y="127"/>
                </a:lnTo>
                <a:lnTo>
                  <a:pt x="50" y="138"/>
                </a:lnTo>
                <a:lnTo>
                  <a:pt x="52" y="149"/>
                </a:lnTo>
                <a:lnTo>
                  <a:pt x="52" y="161"/>
                </a:lnTo>
                <a:lnTo>
                  <a:pt x="50" y="171"/>
                </a:lnTo>
                <a:lnTo>
                  <a:pt x="42" y="180"/>
                </a:lnTo>
                <a:lnTo>
                  <a:pt x="42" y="181"/>
                </a:lnTo>
                <a:lnTo>
                  <a:pt x="42" y="180"/>
                </a:lnTo>
                <a:lnTo>
                  <a:pt x="42" y="175"/>
                </a:lnTo>
                <a:lnTo>
                  <a:pt x="42" y="172"/>
                </a:lnTo>
                <a:lnTo>
                  <a:pt x="42" y="171"/>
                </a:lnTo>
                <a:lnTo>
                  <a:pt x="42" y="171"/>
                </a:lnTo>
                <a:lnTo>
                  <a:pt x="41" y="172"/>
                </a:lnTo>
                <a:lnTo>
                  <a:pt x="41" y="175"/>
                </a:lnTo>
                <a:lnTo>
                  <a:pt x="39" y="179"/>
                </a:lnTo>
                <a:lnTo>
                  <a:pt x="37" y="182"/>
                </a:lnTo>
                <a:lnTo>
                  <a:pt x="36" y="185"/>
                </a:lnTo>
                <a:lnTo>
                  <a:pt x="34" y="185"/>
                </a:lnTo>
                <a:lnTo>
                  <a:pt x="34" y="185"/>
                </a:lnTo>
                <a:lnTo>
                  <a:pt x="33" y="173"/>
                </a:lnTo>
                <a:lnTo>
                  <a:pt x="33" y="170"/>
                </a:lnTo>
                <a:lnTo>
                  <a:pt x="33" y="168"/>
                </a:lnTo>
                <a:lnTo>
                  <a:pt x="32" y="167"/>
                </a:lnTo>
                <a:lnTo>
                  <a:pt x="32" y="168"/>
                </a:lnTo>
                <a:lnTo>
                  <a:pt x="32" y="171"/>
                </a:lnTo>
                <a:lnTo>
                  <a:pt x="32" y="179"/>
                </a:lnTo>
                <a:lnTo>
                  <a:pt x="30" y="179"/>
                </a:lnTo>
                <a:lnTo>
                  <a:pt x="30" y="180"/>
                </a:lnTo>
                <a:lnTo>
                  <a:pt x="30" y="179"/>
                </a:lnTo>
                <a:lnTo>
                  <a:pt x="29" y="175"/>
                </a:lnTo>
                <a:lnTo>
                  <a:pt x="29" y="172"/>
                </a:lnTo>
                <a:lnTo>
                  <a:pt x="28" y="172"/>
                </a:lnTo>
                <a:lnTo>
                  <a:pt x="28" y="172"/>
                </a:lnTo>
                <a:lnTo>
                  <a:pt x="28" y="175"/>
                </a:lnTo>
                <a:lnTo>
                  <a:pt x="28" y="180"/>
                </a:lnTo>
                <a:lnTo>
                  <a:pt x="28" y="181"/>
                </a:lnTo>
                <a:lnTo>
                  <a:pt x="28" y="181"/>
                </a:lnTo>
                <a:lnTo>
                  <a:pt x="19" y="170"/>
                </a:lnTo>
                <a:lnTo>
                  <a:pt x="16" y="157"/>
                </a:lnTo>
                <a:lnTo>
                  <a:pt x="19" y="141"/>
                </a:lnTo>
                <a:lnTo>
                  <a:pt x="25" y="127"/>
                </a:lnTo>
                <a:lnTo>
                  <a:pt x="25" y="126"/>
                </a:lnTo>
                <a:lnTo>
                  <a:pt x="24" y="126"/>
                </a:lnTo>
                <a:lnTo>
                  <a:pt x="24" y="124"/>
                </a:lnTo>
                <a:lnTo>
                  <a:pt x="24" y="122"/>
                </a:lnTo>
                <a:lnTo>
                  <a:pt x="25" y="122"/>
                </a:lnTo>
                <a:lnTo>
                  <a:pt x="27" y="121"/>
                </a:lnTo>
                <a:lnTo>
                  <a:pt x="25" y="118"/>
                </a:lnTo>
                <a:lnTo>
                  <a:pt x="25" y="116"/>
                </a:lnTo>
                <a:lnTo>
                  <a:pt x="25" y="113"/>
                </a:lnTo>
                <a:lnTo>
                  <a:pt x="25" y="112"/>
                </a:lnTo>
                <a:lnTo>
                  <a:pt x="27" y="110"/>
                </a:lnTo>
                <a:lnTo>
                  <a:pt x="28" y="108"/>
                </a:lnTo>
                <a:lnTo>
                  <a:pt x="30" y="108"/>
                </a:lnTo>
                <a:lnTo>
                  <a:pt x="30" y="110"/>
                </a:lnTo>
                <a:lnTo>
                  <a:pt x="32" y="108"/>
                </a:lnTo>
                <a:lnTo>
                  <a:pt x="33" y="108"/>
                </a:lnTo>
                <a:lnTo>
                  <a:pt x="33" y="70"/>
                </a:lnTo>
                <a:lnTo>
                  <a:pt x="32" y="67"/>
                </a:lnTo>
                <a:lnTo>
                  <a:pt x="30" y="66"/>
                </a:lnTo>
                <a:lnTo>
                  <a:pt x="2" y="55"/>
                </a:lnTo>
                <a:lnTo>
                  <a:pt x="1" y="53"/>
                </a:lnTo>
                <a:lnTo>
                  <a:pt x="0" y="52"/>
                </a:lnTo>
                <a:lnTo>
                  <a:pt x="0" y="50"/>
                </a:lnTo>
                <a:lnTo>
                  <a:pt x="1" y="47"/>
                </a:lnTo>
                <a:lnTo>
                  <a:pt x="4" y="46"/>
                </a:lnTo>
                <a:lnTo>
                  <a:pt x="159" y="0"/>
                </a:lnTo>
                <a:lnTo>
                  <a:pt x="163" y="0"/>
                </a:lnTo>
                <a:close/>
              </a:path>
            </a:pathLst>
          </a:custGeom>
          <a:solidFill>
            <a:schemeClr val="bg1">
              <a:alpha val="10000"/>
            </a:schemeClr>
          </a:solidFill>
          <a:ln w="0">
            <a:noFill/>
            <a:prstDash val="solid"/>
            <a:round/>
          </a:ln>
        </p:spPr>
        <p:txBody>
          <a:bodyPr vert="horz" wrap="square" lIns="91440" tIns="45720" rIns="91440" bIns="45720" numCol="1" anchor="t" anchorCtr="0" compatLnSpc="1"/>
          <a:lstStyle/>
          <a:p>
            <a:pPr defTabSz="914400">
              <a:defRPr/>
            </a:pPr>
            <a:endParaRPr lang="zh-CN" altLang="en-US" sz="1800">
              <a:solidFill>
                <a:srgbClr val="000000"/>
              </a:solidFill>
              <a:latin typeface="微软雅黑" panose="020B0503020204020204" pitchFamily="34" charset="-122"/>
            </a:endParaRPr>
          </a:p>
        </p:txBody>
      </p:sp>
      <p:sp>
        <p:nvSpPr>
          <p:cNvPr id="21" name="Freeform 345"/>
          <p:cNvSpPr>
            <a:spLocks noEditPoints="1"/>
          </p:cNvSpPr>
          <p:nvPr userDrawn="1"/>
        </p:nvSpPr>
        <p:spPr bwMode="auto">
          <a:xfrm rot="19951744">
            <a:off x="485337" y="1535222"/>
            <a:ext cx="2166226" cy="3066048"/>
          </a:xfrm>
          <a:custGeom>
            <a:avLst/>
            <a:gdLst>
              <a:gd name="T0" fmla="*/ 190 w 195"/>
              <a:gd name="T1" fmla="*/ 163 h 276"/>
              <a:gd name="T2" fmla="*/ 195 w 195"/>
              <a:gd name="T3" fmla="*/ 174 h 276"/>
              <a:gd name="T4" fmla="*/ 192 w 195"/>
              <a:gd name="T5" fmla="*/ 180 h 276"/>
              <a:gd name="T6" fmla="*/ 105 w 195"/>
              <a:gd name="T7" fmla="*/ 212 h 276"/>
              <a:gd name="T8" fmla="*/ 98 w 195"/>
              <a:gd name="T9" fmla="*/ 202 h 276"/>
              <a:gd name="T10" fmla="*/ 101 w 195"/>
              <a:gd name="T11" fmla="*/ 195 h 276"/>
              <a:gd name="T12" fmla="*/ 187 w 195"/>
              <a:gd name="T13" fmla="*/ 160 h 276"/>
              <a:gd name="T14" fmla="*/ 20 w 195"/>
              <a:gd name="T15" fmla="*/ 147 h 276"/>
              <a:gd name="T16" fmla="*/ 15 w 195"/>
              <a:gd name="T17" fmla="*/ 157 h 276"/>
              <a:gd name="T18" fmla="*/ 20 w 195"/>
              <a:gd name="T19" fmla="*/ 168 h 276"/>
              <a:gd name="T20" fmla="*/ 32 w 195"/>
              <a:gd name="T21" fmla="*/ 169 h 276"/>
              <a:gd name="T22" fmla="*/ 40 w 195"/>
              <a:gd name="T23" fmla="*/ 161 h 276"/>
              <a:gd name="T24" fmla="*/ 37 w 195"/>
              <a:gd name="T25" fmla="*/ 150 h 276"/>
              <a:gd name="T26" fmla="*/ 27 w 195"/>
              <a:gd name="T27" fmla="*/ 145 h 276"/>
              <a:gd name="T28" fmla="*/ 102 w 195"/>
              <a:gd name="T29" fmla="*/ 2 h 276"/>
              <a:gd name="T30" fmla="*/ 105 w 195"/>
              <a:gd name="T31" fmla="*/ 12 h 276"/>
              <a:gd name="T32" fmla="*/ 100 w 195"/>
              <a:gd name="T33" fmla="*/ 14 h 276"/>
              <a:gd name="T34" fmla="*/ 151 w 195"/>
              <a:gd name="T35" fmla="*/ 146 h 276"/>
              <a:gd name="T36" fmla="*/ 148 w 195"/>
              <a:gd name="T37" fmla="*/ 149 h 276"/>
              <a:gd name="T38" fmla="*/ 147 w 195"/>
              <a:gd name="T39" fmla="*/ 151 h 276"/>
              <a:gd name="T40" fmla="*/ 148 w 195"/>
              <a:gd name="T41" fmla="*/ 160 h 276"/>
              <a:gd name="T42" fmla="*/ 144 w 195"/>
              <a:gd name="T43" fmla="*/ 166 h 276"/>
              <a:gd name="T44" fmla="*/ 129 w 195"/>
              <a:gd name="T45" fmla="*/ 169 h 276"/>
              <a:gd name="T46" fmla="*/ 124 w 195"/>
              <a:gd name="T47" fmla="*/ 161 h 276"/>
              <a:gd name="T48" fmla="*/ 120 w 195"/>
              <a:gd name="T49" fmla="*/ 160 h 276"/>
              <a:gd name="T50" fmla="*/ 118 w 195"/>
              <a:gd name="T51" fmla="*/ 160 h 276"/>
              <a:gd name="T52" fmla="*/ 91 w 195"/>
              <a:gd name="T53" fmla="*/ 97 h 276"/>
              <a:gd name="T54" fmla="*/ 84 w 195"/>
              <a:gd name="T55" fmla="*/ 97 h 276"/>
              <a:gd name="T56" fmla="*/ 52 w 195"/>
              <a:gd name="T57" fmla="*/ 136 h 276"/>
              <a:gd name="T58" fmla="*/ 55 w 195"/>
              <a:gd name="T59" fmla="*/ 151 h 276"/>
              <a:gd name="T60" fmla="*/ 52 w 195"/>
              <a:gd name="T61" fmla="*/ 170 h 276"/>
              <a:gd name="T62" fmla="*/ 46 w 195"/>
              <a:gd name="T63" fmla="*/ 180 h 276"/>
              <a:gd name="T64" fmla="*/ 59 w 195"/>
              <a:gd name="T65" fmla="*/ 216 h 276"/>
              <a:gd name="T66" fmla="*/ 87 w 195"/>
              <a:gd name="T67" fmla="*/ 243 h 276"/>
              <a:gd name="T68" fmla="*/ 185 w 195"/>
              <a:gd name="T69" fmla="*/ 244 h 276"/>
              <a:gd name="T70" fmla="*/ 193 w 195"/>
              <a:gd name="T71" fmla="*/ 256 h 276"/>
              <a:gd name="T72" fmla="*/ 189 w 195"/>
              <a:gd name="T73" fmla="*/ 274 h 276"/>
              <a:gd name="T74" fmla="*/ 22 w 195"/>
              <a:gd name="T75" fmla="*/ 276 h 276"/>
              <a:gd name="T76" fmla="*/ 12 w 195"/>
              <a:gd name="T77" fmla="*/ 270 h 276"/>
              <a:gd name="T78" fmla="*/ 12 w 195"/>
              <a:gd name="T79" fmla="*/ 251 h 276"/>
              <a:gd name="T80" fmla="*/ 22 w 195"/>
              <a:gd name="T81" fmla="*/ 244 h 276"/>
              <a:gd name="T82" fmla="*/ 29 w 195"/>
              <a:gd name="T83" fmla="*/ 241 h 276"/>
              <a:gd name="T84" fmla="*/ 17 w 195"/>
              <a:gd name="T85" fmla="*/ 210 h 276"/>
              <a:gd name="T86" fmla="*/ 8 w 195"/>
              <a:gd name="T87" fmla="*/ 177 h 276"/>
              <a:gd name="T88" fmla="*/ 0 w 195"/>
              <a:gd name="T89" fmla="*/ 157 h 276"/>
              <a:gd name="T90" fmla="*/ 15 w 195"/>
              <a:gd name="T91" fmla="*/ 131 h 276"/>
              <a:gd name="T92" fmla="*/ 38 w 195"/>
              <a:gd name="T93" fmla="*/ 91 h 276"/>
              <a:gd name="T94" fmla="*/ 75 w 195"/>
              <a:gd name="T95" fmla="*/ 62 h 276"/>
              <a:gd name="T96" fmla="*/ 65 w 195"/>
              <a:gd name="T97" fmla="*/ 31 h 276"/>
              <a:gd name="T98" fmla="*/ 61 w 195"/>
              <a:gd name="T99" fmla="*/ 30 h 276"/>
              <a:gd name="T100" fmla="*/ 56 w 195"/>
              <a:gd name="T101" fmla="*/ 31 h 276"/>
              <a:gd name="T102" fmla="*/ 52 w 195"/>
              <a:gd name="T103" fmla="*/ 20 h 276"/>
              <a:gd name="T104" fmla="*/ 59 w 195"/>
              <a:gd name="T105" fmla="*/ 16 h 276"/>
              <a:gd name="T106" fmla="*/ 101 w 195"/>
              <a:gd name="T107" fmla="*/ 0 h 2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95" h="276">
                <a:moveTo>
                  <a:pt x="187" y="160"/>
                </a:moveTo>
                <a:lnTo>
                  <a:pt x="189" y="161"/>
                </a:lnTo>
                <a:lnTo>
                  <a:pt x="190" y="163"/>
                </a:lnTo>
                <a:lnTo>
                  <a:pt x="193" y="165"/>
                </a:lnTo>
                <a:lnTo>
                  <a:pt x="195" y="172"/>
                </a:lnTo>
                <a:lnTo>
                  <a:pt x="195" y="174"/>
                </a:lnTo>
                <a:lnTo>
                  <a:pt x="195" y="177"/>
                </a:lnTo>
                <a:lnTo>
                  <a:pt x="193" y="178"/>
                </a:lnTo>
                <a:lnTo>
                  <a:pt x="192" y="180"/>
                </a:lnTo>
                <a:lnTo>
                  <a:pt x="110" y="212"/>
                </a:lnTo>
                <a:lnTo>
                  <a:pt x="107" y="212"/>
                </a:lnTo>
                <a:lnTo>
                  <a:pt x="105" y="212"/>
                </a:lnTo>
                <a:lnTo>
                  <a:pt x="103" y="211"/>
                </a:lnTo>
                <a:lnTo>
                  <a:pt x="101" y="209"/>
                </a:lnTo>
                <a:lnTo>
                  <a:pt x="98" y="202"/>
                </a:lnTo>
                <a:lnTo>
                  <a:pt x="98" y="200"/>
                </a:lnTo>
                <a:lnTo>
                  <a:pt x="98" y="197"/>
                </a:lnTo>
                <a:lnTo>
                  <a:pt x="101" y="195"/>
                </a:lnTo>
                <a:lnTo>
                  <a:pt x="102" y="193"/>
                </a:lnTo>
                <a:lnTo>
                  <a:pt x="184" y="161"/>
                </a:lnTo>
                <a:lnTo>
                  <a:pt x="187" y="160"/>
                </a:lnTo>
                <a:close/>
                <a:moveTo>
                  <a:pt x="27" y="145"/>
                </a:moveTo>
                <a:lnTo>
                  <a:pt x="23" y="145"/>
                </a:lnTo>
                <a:lnTo>
                  <a:pt x="20" y="147"/>
                </a:lnTo>
                <a:lnTo>
                  <a:pt x="17" y="150"/>
                </a:lnTo>
                <a:lnTo>
                  <a:pt x="15" y="154"/>
                </a:lnTo>
                <a:lnTo>
                  <a:pt x="15" y="157"/>
                </a:lnTo>
                <a:lnTo>
                  <a:pt x="15" y="161"/>
                </a:lnTo>
                <a:lnTo>
                  <a:pt x="17" y="165"/>
                </a:lnTo>
                <a:lnTo>
                  <a:pt x="20" y="168"/>
                </a:lnTo>
                <a:lnTo>
                  <a:pt x="23" y="169"/>
                </a:lnTo>
                <a:lnTo>
                  <a:pt x="27" y="170"/>
                </a:lnTo>
                <a:lnTo>
                  <a:pt x="32" y="169"/>
                </a:lnTo>
                <a:lnTo>
                  <a:pt x="35" y="168"/>
                </a:lnTo>
                <a:lnTo>
                  <a:pt x="37" y="165"/>
                </a:lnTo>
                <a:lnTo>
                  <a:pt x="40" y="161"/>
                </a:lnTo>
                <a:lnTo>
                  <a:pt x="40" y="157"/>
                </a:lnTo>
                <a:lnTo>
                  <a:pt x="40" y="154"/>
                </a:lnTo>
                <a:lnTo>
                  <a:pt x="37" y="150"/>
                </a:lnTo>
                <a:lnTo>
                  <a:pt x="35" y="147"/>
                </a:lnTo>
                <a:lnTo>
                  <a:pt x="32" y="145"/>
                </a:lnTo>
                <a:lnTo>
                  <a:pt x="27" y="145"/>
                </a:lnTo>
                <a:close/>
                <a:moveTo>
                  <a:pt x="101" y="0"/>
                </a:moveTo>
                <a:lnTo>
                  <a:pt x="102" y="0"/>
                </a:lnTo>
                <a:lnTo>
                  <a:pt x="102" y="2"/>
                </a:lnTo>
                <a:lnTo>
                  <a:pt x="106" y="9"/>
                </a:lnTo>
                <a:lnTo>
                  <a:pt x="106" y="11"/>
                </a:lnTo>
                <a:lnTo>
                  <a:pt x="105" y="12"/>
                </a:lnTo>
                <a:lnTo>
                  <a:pt x="103" y="13"/>
                </a:lnTo>
                <a:lnTo>
                  <a:pt x="101" y="14"/>
                </a:lnTo>
                <a:lnTo>
                  <a:pt x="100" y="14"/>
                </a:lnTo>
                <a:lnTo>
                  <a:pt x="100" y="16"/>
                </a:lnTo>
                <a:lnTo>
                  <a:pt x="100" y="18"/>
                </a:lnTo>
                <a:lnTo>
                  <a:pt x="151" y="146"/>
                </a:lnTo>
                <a:lnTo>
                  <a:pt x="151" y="147"/>
                </a:lnTo>
                <a:lnTo>
                  <a:pt x="149" y="149"/>
                </a:lnTo>
                <a:lnTo>
                  <a:pt x="148" y="149"/>
                </a:lnTo>
                <a:lnTo>
                  <a:pt x="148" y="150"/>
                </a:lnTo>
                <a:lnTo>
                  <a:pt x="147" y="150"/>
                </a:lnTo>
                <a:lnTo>
                  <a:pt x="147" y="151"/>
                </a:lnTo>
                <a:lnTo>
                  <a:pt x="147" y="152"/>
                </a:lnTo>
                <a:lnTo>
                  <a:pt x="148" y="157"/>
                </a:lnTo>
                <a:lnTo>
                  <a:pt x="148" y="160"/>
                </a:lnTo>
                <a:lnTo>
                  <a:pt x="148" y="163"/>
                </a:lnTo>
                <a:lnTo>
                  <a:pt x="147" y="164"/>
                </a:lnTo>
                <a:lnTo>
                  <a:pt x="144" y="166"/>
                </a:lnTo>
                <a:lnTo>
                  <a:pt x="134" y="169"/>
                </a:lnTo>
                <a:lnTo>
                  <a:pt x="132" y="170"/>
                </a:lnTo>
                <a:lnTo>
                  <a:pt x="129" y="169"/>
                </a:lnTo>
                <a:lnTo>
                  <a:pt x="128" y="168"/>
                </a:lnTo>
                <a:lnTo>
                  <a:pt x="125" y="165"/>
                </a:lnTo>
                <a:lnTo>
                  <a:pt x="124" y="161"/>
                </a:lnTo>
                <a:lnTo>
                  <a:pt x="124" y="161"/>
                </a:lnTo>
                <a:lnTo>
                  <a:pt x="123" y="160"/>
                </a:lnTo>
                <a:lnTo>
                  <a:pt x="120" y="160"/>
                </a:lnTo>
                <a:lnTo>
                  <a:pt x="120" y="160"/>
                </a:lnTo>
                <a:lnTo>
                  <a:pt x="119" y="161"/>
                </a:lnTo>
                <a:lnTo>
                  <a:pt x="118" y="160"/>
                </a:lnTo>
                <a:lnTo>
                  <a:pt x="116" y="159"/>
                </a:lnTo>
                <a:lnTo>
                  <a:pt x="93" y="100"/>
                </a:lnTo>
                <a:lnTo>
                  <a:pt x="91" y="97"/>
                </a:lnTo>
                <a:lnTo>
                  <a:pt x="89" y="96"/>
                </a:lnTo>
                <a:lnTo>
                  <a:pt x="87" y="96"/>
                </a:lnTo>
                <a:lnTo>
                  <a:pt x="84" y="97"/>
                </a:lnTo>
                <a:lnTo>
                  <a:pt x="70" y="108"/>
                </a:lnTo>
                <a:lnTo>
                  <a:pt x="60" y="120"/>
                </a:lnTo>
                <a:lnTo>
                  <a:pt x="52" y="136"/>
                </a:lnTo>
                <a:lnTo>
                  <a:pt x="51" y="140"/>
                </a:lnTo>
                <a:lnTo>
                  <a:pt x="52" y="145"/>
                </a:lnTo>
                <a:lnTo>
                  <a:pt x="55" y="151"/>
                </a:lnTo>
                <a:lnTo>
                  <a:pt x="55" y="157"/>
                </a:lnTo>
                <a:lnTo>
                  <a:pt x="55" y="164"/>
                </a:lnTo>
                <a:lnTo>
                  <a:pt x="52" y="170"/>
                </a:lnTo>
                <a:lnTo>
                  <a:pt x="49" y="175"/>
                </a:lnTo>
                <a:lnTo>
                  <a:pt x="47" y="178"/>
                </a:lnTo>
                <a:lnTo>
                  <a:pt x="46" y="180"/>
                </a:lnTo>
                <a:lnTo>
                  <a:pt x="46" y="184"/>
                </a:lnTo>
                <a:lnTo>
                  <a:pt x="51" y="201"/>
                </a:lnTo>
                <a:lnTo>
                  <a:pt x="59" y="216"/>
                </a:lnTo>
                <a:lnTo>
                  <a:pt x="69" y="230"/>
                </a:lnTo>
                <a:lnTo>
                  <a:pt x="83" y="242"/>
                </a:lnTo>
                <a:lnTo>
                  <a:pt x="87" y="243"/>
                </a:lnTo>
                <a:lnTo>
                  <a:pt x="89" y="244"/>
                </a:lnTo>
                <a:lnTo>
                  <a:pt x="181" y="244"/>
                </a:lnTo>
                <a:lnTo>
                  <a:pt x="185" y="244"/>
                </a:lnTo>
                <a:lnTo>
                  <a:pt x="189" y="247"/>
                </a:lnTo>
                <a:lnTo>
                  <a:pt x="192" y="251"/>
                </a:lnTo>
                <a:lnTo>
                  <a:pt x="193" y="256"/>
                </a:lnTo>
                <a:lnTo>
                  <a:pt x="193" y="265"/>
                </a:lnTo>
                <a:lnTo>
                  <a:pt x="192" y="270"/>
                </a:lnTo>
                <a:lnTo>
                  <a:pt x="189" y="274"/>
                </a:lnTo>
                <a:lnTo>
                  <a:pt x="185" y="276"/>
                </a:lnTo>
                <a:lnTo>
                  <a:pt x="181" y="276"/>
                </a:lnTo>
                <a:lnTo>
                  <a:pt x="22" y="276"/>
                </a:lnTo>
                <a:lnTo>
                  <a:pt x="18" y="276"/>
                </a:lnTo>
                <a:lnTo>
                  <a:pt x="14" y="274"/>
                </a:lnTo>
                <a:lnTo>
                  <a:pt x="12" y="270"/>
                </a:lnTo>
                <a:lnTo>
                  <a:pt x="10" y="265"/>
                </a:lnTo>
                <a:lnTo>
                  <a:pt x="10" y="256"/>
                </a:lnTo>
                <a:lnTo>
                  <a:pt x="12" y="251"/>
                </a:lnTo>
                <a:lnTo>
                  <a:pt x="14" y="247"/>
                </a:lnTo>
                <a:lnTo>
                  <a:pt x="18" y="244"/>
                </a:lnTo>
                <a:lnTo>
                  <a:pt x="22" y="244"/>
                </a:lnTo>
                <a:lnTo>
                  <a:pt x="24" y="244"/>
                </a:lnTo>
                <a:lnTo>
                  <a:pt x="27" y="243"/>
                </a:lnTo>
                <a:lnTo>
                  <a:pt x="29" y="241"/>
                </a:lnTo>
                <a:lnTo>
                  <a:pt x="29" y="238"/>
                </a:lnTo>
                <a:lnTo>
                  <a:pt x="28" y="235"/>
                </a:lnTo>
                <a:lnTo>
                  <a:pt x="17" y="210"/>
                </a:lnTo>
                <a:lnTo>
                  <a:pt x="10" y="183"/>
                </a:lnTo>
                <a:lnTo>
                  <a:pt x="9" y="179"/>
                </a:lnTo>
                <a:lnTo>
                  <a:pt x="8" y="177"/>
                </a:lnTo>
                <a:lnTo>
                  <a:pt x="4" y="170"/>
                </a:lnTo>
                <a:lnTo>
                  <a:pt x="0" y="164"/>
                </a:lnTo>
                <a:lnTo>
                  <a:pt x="0" y="157"/>
                </a:lnTo>
                <a:lnTo>
                  <a:pt x="3" y="143"/>
                </a:lnTo>
                <a:lnTo>
                  <a:pt x="13" y="133"/>
                </a:lnTo>
                <a:lnTo>
                  <a:pt x="15" y="131"/>
                </a:lnTo>
                <a:lnTo>
                  <a:pt x="17" y="128"/>
                </a:lnTo>
                <a:lnTo>
                  <a:pt x="27" y="109"/>
                </a:lnTo>
                <a:lnTo>
                  <a:pt x="38" y="91"/>
                </a:lnTo>
                <a:lnTo>
                  <a:pt x="54" y="76"/>
                </a:lnTo>
                <a:lnTo>
                  <a:pt x="73" y="63"/>
                </a:lnTo>
                <a:lnTo>
                  <a:pt x="75" y="62"/>
                </a:lnTo>
                <a:lnTo>
                  <a:pt x="75" y="59"/>
                </a:lnTo>
                <a:lnTo>
                  <a:pt x="75" y="57"/>
                </a:lnTo>
                <a:lnTo>
                  <a:pt x="65" y="31"/>
                </a:lnTo>
                <a:lnTo>
                  <a:pt x="65" y="30"/>
                </a:lnTo>
                <a:lnTo>
                  <a:pt x="64" y="30"/>
                </a:lnTo>
                <a:lnTo>
                  <a:pt x="61" y="30"/>
                </a:lnTo>
                <a:lnTo>
                  <a:pt x="59" y="31"/>
                </a:lnTo>
                <a:lnTo>
                  <a:pt x="58" y="31"/>
                </a:lnTo>
                <a:lnTo>
                  <a:pt x="56" y="31"/>
                </a:lnTo>
                <a:lnTo>
                  <a:pt x="55" y="30"/>
                </a:lnTo>
                <a:lnTo>
                  <a:pt x="52" y="22"/>
                </a:lnTo>
                <a:lnTo>
                  <a:pt x="52" y="20"/>
                </a:lnTo>
                <a:lnTo>
                  <a:pt x="52" y="18"/>
                </a:lnTo>
                <a:lnTo>
                  <a:pt x="54" y="18"/>
                </a:lnTo>
                <a:lnTo>
                  <a:pt x="59" y="16"/>
                </a:lnTo>
                <a:lnTo>
                  <a:pt x="93" y="2"/>
                </a:lnTo>
                <a:lnTo>
                  <a:pt x="98" y="0"/>
                </a:lnTo>
                <a:lnTo>
                  <a:pt x="101" y="0"/>
                </a:lnTo>
                <a:close/>
              </a:path>
            </a:pathLst>
          </a:custGeom>
          <a:solidFill>
            <a:schemeClr val="bg1">
              <a:alpha val="10000"/>
            </a:schemeClr>
          </a:solidFill>
          <a:ln w="0">
            <a:noFill/>
            <a:prstDash val="solid"/>
            <a:round/>
          </a:ln>
        </p:spPr>
        <p:txBody>
          <a:bodyPr vert="horz" wrap="square" lIns="91440" tIns="45720" rIns="91440" bIns="45720" numCol="1" anchor="t" anchorCtr="0" compatLnSpc="1"/>
          <a:lstStyle/>
          <a:p>
            <a:pPr defTabSz="914400">
              <a:defRPr/>
            </a:pPr>
            <a:endParaRPr lang="zh-CN" altLang="en-US" sz="1800">
              <a:solidFill>
                <a:srgbClr val="000000"/>
              </a:solidFill>
              <a:latin typeface="微软雅黑" panose="020B0503020204020204" pitchFamily="34" charset="-122"/>
            </a:endParaRPr>
          </a:p>
        </p:txBody>
      </p:sp>
      <p:sp>
        <p:nvSpPr>
          <p:cNvPr id="22" name="Freeform 387"/>
          <p:cNvSpPr>
            <a:spLocks noEditPoints="1"/>
          </p:cNvSpPr>
          <p:nvPr userDrawn="1"/>
        </p:nvSpPr>
        <p:spPr bwMode="auto">
          <a:xfrm rot="1888595">
            <a:off x="2442159" y="392103"/>
            <a:ext cx="1572202" cy="2081915"/>
          </a:xfrm>
          <a:custGeom>
            <a:avLst/>
            <a:gdLst>
              <a:gd name="T0" fmla="*/ 68 w 219"/>
              <a:gd name="T1" fmla="*/ 188 h 290"/>
              <a:gd name="T2" fmla="*/ 108 w 219"/>
              <a:gd name="T3" fmla="*/ 177 h 290"/>
              <a:gd name="T4" fmla="*/ 114 w 219"/>
              <a:gd name="T5" fmla="*/ 174 h 290"/>
              <a:gd name="T6" fmla="*/ 168 w 219"/>
              <a:gd name="T7" fmla="*/ 174 h 290"/>
              <a:gd name="T8" fmla="*/ 52 w 219"/>
              <a:gd name="T9" fmla="*/ 172 h 290"/>
              <a:gd name="T10" fmla="*/ 100 w 219"/>
              <a:gd name="T11" fmla="*/ 170 h 290"/>
              <a:gd name="T12" fmla="*/ 52 w 219"/>
              <a:gd name="T13" fmla="*/ 117 h 290"/>
              <a:gd name="T14" fmla="*/ 44 w 219"/>
              <a:gd name="T15" fmla="*/ 168 h 290"/>
              <a:gd name="T16" fmla="*/ 53 w 219"/>
              <a:gd name="T17" fmla="*/ 118 h 290"/>
              <a:gd name="T18" fmla="*/ 89 w 219"/>
              <a:gd name="T19" fmla="*/ 138 h 290"/>
              <a:gd name="T20" fmla="*/ 137 w 219"/>
              <a:gd name="T21" fmla="*/ 145 h 290"/>
              <a:gd name="T22" fmla="*/ 150 w 219"/>
              <a:gd name="T23" fmla="*/ 141 h 290"/>
              <a:gd name="T24" fmla="*/ 175 w 219"/>
              <a:gd name="T25" fmla="*/ 169 h 290"/>
              <a:gd name="T26" fmla="*/ 172 w 219"/>
              <a:gd name="T27" fmla="*/ 114 h 290"/>
              <a:gd name="T28" fmla="*/ 31 w 219"/>
              <a:gd name="T29" fmla="*/ 152 h 290"/>
              <a:gd name="T30" fmla="*/ 43 w 219"/>
              <a:gd name="T31" fmla="*/ 112 h 290"/>
              <a:gd name="T32" fmla="*/ 115 w 219"/>
              <a:gd name="T33" fmla="*/ 109 h 290"/>
              <a:gd name="T34" fmla="*/ 164 w 219"/>
              <a:gd name="T35" fmla="*/ 112 h 290"/>
              <a:gd name="T36" fmla="*/ 73 w 219"/>
              <a:gd name="T37" fmla="*/ 83 h 290"/>
              <a:gd name="T38" fmla="*/ 83 w 219"/>
              <a:gd name="T39" fmla="*/ 131 h 290"/>
              <a:gd name="T40" fmla="*/ 77 w 219"/>
              <a:gd name="T41" fmla="*/ 82 h 290"/>
              <a:gd name="T42" fmla="*/ 175 w 219"/>
              <a:gd name="T43" fmla="*/ 108 h 290"/>
              <a:gd name="T44" fmla="*/ 196 w 219"/>
              <a:gd name="T45" fmla="*/ 90 h 290"/>
              <a:gd name="T46" fmla="*/ 82 w 219"/>
              <a:gd name="T47" fmla="*/ 77 h 290"/>
              <a:gd name="T48" fmla="*/ 129 w 219"/>
              <a:gd name="T49" fmla="*/ 85 h 290"/>
              <a:gd name="T50" fmla="*/ 174 w 219"/>
              <a:gd name="T51" fmla="*/ 51 h 290"/>
              <a:gd name="T52" fmla="*/ 156 w 219"/>
              <a:gd name="T53" fmla="*/ 96 h 290"/>
              <a:gd name="T54" fmla="*/ 178 w 219"/>
              <a:gd name="T55" fmla="*/ 77 h 290"/>
              <a:gd name="T56" fmla="*/ 43 w 219"/>
              <a:gd name="T57" fmla="*/ 51 h 290"/>
              <a:gd name="T58" fmla="*/ 49 w 219"/>
              <a:gd name="T59" fmla="*/ 104 h 290"/>
              <a:gd name="T60" fmla="*/ 184 w 219"/>
              <a:gd name="T61" fmla="*/ 41 h 290"/>
              <a:gd name="T62" fmla="*/ 202 w 219"/>
              <a:gd name="T63" fmla="*/ 89 h 290"/>
              <a:gd name="T64" fmla="*/ 112 w 219"/>
              <a:gd name="T65" fmla="*/ 205 h 290"/>
              <a:gd name="T66" fmla="*/ 41 w 219"/>
              <a:gd name="T67" fmla="*/ 183 h 290"/>
              <a:gd name="T68" fmla="*/ 137 w 219"/>
              <a:gd name="T69" fmla="*/ 209 h 290"/>
              <a:gd name="T70" fmla="*/ 201 w 219"/>
              <a:gd name="T71" fmla="*/ 64 h 290"/>
              <a:gd name="T72" fmla="*/ 118 w 219"/>
              <a:gd name="T73" fmla="*/ 49 h 290"/>
              <a:gd name="T74" fmla="*/ 138 w 219"/>
              <a:gd name="T75" fmla="*/ 76 h 290"/>
              <a:gd name="T76" fmla="*/ 92 w 219"/>
              <a:gd name="T77" fmla="*/ 23 h 290"/>
              <a:gd name="T78" fmla="*/ 75 w 219"/>
              <a:gd name="T79" fmla="*/ 71 h 290"/>
              <a:gd name="T80" fmla="*/ 95 w 219"/>
              <a:gd name="T81" fmla="*/ 23 h 290"/>
              <a:gd name="T82" fmla="*/ 110 w 219"/>
              <a:gd name="T83" fmla="*/ 43 h 290"/>
              <a:gd name="T84" fmla="*/ 151 w 219"/>
              <a:gd name="T85" fmla="*/ 32 h 290"/>
              <a:gd name="T86" fmla="*/ 219 w 219"/>
              <a:gd name="T87" fmla="*/ 12 h 290"/>
              <a:gd name="T88" fmla="*/ 195 w 219"/>
              <a:gd name="T89" fmla="*/ 30 h 290"/>
              <a:gd name="T90" fmla="*/ 219 w 219"/>
              <a:gd name="T91" fmla="*/ 101 h 290"/>
              <a:gd name="T92" fmla="*/ 118 w 219"/>
              <a:gd name="T93" fmla="*/ 219 h 290"/>
              <a:gd name="T94" fmla="*/ 126 w 219"/>
              <a:gd name="T95" fmla="*/ 243 h 290"/>
              <a:gd name="T96" fmla="*/ 118 w 219"/>
              <a:gd name="T97" fmla="*/ 266 h 290"/>
              <a:gd name="T98" fmla="*/ 183 w 219"/>
              <a:gd name="T99" fmla="*/ 290 h 290"/>
              <a:gd name="T100" fmla="*/ 77 w 219"/>
              <a:gd name="T101" fmla="*/ 269 h 290"/>
              <a:gd name="T102" fmla="*/ 95 w 219"/>
              <a:gd name="T103" fmla="*/ 251 h 290"/>
              <a:gd name="T104" fmla="*/ 103 w 219"/>
              <a:gd name="T105" fmla="*/ 220 h 290"/>
              <a:gd name="T106" fmla="*/ 30 w 219"/>
              <a:gd name="T107" fmla="*/ 193 h 290"/>
              <a:gd name="T108" fmla="*/ 20 w 219"/>
              <a:gd name="T109" fmla="*/ 219 h 290"/>
              <a:gd name="T110" fmla="*/ 13 w 219"/>
              <a:gd name="T111" fmla="*/ 188 h 290"/>
              <a:gd name="T112" fmla="*/ 37 w 219"/>
              <a:gd name="T113" fmla="*/ 173 h 290"/>
              <a:gd name="T114" fmla="*/ 62 w 219"/>
              <a:gd name="T115" fmla="*/ 27 h 290"/>
              <a:gd name="T116" fmla="*/ 177 w 219"/>
              <a:gd name="T117" fmla="*/ 39 h 290"/>
              <a:gd name="T118" fmla="*/ 192 w 219"/>
              <a:gd name="T119" fmla="*/ 6 h 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219" h="290">
                <a:moveTo>
                  <a:pt x="106" y="175"/>
                </a:moveTo>
                <a:lnTo>
                  <a:pt x="104" y="175"/>
                </a:lnTo>
                <a:lnTo>
                  <a:pt x="87" y="183"/>
                </a:lnTo>
                <a:lnTo>
                  <a:pt x="68" y="187"/>
                </a:lnTo>
                <a:lnTo>
                  <a:pt x="68" y="187"/>
                </a:lnTo>
                <a:lnTo>
                  <a:pt x="67" y="188"/>
                </a:lnTo>
                <a:lnTo>
                  <a:pt x="68" y="188"/>
                </a:lnTo>
                <a:lnTo>
                  <a:pt x="90" y="196"/>
                </a:lnTo>
                <a:lnTo>
                  <a:pt x="113" y="198"/>
                </a:lnTo>
                <a:lnTo>
                  <a:pt x="114" y="198"/>
                </a:lnTo>
                <a:lnTo>
                  <a:pt x="115" y="196"/>
                </a:lnTo>
                <a:lnTo>
                  <a:pt x="115" y="195"/>
                </a:lnTo>
                <a:lnTo>
                  <a:pt x="113" y="186"/>
                </a:lnTo>
                <a:lnTo>
                  <a:pt x="108" y="177"/>
                </a:lnTo>
                <a:lnTo>
                  <a:pt x="108" y="177"/>
                </a:lnTo>
                <a:lnTo>
                  <a:pt x="106" y="175"/>
                </a:lnTo>
                <a:close/>
                <a:moveTo>
                  <a:pt x="142" y="150"/>
                </a:moveTo>
                <a:lnTo>
                  <a:pt x="141" y="150"/>
                </a:lnTo>
                <a:lnTo>
                  <a:pt x="115" y="170"/>
                </a:lnTo>
                <a:lnTo>
                  <a:pt x="114" y="172"/>
                </a:lnTo>
                <a:lnTo>
                  <a:pt x="114" y="174"/>
                </a:lnTo>
                <a:lnTo>
                  <a:pt x="123" y="195"/>
                </a:lnTo>
                <a:lnTo>
                  <a:pt x="124" y="197"/>
                </a:lnTo>
                <a:lnTo>
                  <a:pt x="126" y="197"/>
                </a:lnTo>
                <a:lnTo>
                  <a:pt x="147" y="189"/>
                </a:lnTo>
                <a:lnTo>
                  <a:pt x="168" y="177"/>
                </a:lnTo>
                <a:lnTo>
                  <a:pt x="168" y="175"/>
                </a:lnTo>
                <a:lnTo>
                  <a:pt x="168" y="174"/>
                </a:lnTo>
                <a:lnTo>
                  <a:pt x="168" y="173"/>
                </a:lnTo>
                <a:lnTo>
                  <a:pt x="145" y="150"/>
                </a:lnTo>
                <a:lnTo>
                  <a:pt x="143" y="150"/>
                </a:lnTo>
                <a:lnTo>
                  <a:pt x="142" y="150"/>
                </a:lnTo>
                <a:close/>
                <a:moveTo>
                  <a:pt x="81" y="143"/>
                </a:moveTo>
                <a:lnTo>
                  <a:pt x="80" y="143"/>
                </a:lnTo>
                <a:lnTo>
                  <a:pt x="52" y="172"/>
                </a:lnTo>
                <a:lnTo>
                  <a:pt x="52" y="174"/>
                </a:lnTo>
                <a:lnTo>
                  <a:pt x="52" y="175"/>
                </a:lnTo>
                <a:lnTo>
                  <a:pt x="53" y="177"/>
                </a:lnTo>
                <a:lnTo>
                  <a:pt x="64" y="179"/>
                </a:lnTo>
                <a:lnTo>
                  <a:pt x="77" y="179"/>
                </a:lnTo>
                <a:lnTo>
                  <a:pt x="90" y="175"/>
                </a:lnTo>
                <a:lnTo>
                  <a:pt x="100" y="170"/>
                </a:lnTo>
                <a:lnTo>
                  <a:pt x="101" y="169"/>
                </a:lnTo>
                <a:lnTo>
                  <a:pt x="103" y="168"/>
                </a:lnTo>
                <a:lnTo>
                  <a:pt x="101" y="166"/>
                </a:lnTo>
                <a:lnTo>
                  <a:pt x="85" y="143"/>
                </a:lnTo>
                <a:lnTo>
                  <a:pt x="83" y="143"/>
                </a:lnTo>
                <a:lnTo>
                  <a:pt x="81" y="143"/>
                </a:lnTo>
                <a:close/>
                <a:moveTo>
                  <a:pt x="52" y="117"/>
                </a:moveTo>
                <a:lnTo>
                  <a:pt x="50" y="118"/>
                </a:lnTo>
                <a:lnTo>
                  <a:pt x="49" y="119"/>
                </a:lnTo>
                <a:lnTo>
                  <a:pt x="44" y="129"/>
                </a:lnTo>
                <a:lnTo>
                  <a:pt x="40" y="142"/>
                </a:lnTo>
                <a:lnTo>
                  <a:pt x="40" y="155"/>
                </a:lnTo>
                <a:lnTo>
                  <a:pt x="43" y="166"/>
                </a:lnTo>
                <a:lnTo>
                  <a:pt x="44" y="168"/>
                </a:lnTo>
                <a:lnTo>
                  <a:pt x="45" y="168"/>
                </a:lnTo>
                <a:lnTo>
                  <a:pt x="48" y="168"/>
                </a:lnTo>
                <a:lnTo>
                  <a:pt x="76" y="140"/>
                </a:lnTo>
                <a:lnTo>
                  <a:pt x="76" y="138"/>
                </a:lnTo>
                <a:lnTo>
                  <a:pt x="76" y="136"/>
                </a:lnTo>
                <a:lnTo>
                  <a:pt x="76" y="135"/>
                </a:lnTo>
                <a:lnTo>
                  <a:pt x="53" y="118"/>
                </a:lnTo>
                <a:lnTo>
                  <a:pt x="52" y="117"/>
                </a:lnTo>
                <a:close/>
                <a:moveTo>
                  <a:pt x="110" y="115"/>
                </a:moveTo>
                <a:lnTo>
                  <a:pt x="109" y="115"/>
                </a:lnTo>
                <a:lnTo>
                  <a:pt x="108" y="117"/>
                </a:lnTo>
                <a:lnTo>
                  <a:pt x="89" y="135"/>
                </a:lnTo>
                <a:lnTo>
                  <a:pt x="89" y="136"/>
                </a:lnTo>
                <a:lnTo>
                  <a:pt x="89" y="138"/>
                </a:lnTo>
                <a:lnTo>
                  <a:pt x="89" y="140"/>
                </a:lnTo>
                <a:lnTo>
                  <a:pt x="108" y="164"/>
                </a:lnTo>
                <a:lnTo>
                  <a:pt x="109" y="164"/>
                </a:lnTo>
                <a:lnTo>
                  <a:pt x="110" y="165"/>
                </a:lnTo>
                <a:lnTo>
                  <a:pt x="112" y="164"/>
                </a:lnTo>
                <a:lnTo>
                  <a:pt x="136" y="146"/>
                </a:lnTo>
                <a:lnTo>
                  <a:pt x="137" y="145"/>
                </a:lnTo>
                <a:lnTo>
                  <a:pt x="137" y="142"/>
                </a:lnTo>
                <a:lnTo>
                  <a:pt x="136" y="141"/>
                </a:lnTo>
                <a:lnTo>
                  <a:pt x="112" y="117"/>
                </a:lnTo>
                <a:lnTo>
                  <a:pt x="110" y="115"/>
                </a:lnTo>
                <a:close/>
                <a:moveTo>
                  <a:pt x="172" y="114"/>
                </a:moveTo>
                <a:lnTo>
                  <a:pt x="169" y="115"/>
                </a:lnTo>
                <a:lnTo>
                  <a:pt x="150" y="141"/>
                </a:lnTo>
                <a:lnTo>
                  <a:pt x="149" y="142"/>
                </a:lnTo>
                <a:lnTo>
                  <a:pt x="149" y="145"/>
                </a:lnTo>
                <a:lnTo>
                  <a:pt x="150" y="146"/>
                </a:lnTo>
                <a:lnTo>
                  <a:pt x="172" y="168"/>
                </a:lnTo>
                <a:lnTo>
                  <a:pt x="173" y="169"/>
                </a:lnTo>
                <a:lnTo>
                  <a:pt x="174" y="169"/>
                </a:lnTo>
                <a:lnTo>
                  <a:pt x="175" y="169"/>
                </a:lnTo>
                <a:lnTo>
                  <a:pt x="177" y="168"/>
                </a:lnTo>
                <a:lnTo>
                  <a:pt x="189" y="149"/>
                </a:lnTo>
                <a:lnTo>
                  <a:pt x="196" y="127"/>
                </a:lnTo>
                <a:lnTo>
                  <a:pt x="196" y="124"/>
                </a:lnTo>
                <a:lnTo>
                  <a:pt x="195" y="123"/>
                </a:lnTo>
                <a:lnTo>
                  <a:pt x="173" y="114"/>
                </a:lnTo>
                <a:lnTo>
                  <a:pt x="172" y="114"/>
                </a:lnTo>
                <a:close/>
                <a:moveTo>
                  <a:pt x="25" y="104"/>
                </a:moveTo>
                <a:lnTo>
                  <a:pt x="23" y="104"/>
                </a:lnTo>
                <a:lnTo>
                  <a:pt x="21" y="105"/>
                </a:lnTo>
                <a:lnTo>
                  <a:pt x="21" y="106"/>
                </a:lnTo>
                <a:lnTo>
                  <a:pt x="23" y="129"/>
                </a:lnTo>
                <a:lnTo>
                  <a:pt x="31" y="151"/>
                </a:lnTo>
                <a:lnTo>
                  <a:pt x="31" y="152"/>
                </a:lnTo>
                <a:lnTo>
                  <a:pt x="32" y="151"/>
                </a:lnTo>
                <a:lnTo>
                  <a:pt x="32" y="151"/>
                </a:lnTo>
                <a:lnTo>
                  <a:pt x="36" y="132"/>
                </a:lnTo>
                <a:lnTo>
                  <a:pt x="44" y="115"/>
                </a:lnTo>
                <a:lnTo>
                  <a:pt x="44" y="113"/>
                </a:lnTo>
                <a:lnTo>
                  <a:pt x="43" y="112"/>
                </a:lnTo>
                <a:lnTo>
                  <a:pt x="43" y="112"/>
                </a:lnTo>
                <a:lnTo>
                  <a:pt x="34" y="106"/>
                </a:lnTo>
                <a:lnTo>
                  <a:pt x="25" y="104"/>
                </a:lnTo>
                <a:close/>
                <a:moveTo>
                  <a:pt x="137" y="89"/>
                </a:moveTo>
                <a:lnTo>
                  <a:pt x="136" y="89"/>
                </a:lnTo>
                <a:lnTo>
                  <a:pt x="135" y="90"/>
                </a:lnTo>
                <a:lnTo>
                  <a:pt x="117" y="108"/>
                </a:lnTo>
                <a:lnTo>
                  <a:pt x="115" y="109"/>
                </a:lnTo>
                <a:lnTo>
                  <a:pt x="115" y="110"/>
                </a:lnTo>
                <a:lnTo>
                  <a:pt x="117" y="112"/>
                </a:lnTo>
                <a:lnTo>
                  <a:pt x="141" y="137"/>
                </a:lnTo>
                <a:lnTo>
                  <a:pt x="142" y="137"/>
                </a:lnTo>
                <a:lnTo>
                  <a:pt x="145" y="137"/>
                </a:lnTo>
                <a:lnTo>
                  <a:pt x="164" y="113"/>
                </a:lnTo>
                <a:lnTo>
                  <a:pt x="164" y="112"/>
                </a:lnTo>
                <a:lnTo>
                  <a:pt x="164" y="109"/>
                </a:lnTo>
                <a:lnTo>
                  <a:pt x="163" y="109"/>
                </a:lnTo>
                <a:lnTo>
                  <a:pt x="138" y="90"/>
                </a:lnTo>
                <a:lnTo>
                  <a:pt x="137" y="89"/>
                </a:lnTo>
                <a:close/>
                <a:moveTo>
                  <a:pt x="77" y="82"/>
                </a:moveTo>
                <a:lnTo>
                  <a:pt x="75" y="82"/>
                </a:lnTo>
                <a:lnTo>
                  <a:pt x="73" y="83"/>
                </a:lnTo>
                <a:lnTo>
                  <a:pt x="55" y="108"/>
                </a:lnTo>
                <a:lnTo>
                  <a:pt x="54" y="109"/>
                </a:lnTo>
                <a:lnTo>
                  <a:pt x="55" y="110"/>
                </a:lnTo>
                <a:lnTo>
                  <a:pt x="55" y="112"/>
                </a:lnTo>
                <a:lnTo>
                  <a:pt x="80" y="131"/>
                </a:lnTo>
                <a:lnTo>
                  <a:pt x="81" y="131"/>
                </a:lnTo>
                <a:lnTo>
                  <a:pt x="83" y="131"/>
                </a:lnTo>
                <a:lnTo>
                  <a:pt x="85" y="131"/>
                </a:lnTo>
                <a:lnTo>
                  <a:pt x="103" y="112"/>
                </a:lnTo>
                <a:lnTo>
                  <a:pt x="104" y="110"/>
                </a:lnTo>
                <a:lnTo>
                  <a:pt x="104" y="109"/>
                </a:lnTo>
                <a:lnTo>
                  <a:pt x="103" y="108"/>
                </a:lnTo>
                <a:lnTo>
                  <a:pt x="78" y="83"/>
                </a:lnTo>
                <a:lnTo>
                  <a:pt x="77" y="82"/>
                </a:lnTo>
                <a:close/>
                <a:moveTo>
                  <a:pt x="187" y="68"/>
                </a:moveTo>
                <a:lnTo>
                  <a:pt x="186" y="68"/>
                </a:lnTo>
                <a:lnTo>
                  <a:pt x="186" y="69"/>
                </a:lnTo>
                <a:lnTo>
                  <a:pt x="183" y="87"/>
                </a:lnTo>
                <a:lnTo>
                  <a:pt x="175" y="105"/>
                </a:lnTo>
                <a:lnTo>
                  <a:pt x="175" y="106"/>
                </a:lnTo>
                <a:lnTo>
                  <a:pt x="175" y="108"/>
                </a:lnTo>
                <a:lnTo>
                  <a:pt x="177" y="109"/>
                </a:lnTo>
                <a:lnTo>
                  <a:pt x="186" y="113"/>
                </a:lnTo>
                <a:lnTo>
                  <a:pt x="195" y="117"/>
                </a:lnTo>
                <a:lnTo>
                  <a:pt x="196" y="117"/>
                </a:lnTo>
                <a:lnTo>
                  <a:pt x="197" y="115"/>
                </a:lnTo>
                <a:lnTo>
                  <a:pt x="197" y="114"/>
                </a:lnTo>
                <a:lnTo>
                  <a:pt x="196" y="90"/>
                </a:lnTo>
                <a:lnTo>
                  <a:pt x="187" y="68"/>
                </a:lnTo>
                <a:lnTo>
                  <a:pt x="187" y="68"/>
                </a:lnTo>
                <a:close/>
                <a:moveTo>
                  <a:pt x="108" y="55"/>
                </a:moveTo>
                <a:lnTo>
                  <a:pt x="106" y="55"/>
                </a:lnTo>
                <a:lnTo>
                  <a:pt x="82" y="74"/>
                </a:lnTo>
                <a:lnTo>
                  <a:pt x="82" y="76"/>
                </a:lnTo>
                <a:lnTo>
                  <a:pt x="82" y="77"/>
                </a:lnTo>
                <a:lnTo>
                  <a:pt x="82" y="77"/>
                </a:lnTo>
                <a:lnTo>
                  <a:pt x="82" y="78"/>
                </a:lnTo>
                <a:lnTo>
                  <a:pt x="108" y="103"/>
                </a:lnTo>
                <a:lnTo>
                  <a:pt x="109" y="104"/>
                </a:lnTo>
                <a:lnTo>
                  <a:pt x="110" y="104"/>
                </a:lnTo>
                <a:lnTo>
                  <a:pt x="112" y="103"/>
                </a:lnTo>
                <a:lnTo>
                  <a:pt x="129" y="85"/>
                </a:lnTo>
                <a:lnTo>
                  <a:pt x="131" y="83"/>
                </a:lnTo>
                <a:lnTo>
                  <a:pt x="131" y="82"/>
                </a:lnTo>
                <a:lnTo>
                  <a:pt x="129" y="81"/>
                </a:lnTo>
                <a:lnTo>
                  <a:pt x="110" y="57"/>
                </a:lnTo>
                <a:lnTo>
                  <a:pt x="109" y="55"/>
                </a:lnTo>
                <a:lnTo>
                  <a:pt x="108" y="55"/>
                </a:lnTo>
                <a:close/>
                <a:moveTo>
                  <a:pt x="174" y="51"/>
                </a:moveTo>
                <a:lnTo>
                  <a:pt x="173" y="51"/>
                </a:lnTo>
                <a:lnTo>
                  <a:pt x="172" y="53"/>
                </a:lnTo>
                <a:lnTo>
                  <a:pt x="143" y="81"/>
                </a:lnTo>
                <a:lnTo>
                  <a:pt x="142" y="83"/>
                </a:lnTo>
                <a:lnTo>
                  <a:pt x="145" y="86"/>
                </a:lnTo>
                <a:lnTo>
                  <a:pt x="150" y="91"/>
                </a:lnTo>
                <a:lnTo>
                  <a:pt x="156" y="96"/>
                </a:lnTo>
                <a:lnTo>
                  <a:pt x="161" y="100"/>
                </a:lnTo>
                <a:lnTo>
                  <a:pt x="165" y="103"/>
                </a:lnTo>
                <a:lnTo>
                  <a:pt x="166" y="103"/>
                </a:lnTo>
                <a:lnTo>
                  <a:pt x="169" y="103"/>
                </a:lnTo>
                <a:lnTo>
                  <a:pt x="170" y="101"/>
                </a:lnTo>
                <a:lnTo>
                  <a:pt x="174" y="90"/>
                </a:lnTo>
                <a:lnTo>
                  <a:pt x="178" y="77"/>
                </a:lnTo>
                <a:lnTo>
                  <a:pt x="179" y="64"/>
                </a:lnTo>
                <a:lnTo>
                  <a:pt x="177" y="53"/>
                </a:lnTo>
                <a:lnTo>
                  <a:pt x="175" y="53"/>
                </a:lnTo>
                <a:lnTo>
                  <a:pt x="174" y="51"/>
                </a:lnTo>
                <a:close/>
                <a:moveTo>
                  <a:pt x="45" y="51"/>
                </a:moveTo>
                <a:lnTo>
                  <a:pt x="44" y="51"/>
                </a:lnTo>
                <a:lnTo>
                  <a:pt x="43" y="51"/>
                </a:lnTo>
                <a:lnTo>
                  <a:pt x="30" y="72"/>
                </a:lnTo>
                <a:lnTo>
                  <a:pt x="22" y="94"/>
                </a:lnTo>
                <a:lnTo>
                  <a:pt x="22" y="95"/>
                </a:lnTo>
                <a:lnTo>
                  <a:pt x="25" y="96"/>
                </a:lnTo>
                <a:lnTo>
                  <a:pt x="45" y="105"/>
                </a:lnTo>
                <a:lnTo>
                  <a:pt x="48" y="105"/>
                </a:lnTo>
                <a:lnTo>
                  <a:pt x="49" y="104"/>
                </a:lnTo>
                <a:lnTo>
                  <a:pt x="69" y="78"/>
                </a:lnTo>
                <a:lnTo>
                  <a:pt x="69" y="77"/>
                </a:lnTo>
                <a:lnTo>
                  <a:pt x="69" y="76"/>
                </a:lnTo>
                <a:lnTo>
                  <a:pt x="69" y="74"/>
                </a:lnTo>
                <a:lnTo>
                  <a:pt x="46" y="51"/>
                </a:lnTo>
                <a:lnTo>
                  <a:pt x="45" y="51"/>
                </a:lnTo>
                <a:close/>
                <a:moveTo>
                  <a:pt x="184" y="41"/>
                </a:moveTo>
                <a:lnTo>
                  <a:pt x="183" y="41"/>
                </a:lnTo>
                <a:lnTo>
                  <a:pt x="182" y="43"/>
                </a:lnTo>
                <a:lnTo>
                  <a:pt x="181" y="43"/>
                </a:lnTo>
                <a:lnTo>
                  <a:pt x="181" y="45"/>
                </a:lnTo>
                <a:lnTo>
                  <a:pt x="181" y="48"/>
                </a:lnTo>
                <a:lnTo>
                  <a:pt x="195" y="67"/>
                </a:lnTo>
                <a:lnTo>
                  <a:pt x="202" y="89"/>
                </a:lnTo>
                <a:lnTo>
                  <a:pt x="205" y="112"/>
                </a:lnTo>
                <a:lnTo>
                  <a:pt x="201" y="135"/>
                </a:lnTo>
                <a:lnTo>
                  <a:pt x="192" y="158"/>
                </a:lnTo>
                <a:lnTo>
                  <a:pt x="177" y="177"/>
                </a:lnTo>
                <a:lnTo>
                  <a:pt x="158" y="192"/>
                </a:lnTo>
                <a:lnTo>
                  <a:pt x="136" y="201"/>
                </a:lnTo>
                <a:lnTo>
                  <a:pt x="112" y="205"/>
                </a:lnTo>
                <a:lnTo>
                  <a:pt x="89" y="203"/>
                </a:lnTo>
                <a:lnTo>
                  <a:pt x="67" y="195"/>
                </a:lnTo>
                <a:lnTo>
                  <a:pt x="46" y="182"/>
                </a:lnTo>
                <a:lnTo>
                  <a:pt x="44" y="181"/>
                </a:lnTo>
                <a:lnTo>
                  <a:pt x="43" y="182"/>
                </a:lnTo>
                <a:lnTo>
                  <a:pt x="41" y="183"/>
                </a:lnTo>
                <a:lnTo>
                  <a:pt x="41" y="183"/>
                </a:lnTo>
                <a:lnTo>
                  <a:pt x="40" y="184"/>
                </a:lnTo>
                <a:lnTo>
                  <a:pt x="41" y="186"/>
                </a:lnTo>
                <a:lnTo>
                  <a:pt x="41" y="187"/>
                </a:lnTo>
                <a:lnTo>
                  <a:pt x="63" y="201"/>
                </a:lnTo>
                <a:lnTo>
                  <a:pt x="87" y="210"/>
                </a:lnTo>
                <a:lnTo>
                  <a:pt x="113" y="212"/>
                </a:lnTo>
                <a:lnTo>
                  <a:pt x="137" y="209"/>
                </a:lnTo>
                <a:lnTo>
                  <a:pt x="160" y="198"/>
                </a:lnTo>
                <a:lnTo>
                  <a:pt x="182" y="182"/>
                </a:lnTo>
                <a:lnTo>
                  <a:pt x="198" y="161"/>
                </a:lnTo>
                <a:lnTo>
                  <a:pt x="207" y="138"/>
                </a:lnTo>
                <a:lnTo>
                  <a:pt x="211" y="113"/>
                </a:lnTo>
                <a:lnTo>
                  <a:pt x="209" y="89"/>
                </a:lnTo>
                <a:lnTo>
                  <a:pt x="201" y="64"/>
                </a:lnTo>
                <a:lnTo>
                  <a:pt x="186" y="43"/>
                </a:lnTo>
                <a:lnTo>
                  <a:pt x="186" y="41"/>
                </a:lnTo>
                <a:lnTo>
                  <a:pt x="184" y="41"/>
                </a:lnTo>
                <a:close/>
                <a:moveTo>
                  <a:pt x="155" y="40"/>
                </a:moveTo>
                <a:lnTo>
                  <a:pt x="142" y="41"/>
                </a:lnTo>
                <a:lnTo>
                  <a:pt x="129" y="45"/>
                </a:lnTo>
                <a:lnTo>
                  <a:pt x="118" y="49"/>
                </a:lnTo>
                <a:lnTo>
                  <a:pt x="117" y="50"/>
                </a:lnTo>
                <a:lnTo>
                  <a:pt x="117" y="53"/>
                </a:lnTo>
                <a:lnTo>
                  <a:pt x="117" y="54"/>
                </a:lnTo>
                <a:lnTo>
                  <a:pt x="135" y="76"/>
                </a:lnTo>
                <a:lnTo>
                  <a:pt x="136" y="77"/>
                </a:lnTo>
                <a:lnTo>
                  <a:pt x="137" y="77"/>
                </a:lnTo>
                <a:lnTo>
                  <a:pt x="138" y="76"/>
                </a:lnTo>
                <a:lnTo>
                  <a:pt x="166" y="48"/>
                </a:lnTo>
                <a:lnTo>
                  <a:pt x="168" y="46"/>
                </a:lnTo>
                <a:lnTo>
                  <a:pt x="168" y="45"/>
                </a:lnTo>
                <a:lnTo>
                  <a:pt x="166" y="44"/>
                </a:lnTo>
                <a:lnTo>
                  <a:pt x="166" y="43"/>
                </a:lnTo>
                <a:lnTo>
                  <a:pt x="155" y="40"/>
                </a:lnTo>
                <a:close/>
                <a:moveTo>
                  <a:pt x="92" y="23"/>
                </a:moveTo>
                <a:lnTo>
                  <a:pt x="71" y="30"/>
                </a:lnTo>
                <a:lnTo>
                  <a:pt x="52" y="43"/>
                </a:lnTo>
                <a:lnTo>
                  <a:pt x="50" y="44"/>
                </a:lnTo>
                <a:lnTo>
                  <a:pt x="50" y="46"/>
                </a:lnTo>
                <a:lnTo>
                  <a:pt x="52" y="48"/>
                </a:lnTo>
                <a:lnTo>
                  <a:pt x="73" y="69"/>
                </a:lnTo>
                <a:lnTo>
                  <a:pt x="75" y="71"/>
                </a:lnTo>
                <a:lnTo>
                  <a:pt x="77" y="71"/>
                </a:lnTo>
                <a:lnTo>
                  <a:pt x="78" y="69"/>
                </a:lnTo>
                <a:lnTo>
                  <a:pt x="104" y="50"/>
                </a:lnTo>
                <a:lnTo>
                  <a:pt x="105" y="48"/>
                </a:lnTo>
                <a:lnTo>
                  <a:pt x="105" y="46"/>
                </a:lnTo>
                <a:lnTo>
                  <a:pt x="96" y="25"/>
                </a:lnTo>
                <a:lnTo>
                  <a:pt x="95" y="23"/>
                </a:lnTo>
                <a:lnTo>
                  <a:pt x="92" y="23"/>
                </a:lnTo>
                <a:close/>
                <a:moveTo>
                  <a:pt x="105" y="22"/>
                </a:moveTo>
                <a:lnTo>
                  <a:pt x="104" y="22"/>
                </a:lnTo>
                <a:lnTo>
                  <a:pt x="103" y="23"/>
                </a:lnTo>
                <a:lnTo>
                  <a:pt x="103" y="25"/>
                </a:lnTo>
                <a:lnTo>
                  <a:pt x="106" y="34"/>
                </a:lnTo>
                <a:lnTo>
                  <a:pt x="110" y="43"/>
                </a:lnTo>
                <a:lnTo>
                  <a:pt x="112" y="44"/>
                </a:lnTo>
                <a:lnTo>
                  <a:pt x="113" y="44"/>
                </a:lnTo>
                <a:lnTo>
                  <a:pt x="114" y="44"/>
                </a:lnTo>
                <a:lnTo>
                  <a:pt x="132" y="36"/>
                </a:lnTo>
                <a:lnTo>
                  <a:pt x="150" y="34"/>
                </a:lnTo>
                <a:lnTo>
                  <a:pt x="151" y="34"/>
                </a:lnTo>
                <a:lnTo>
                  <a:pt x="151" y="32"/>
                </a:lnTo>
                <a:lnTo>
                  <a:pt x="151" y="32"/>
                </a:lnTo>
                <a:lnTo>
                  <a:pt x="129" y="23"/>
                </a:lnTo>
                <a:lnTo>
                  <a:pt x="105" y="22"/>
                </a:lnTo>
                <a:close/>
                <a:moveTo>
                  <a:pt x="198" y="0"/>
                </a:moveTo>
                <a:lnTo>
                  <a:pt x="207" y="0"/>
                </a:lnTo>
                <a:lnTo>
                  <a:pt x="214" y="6"/>
                </a:lnTo>
                <a:lnTo>
                  <a:pt x="219" y="12"/>
                </a:lnTo>
                <a:lnTo>
                  <a:pt x="219" y="21"/>
                </a:lnTo>
                <a:lnTo>
                  <a:pt x="214" y="27"/>
                </a:lnTo>
                <a:lnTo>
                  <a:pt x="210" y="31"/>
                </a:lnTo>
                <a:lnTo>
                  <a:pt x="206" y="32"/>
                </a:lnTo>
                <a:lnTo>
                  <a:pt x="201" y="32"/>
                </a:lnTo>
                <a:lnTo>
                  <a:pt x="196" y="31"/>
                </a:lnTo>
                <a:lnTo>
                  <a:pt x="195" y="30"/>
                </a:lnTo>
                <a:lnTo>
                  <a:pt x="193" y="31"/>
                </a:lnTo>
                <a:lnTo>
                  <a:pt x="191" y="34"/>
                </a:lnTo>
                <a:lnTo>
                  <a:pt x="189" y="35"/>
                </a:lnTo>
                <a:lnTo>
                  <a:pt x="191" y="37"/>
                </a:lnTo>
                <a:lnTo>
                  <a:pt x="205" y="57"/>
                </a:lnTo>
                <a:lnTo>
                  <a:pt x="214" y="78"/>
                </a:lnTo>
                <a:lnTo>
                  <a:pt x="219" y="101"/>
                </a:lnTo>
                <a:lnTo>
                  <a:pt x="218" y="124"/>
                </a:lnTo>
                <a:lnTo>
                  <a:pt x="212" y="147"/>
                </a:lnTo>
                <a:lnTo>
                  <a:pt x="202" y="168"/>
                </a:lnTo>
                <a:lnTo>
                  <a:pt x="187" y="187"/>
                </a:lnTo>
                <a:lnTo>
                  <a:pt x="165" y="203"/>
                </a:lnTo>
                <a:lnTo>
                  <a:pt x="142" y="214"/>
                </a:lnTo>
                <a:lnTo>
                  <a:pt x="118" y="219"/>
                </a:lnTo>
                <a:lnTo>
                  <a:pt x="115" y="220"/>
                </a:lnTo>
                <a:lnTo>
                  <a:pt x="115" y="221"/>
                </a:lnTo>
                <a:lnTo>
                  <a:pt x="115" y="225"/>
                </a:lnTo>
                <a:lnTo>
                  <a:pt x="115" y="228"/>
                </a:lnTo>
                <a:lnTo>
                  <a:pt x="117" y="228"/>
                </a:lnTo>
                <a:lnTo>
                  <a:pt x="123" y="234"/>
                </a:lnTo>
                <a:lnTo>
                  <a:pt x="126" y="243"/>
                </a:lnTo>
                <a:lnTo>
                  <a:pt x="123" y="251"/>
                </a:lnTo>
                <a:lnTo>
                  <a:pt x="117" y="257"/>
                </a:lnTo>
                <a:lnTo>
                  <a:pt x="115" y="257"/>
                </a:lnTo>
                <a:lnTo>
                  <a:pt x="115" y="260"/>
                </a:lnTo>
                <a:lnTo>
                  <a:pt x="115" y="264"/>
                </a:lnTo>
                <a:lnTo>
                  <a:pt x="115" y="265"/>
                </a:lnTo>
                <a:lnTo>
                  <a:pt x="118" y="266"/>
                </a:lnTo>
                <a:lnTo>
                  <a:pt x="141" y="269"/>
                </a:lnTo>
                <a:lnTo>
                  <a:pt x="164" y="275"/>
                </a:lnTo>
                <a:lnTo>
                  <a:pt x="184" y="285"/>
                </a:lnTo>
                <a:lnTo>
                  <a:pt x="186" y="287"/>
                </a:lnTo>
                <a:lnTo>
                  <a:pt x="186" y="288"/>
                </a:lnTo>
                <a:lnTo>
                  <a:pt x="184" y="290"/>
                </a:lnTo>
                <a:lnTo>
                  <a:pt x="183" y="290"/>
                </a:lnTo>
                <a:lnTo>
                  <a:pt x="35" y="290"/>
                </a:lnTo>
                <a:lnTo>
                  <a:pt x="34" y="290"/>
                </a:lnTo>
                <a:lnTo>
                  <a:pt x="32" y="288"/>
                </a:lnTo>
                <a:lnTo>
                  <a:pt x="32" y="287"/>
                </a:lnTo>
                <a:lnTo>
                  <a:pt x="34" y="285"/>
                </a:lnTo>
                <a:lnTo>
                  <a:pt x="55" y="275"/>
                </a:lnTo>
                <a:lnTo>
                  <a:pt x="77" y="269"/>
                </a:lnTo>
                <a:lnTo>
                  <a:pt x="100" y="266"/>
                </a:lnTo>
                <a:lnTo>
                  <a:pt x="103" y="265"/>
                </a:lnTo>
                <a:lnTo>
                  <a:pt x="104" y="264"/>
                </a:lnTo>
                <a:lnTo>
                  <a:pt x="104" y="260"/>
                </a:lnTo>
                <a:lnTo>
                  <a:pt x="103" y="257"/>
                </a:lnTo>
                <a:lnTo>
                  <a:pt x="101" y="257"/>
                </a:lnTo>
                <a:lnTo>
                  <a:pt x="95" y="251"/>
                </a:lnTo>
                <a:lnTo>
                  <a:pt x="94" y="243"/>
                </a:lnTo>
                <a:lnTo>
                  <a:pt x="95" y="234"/>
                </a:lnTo>
                <a:lnTo>
                  <a:pt x="101" y="228"/>
                </a:lnTo>
                <a:lnTo>
                  <a:pt x="103" y="228"/>
                </a:lnTo>
                <a:lnTo>
                  <a:pt x="104" y="225"/>
                </a:lnTo>
                <a:lnTo>
                  <a:pt x="104" y="221"/>
                </a:lnTo>
                <a:lnTo>
                  <a:pt x="103" y="220"/>
                </a:lnTo>
                <a:lnTo>
                  <a:pt x="101" y="219"/>
                </a:lnTo>
                <a:lnTo>
                  <a:pt x="78" y="215"/>
                </a:lnTo>
                <a:lnTo>
                  <a:pt x="57" y="206"/>
                </a:lnTo>
                <a:lnTo>
                  <a:pt x="36" y="192"/>
                </a:lnTo>
                <a:lnTo>
                  <a:pt x="35" y="191"/>
                </a:lnTo>
                <a:lnTo>
                  <a:pt x="32" y="192"/>
                </a:lnTo>
                <a:lnTo>
                  <a:pt x="30" y="193"/>
                </a:lnTo>
                <a:lnTo>
                  <a:pt x="30" y="196"/>
                </a:lnTo>
                <a:lnTo>
                  <a:pt x="30" y="197"/>
                </a:lnTo>
                <a:lnTo>
                  <a:pt x="31" y="202"/>
                </a:lnTo>
                <a:lnTo>
                  <a:pt x="31" y="206"/>
                </a:lnTo>
                <a:lnTo>
                  <a:pt x="30" y="211"/>
                </a:lnTo>
                <a:lnTo>
                  <a:pt x="27" y="215"/>
                </a:lnTo>
                <a:lnTo>
                  <a:pt x="20" y="219"/>
                </a:lnTo>
                <a:lnTo>
                  <a:pt x="12" y="219"/>
                </a:lnTo>
                <a:lnTo>
                  <a:pt x="4" y="215"/>
                </a:lnTo>
                <a:lnTo>
                  <a:pt x="0" y="207"/>
                </a:lnTo>
                <a:lnTo>
                  <a:pt x="0" y="200"/>
                </a:lnTo>
                <a:lnTo>
                  <a:pt x="4" y="192"/>
                </a:lnTo>
                <a:lnTo>
                  <a:pt x="8" y="189"/>
                </a:lnTo>
                <a:lnTo>
                  <a:pt x="13" y="188"/>
                </a:lnTo>
                <a:lnTo>
                  <a:pt x="17" y="188"/>
                </a:lnTo>
                <a:lnTo>
                  <a:pt x="22" y="189"/>
                </a:lnTo>
                <a:lnTo>
                  <a:pt x="23" y="189"/>
                </a:lnTo>
                <a:lnTo>
                  <a:pt x="26" y="189"/>
                </a:lnTo>
                <a:lnTo>
                  <a:pt x="37" y="177"/>
                </a:lnTo>
                <a:lnTo>
                  <a:pt x="39" y="175"/>
                </a:lnTo>
                <a:lnTo>
                  <a:pt x="37" y="173"/>
                </a:lnTo>
                <a:lnTo>
                  <a:pt x="25" y="152"/>
                </a:lnTo>
                <a:lnTo>
                  <a:pt x="16" y="131"/>
                </a:lnTo>
                <a:lnTo>
                  <a:pt x="14" y="108"/>
                </a:lnTo>
                <a:lnTo>
                  <a:pt x="18" y="83"/>
                </a:lnTo>
                <a:lnTo>
                  <a:pt x="27" y="62"/>
                </a:lnTo>
                <a:lnTo>
                  <a:pt x="43" y="43"/>
                </a:lnTo>
                <a:lnTo>
                  <a:pt x="62" y="27"/>
                </a:lnTo>
                <a:lnTo>
                  <a:pt x="85" y="18"/>
                </a:lnTo>
                <a:lnTo>
                  <a:pt x="108" y="14"/>
                </a:lnTo>
                <a:lnTo>
                  <a:pt x="131" y="17"/>
                </a:lnTo>
                <a:lnTo>
                  <a:pt x="152" y="25"/>
                </a:lnTo>
                <a:lnTo>
                  <a:pt x="172" y="39"/>
                </a:lnTo>
                <a:lnTo>
                  <a:pt x="174" y="39"/>
                </a:lnTo>
                <a:lnTo>
                  <a:pt x="177" y="39"/>
                </a:lnTo>
                <a:lnTo>
                  <a:pt x="188" y="26"/>
                </a:lnTo>
                <a:lnTo>
                  <a:pt x="189" y="25"/>
                </a:lnTo>
                <a:lnTo>
                  <a:pt x="188" y="23"/>
                </a:lnTo>
                <a:lnTo>
                  <a:pt x="187" y="18"/>
                </a:lnTo>
                <a:lnTo>
                  <a:pt x="187" y="13"/>
                </a:lnTo>
                <a:lnTo>
                  <a:pt x="188" y="9"/>
                </a:lnTo>
                <a:lnTo>
                  <a:pt x="192" y="6"/>
                </a:lnTo>
                <a:lnTo>
                  <a:pt x="198" y="0"/>
                </a:lnTo>
                <a:close/>
              </a:path>
            </a:pathLst>
          </a:custGeom>
          <a:solidFill>
            <a:schemeClr val="bg1">
              <a:alpha val="10000"/>
            </a:schemeClr>
          </a:solidFill>
          <a:ln w="0">
            <a:noFill/>
            <a:prstDash val="solid"/>
            <a:round/>
          </a:ln>
        </p:spPr>
        <p:txBody>
          <a:bodyPr vert="horz" wrap="square" lIns="91440" tIns="45720" rIns="91440" bIns="45720" numCol="1" anchor="t" anchorCtr="0" compatLnSpc="1"/>
          <a:lstStyle/>
          <a:p>
            <a:pPr defTabSz="914400">
              <a:defRPr/>
            </a:pPr>
            <a:endParaRPr lang="zh-CN" altLang="en-US" sz="1800">
              <a:solidFill>
                <a:srgbClr val="000000"/>
              </a:solidFill>
              <a:latin typeface="微软雅黑" panose="020B0503020204020204" pitchFamily="34" charset="-122"/>
            </a:endParaRPr>
          </a:p>
        </p:txBody>
      </p:sp>
      <p:pic>
        <p:nvPicPr>
          <p:cNvPr id="2" name="图片 1" descr="傲梦LOGO蓝蓝"/>
          <p:cNvPicPr>
            <a:picLocks noChangeAspect="1"/>
          </p:cNvPicPr>
          <p:nvPr userDrawn="1"/>
        </p:nvPicPr>
        <p:blipFill>
          <a:blip r:embed="rId2" cstate="print"/>
          <a:stretch>
            <a:fillRect/>
          </a:stretch>
        </p:blipFill>
        <p:spPr>
          <a:xfrm>
            <a:off x="9966960" y="189230"/>
            <a:ext cx="1746885" cy="493395"/>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4.xml"/><Relationship Id="rId1" Type="http://schemas.openxmlformats.org/officeDocument/2006/relationships/slideLayout" Target="../slideLayouts/slideLayout3.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2"/>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2" r:id="rId1"/>
    <p:sldLayoutId id="2147483653" r:id="rId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tags" Target="../tags/tag2.xml"/><Relationship Id="rId1" Type="http://schemas.openxmlformats.org/officeDocument/2006/relationships/tags" Target="../tags/tag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hyperlink" Target="https://www.luogu.org/problemnew/show/P1060" TargetMode="External"/><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hyperlink" Target="https://www.luogu.org/problemnew/show/P1049" TargetMode="External"/><Relationship Id="rId5" Type="http://schemas.openxmlformats.org/officeDocument/2006/relationships/hyperlink" Target="https://www.luogu.org/problemnew/show/P1077" TargetMode="External"/><Relationship Id="rId4" Type="http://schemas.openxmlformats.org/officeDocument/2006/relationships/hyperlink" Target="https://www.luogu.org/problemnew/show/P1025"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txBox="1">
            <a:spLocks noChangeArrowheads="1"/>
          </p:cNvSpPr>
          <p:nvPr>
            <p:custDataLst>
              <p:tags r:id="rId2"/>
            </p:custDataLst>
          </p:nvPr>
        </p:nvSpPr>
        <p:spPr>
          <a:xfrm>
            <a:off x="2351809" y="2890839"/>
            <a:ext cx="7893050" cy="893762"/>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zh-CN" altLang="en-US" b="1" dirty="0">
                <a:solidFill>
                  <a:schemeClr val="bg1"/>
                </a:solidFill>
                <a:latin typeface="微软雅黑" panose="020B0503020204020204" pitchFamily="34" charset="-122"/>
                <a:ea typeface="微软雅黑" panose="020B0503020204020204" pitchFamily="34" charset="-122"/>
              </a:rPr>
              <a:t>动态规划初步</a:t>
            </a:r>
          </a:p>
        </p:txBody>
      </p:sp>
    </p:spTree>
    <p:custDataLst>
      <p:tags r:id="rId1"/>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818708" y="829339"/>
            <a:ext cx="3057247" cy="523220"/>
          </a:xfrm>
          <a:prstGeom prst="rect">
            <a:avLst/>
          </a:prstGeom>
          <a:noFill/>
        </p:spPr>
        <p:txBody>
          <a:bodyPr wrap="none" rtlCol="0">
            <a:spAutoFit/>
          </a:bodyPr>
          <a:lstStyle/>
          <a:p>
            <a:r>
              <a:rPr lang="zh-CN" altLang="en-US" sz="2800" b="1" dirty="0"/>
              <a:t>什么是动态规划？</a:t>
            </a:r>
            <a:endParaRPr lang="en-US" sz="2800" b="1" dirty="0"/>
          </a:p>
        </p:txBody>
      </p:sp>
      <p:sp>
        <p:nvSpPr>
          <p:cNvPr id="5" name="TextBox 4"/>
          <p:cNvSpPr txBox="1"/>
          <p:nvPr/>
        </p:nvSpPr>
        <p:spPr>
          <a:xfrm>
            <a:off x="818708" y="1403498"/>
            <a:ext cx="10632557" cy="2677656"/>
          </a:xfrm>
          <a:prstGeom prst="rect">
            <a:avLst/>
          </a:prstGeom>
          <a:noFill/>
        </p:spPr>
        <p:txBody>
          <a:bodyPr wrap="square" rtlCol="0">
            <a:spAutoFit/>
          </a:bodyPr>
          <a:lstStyle/>
          <a:p>
            <a:r>
              <a:rPr lang="zh-CN" altLang="en-US" dirty="0"/>
              <a:t>动态规划，就是把原问题分解成相对简单的子问题的方法。</a:t>
            </a:r>
            <a:endParaRPr lang="en-US" altLang="zh-CN" dirty="0"/>
          </a:p>
          <a:p>
            <a:endParaRPr lang="en-US" altLang="zh-CN" dirty="0"/>
          </a:p>
          <a:p>
            <a:r>
              <a:rPr lang="zh-CN" altLang="en-US" dirty="0"/>
              <a:t>它常常适用于具有</a:t>
            </a:r>
            <a:r>
              <a:rPr lang="zh-CN" altLang="en-US" b="1" dirty="0"/>
              <a:t>重叠子问题</a:t>
            </a:r>
            <a:r>
              <a:rPr lang="zh-CN" altLang="en-US" dirty="0"/>
              <a:t>或者</a:t>
            </a:r>
            <a:r>
              <a:rPr lang="zh-CN" altLang="en-US" b="1" dirty="0"/>
              <a:t>最优子结构</a:t>
            </a:r>
            <a:r>
              <a:rPr lang="zh-CN" altLang="en-US" dirty="0"/>
              <a:t>性质的问题，它将问题转化为多个子问题，并且记录这些子问题的结果，逐步得到最终问题的结果。</a:t>
            </a:r>
            <a:endParaRPr lang="en-US" altLang="zh-CN" dirty="0"/>
          </a:p>
          <a:p>
            <a:endParaRPr lang="en-US" altLang="zh-CN" dirty="0"/>
          </a:p>
          <a:p>
            <a:r>
              <a:rPr lang="zh-CN" altLang="en-US" dirty="0"/>
              <a:t>我们来看第一个我们很久很久之前就做过的题目，来体会什么是动态规划。</a:t>
            </a:r>
            <a:endParaRPr lang="en-US" altLang="zh-CN" dirty="0"/>
          </a:p>
          <a:p>
            <a:r>
              <a:rPr lang="zh-CN" altLang="en-US" dirty="0"/>
              <a:t>后效性</a:t>
            </a:r>
            <a:endParaRPr lang="en-US" altLang="zh-CN"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818708" y="829339"/>
            <a:ext cx="3358612" cy="523220"/>
          </a:xfrm>
          <a:prstGeom prst="rect">
            <a:avLst/>
          </a:prstGeom>
          <a:noFill/>
        </p:spPr>
        <p:txBody>
          <a:bodyPr wrap="none" rtlCol="0">
            <a:spAutoFit/>
          </a:bodyPr>
          <a:lstStyle/>
          <a:p>
            <a:r>
              <a:rPr lang="zh-CN" altLang="en-US" sz="2800" b="1" dirty="0"/>
              <a:t>例题</a:t>
            </a:r>
            <a:r>
              <a:rPr lang="en-US" altLang="zh-CN" sz="2800" b="1" dirty="0"/>
              <a:t>1</a:t>
            </a:r>
            <a:r>
              <a:rPr lang="zh-CN" altLang="en-US" sz="2800" b="1" dirty="0"/>
              <a:t> 斐波那契数列</a:t>
            </a:r>
            <a:endParaRPr lang="en-US" sz="2800" b="1" dirty="0"/>
          </a:p>
        </p:txBody>
      </p:sp>
      <p:sp>
        <p:nvSpPr>
          <p:cNvPr id="5" name="TextBox 4"/>
          <p:cNvSpPr txBox="1"/>
          <p:nvPr/>
        </p:nvSpPr>
        <p:spPr>
          <a:xfrm>
            <a:off x="818708" y="1403498"/>
            <a:ext cx="10632557" cy="4893647"/>
          </a:xfrm>
          <a:prstGeom prst="rect">
            <a:avLst/>
          </a:prstGeom>
          <a:noFill/>
        </p:spPr>
        <p:txBody>
          <a:bodyPr wrap="square" rtlCol="0">
            <a:spAutoFit/>
          </a:bodyPr>
          <a:lstStyle/>
          <a:p>
            <a:r>
              <a:rPr lang="zh-CN" altLang="en-US" dirty="0"/>
              <a:t>同学们学到这里应该可以很容易的写出斐波那契数列的递归或者非递归版本，我们从这个最简单的例子中来体会动态规划的思想。</a:t>
            </a:r>
            <a:endParaRPr lang="en-US" altLang="zh-CN" dirty="0"/>
          </a:p>
          <a:p>
            <a:endParaRPr lang="en-US" altLang="zh-CN" dirty="0"/>
          </a:p>
          <a:p>
            <a:r>
              <a:rPr lang="zh-CN" altLang="en-US" dirty="0"/>
              <a:t>递归的程序和斐波那契数列的定义吻合：</a:t>
            </a:r>
            <a:endParaRPr lang="en-US" altLang="zh-CN" dirty="0"/>
          </a:p>
          <a:p>
            <a:endParaRPr lang="en-US" altLang="zh-CN" dirty="0"/>
          </a:p>
          <a:p>
            <a:r>
              <a:rPr lang="en-US" altLang="zh-CN" dirty="0"/>
              <a:t>long long F(</a:t>
            </a:r>
            <a:r>
              <a:rPr lang="en-US" altLang="zh-CN" dirty="0" err="1"/>
              <a:t>int</a:t>
            </a:r>
            <a:r>
              <a:rPr lang="en-US" altLang="zh-CN" dirty="0"/>
              <a:t> n) {</a:t>
            </a:r>
          </a:p>
          <a:p>
            <a:r>
              <a:rPr lang="en-US" altLang="zh-CN" dirty="0"/>
              <a:t>    if (n == 1 || n == 2) return 1;</a:t>
            </a:r>
          </a:p>
          <a:p>
            <a:r>
              <a:rPr lang="en-US" altLang="zh-CN" dirty="0"/>
              <a:t>    else return F(n – 1) + F(n – 2);</a:t>
            </a:r>
          </a:p>
          <a:p>
            <a:r>
              <a:rPr lang="en-US" altLang="zh-CN" dirty="0"/>
              <a:t>}</a:t>
            </a:r>
          </a:p>
          <a:p>
            <a:endParaRPr lang="en-US" altLang="zh-CN" dirty="0"/>
          </a:p>
          <a:p>
            <a:r>
              <a:rPr lang="zh-CN" altLang="en-US" dirty="0"/>
              <a:t>根据这个程序，我们可以发现</a:t>
            </a:r>
            <a:r>
              <a:rPr lang="zh-CN" altLang="en-US" dirty="0">
                <a:solidFill>
                  <a:srgbClr val="FF0000"/>
                </a:solidFill>
              </a:rPr>
              <a:t>中间出现了很多重复的计算</a:t>
            </a:r>
            <a:r>
              <a:rPr lang="zh-CN" altLang="en-US" dirty="0"/>
              <a:t>：</a:t>
            </a:r>
            <a:endParaRPr lang="en-US" altLang="zh-CN" dirty="0"/>
          </a:p>
          <a:p>
            <a:r>
              <a:rPr lang="zh-CN" altLang="en-US" dirty="0"/>
              <a:t>比如求</a:t>
            </a:r>
            <a:r>
              <a:rPr lang="en-US" altLang="zh-CN" dirty="0"/>
              <a:t>F(4)</a:t>
            </a:r>
            <a:r>
              <a:rPr lang="zh-CN" altLang="en-US" dirty="0"/>
              <a:t>需要知道</a:t>
            </a:r>
            <a:r>
              <a:rPr lang="en-US" altLang="zh-CN" dirty="0"/>
              <a:t>F(3)</a:t>
            </a:r>
            <a:r>
              <a:rPr lang="zh-CN" altLang="en-US" dirty="0"/>
              <a:t>和</a:t>
            </a:r>
            <a:r>
              <a:rPr lang="en-US" altLang="zh-CN" dirty="0"/>
              <a:t>F(2)</a:t>
            </a:r>
            <a:r>
              <a:rPr lang="zh-CN" altLang="en-US" dirty="0"/>
              <a:t>，求</a:t>
            </a:r>
            <a:r>
              <a:rPr lang="en-US" altLang="zh-CN" dirty="0"/>
              <a:t>F(3)</a:t>
            </a:r>
            <a:r>
              <a:rPr lang="zh-CN" altLang="en-US" dirty="0"/>
              <a:t>需要知道</a:t>
            </a:r>
            <a:r>
              <a:rPr lang="en-US" altLang="zh-CN" dirty="0"/>
              <a:t>F(2)</a:t>
            </a:r>
            <a:r>
              <a:rPr lang="zh-CN" altLang="en-US" dirty="0"/>
              <a:t>和</a:t>
            </a:r>
            <a:r>
              <a:rPr lang="en-US" altLang="zh-CN" dirty="0"/>
              <a:t>F(1)</a:t>
            </a:r>
            <a:r>
              <a:rPr lang="zh-CN" altLang="en-US" dirty="0"/>
              <a:t>，这里就对</a:t>
            </a:r>
            <a:r>
              <a:rPr lang="en-US" altLang="zh-CN" dirty="0"/>
              <a:t>F(2)</a:t>
            </a:r>
            <a:r>
              <a:rPr lang="zh-CN" altLang="en-US" dirty="0"/>
              <a:t>求解了两次。当</a:t>
            </a:r>
            <a:r>
              <a:rPr lang="en-US" altLang="zh-CN" dirty="0"/>
              <a:t>n</a:t>
            </a:r>
            <a:r>
              <a:rPr lang="zh-CN" altLang="en-US" dirty="0"/>
              <a:t>越大，重复的计算的次数近似指数增长。</a:t>
            </a:r>
            <a:endParaRPr lang="en-US" altLang="zh-CN"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818708" y="829339"/>
            <a:ext cx="3358612" cy="523220"/>
          </a:xfrm>
          <a:prstGeom prst="rect">
            <a:avLst/>
          </a:prstGeom>
          <a:noFill/>
        </p:spPr>
        <p:txBody>
          <a:bodyPr wrap="none" rtlCol="0">
            <a:spAutoFit/>
          </a:bodyPr>
          <a:lstStyle/>
          <a:p>
            <a:r>
              <a:rPr lang="zh-CN" altLang="en-US" sz="2800" b="1" dirty="0"/>
              <a:t>例题</a:t>
            </a:r>
            <a:r>
              <a:rPr lang="en-US" altLang="zh-CN" sz="2800" b="1" dirty="0"/>
              <a:t>1</a:t>
            </a:r>
            <a:r>
              <a:rPr lang="zh-CN" altLang="en-US" sz="2800" b="1" dirty="0"/>
              <a:t> 斐波那契数列</a:t>
            </a:r>
            <a:endParaRPr lang="en-US" sz="2800" b="1" dirty="0"/>
          </a:p>
        </p:txBody>
      </p:sp>
      <p:sp>
        <p:nvSpPr>
          <p:cNvPr id="5" name="TextBox 4"/>
          <p:cNvSpPr txBox="1"/>
          <p:nvPr/>
        </p:nvSpPr>
        <p:spPr>
          <a:xfrm>
            <a:off x="818708" y="1403498"/>
            <a:ext cx="10632557" cy="5632311"/>
          </a:xfrm>
          <a:prstGeom prst="rect">
            <a:avLst/>
          </a:prstGeom>
          <a:noFill/>
        </p:spPr>
        <p:txBody>
          <a:bodyPr wrap="square" rtlCol="0">
            <a:spAutoFit/>
          </a:bodyPr>
          <a:lstStyle/>
          <a:p>
            <a:r>
              <a:rPr lang="zh-CN" altLang="en-US" dirty="0"/>
              <a:t>既然有</a:t>
            </a:r>
            <a:r>
              <a:rPr lang="zh-CN" altLang="en-US" b="1" dirty="0"/>
              <a:t>重叠子问题</a:t>
            </a:r>
            <a:r>
              <a:rPr lang="zh-CN" altLang="en-US" dirty="0"/>
              <a:t>，那我考虑使用动态规划的思路去求解，我们将每一个计算过的数组给他存储下来，如果算过了就直接拿来用，代码如下：</a:t>
            </a:r>
            <a:endParaRPr lang="en-US" altLang="zh-CN" dirty="0"/>
          </a:p>
          <a:p>
            <a:endParaRPr lang="en-US" altLang="zh-CN" dirty="0"/>
          </a:p>
          <a:p>
            <a:r>
              <a:rPr lang="en-US" altLang="zh-CN" dirty="0"/>
              <a:t>long long f[</a:t>
            </a:r>
            <a:r>
              <a:rPr lang="en-US" altLang="zh-CN" dirty="0" err="1"/>
              <a:t>maxn</a:t>
            </a:r>
            <a:r>
              <a:rPr lang="en-US" altLang="zh-CN" dirty="0"/>
              <a:t>];</a:t>
            </a:r>
          </a:p>
          <a:p>
            <a:r>
              <a:rPr lang="en-US" altLang="zh-CN" dirty="0"/>
              <a:t>long long F(</a:t>
            </a:r>
            <a:r>
              <a:rPr lang="en-US" altLang="zh-CN" dirty="0" err="1"/>
              <a:t>int</a:t>
            </a:r>
            <a:r>
              <a:rPr lang="en-US" altLang="zh-CN" dirty="0"/>
              <a:t> n) {</a:t>
            </a:r>
          </a:p>
          <a:p>
            <a:r>
              <a:rPr lang="en-US" altLang="zh-CN" dirty="0"/>
              <a:t>    if (f[n] != 0) return f[n];</a:t>
            </a:r>
          </a:p>
          <a:p>
            <a:r>
              <a:rPr lang="en-US" altLang="zh-CN" dirty="0"/>
              <a:t>    else return F(n – 1) + F(n – 2);</a:t>
            </a:r>
          </a:p>
          <a:p>
            <a:r>
              <a:rPr lang="en-US" altLang="zh-CN" dirty="0"/>
              <a:t>}</a:t>
            </a:r>
          </a:p>
          <a:p>
            <a:r>
              <a:rPr lang="en-US" altLang="zh-CN" dirty="0"/>
              <a:t>f[1] = f[2] = 1;</a:t>
            </a:r>
          </a:p>
          <a:p>
            <a:endParaRPr lang="en-US" altLang="zh-CN" dirty="0"/>
          </a:p>
          <a:p>
            <a:r>
              <a:rPr lang="zh-CN" altLang="en-US" dirty="0"/>
              <a:t>只需要简单地记录下来我们计算过的值，就可以大大减少重复计算的次数，可以证明，现在的算法的时间复杂度为</a:t>
            </a:r>
            <a:r>
              <a:rPr lang="en-US" altLang="zh-CN" dirty="0"/>
              <a:t>O(N)</a:t>
            </a:r>
            <a:r>
              <a:rPr lang="zh-CN" altLang="en-US" dirty="0"/>
              <a:t>。</a:t>
            </a:r>
            <a:endParaRPr lang="en-US" altLang="zh-CN" dirty="0"/>
          </a:p>
          <a:p>
            <a:endParaRPr lang="en-US" altLang="zh-CN" dirty="0"/>
          </a:p>
          <a:p>
            <a:r>
              <a:rPr lang="zh-CN" altLang="en-US" dirty="0"/>
              <a:t>这种记录已经计算过值的递归算法，我们通常叫做</a:t>
            </a:r>
            <a:r>
              <a:rPr lang="zh-CN" altLang="en-US" dirty="0">
                <a:solidFill>
                  <a:srgbClr val="FF0000"/>
                </a:solidFill>
              </a:rPr>
              <a:t>记忆化搜索</a:t>
            </a:r>
            <a:r>
              <a:rPr lang="zh-CN" altLang="en-US" dirty="0"/>
              <a:t>。</a:t>
            </a:r>
            <a:endParaRPr lang="en-US" altLang="zh-CN" dirty="0"/>
          </a:p>
          <a:p>
            <a:endParaRPr lang="en-US" altLang="zh-CN"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818708" y="829339"/>
            <a:ext cx="3358612" cy="523220"/>
          </a:xfrm>
          <a:prstGeom prst="rect">
            <a:avLst/>
          </a:prstGeom>
          <a:noFill/>
        </p:spPr>
        <p:txBody>
          <a:bodyPr wrap="none" rtlCol="0">
            <a:spAutoFit/>
          </a:bodyPr>
          <a:lstStyle/>
          <a:p>
            <a:r>
              <a:rPr lang="zh-CN" altLang="en-US" sz="2800" b="1" dirty="0"/>
              <a:t>例题</a:t>
            </a:r>
            <a:r>
              <a:rPr lang="en-US" altLang="zh-CN" sz="2800" b="1" dirty="0"/>
              <a:t>1</a:t>
            </a:r>
            <a:r>
              <a:rPr lang="zh-CN" altLang="en-US" sz="2800" b="1" dirty="0"/>
              <a:t> 斐波那契数列</a:t>
            </a:r>
            <a:endParaRPr lang="en-US" sz="2800" b="1" dirty="0"/>
          </a:p>
        </p:txBody>
      </p:sp>
      <p:sp>
        <p:nvSpPr>
          <p:cNvPr id="5" name="TextBox 4"/>
          <p:cNvSpPr txBox="1"/>
          <p:nvPr/>
        </p:nvSpPr>
        <p:spPr>
          <a:xfrm>
            <a:off x="818708" y="1403498"/>
            <a:ext cx="10632557" cy="4893647"/>
          </a:xfrm>
          <a:prstGeom prst="rect">
            <a:avLst/>
          </a:prstGeom>
          <a:noFill/>
        </p:spPr>
        <p:txBody>
          <a:bodyPr wrap="square" rtlCol="0">
            <a:spAutoFit/>
          </a:bodyPr>
          <a:lstStyle/>
          <a:p>
            <a:r>
              <a:rPr lang="zh-CN" altLang="en-US" dirty="0"/>
              <a:t>前面的递归函数，实际上可以写成非递归的循环形式，也就变成了我们很早就学过的斐波那契数列的递推式了，如果目的是求第</a:t>
            </a:r>
            <a:r>
              <a:rPr lang="en-US" altLang="zh-CN" dirty="0"/>
              <a:t>n</a:t>
            </a:r>
            <a:r>
              <a:rPr lang="zh-CN" altLang="en-US" dirty="0"/>
              <a:t>个斐波那契数时，甚至还可以用</a:t>
            </a:r>
            <a:r>
              <a:rPr lang="zh-CN" altLang="en-US" dirty="0">
                <a:solidFill>
                  <a:srgbClr val="FF0000"/>
                </a:solidFill>
              </a:rPr>
              <a:t>滚动数组</a:t>
            </a:r>
            <a:r>
              <a:rPr lang="zh-CN" altLang="en-US" dirty="0"/>
              <a:t>的方法来优化空间。</a:t>
            </a:r>
            <a:endParaRPr lang="en-US" altLang="zh-CN" dirty="0"/>
          </a:p>
          <a:p>
            <a:r>
              <a:rPr lang="en-US" altLang="zh-CN" dirty="0">
                <a:solidFill>
                  <a:srgbClr val="FF0000"/>
                </a:solidFill>
              </a:rPr>
              <a:t>// </a:t>
            </a:r>
            <a:r>
              <a:rPr lang="zh-CN" altLang="en-US" dirty="0">
                <a:solidFill>
                  <a:srgbClr val="FF0000"/>
                </a:solidFill>
              </a:rPr>
              <a:t>递推形式的斐波那契数列</a:t>
            </a:r>
            <a:endParaRPr lang="en-US" altLang="zh-CN" dirty="0">
              <a:solidFill>
                <a:srgbClr val="FF0000"/>
              </a:solidFill>
            </a:endParaRPr>
          </a:p>
          <a:p>
            <a:r>
              <a:rPr lang="en-US" altLang="zh-CN" dirty="0"/>
              <a:t>long long f[</a:t>
            </a:r>
            <a:r>
              <a:rPr lang="en-US" altLang="zh-CN" dirty="0" err="1"/>
              <a:t>manx</a:t>
            </a:r>
            <a:r>
              <a:rPr lang="en-US" altLang="zh-CN" dirty="0"/>
              <a:t>];</a:t>
            </a:r>
          </a:p>
          <a:p>
            <a:r>
              <a:rPr lang="en-US" altLang="zh-CN"/>
              <a:t>f[1] = f[2] </a:t>
            </a:r>
            <a:r>
              <a:rPr lang="en-US" altLang="zh-CN" dirty="0"/>
              <a:t>= 1;</a:t>
            </a:r>
          </a:p>
          <a:p>
            <a:r>
              <a:rPr lang="en-US" altLang="zh-CN" dirty="0"/>
              <a:t>for (</a:t>
            </a:r>
            <a:r>
              <a:rPr lang="en-US" altLang="zh-CN" dirty="0" err="1"/>
              <a:t>int</a:t>
            </a:r>
            <a:r>
              <a:rPr lang="en-US" altLang="zh-CN" dirty="0"/>
              <a:t> </a:t>
            </a:r>
            <a:r>
              <a:rPr lang="en-US" altLang="zh-CN" dirty="0" err="1"/>
              <a:t>i</a:t>
            </a:r>
            <a:r>
              <a:rPr lang="en-US" altLang="zh-CN" dirty="0"/>
              <a:t> = 3; </a:t>
            </a:r>
            <a:r>
              <a:rPr lang="en-US" altLang="zh-CN" dirty="0" err="1"/>
              <a:t>i</a:t>
            </a:r>
            <a:r>
              <a:rPr lang="en-US" altLang="zh-CN" dirty="0"/>
              <a:t> &lt;= N; </a:t>
            </a:r>
            <a:r>
              <a:rPr lang="en-US" altLang="zh-CN" dirty="0" err="1"/>
              <a:t>i</a:t>
            </a:r>
            <a:r>
              <a:rPr lang="en-US" altLang="zh-CN" dirty="0"/>
              <a:t>++) {</a:t>
            </a:r>
          </a:p>
          <a:p>
            <a:r>
              <a:rPr lang="en-US" altLang="zh-CN" dirty="0"/>
              <a:t>    f[</a:t>
            </a:r>
            <a:r>
              <a:rPr lang="en-US" altLang="zh-CN" dirty="0" err="1"/>
              <a:t>i</a:t>
            </a:r>
            <a:r>
              <a:rPr lang="en-US" altLang="zh-CN" dirty="0"/>
              <a:t>] = f[</a:t>
            </a:r>
            <a:r>
              <a:rPr lang="en-US" altLang="zh-CN" dirty="0" err="1"/>
              <a:t>i</a:t>
            </a:r>
            <a:r>
              <a:rPr lang="en-US" altLang="zh-CN" dirty="0"/>
              <a:t> – 1] + f[</a:t>
            </a:r>
            <a:r>
              <a:rPr lang="en-US" altLang="zh-CN" dirty="0" err="1"/>
              <a:t>i</a:t>
            </a:r>
            <a:r>
              <a:rPr lang="en-US" altLang="zh-CN" dirty="0"/>
              <a:t> – 2];</a:t>
            </a:r>
          </a:p>
          <a:p>
            <a:r>
              <a:rPr lang="en-US" altLang="zh-CN" dirty="0"/>
              <a:t>} </a:t>
            </a:r>
          </a:p>
          <a:p>
            <a:r>
              <a:rPr lang="en-US" altLang="zh-CN" dirty="0">
                <a:solidFill>
                  <a:srgbClr val="FF0000"/>
                </a:solidFill>
              </a:rPr>
              <a:t>//</a:t>
            </a:r>
            <a:r>
              <a:rPr lang="zh-CN" altLang="en-US" dirty="0">
                <a:solidFill>
                  <a:srgbClr val="FF0000"/>
                </a:solidFill>
              </a:rPr>
              <a:t> 滚动数组优化空间</a:t>
            </a:r>
            <a:r>
              <a:rPr lang="en-US" altLang="zh-CN" dirty="0"/>
              <a:t>(</a:t>
            </a:r>
            <a:r>
              <a:rPr lang="zh-CN" altLang="en-US" dirty="0"/>
              <a:t>等价于使用</a:t>
            </a:r>
            <a:r>
              <a:rPr lang="en-US" altLang="zh-CN" dirty="0"/>
              <a:t>a, b, t</a:t>
            </a:r>
            <a:r>
              <a:rPr lang="zh-CN" altLang="en-US" dirty="0"/>
              <a:t>三个变量的方法</a:t>
            </a:r>
            <a:r>
              <a:rPr lang="en-US" altLang="zh-CN" dirty="0"/>
              <a:t>)</a:t>
            </a:r>
          </a:p>
          <a:p>
            <a:r>
              <a:rPr lang="en-US" altLang="zh-CN" dirty="0"/>
              <a:t>for (</a:t>
            </a:r>
            <a:r>
              <a:rPr lang="en-US" altLang="zh-CN" dirty="0" err="1"/>
              <a:t>int</a:t>
            </a:r>
            <a:r>
              <a:rPr lang="en-US" altLang="zh-CN" dirty="0"/>
              <a:t> </a:t>
            </a:r>
            <a:r>
              <a:rPr lang="en-US" altLang="zh-CN" dirty="0" err="1"/>
              <a:t>i</a:t>
            </a:r>
            <a:r>
              <a:rPr lang="en-US" altLang="zh-CN" dirty="0"/>
              <a:t> = 2; </a:t>
            </a:r>
            <a:r>
              <a:rPr lang="en-US" altLang="zh-CN" dirty="0" err="1"/>
              <a:t>i</a:t>
            </a:r>
            <a:r>
              <a:rPr lang="en-US" altLang="zh-CN" dirty="0"/>
              <a:t> &lt; N; </a:t>
            </a:r>
            <a:r>
              <a:rPr lang="en-US" altLang="zh-CN" dirty="0" err="1"/>
              <a:t>i</a:t>
            </a:r>
            <a:r>
              <a:rPr lang="en-US" altLang="zh-CN" dirty="0"/>
              <a:t>++) {</a:t>
            </a:r>
          </a:p>
          <a:p>
            <a:r>
              <a:rPr lang="en-US" altLang="zh-CN" dirty="0"/>
              <a:t>    f[</a:t>
            </a:r>
            <a:r>
              <a:rPr lang="en-US" altLang="zh-CN" dirty="0" err="1"/>
              <a:t>i</a:t>
            </a:r>
            <a:r>
              <a:rPr lang="en-US" altLang="zh-CN" dirty="0"/>
              <a:t> % 3] = f[(</a:t>
            </a:r>
            <a:r>
              <a:rPr lang="en-US" altLang="zh-CN" dirty="0" err="1"/>
              <a:t>i</a:t>
            </a:r>
            <a:r>
              <a:rPr lang="en-US" altLang="zh-CN" dirty="0"/>
              <a:t> – 1) % 3] + f[(</a:t>
            </a:r>
            <a:r>
              <a:rPr lang="en-US" altLang="zh-CN" dirty="0" err="1"/>
              <a:t>i</a:t>
            </a:r>
            <a:r>
              <a:rPr lang="en-US" altLang="zh-CN" dirty="0"/>
              <a:t> – 2)%3]</a:t>
            </a:r>
          </a:p>
          <a:p>
            <a:r>
              <a:rPr lang="zh-CN" altLang="en-US" dirty="0"/>
              <a:t>最终结果为</a:t>
            </a:r>
            <a:r>
              <a:rPr lang="en-US" altLang="zh-CN" dirty="0"/>
              <a:t>f[(N – 1) % 3](</a:t>
            </a:r>
            <a:r>
              <a:rPr lang="zh-CN" altLang="en-US" dirty="0"/>
              <a:t>这里数组从</a:t>
            </a:r>
            <a:r>
              <a:rPr lang="en-US" altLang="zh-CN" dirty="0"/>
              <a:t>0</a:t>
            </a:r>
            <a:r>
              <a:rPr lang="zh-CN" altLang="en-US" dirty="0"/>
              <a:t>开始</a:t>
            </a:r>
            <a:r>
              <a:rPr lang="en-US" altLang="zh-CN" dirty="0"/>
              <a: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818708" y="829339"/>
            <a:ext cx="3358612" cy="523220"/>
          </a:xfrm>
          <a:prstGeom prst="rect">
            <a:avLst/>
          </a:prstGeom>
          <a:noFill/>
        </p:spPr>
        <p:txBody>
          <a:bodyPr wrap="none" rtlCol="0">
            <a:spAutoFit/>
          </a:bodyPr>
          <a:lstStyle/>
          <a:p>
            <a:r>
              <a:rPr lang="zh-CN" altLang="en-US" sz="2800" b="1" dirty="0"/>
              <a:t>例题</a:t>
            </a:r>
            <a:r>
              <a:rPr lang="en-US" altLang="zh-CN" sz="2800" b="1" dirty="0"/>
              <a:t>1</a:t>
            </a:r>
            <a:r>
              <a:rPr lang="zh-CN" altLang="en-US" sz="2800" b="1" dirty="0"/>
              <a:t> 斐波那契数列</a:t>
            </a:r>
            <a:endParaRPr lang="en-US" sz="2800" b="1" dirty="0"/>
          </a:p>
        </p:txBody>
      </p:sp>
      <p:sp>
        <p:nvSpPr>
          <p:cNvPr id="5" name="TextBox 4"/>
          <p:cNvSpPr txBox="1"/>
          <p:nvPr/>
        </p:nvSpPr>
        <p:spPr>
          <a:xfrm>
            <a:off x="818708" y="1403498"/>
            <a:ext cx="10632557" cy="1938992"/>
          </a:xfrm>
          <a:prstGeom prst="rect">
            <a:avLst/>
          </a:prstGeom>
          <a:noFill/>
        </p:spPr>
        <p:txBody>
          <a:bodyPr wrap="square" rtlCol="0">
            <a:spAutoFit/>
          </a:bodyPr>
          <a:lstStyle/>
          <a:p>
            <a:r>
              <a:rPr lang="zh-CN" altLang="en-US" dirty="0"/>
              <a:t>所以在计算斐波那契数列的时候，我们不知不觉就使用了动态规划的思想。</a:t>
            </a:r>
            <a:endParaRPr lang="en-US" altLang="zh-CN" dirty="0"/>
          </a:p>
          <a:p>
            <a:endParaRPr lang="en-US" altLang="zh-CN" dirty="0"/>
          </a:p>
          <a:p>
            <a:endParaRPr lang="en-US" altLang="zh-CN" dirty="0"/>
          </a:p>
          <a:p>
            <a:r>
              <a:rPr lang="zh-CN" altLang="en-US" dirty="0"/>
              <a:t>来看另一个问题，树形金字塔。</a:t>
            </a:r>
            <a:endParaRPr lang="en-US" altLang="zh-CN" dirty="0"/>
          </a:p>
          <a:p>
            <a:endParaRPr lang="en-US" altLang="zh-CN"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818708" y="829339"/>
            <a:ext cx="3114955" cy="523220"/>
          </a:xfrm>
          <a:prstGeom prst="rect">
            <a:avLst/>
          </a:prstGeom>
          <a:noFill/>
        </p:spPr>
        <p:txBody>
          <a:bodyPr wrap="none" rtlCol="0">
            <a:spAutoFit/>
          </a:bodyPr>
          <a:lstStyle/>
          <a:p>
            <a:r>
              <a:rPr lang="zh-CN" altLang="en-US" sz="2800" b="1" dirty="0"/>
              <a:t>例题</a:t>
            </a:r>
            <a:r>
              <a:rPr lang="en-US" altLang="zh-CN" sz="2800" b="1" dirty="0"/>
              <a:t>2</a:t>
            </a:r>
            <a:r>
              <a:rPr lang="zh-CN" altLang="en-US" sz="2800" b="1" dirty="0"/>
              <a:t> 树形金字塔</a:t>
            </a:r>
            <a:endParaRPr lang="en-US" sz="2800" b="1" dirty="0"/>
          </a:p>
        </p:txBody>
      </p:sp>
      <p:sp>
        <p:nvSpPr>
          <p:cNvPr id="5" name="TextBox 4"/>
          <p:cNvSpPr txBox="1"/>
          <p:nvPr/>
        </p:nvSpPr>
        <p:spPr>
          <a:xfrm>
            <a:off x="818708" y="1403498"/>
            <a:ext cx="10632557" cy="4524315"/>
          </a:xfrm>
          <a:prstGeom prst="rect">
            <a:avLst/>
          </a:prstGeom>
          <a:noFill/>
        </p:spPr>
        <p:txBody>
          <a:bodyPr wrap="square" rtlCol="0">
            <a:spAutoFit/>
          </a:bodyPr>
          <a:lstStyle/>
          <a:p>
            <a:r>
              <a:rPr lang="zh-CN" altLang="en-US" dirty="0"/>
              <a:t>给定一个树形金字塔，从金字塔的顶端往下走，每次只能往左下或者右下走，直到走到金字塔底，问路径上的所有数字的和的最大值是多少？</a:t>
            </a:r>
            <a:endParaRPr lang="en-US" altLang="zh-CN" dirty="0"/>
          </a:p>
          <a:p>
            <a:endParaRPr lang="en-US" altLang="zh-CN" dirty="0"/>
          </a:p>
          <a:p>
            <a:r>
              <a:rPr lang="zh-CN" altLang="en-US" dirty="0"/>
              <a:t>例如输入：</a:t>
            </a:r>
            <a:endParaRPr lang="en-US" altLang="zh-CN" dirty="0"/>
          </a:p>
          <a:p>
            <a:r>
              <a:rPr lang="zh-CN" altLang="en-US" dirty="0"/>
              <a:t>     </a:t>
            </a:r>
            <a:r>
              <a:rPr lang="en-US" altLang="zh-CN" dirty="0"/>
              <a:t>1</a:t>
            </a:r>
          </a:p>
          <a:p>
            <a:r>
              <a:rPr lang="zh-CN" altLang="en-US" dirty="0"/>
              <a:t>   </a:t>
            </a:r>
            <a:r>
              <a:rPr lang="en-US" altLang="zh-CN" dirty="0"/>
              <a:t>2</a:t>
            </a:r>
            <a:r>
              <a:rPr lang="zh-CN" altLang="en-US" dirty="0"/>
              <a:t>  </a:t>
            </a:r>
            <a:r>
              <a:rPr lang="en-US" altLang="zh-CN" dirty="0"/>
              <a:t>3</a:t>
            </a:r>
          </a:p>
          <a:p>
            <a:r>
              <a:rPr lang="zh-CN" altLang="en-US" dirty="0"/>
              <a:t>  </a:t>
            </a:r>
            <a:r>
              <a:rPr lang="en-US" altLang="zh-CN" dirty="0"/>
              <a:t>4</a:t>
            </a:r>
            <a:r>
              <a:rPr lang="zh-CN" altLang="en-US" dirty="0"/>
              <a:t> </a:t>
            </a:r>
            <a:r>
              <a:rPr lang="en-US" altLang="zh-CN" dirty="0"/>
              <a:t>6</a:t>
            </a:r>
            <a:r>
              <a:rPr lang="zh-CN" altLang="en-US" dirty="0"/>
              <a:t> </a:t>
            </a:r>
            <a:r>
              <a:rPr lang="en-US" altLang="zh-CN" dirty="0"/>
              <a:t>5</a:t>
            </a:r>
          </a:p>
          <a:p>
            <a:r>
              <a:rPr lang="en-US" altLang="zh-CN" dirty="0"/>
              <a:t>7</a:t>
            </a:r>
            <a:r>
              <a:rPr lang="zh-CN" altLang="en-US" dirty="0"/>
              <a:t> </a:t>
            </a:r>
            <a:r>
              <a:rPr lang="en-US" altLang="zh-CN" dirty="0"/>
              <a:t>8</a:t>
            </a:r>
            <a:r>
              <a:rPr lang="zh-CN" altLang="en-US" dirty="0"/>
              <a:t> </a:t>
            </a:r>
            <a:r>
              <a:rPr lang="en-US" altLang="zh-CN" dirty="0"/>
              <a:t>11</a:t>
            </a:r>
            <a:r>
              <a:rPr lang="zh-CN" altLang="en-US" dirty="0"/>
              <a:t> </a:t>
            </a:r>
            <a:r>
              <a:rPr lang="en-US" altLang="zh-CN" dirty="0"/>
              <a:t>10</a:t>
            </a:r>
          </a:p>
          <a:p>
            <a:endParaRPr lang="en-US" altLang="zh-CN" dirty="0"/>
          </a:p>
          <a:p>
            <a:r>
              <a:rPr lang="zh-CN" altLang="en-US" dirty="0"/>
              <a:t>输出：</a:t>
            </a:r>
            <a:endParaRPr lang="en-US" altLang="zh-CN" dirty="0"/>
          </a:p>
          <a:p>
            <a:r>
              <a:rPr lang="en-US" altLang="zh-CN" dirty="0"/>
              <a:t>21</a:t>
            </a:r>
            <a:r>
              <a:rPr lang="zh-CN" altLang="en-US" dirty="0"/>
              <a:t>（</a:t>
            </a:r>
            <a:r>
              <a:rPr lang="en-US" altLang="zh-CN" dirty="0"/>
              <a:t>1+3+6+11</a:t>
            </a:r>
            <a:r>
              <a:rPr lang="zh-CN" altLang="en-US" dirty="0"/>
              <a:t>）</a:t>
            </a:r>
            <a:endParaRPr lang="en-US" altLang="zh-CN" dirty="0"/>
          </a:p>
          <a:p>
            <a:endParaRPr lang="en-US" altLang="zh-CN"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818708" y="829339"/>
            <a:ext cx="3114955" cy="523220"/>
          </a:xfrm>
          <a:prstGeom prst="rect">
            <a:avLst/>
          </a:prstGeom>
          <a:noFill/>
        </p:spPr>
        <p:txBody>
          <a:bodyPr wrap="none" rtlCol="0">
            <a:spAutoFit/>
          </a:bodyPr>
          <a:lstStyle/>
          <a:p>
            <a:r>
              <a:rPr lang="zh-CN" altLang="en-US" sz="2800" b="1" dirty="0"/>
              <a:t>例题</a:t>
            </a:r>
            <a:r>
              <a:rPr lang="en-US" altLang="zh-CN" sz="2800" b="1" dirty="0"/>
              <a:t>2</a:t>
            </a:r>
            <a:r>
              <a:rPr lang="zh-CN" altLang="en-US" sz="2800" b="1" dirty="0"/>
              <a:t> 树形金字塔</a:t>
            </a:r>
            <a:endParaRPr lang="en-US" sz="2800" b="1" dirty="0"/>
          </a:p>
        </p:txBody>
      </p:sp>
      <p:sp>
        <p:nvSpPr>
          <p:cNvPr id="5" name="TextBox 4"/>
          <p:cNvSpPr txBox="1"/>
          <p:nvPr/>
        </p:nvSpPr>
        <p:spPr>
          <a:xfrm>
            <a:off x="818708" y="1403498"/>
            <a:ext cx="10632557" cy="5262979"/>
          </a:xfrm>
          <a:prstGeom prst="rect">
            <a:avLst/>
          </a:prstGeom>
          <a:noFill/>
        </p:spPr>
        <p:txBody>
          <a:bodyPr wrap="square" rtlCol="0">
            <a:spAutoFit/>
          </a:bodyPr>
          <a:lstStyle/>
          <a:p>
            <a:r>
              <a:rPr lang="zh-CN" altLang="en-US" dirty="0"/>
              <a:t>暴力算法：</a:t>
            </a:r>
            <a:endParaRPr lang="en-US" altLang="zh-CN" dirty="0"/>
          </a:p>
          <a:p>
            <a:endParaRPr lang="en-US" altLang="zh-CN" dirty="0"/>
          </a:p>
          <a:p>
            <a:r>
              <a:rPr lang="zh-CN" altLang="en-US" dirty="0"/>
              <a:t>我们可以使用</a:t>
            </a:r>
            <a:r>
              <a:rPr lang="en-US" altLang="zh-CN" dirty="0" err="1"/>
              <a:t>dfs</a:t>
            </a:r>
            <a:r>
              <a:rPr lang="zh-CN" altLang="en-US" dirty="0"/>
              <a:t>从上往下走，求出所有路径的和，求出最大值。考虑到每</a:t>
            </a:r>
            <a:r>
              <a:rPr lang="en-US" altLang="zh-CN" dirty="0" err="1"/>
              <a:t>i</a:t>
            </a:r>
            <a:r>
              <a:rPr lang="zh-CN" altLang="en-US" dirty="0"/>
              <a:t>层到每</a:t>
            </a:r>
            <a:r>
              <a:rPr lang="en-US" altLang="zh-CN" dirty="0"/>
              <a:t>i+1</a:t>
            </a:r>
            <a:r>
              <a:rPr lang="zh-CN" altLang="en-US" dirty="0"/>
              <a:t>层都有两种不同的选择，所以总共的路径的条数为</a:t>
            </a:r>
            <a:r>
              <a:rPr lang="en-US" altLang="zh-CN" dirty="0"/>
              <a:t>2^(N – 1)</a:t>
            </a:r>
            <a:r>
              <a:rPr lang="zh-CN" altLang="en-US" dirty="0"/>
              <a:t>条。</a:t>
            </a:r>
            <a:endParaRPr lang="en-US" altLang="zh-CN" dirty="0"/>
          </a:p>
          <a:p>
            <a:endParaRPr lang="en-US" altLang="zh-CN" dirty="0"/>
          </a:p>
          <a:p>
            <a:endParaRPr lang="en-US" altLang="zh-CN" dirty="0"/>
          </a:p>
          <a:p>
            <a:r>
              <a:rPr lang="zh-CN" altLang="en-US" dirty="0"/>
              <a:t>优化：</a:t>
            </a:r>
            <a:endParaRPr lang="en-US" altLang="zh-CN" dirty="0"/>
          </a:p>
          <a:p>
            <a:endParaRPr lang="en-US" altLang="zh-CN" dirty="0"/>
          </a:p>
          <a:p>
            <a:r>
              <a:rPr lang="zh-CN" altLang="en-US" dirty="0"/>
              <a:t>我们因为是要求最大值，如果当前的位置为</a:t>
            </a:r>
            <a:r>
              <a:rPr lang="en-US" altLang="zh-CN" dirty="0"/>
              <a:t>(</a:t>
            </a:r>
            <a:r>
              <a:rPr lang="en-US" altLang="zh-CN" dirty="0" err="1"/>
              <a:t>i</a:t>
            </a:r>
            <a:r>
              <a:rPr lang="en-US" altLang="zh-CN" dirty="0"/>
              <a:t>. j)</a:t>
            </a:r>
            <a:r>
              <a:rPr lang="zh-CN" altLang="en-US" dirty="0"/>
              <a:t>那么只有两种决策，往左走和往右走。显然我们应该选择左边和右边最大的那个值，那么我们就有如下的状态转移方程：</a:t>
            </a:r>
            <a:endParaRPr lang="en-US" altLang="zh-CN" dirty="0"/>
          </a:p>
          <a:p>
            <a:endParaRPr lang="en-US" altLang="zh-CN" dirty="0"/>
          </a:p>
          <a:p>
            <a:r>
              <a:rPr lang="en-US" altLang="zh-CN" dirty="0" err="1">
                <a:solidFill>
                  <a:srgbClr val="FF0000"/>
                </a:solidFill>
              </a:rPr>
              <a:t>dp</a:t>
            </a:r>
            <a:r>
              <a:rPr lang="en-US" altLang="zh-CN" dirty="0">
                <a:solidFill>
                  <a:srgbClr val="FF0000"/>
                </a:solidFill>
              </a:rPr>
              <a:t>[</a:t>
            </a:r>
            <a:r>
              <a:rPr lang="en-US" altLang="zh-CN" dirty="0" err="1">
                <a:solidFill>
                  <a:srgbClr val="FF0000"/>
                </a:solidFill>
              </a:rPr>
              <a:t>i</a:t>
            </a:r>
            <a:r>
              <a:rPr lang="en-US" altLang="zh-CN" dirty="0">
                <a:solidFill>
                  <a:srgbClr val="FF0000"/>
                </a:solidFill>
              </a:rPr>
              <a:t>][j] = A[</a:t>
            </a:r>
            <a:r>
              <a:rPr lang="en-US" altLang="zh-CN" dirty="0" err="1">
                <a:solidFill>
                  <a:srgbClr val="FF0000"/>
                </a:solidFill>
              </a:rPr>
              <a:t>i</a:t>
            </a:r>
            <a:r>
              <a:rPr lang="en-US" altLang="zh-CN" dirty="0">
                <a:solidFill>
                  <a:srgbClr val="FF0000"/>
                </a:solidFill>
              </a:rPr>
              <a:t>][j] + max(</a:t>
            </a:r>
            <a:r>
              <a:rPr lang="en-US" altLang="zh-CN" dirty="0" err="1">
                <a:solidFill>
                  <a:srgbClr val="FF0000"/>
                </a:solidFill>
              </a:rPr>
              <a:t>dp</a:t>
            </a:r>
            <a:r>
              <a:rPr lang="en-US" altLang="zh-CN" dirty="0">
                <a:solidFill>
                  <a:srgbClr val="FF0000"/>
                </a:solidFill>
              </a:rPr>
              <a:t>[</a:t>
            </a:r>
            <a:r>
              <a:rPr lang="en-US" altLang="zh-CN" dirty="0" err="1">
                <a:solidFill>
                  <a:srgbClr val="FF0000"/>
                </a:solidFill>
              </a:rPr>
              <a:t>i</a:t>
            </a:r>
            <a:r>
              <a:rPr lang="en-US" altLang="zh-CN" dirty="0">
                <a:solidFill>
                  <a:srgbClr val="FF0000"/>
                </a:solidFill>
              </a:rPr>
              <a:t> + 1][j], </a:t>
            </a:r>
            <a:r>
              <a:rPr lang="en-US" altLang="zh-CN" dirty="0" err="1">
                <a:solidFill>
                  <a:srgbClr val="FF0000"/>
                </a:solidFill>
              </a:rPr>
              <a:t>dp</a:t>
            </a:r>
            <a:r>
              <a:rPr lang="en-US" altLang="zh-CN" dirty="0">
                <a:solidFill>
                  <a:srgbClr val="FF0000"/>
                </a:solidFill>
              </a:rPr>
              <a:t>[</a:t>
            </a:r>
            <a:r>
              <a:rPr lang="en-US" altLang="zh-CN" dirty="0" err="1">
                <a:solidFill>
                  <a:srgbClr val="FF0000"/>
                </a:solidFill>
              </a:rPr>
              <a:t>i</a:t>
            </a:r>
            <a:r>
              <a:rPr lang="en-US" altLang="zh-CN" dirty="0">
                <a:solidFill>
                  <a:srgbClr val="FF0000"/>
                </a:solidFill>
              </a:rPr>
              <a:t> + 1][j + 1];</a:t>
            </a:r>
          </a:p>
          <a:p>
            <a:endParaRPr lang="en-US" altLang="zh-CN"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818708" y="829339"/>
            <a:ext cx="3114955" cy="523220"/>
          </a:xfrm>
          <a:prstGeom prst="rect">
            <a:avLst/>
          </a:prstGeom>
          <a:noFill/>
        </p:spPr>
        <p:txBody>
          <a:bodyPr wrap="none" rtlCol="0">
            <a:spAutoFit/>
          </a:bodyPr>
          <a:lstStyle/>
          <a:p>
            <a:r>
              <a:rPr lang="zh-CN" altLang="en-US" sz="2800" b="1" dirty="0"/>
              <a:t>例题</a:t>
            </a:r>
            <a:r>
              <a:rPr lang="en-US" altLang="zh-CN" sz="2800" b="1" dirty="0"/>
              <a:t>2</a:t>
            </a:r>
            <a:r>
              <a:rPr lang="zh-CN" altLang="en-US" sz="2800" b="1" dirty="0"/>
              <a:t> 树形金字塔</a:t>
            </a:r>
            <a:endParaRPr lang="en-US" sz="2800" b="1" dirty="0"/>
          </a:p>
        </p:txBody>
      </p:sp>
      <p:sp>
        <p:nvSpPr>
          <p:cNvPr id="5" name="TextBox 4"/>
          <p:cNvSpPr txBox="1"/>
          <p:nvPr/>
        </p:nvSpPr>
        <p:spPr>
          <a:xfrm>
            <a:off x="818708" y="1403498"/>
            <a:ext cx="10632557" cy="4893647"/>
          </a:xfrm>
          <a:prstGeom prst="rect">
            <a:avLst/>
          </a:prstGeom>
          <a:noFill/>
        </p:spPr>
        <p:txBody>
          <a:bodyPr wrap="square" rtlCol="0">
            <a:spAutoFit/>
          </a:bodyPr>
          <a:lstStyle/>
          <a:p>
            <a:r>
              <a:rPr lang="zh-CN" altLang="en-US" dirty="0"/>
              <a:t>实现上述的转移方程：</a:t>
            </a:r>
            <a:endParaRPr lang="en-US" altLang="zh-CN" dirty="0"/>
          </a:p>
          <a:p>
            <a:endParaRPr lang="en-US" altLang="zh-CN" dirty="0"/>
          </a:p>
          <a:p>
            <a:r>
              <a:rPr lang="en-US" altLang="zh-CN" dirty="0" err="1"/>
              <a:t>int</a:t>
            </a:r>
            <a:r>
              <a:rPr lang="en-US" altLang="zh-CN" dirty="0"/>
              <a:t> </a:t>
            </a:r>
            <a:r>
              <a:rPr lang="en-US" altLang="zh-CN" dirty="0" err="1"/>
              <a:t>dfs</a:t>
            </a:r>
            <a:r>
              <a:rPr lang="en-US" altLang="zh-CN" dirty="0"/>
              <a:t>(</a:t>
            </a:r>
            <a:r>
              <a:rPr lang="en-US" altLang="zh-CN" dirty="0" err="1"/>
              <a:t>int</a:t>
            </a:r>
            <a:r>
              <a:rPr lang="en-US" altLang="zh-CN" dirty="0"/>
              <a:t> </a:t>
            </a:r>
            <a:r>
              <a:rPr lang="en-US" altLang="zh-CN" dirty="0" err="1"/>
              <a:t>i</a:t>
            </a:r>
            <a:r>
              <a:rPr lang="en-US" altLang="zh-CN" dirty="0"/>
              <a:t>, </a:t>
            </a:r>
            <a:r>
              <a:rPr lang="en-US" altLang="zh-CN" dirty="0" err="1"/>
              <a:t>int</a:t>
            </a:r>
            <a:r>
              <a:rPr lang="en-US" altLang="zh-CN" dirty="0"/>
              <a:t> j) {</a:t>
            </a:r>
          </a:p>
          <a:p>
            <a:r>
              <a:rPr lang="en-US" altLang="zh-CN" dirty="0"/>
              <a:t>    if (</a:t>
            </a:r>
            <a:r>
              <a:rPr lang="en-US" altLang="zh-CN" dirty="0" err="1"/>
              <a:t>i</a:t>
            </a:r>
            <a:r>
              <a:rPr lang="en-US" altLang="zh-CN" dirty="0"/>
              <a:t> == n) return A[</a:t>
            </a:r>
            <a:r>
              <a:rPr lang="en-US" altLang="zh-CN" dirty="0" err="1"/>
              <a:t>i</a:t>
            </a:r>
            <a:r>
              <a:rPr lang="en-US" altLang="zh-CN" dirty="0"/>
              <a:t>][j];</a:t>
            </a:r>
          </a:p>
          <a:p>
            <a:r>
              <a:rPr lang="en-US" altLang="zh-CN" dirty="0"/>
              <a:t>    else return A[</a:t>
            </a:r>
            <a:r>
              <a:rPr lang="en-US" altLang="zh-CN" dirty="0" err="1"/>
              <a:t>i</a:t>
            </a:r>
            <a:r>
              <a:rPr lang="en-US" altLang="zh-CN" dirty="0"/>
              <a:t>][j] + max(</a:t>
            </a:r>
            <a:r>
              <a:rPr lang="en-US" altLang="zh-CN" dirty="0" err="1"/>
              <a:t>dfs</a:t>
            </a:r>
            <a:r>
              <a:rPr lang="en-US" altLang="zh-CN" dirty="0"/>
              <a:t>(</a:t>
            </a:r>
            <a:r>
              <a:rPr lang="en-US" altLang="zh-CN" dirty="0" err="1"/>
              <a:t>i</a:t>
            </a:r>
            <a:r>
              <a:rPr lang="en-US" altLang="zh-CN" dirty="0"/>
              <a:t> + 1, j), </a:t>
            </a:r>
            <a:r>
              <a:rPr lang="en-US" altLang="zh-CN" dirty="0" err="1"/>
              <a:t>dfs</a:t>
            </a:r>
            <a:r>
              <a:rPr lang="en-US" altLang="zh-CN" dirty="0"/>
              <a:t>(</a:t>
            </a:r>
            <a:r>
              <a:rPr lang="en-US" altLang="zh-CN" dirty="0" err="1"/>
              <a:t>i</a:t>
            </a:r>
            <a:r>
              <a:rPr lang="en-US" altLang="zh-CN" dirty="0"/>
              <a:t> + 1, j + 1));</a:t>
            </a:r>
          </a:p>
          <a:p>
            <a:r>
              <a:rPr lang="en-US" altLang="zh-CN" dirty="0"/>
              <a:t>}</a:t>
            </a:r>
          </a:p>
          <a:p>
            <a:endParaRPr lang="en-US" altLang="zh-CN" dirty="0"/>
          </a:p>
          <a:p>
            <a:r>
              <a:rPr lang="zh-CN" altLang="en-US" dirty="0"/>
              <a:t>算法的正确性是显然的，但是时间效率</a:t>
            </a:r>
            <a:endParaRPr lang="en-US" altLang="zh-CN" dirty="0"/>
          </a:p>
          <a:p>
            <a:r>
              <a:rPr lang="zh-CN" altLang="en-US" dirty="0"/>
              <a:t>还是很低，观察如图的递归树：</a:t>
            </a:r>
            <a:endParaRPr lang="en-US" altLang="zh-CN" dirty="0"/>
          </a:p>
          <a:p>
            <a:endParaRPr lang="en-US" altLang="zh-CN" dirty="0"/>
          </a:p>
          <a:p>
            <a:r>
              <a:rPr lang="zh-CN" altLang="en-US" dirty="0"/>
              <a:t>灰色的部分进行重复计算了，一共有</a:t>
            </a:r>
            <a:endParaRPr lang="en-US" altLang="zh-CN" dirty="0"/>
          </a:p>
          <a:p>
            <a:r>
              <a:rPr lang="en-US" altLang="zh-CN" dirty="0"/>
              <a:t>2^N-1</a:t>
            </a:r>
            <a:r>
              <a:rPr lang="zh-CN" altLang="en-US" dirty="0"/>
              <a:t>个节点，这时候就要使用前面</a:t>
            </a:r>
            <a:endParaRPr lang="en-US" altLang="zh-CN" dirty="0"/>
          </a:p>
          <a:p>
            <a:r>
              <a:rPr lang="zh-CN" altLang="en-US" dirty="0"/>
              <a:t>讲过的知识</a:t>
            </a:r>
            <a:r>
              <a:rPr lang="en-US" altLang="zh-CN" dirty="0"/>
              <a:t>——</a:t>
            </a:r>
            <a:r>
              <a:rPr lang="zh-CN" altLang="en-US" b="1" dirty="0"/>
              <a:t>记忆化搜索</a:t>
            </a:r>
            <a:r>
              <a:rPr lang="zh-CN" altLang="en-US" dirty="0"/>
              <a:t>。</a:t>
            </a:r>
            <a:endParaRPr lang="en-US" altLang="zh-CN" dirty="0"/>
          </a:p>
        </p:txBody>
      </p:sp>
      <p:grpSp>
        <p:nvGrpSpPr>
          <p:cNvPr id="51" name="Group 50"/>
          <p:cNvGrpSpPr/>
          <p:nvPr/>
        </p:nvGrpSpPr>
        <p:grpSpPr>
          <a:xfrm>
            <a:off x="6320421" y="3470665"/>
            <a:ext cx="5257675" cy="2698305"/>
            <a:chOff x="6452306" y="3111658"/>
            <a:chExt cx="5257675" cy="2698305"/>
          </a:xfrm>
        </p:grpSpPr>
        <p:sp>
          <p:nvSpPr>
            <p:cNvPr id="2" name="Oval 1"/>
            <p:cNvSpPr/>
            <p:nvPr/>
          </p:nvSpPr>
          <p:spPr>
            <a:xfrm>
              <a:off x="8803526" y="3111658"/>
              <a:ext cx="517432" cy="524909"/>
            </a:xfrm>
            <a:prstGeom prst="ellipse">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00" dirty="0">
                  <a:ln w="0"/>
                  <a:solidFill>
                    <a:schemeClr val="tx1"/>
                  </a:solidFill>
                  <a:effectLst>
                    <a:outerShdw blurRad="38100" dist="19050" dir="2700000" algn="tl" rotWithShape="0">
                      <a:schemeClr val="dk1">
                        <a:alpha val="40000"/>
                      </a:schemeClr>
                    </a:outerShdw>
                  </a:effectLst>
                </a:rPr>
                <a:t>1,1</a:t>
              </a:r>
              <a:endParaRPr lang="en-US" sz="1000" dirty="0">
                <a:ln w="0"/>
                <a:solidFill>
                  <a:schemeClr val="tx1"/>
                </a:solidFill>
                <a:effectLst>
                  <a:outerShdw blurRad="38100" dist="19050" dir="2700000" algn="tl" rotWithShape="0">
                    <a:schemeClr val="dk1">
                      <a:alpha val="40000"/>
                    </a:schemeClr>
                  </a:outerShdw>
                </a:effectLst>
              </a:endParaRPr>
            </a:p>
          </p:txBody>
        </p:sp>
        <p:sp>
          <p:nvSpPr>
            <p:cNvPr id="6" name="Oval 5"/>
            <p:cNvSpPr/>
            <p:nvPr/>
          </p:nvSpPr>
          <p:spPr>
            <a:xfrm>
              <a:off x="7508633" y="4018581"/>
              <a:ext cx="517432" cy="524909"/>
            </a:xfrm>
            <a:prstGeom prst="ellipse">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00" dirty="0">
                  <a:ln w="0"/>
                  <a:solidFill>
                    <a:schemeClr val="tx1"/>
                  </a:solidFill>
                  <a:effectLst>
                    <a:outerShdw blurRad="38100" dist="19050" dir="2700000" algn="tl" rotWithShape="0">
                      <a:schemeClr val="dk1">
                        <a:alpha val="40000"/>
                      </a:schemeClr>
                    </a:outerShdw>
                  </a:effectLst>
                </a:rPr>
                <a:t>2,1</a:t>
              </a:r>
              <a:endParaRPr lang="en-US" sz="1000" dirty="0">
                <a:ln w="0"/>
                <a:solidFill>
                  <a:schemeClr val="tx1"/>
                </a:solidFill>
                <a:effectLst>
                  <a:outerShdw blurRad="38100" dist="19050" dir="2700000" algn="tl" rotWithShape="0">
                    <a:schemeClr val="dk1">
                      <a:alpha val="40000"/>
                    </a:schemeClr>
                  </a:outerShdw>
                </a:effectLst>
              </a:endParaRPr>
            </a:p>
          </p:txBody>
        </p:sp>
        <p:sp>
          <p:nvSpPr>
            <p:cNvPr id="8" name="Oval 7"/>
            <p:cNvSpPr/>
            <p:nvPr/>
          </p:nvSpPr>
          <p:spPr>
            <a:xfrm>
              <a:off x="6782825" y="4631491"/>
              <a:ext cx="517432" cy="524909"/>
            </a:xfrm>
            <a:prstGeom prst="ellipse">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00" dirty="0">
                  <a:ln w="0"/>
                  <a:solidFill>
                    <a:schemeClr val="tx1"/>
                  </a:solidFill>
                  <a:effectLst>
                    <a:outerShdw blurRad="38100" dist="19050" dir="2700000" algn="tl" rotWithShape="0">
                      <a:schemeClr val="dk1">
                        <a:alpha val="40000"/>
                      </a:schemeClr>
                    </a:outerShdw>
                  </a:effectLst>
                </a:rPr>
                <a:t>3,1</a:t>
              </a:r>
              <a:endParaRPr lang="en-US" sz="1000" dirty="0">
                <a:ln w="0"/>
                <a:solidFill>
                  <a:schemeClr val="tx1"/>
                </a:solidFill>
                <a:effectLst>
                  <a:outerShdw blurRad="38100" dist="19050" dir="2700000" algn="tl" rotWithShape="0">
                    <a:schemeClr val="dk1">
                      <a:alpha val="40000"/>
                    </a:schemeClr>
                  </a:outerShdw>
                </a:effectLst>
              </a:endParaRPr>
            </a:p>
          </p:txBody>
        </p:sp>
        <p:sp>
          <p:nvSpPr>
            <p:cNvPr id="9" name="Oval 8"/>
            <p:cNvSpPr/>
            <p:nvPr/>
          </p:nvSpPr>
          <p:spPr>
            <a:xfrm>
              <a:off x="8131715" y="4631492"/>
              <a:ext cx="517432" cy="524909"/>
            </a:xfrm>
            <a:prstGeom prst="ellipse">
              <a:avLst/>
            </a:prstGeom>
            <a:solidFill>
              <a:schemeClr val="bg1">
                <a:lumMod val="75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00" dirty="0">
                  <a:ln w="0"/>
                  <a:solidFill>
                    <a:schemeClr val="tx1"/>
                  </a:solidFill>
                  <a:effectLst>
                    <a:outerShdw blurRad="38100" dist="19050" dir="2700000" algn="tl" rotWithShape="0">
                      <a:schemeClr val="dk1">
                        <a:alpha val="40000"/>
                      </a:schemeClr>
                    </a:outerShdw>
                  </a:effectLst>
                </a:rPr>
                <a:t>3,2</a:t>
              </a:r>
              <a:endParaRPr lang="en-US" sz="1000" dirty="0">
                <a:ln w="0"/>
                <a:solidFill>
                  <a:schemeClr val="tx1"/>
                </a:solidFill>
                <a:effectLst>
                  <a:outerShdw blurRad="38100" dist="19050" dir="2700000" algn="tl" rotWithShape="0">
                    <a:schemeClr val="dk1">
                      <a:alpha val="40000"/>
                    </a:schemeClr>
                  </a:outerShdw>
                </a:effectLst>
              </a:endParaRPr>
            </a:p>
          </p:txBody>
        </p:sp>
        <p:sp>
          <p:nvSpPr>
            <p:cNvPr id="10" name="Oval 9"/>
            <p:cNvSpPr/>
            <p:nvPr/>
          </p:nvSpPr>
          <p:spPr>
            <a:xfrm>
              <a:off x="10107419" y="4018580"/>
              <a:ext cx="517432" cy="524909"/>
            </a:xfrm>
            <a:prstGeom prst="ellipse">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00" dirty="0">
                  <a:ln w="0"/>
                  <a:solidFill>
                    <a:schemeClr val="tx1"/>
                  </a:solidFill>
                  <a:effectLst>
                    <a:outerShdw blurRad="38100" dist="19050" dir="2700000" algn="tl" rotWithShape="0">
                      <a:schemeClr val="dk1">
                        <a:alpha val="40000"/>
                      </a:schemeClr>
                    </a:outerShdw>
                  </a:effectLst>
                </a:rPr>
                <a:t>2,2</a:t>
              </a:r>
              <a:endParaRPr lang="en-US" sz="1000" dirty="0">
                <a:ln w="0"/>
                <a:solidFill>
                  <a:schemeClr val="tx1"/>
                </a:solidFill>
                <a:effectLst>
                  <a:outerShdw blurRad="38100" dist="19050" dir="2700000" algn="tl" rotWithShape="0">
                    <a:schemeClr val="dk1">
                      <a:alpha val="40000"/>
                    </a:schemeClr>
                  </a:outerShdw>
                </a:effectLst>
              </a:endParaRPr>
            </a:p>
          </p:txBody>
        </p:sp>
        <p:sp>
          <p:nvSpPr>
            <p:cNvPr id="11" name="Oval 10"/>
            <p:cNvSpPr/>
            <p:nvPr/>
          </p:nvSpPr>
          <p:spPr>
            <a:xfrm>
              <a:off x="9480605" y="4648895"/>
              <a:ext cx="517432" cy="524909"/>
            </a:xfrm>
            <a:prstGeom prst="ellipse">
              <a:avLst/>
            </a:prstGeom>
            <a:solidFill>
              <a:schemeClr val="bg1">
                <a:lumMod val="75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00" dirty="0">
                  <a:ln w="0"/>
                  <a:solidFill>
                    <a:schemeClr val="tx1"/>
                  </a:solidFill>
                  <a:effectLst>
                    <a:outerShdw blurRad="38100" dist="19050" dir="2700000" algn="tl" rotWithShape="0">
                      <a:schemeClr val="dk1">
                        <a:alpha val="40000"/>
                      </a:schemeClr>
                    </a:outerShdw>
                  </a:effectLst>
                </a:rPr>
                <a:t>3,2</a:t>
              </a:r>
              <a:endParaRPr lang="en-US" sz="1000" dirty="0">
                <a:ln w="0"/>
                <a:solidFill>
                  <a:schemeClr val="tx1"/>
                </a:solidFill>
                <a:effectLst>
                  <a:outerShdw blurRad="38100" dist="19050" dir="2700000" algn="tl" rotWithShape="0">
                    <a:schemeClr val="dk1">
                      <a:alpha val="40000"/>
                    </a:schemeClr>
                  </a:outerShdw>
                </a:effectLst>
              </a:endParaRPr>
            </a:p>
          </p:txBody>
        </p:sp>
        <p:sp>
          <p:nvSpPr>
            <p:cNvPr id="12" name="Oval 11"/>
            <p:cNvSpPr/>
            <p:nvPr/>
          </p:nvSpPr>
          <p:spPr>
            <a:xfrm>
              <a:off x="10829495" y="4645366"/>
              <a:ext cx="517432" cy="524909"/>
            </a:xfrm>
            <a:prstGeom prst="ellipse">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00" dirty="0">
                  <a:ln w="0"/>
                  <a:solidFill>
                    <a:schemeClr val="tx1"/>
                  </a:solidFill>
                  <a:effectLst>
                    <a:outerShdw blurRad="38100" dist="19050" dir="2700000" algn="tl" rotWithShape="0">
                      <a:schemeClr val="dk1">
                        <a:alpha val="40000"/>
                      </a:schemeClr>
                    </a:outerShdw>
                  </a:effectLst>
                </a:rPr>
                <a:t>3,3</a:t>
              </a:r>
              <a:endParaRPr lang="en-US" sz="1000" dirty="0">
                <a:ln w="0"/>
                <a:solidFill>
                  <a:schemeClr val="tx1"/>
                </a:solidFill>
                <a:effectLst>
                  <a:outerShdw blurRad="38100" dist="19050" dir="2700000" algn="tl" rotWithShape="0">
                    <a:schemeClr val="dk1">
                      <a:alpha val="40000"/>
                    </a:schemeClr>
                  </a:outerShdw>
                </a:effectLst>
              </a:endParaRPr>
            </a:p>
          </p:txBody>
        </p:sp>
        <p:sp>
          <p:nvSpPr>
            <p:cNvPr id="13" name="Oval 12"/>
            <p:cNvSpPr/>
            <p:nvPr/>
          </p:nvSpPr>
          <p:spPr>
            <a:xfrm>
              <a:off x="6452306" y="5285054"/>
              <a:ext cx="517432" cy="524909"/>
            </a:xfrm>
            <a:prstGeom prst="ellipse">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00" dirty="0">
                  <a:ln w="0"/>
                  <a:solidFill>
                    <a:schemeClr val="tx1"/>
                  </a:solidFill>
                  <a:effectLst>
                    <a:outerShdw blurRad="38100" dist="19050" dir="2700000" algn="tl" rotWithShape="0">
                      <a:schemeClr val="dk1">
                        <a:alpha val="40000"/>
                      </a:schemeClr>
                    </a:outerShdw>
                  </a:effectLst>
                </a:rPr>
                <a:t>4,1</a:t>
              </a:r>
              <a:endParaRPr lang="en-US" sz="1000" dirty="0">
                <a:ln w="0"/>
                <a:solidFill>
                  <a:schemeClr val="tx1"/>
                </a:solidFill>
                <a:effectLst>
                  <a:outerShdw blurRad="38100" dist="19050" dir="2700000" algn="tl" rotWithShape="0">
                    <a:schemeClr val="dk1">
                      <a:alpha val="40000"/>
                    </a:schemeClr>
                  </a:outerShdw>
                </a:effectLst>
              </a:endParaRPr>
            </a:p>
          </p:txBody>
        </p:sp>
        <p:sp>
          <p:nvSpPr>
            <p:cNvPr id="14" name="Oval 13"/>
            <p:cNvSpPr/>
            <p:nvPr/>
          </p:nvSpPr>
          <p:spPr>
            <a:xfrm>
              <a:off x="7183382" y="5285054"/>
              <a:ext cx="517432" cy="524909"/>
            </a:xfrm>
            <a:prstGeom prst="ellipse">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00" dirty="0">
                  <a:ln w="0"/>
                  <a:solidFill>
                    <a:schemeClr val="tx1"/>
                  </a:solidFill>
                  <a:effectLst>
                    <a:outerShdw blurRad="38100" dist="19050" dir="2700000" algn="tl" rotWithShape="0">
                      <a:schemeClr val="dk1">
                        <a:alpha val="40000"/>
                      </a:schemeClr>
                    </a:outerShdw>
                  </a:effectLst>
                </a:rPr>
                <a:t>4,2</a:t>
              </a:r>
              <a:endParaRPr lang="en-US" sz="1000" dirty="0">
                <a:ln w="0"/>
                <a:solidFill>
                  <a:schemeClr val="tx1"/>
                </a:solidFill>
                <a:effectLst>
                  <a:outerShdw blurRad="38100" dist="19050" dir="2700000" algn="tl" rotWithShape="0">
                    <a:schemeClr val="dk1">
                      <a:alpha val="40000"/>
                    </a:schemeClr>
                  </a:outerShdw>
                </a:effectLst>
              </a:endParaRPr>
            </a:p>
          </p:txBody>
        </p:sp>
        <p:sp>
          <p:nvSpPr>
            <p:cNvPr id="15" name="Oval 14"/>
            <p:cNvSpPr/>
            <p:nvPr/>
          </p:nvSpPr>
          <p:spPr>
            <a:xfrm>
              <a:off x="7813734" y="5285054"/>
              <a:ext cx="517432" cy="524909"/>
            </a:xfrm>
            <a:prstGeom prst="ellipse">
              <a:avLst/>
            </a:prstGeom>
            <a:solidFill>
              <a:schemeClr val="bg1">
                <a:lumMod val="75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00" dirty="0">
                  <a:ln w="0"/>
                  <a:solidFill>
                    <a:schemeClr val="tx1"/>
                  </a:solidFill>
                  <a:effectLst>
                    <a:outerShdw blurRad="38100" dist="19050" dir="2700000" algn="tl" rotWithShape="0">
                      <a:schemeClr val="dk1">
                        <a:alpha val="40000"/>
                      </a:schemeClr>
                    </a:outerShdw>
                  </a:effectLst>
                </a:rPr>
                <a:t>4,2</a:t>
              </a:r>
              <a:endParaRPr lang="en-US" sz="1000" dirty="0">
                <a:ln w="0"/>
                <a:solidFill>
                  <a:schemeClr val="tx1"/>
                </a:solidFill>
                <a:effectLst>
                  <a:outerShdw blurRad="38100" dist="19050" dir="2700000" algn="tl" rotWithShape="0">
                    <a:schemeClr val="dk1">
                      <a:alpha val="40000"/>
                    </a:schemeClr>
                  </a:outerShdw>
                </a:effectLst>
              </a:endParaRPr>
            </a:p>
          </p:txBody>
        </p:sp>
        <p:sp>
          <p:nvSpPr>
            <p:cNvPr id="16" name="Oval 15"/>
            <p:cNvSpPr/>
            <p:nvPr/>
          </p:nvSpPr>
          <p:spPr>
            <a:xfrm>
              <a:off x="8544810" y="5285054"/>
              <a:ext cx="517432" cy="524909"/>
            </a:xfrm>
            <a:prstGeom prst="ellipse">
              <a:avLst/>
            </a:prstGeom>
            <a:solidFill>
              <a:schemeClr val="bg1">
                <a:lumMod val="75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00" dirty="0">
                  <a:ln w="0"/>
                  <a:solidFill>
                    <a:schemeClr val="tx1"/>
                  </a:solidFill>
                  <a:effectLst>
                    <a:outerShdw blurRad="38100" dist="19050" dir="2700000" algn="tl" rotWithShape="0">
                      <a:schemeClr val="dk1">
                        <a:alpha val="40000"/>
                      </a:schemeClr>
                    </a:outerShdw>
                  </a:effectLst>
                </a:rPr>
                <a:t>4,3</a:t>
              </a:r>
              <a:endParaRPr lang="en-US" sz="1000" dirty="0">
                <a:ln w="0"/>
                <a:solidFill>
                  <a:schemeClr val="tx1"/>
                </a:solidFill>
                <a:effectLst>
                  <a:outerShdw blurRad="38100" dist="19050" dir="2700000" algn="tl" rotWithShape="0">
                    <a:schemeClr val="dk1">
                      <a:alpha val="40000"/>
                    </a:schemeClr>
                  </a:outerShdw>
                </a:effectLst>
              </a:endParaRPr>
            </a:p>
          </p:txBody>
        </p:sp>
        <p:sp>
          <p:nvSpPr>
            <p:cNvPr id="17" name="Oval 16"/>
            <p:cNvSpPr/>
            <p:nvPr/>
          </p:nvSpPr>
          <p:spPr>
            <a:xfrm>
              <a:off x="9117627" y="5285054"/>
              <a:ext cx="517432" cy="524909"/>
            </a:xfrm>
            <a:prstGeom prst="ellipse">
              <a:avLst/>
            </a:prstGeom>
            <a:solidFill>
              <a:schemeClr val="bg1">
                <a:lumMod val="75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00" dirty="0">
                  <a:ln w="0"/>
                  <a:solidFill>
                    <a:schemeClr val="tx1"/>
                  </a:solidFill>
                  <a:effectLst>
                    <a:outerShdw blurRad="38100" dist="19050" dir="2700000" algn="tl" rotWithShape="0">
                      <a:schemeClr val="dk1">
                        <a:alpha val="40000"/>
                      </a:schemeClr>
                    </a:outerShdw>
                  </a:effectLst>
                </a:rPr>
                <a:t>4,2</a:t>
              </a:r>
              <a:endParaRPr lang="en-US" sz="1000" dirty="0">
                <a:ln w="0"/>
                <a:solidFill>
                  <a:schemeClr val="tx1"/>
                </a:solidFill>
                <a:effectLst>
                  <a:outerShdw blurRad="38100" dist="19050" dir="2700000" algn="tl" rotWithShape="0">
                    <a:schemeClr val="dk1">
                      <a:alpha val="40000"/>
                    </a:schemeClr>
                  </a:outerShdw>
                </a:effectLst>
              </a:endParaRPr>
            </a:p>
          </p:txBody>
        </p:sp>
        <p:sp>
          <p:nvSpPr>
            <p:cNvPr id="18" name="Oval 17"/>
            <p:cNvSpPr/>
            <p:nvPr/>
          </p:nvSpPr>
          <p:spPr>
            <a:xfrm>
              <a:off x="9848703" y="5285054"/>
              <a:ext cx="517432" cy="524909"/>
            </a:xfrm>
            <a:prstGeom prst="ellipse">
              <a:avLst/>
            </a:prstGeom>
            <a:solidFill>
              <a:schemeClr val="bg1">
                <a:lumMod val="75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00" dirty="0">
                  <a:ln w="0"/>
                  <a:solidFill>
                    <a:schemeClr val="tx1"/>
                  </a:solidFill>
                  <a:effectLst>
                    <a:outerShdw blurRad="38100" dist="19050" dir="2700000" algn="tl" rotWithShape="0">
                      <a:schemeClr val="dk1">
                        <a:alpha val="40000"/>
                      </a:schemeClr>
                    </a:outerShdw>
                  </a:effectLst>
                </a:rPr>
                <a:t>4,3</a:t>
              </a:r>
              <a:endParaRPr lang="en-US" sz="1000" dirty="0">
                <a:ln w="0"/>
                <a:solidFill>
                  <a:schemeClr val="tx1"/>
                </a:solidFill>
                <a:effectLst>
                  <a:outerShdw blurRad="38100" dist="19050" dir="2700000" algn="tl" rotWithShape="0">
                    <a:schemeClr val="dk1">
                      <a:alpha val="40000"/>
                    </a:schemeClr>
                  </a:outerShdw>
                </a:effectLst>
              </a:endParaRPr>
            </a:p>
          </p:txBody>
        </p:sp>
        <p:sp>
          <p:nvSpPr>
            <p:cNvPr id="19" name="Oval 18"/>
            <p:cNvSpPr/>
            <p:nvPr/>
          </p:nvSpPr>
          <p:spPr>
            <a:xfrm>
              <a:off x="10461473" y="5285054"/>
              <a:ext cx="517432" cy="524909"/>
            </a:xfrm>
            <a:prstGeom prst="ellipse">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00" dirty="0">
                  <a:ln w="0"/>
                  <a:solidFill>
                    <a:schemeClr val="tx1"/>
                  </a:solidFill>
                  <a:effectLst>
                    <a:outerShdw blurRad="38100" dist="19050" dir="2700000" algn="tl" rotWithShape="0">
                      <a:schemeClr val="dk1">
                        <a:alpha val="40000"/>
                      </a:schemeClr>
                    </a:outerShdw>
                  </a:effectLst>
                </a:rPr>
                <a:t>4,3</a:t>
              </a:r>
              <a:endParaRPr lang="en-US" sz="1000" dirty="0">
                <a:ln w="0"/>
                <a:solidFill>
                  <a:schemeClr val="tx1"/>
                </a:solidFill>
                <a:effectLst>
                  <a:outerShdw blurRad="38100" dist="19050" dir="2700000" algn="tl" rotWithShape="0">
                    <a:schemeClr val="dk1">
                      <a:alpha val="40000"/>
                    </a:schemeClr>
                  </a:outerShdw>
                </a:effectLst>
              </a:endParaRPr>
            </a:p>
          </p:txBody>
        </p:sp>
        <p:sp>
          <p:nvSpPr>
            <p:cNvPr id="20" name="Oval 19"/>
            <p:cNvSpPr/>
            <p:nvPr/>
          </p:nvSpPr>
          <p:spPr>
            <a:xfrm>
              <a:off x="11192549" y="5285054"/>
              <a:ext cx="517432" cy="524909"/>
            </a:xfrm>
            <a:prstGeom prst="ellipse">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00" dirty="0">
                  <a:ln w="0"/>
                  <a:solidFill>
                    <a:schemeClr val="tx1"/>
                  </a:solidFill>
                  <a:effectLst>
                    <a:outerShdw blurRad="38100" dist="19050" dir="2700000" algn="tl" rotWithShape="0">
                      <a:schemeClr val="dk1">
                        <a:alpha val="40000"/>
                      </a:schemeClr>
                    </a:outerShdw>
                  </a:effectLst>
                </a:rPr>
                <a:t>4,4</a:t>
              </a:r>
              <a:endParaRPr lang="en-US" sz="1000" dirty="0">
                <a:ln w="0"/>
                <a:solidFill>
                  <a:schemeClr val="tx1"/>
                </a:solidFill>
                <a:effectLst>
                  <a:outerShdw blurRad="38100" dist="19050" dir="2700000" algn="tl" rotWithShape="0">
                    <a:schemeClr val="dk1">
                      <a:alpha val="40000"/>
                    </a:schemeClr>
                  </a:outerShdw>
                </a:effectLst>
              </a:endParaRPr>
            </a:p>
          </p:txBody>
        </p:sp>
        <p:cxnSp>
          <p:nvCxnSpPr>
            <p:cNvPr id="22" name="Straight Arrow Connector 21"/>
            <p:cNvCxnSpPr>
              <a:stCxn id="2" idx="3"/>
              <a:endCxn id="6" idx="7"/>
            </p:cNvCxnSpPr>
            <p:nvPr/>
          </p:nvCxnSpPr>
          <p:spPr>
            <a:xfrm flipH="1">
              <a:off x="7950289" y="3559696"/>
              <a:ext cx="929013" cy="53575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p:cNvCxnSpPr>
              <a:stCxn id="2" idx="5"/>
              <a:endCxn id="10" idx="1"/>
            </p:cNvCxnSpPr>
            <p:nvPr/>
          </p:nvCxnSpPr>
          <p:spPr>
            <a:xfrm>
              <a:off x="9245182" y="3559696"/>
              <a:ext cx="938013" cy="53575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p:cNvCxnSpPr>
              <a:stCxn id="6" idx="3"/>
              <a:endCxn id="8" idx="7"/>
            </p:cNvCxnSpPr>
            <p:nvPr/>
          </p:nvCxnSpPr>
          <p:spPr>
            <a:xfrm flipH="1">
              <a:off x="7224481" y="4466619"/>
              <a:ext cx="359928" cy="24174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p:cNvCxnSpPr>
              <a:stCxn id="6" idx="5"/>
              <a:endCxn id="9" idx="1"/>
            </p:cNvCxnSpPr>
            <p:nvPr/>
          </p:nvCxnSpPr>
          <p:spPr>
            <a:xfrm>
              <a:off x="7950289" y="4466619"/>
              <a:ext cx="257202" cy="24174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p:cNvCxnSpPr>
              <a:stCxn id="10" idx="3"/>
              <a:endCxn id="11" idx="7"/>
            </p:cNvCxnSpPr>
            <p:nvPr/>
          </p:nvCxnSpPr>
          <p:spPr>
            <a:xfrm flipH="1">
              <a:off x="9922261" y="4466618"/>
              <a:ext cx="260934" cy="25914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p:cNvCxnSpPr>
              <a:stCxn id="10" idx="5"/>
              <a:endCxn id="12" idx="1"/>
            </p:cNvCxnSpPr>
            <p:nvPr/>
          </p:nvCxnSpPr>
          <p:spPr>
            <a:xfrm>
              <a:off x="10549075" y="4466618"/>
              <a:ext cx="356196" cy="25561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p:cNvCxnSpPr>
              <a:stCxn id="8" idx="3"/>
              <a:endCxn id="13" idx="0"/>
            </p:cNvCxnSpPr>
            <p:nvPr/>
          </p:nvCxnSpPr>
          <p:spPr>
            <a:xfrm flipH="1">
              <a:off x="6711022" y="5079529"/>
              <a:ext cx="147579" cy="20552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p:cNvCxnSpPr>
              <a:stCxn id="8" idx="5"/>
              <a:endCxn id="14" idx="0"/>
            </p:cNvCxnSpPr>
            <p:nvPr/>
          </p:nvCxnSpPr>
          <p:spPr>
            <a:xfrm>
              <a:off x="7224481" y="5079529"/>
              <a:ext cx="217617" cy="20552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p:cNvCxnSpPr>
              <a:stCxn id="9" idx="3"/>
              <a:endCxn id="15" idx="0"/>
            </p:cNvCxnSpPr>
            <p:nvPr/>
          </p:nvCxnSpPr>
          <p:spPr>
            <a:xfrm flipH="1">
              <a:off x="8072450" y="5079530"/>
              <a:ext cx="135041" cy="20552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39"/>
            <p:cNvCxnSpPr>
              <a:stCxn id="9" idx="5"/>
              <a:endCxn id="16" idx="0"/>
            </p:cNvCxnSpPr>
            <p:nvPr/>
          </p:nvCxnSpPr>
          <p:spPr>
            <a:xfrm>
              <a:off x="8573371" y="5079530"/>
              <a:ext cx="230155" cy="20552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2" name="Straight Arrow Connector 41"/>
            <p:cNvCxnSpPr>
              <a:stCxn id="11" idx="3"/>
              <a:endCxn id="17" idx="0"/>
            </p:cNvCxnSpPr>
            <p:nvPr/>
          </p:nvCxnSpPr>
          <p:spPr>
            <a:xfrm flipH="1">
              <a:off x="9376343" y="5096933"/>
              <a:ext cx="180038" cy="18812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4" name="Straight Arrow Connector 43"/>
            <p:cNvCxnSpPr>
              <a:stCxn id="11" idx="5"/>
              <a:endCxn id="18" idx="0"/>
            </p:cNvCxnSpPr>
            <p:nvPr/>
          </p:nvCxnSpPr>
          <p:spPr>
            <a:xfrm>
              <a:off x="9922261" y="5096933"/>
              <a:ext cx="185158" cy="18812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6" name="Straight Arrow Connector 45"/>
            <p:cNvCxnSpPr>
              <a:stCxn id="12" idx="3"/>
              <a:endCxn id="19" idx="0"/>
            </p:cNvCxnSpPr>
            <p:nvPr/>
          </p:nvCxnSpPr>
          <p:spPr>
            <a:xfrm flipH="1">
              <a:off x="10720189" y="5093404"/>
              <a:ext cx="185082" cy="19165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8" name="Straight Arrow Connector 47"/>
            <p:cNvCxnSpPr>
              <a:stCxn id="12" idx="5"/>
              <a:endCxn id="20" idx="0"/>
            </p:cNvCxnSpPr>
            <p:nvPr/>
          </p:nvCxnSpPr>
          <p:spPr>
            <a:xfrm>
              <a:off x="11271151" y="5093404"/>
              <a:ext cx="180114" cy="19165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818708" y="829339"/>
            <a:ext cx="3114955" cy="523220"/>
          </a:xfrm>
          <a:prstGeom prst="rect">
            <a:avLst/>
          </a:prstGeom>
          <a:noFill/>
        </p:spPr>
        <p:txBody>
          <a:bodyPr wrap="none" rtlCol="0">
            <a:spAutoFit/>
          </a:bodyPr>
          <a:lstStyle/>
          <a:p>
            <a:r>
              <a:rPr lang="zh-CN" altLang="en-US" sz="2800" b="1" dirty="0"/>
              <a:t>例题</a:t>
            </a:r>
            <a:r>
              <a:rPr lang="en-US" altLang="zh-CN" sz="2800" b="1" dirty="0"/>
              <a:t>2</a:t>
            </a:r>
            <a:r>
              <a:rPr lang="zh-CN" altLang="en-US" sz="2800" b="1" dirty="0"/>
              <a:t> 树形金字塔</a:t>
            </a:r>
            <a:endParaRPr lang="en-US" sz="2800" b="1" dirty="0"/>
          </a:p>
        </p:txBody>
      </p:sp>
      <p:sp>
        <p:nvSpPr>
          <p:cNvPr id="5" name="TextBox 4"/>
          <p:cNvSpPr txBox="1"/>
          <p:nvPr/>
        </p:nvSpPr>
        <p:spPr>
          <a:xfrm>
            <a:off x="818708" y="1403498"/>
            <a:ext cx="10632557" cy="4893647"/>
          </a:xfrm>
          <a:prstGeom prst="rect">
            <a:avLst/>
          </a:prstGeom>
          <a:noFill/>
        </p:spPr>
        <p:txBody>
          <a:bodyPr wrap="square" rtlCol="0">
            <a:spAutoFit/>
          </a:bodyPr>
          <a:lstStyle/>
          <a:p>
            <a:r>
              <a:rPr lang="zh-CN" altLang="en-US" dirty="0"/>
              <a:t>我们使用额外的</a:t>
            </a:r>
            <a:r>
              <a:rPr lang="en-US" altLang="zh-CN" dirty="0" err="1"/>
              <a:t>dp</a:t>
            </a:r>
            <a:r>
              <a:rPr lang="zh-CN" altLang="en-US" dirty="0"/>
              <a:t>数组来存放计算过的值：</a:t>
            </a:r>
            <a:endParaRPr lang="en-US" altLang="zh-CN" dirty="0"/>
          </a:p>
          <a:p>
            <a:r>
              <a:rPr lang="en-US" altLang="zh-CN" dirty="0"/>
              <a:t>//</a:t>
            </a:r>
            <a:r>
              <a:rPr lang="zh-CN" altLang="en-US" dirty="0"/>
              <a:t> 记得初始化</a:t>
            </a:r>
            <a:r>
              <a:rPr lang="en-US" altLang="zh-CN" dirty="0" err="1"/>
              <a:t>dp</a:t>
            </a:r>
            <a:r>
              <a:rPr lang="zh-CN" altLang="en-US" dirty="0"/>
              <a:t>为</a:t>
            </a:r>
            <a:r>
              <a:rPr lang="en-US" altLang="zh-CN" dirty="0"/>
              <a:t>0</a:t>
            </a:r>
          </a:p>
          <a:p>
            <a:r>
              <a:rPr lang="en-US" altLang="zh-CN" dirty="0" err="1"/>
              <a:t>int</a:t>
            </a:r>
            <a:r>
              <a:rPr lang="en-US" altLang="zh-CN" dirty="0"/>
              <a:t> </a:t>
            </a:r>
            <a:r>
              <a:rPr lang="en-US" altLang="zh-CN" dirty="0" err="1"/>
              <a:t>dfs</a:t>
            </a:r>
            <a:r>
              <a:rPr lang="en-US" altLang="zh-CN" dirty="0"/>
              <a:t>(</a:t>
            </a:r>
            <a:r>
              <a:rPr lang="en-US" altLang="zh-CN" dirty="0" err="1"/>
              <a:t>int</a:t>
            </a:r>
            <a:r>
              <a:rPr lang="en-US" altLang="zh-CN" dirty="0"/>
              <a:t> </a:t>
            </a:r>
            <a:r>
              <a:rPr lang="en-US" altLang="zh-CN" dirty="0" err="1"/>
              <a:t>i</a:t>
            </a:r>
            <a:r>
              <a:rPr lang="en-US" altLang="zh-CN" dirty="0"/>
              <a:t>, </a:t>
            </a:r>
            <a:r>
              <a:rPr lang="en-US" altLang="zh-CN" dirty="0" err="1"/>
              <a:t>int</a:t>
            </a:r>
            <a:r>
              <a:rPr lang="en-US" altLang="zh-CN" dirty="0"/>
              <a:t> j) {</a:t>
            </a:r>
          </a:p>
          <a:p>
            <a:r>
              <a:rPr lang="en-US" altLang="zh-CN" dirty="0"/>
              <a:t>    if (</a:t>
            </a:r>
            <a:r>
              <a:rPr lang="en-US" altLang="zh-CN" dirty="0" err="1"/>
              <a:t>dp</a:t>
            </a:r>
            <a:r>
              <a:rPr lang="en-US" altLang="zh-CN" dirty="0"/>
              <a:t>[</a:t>
            </a:r>
            <a:r>
              <a:rPr lang="en-US" altLang="zh-CN" dirty="0" err="1"/>
              <a:t>i</a:t>
            </a:r>
            <a:r>
              <a:rPr lang="en-US" altLang="zh-CN" dirty="0"/>
              <a:t>][j] &gt;= 0) return </a:t>
            </a:r>
            <a:r>
              <a:rPr lang="en-US" altLang="zh-CN" dirty="0" err="1"/>
              <a:t>dp</a:t>
            </a:r>
            <a:r>
              <a:rPr lang="en-US" altLang="zh-CN" dirty="0"/>
              <a:t>[</a:t>
            </a:r>
            <a:r>
              <a:rPr lang="en-US" altLang="zh-CN" dirty="0" err="1"/>
              <a:t>i</a:t>
            </a:r>
            <a:r>
              <a:rPr lang="en-US" altLang="zh-CN" dirty="0"/>
              <a:t>][j];</a:t>
            </a:r>
          </a:p>
          <a:p>
            <a:r>
              <a:rPr lang="en-US" altLang="zh-CN" dirty="0"/>
              <a:t>    else { </a:t>
            </a:r>
          </a:p>
          <a:p>
            <a:r>
              <a:rPr lang="en-US" altLang="zh-CN" dirty="0"/>
              <a:t>        // </a:t>
            </a:r>
            <a:r>
              <a:rPr lang="zh-CN" altLang="en-US" dirty="0"/>
              <a:t>注意边界，</a:t>
            </a:r>
            <a:r>
              <a:rPr lang="en-US" altLang="zh-CN" dirty="0" err="1"/>
              <a:t>dp</a:t>
            </a:r>
            <a:r>
              <a:rPr lang="zh-CN" altLang="en-US" dirty="0"/>
              <a:t>开大一些可以不考虑</a:t>
            </a:r>
            <a:r>
              <a:rPr lang="en-US" altLang="zh-CN" dirty="0" err="1"/>
              <a:t>i</a:t>
            </a:r>
            <a:r>
              <a:rPr lang="en-US" altLang="zh-CN" dirty="0"/>
              <a:t>==n</a:t>
            </a:r>
            <a:r>
              <a:rPr lang="zh-CN" altLang="en-US" dirty="0"/>
              <a:t>的情况</a:t>
            </a:r>
            <a:r>
              <a:rPr lang="en-US" altLang="zh-CN" dirty="0"/>
              <a:t> </a:t>
            </a:r>
          </a:p>
          <a:p>
            <a:r>
              <a:rPr lang="en-US" altLang="zh-CN" dirty="0"/>
              <a:t>        </a:t>
            </a:r>
            <a:r>
              <a:rPr lang="en-US" altLang="zh-CN" dirty="0" err="1"/>
              <a:t>dp</a:t>
            </a:r>
            <a:r>
              <a:rPr lang="en-US" altLang="zh-CN" dirty="0"/>
              <a:t>[</a:t>
            </a:r>
            <a:r>
              <a:rPr lang="en-US" altLang="zh-CN" dirty="0" err="1"/>
              <a:t>i</a:t>
            </a:r>
            <a:r>
              <a:rPr lang="en-US" altLang="zh-CN" dirty="0"/>
              <a:t>][j] = A[</a:t>
            </a:r>
            <a:r>
              <a:rPr lang="en-US" altLang="zh-CN" dirty="0" err="1"/>
              <a:t>i</a:t>
            </a:r>
            <a:r>
              <a:rPr lang="en-US" altLang="zh-CN" dirty="0"/>
              <a:t>][j] + max(</a:t>
            </a:r>
            <a:r>
              <a:rPr lang="en-US" altLang="zh-CN" dirty="0" err="1"/>
              <a:t>dfs</a:t>
            </a:r>
            <a:r>
              <a:rPr lang="en-US" altLang="zh-CN" dirty="0"/>
              <a:t>(</a:t>
            </a:r>
            <a:r>
              <a:rPr lang="en-US" altLang="zh-CN" dirty="0" err="1"/>
              <a:t>i</a:t>
            </a:r>
            <a:r>
              <a:rPr lang="en-US" altLang="zh-CN" dirty="0"/>
              <a:t> + 1, j), </a:t>
            </a:r>
            <a:r>
              <a:rPr lang="en-US" altLang="zh-CN" dirty="0" err="1"/>
              <a:t>dfs</a:t>
            </a:r>
            <a:r>
              <a:rPr lang="en-US" altLang="zh-CN" dirty="0"/>
              <a:t>(</a:t>
            </a:r>
            <a:r>
              <a:rPr lang="en-US" altLang="zh-CN" dirty="0" err="1"/>
              <a:t>i</a:t>
            </a:r>
            <a:r>
              <a:rPr lang="en-US" altLang="zh-CN" dirty="0"/>
              <a:t> + 1, j + 1));</a:t>
            </a:r>
          </a:p>
          <a:p>
            <a:r>
              <a:rPr lang="en-US" altLang="zh-CN" dirty="0"/>
              <a:t>        return </a:t>
            </a:r>
            <a:r>
              <a:rPr lang="en-US" altLang="zh-CN"/>
              <a:t>dp[</a:t>
            </a:r>
            <a:r>
              <a:rPr lang="en-US" altLang="zh-CN" dirty="0" err="1"/>
              <a:t>i</a:t>
            </a:r>
            <a:r>
              <a:rPr lang="en-US" altLang="zh-CN" dirty="0"/>
              <a:t>][j];</a:t>
            </a:r>
          </a:p>
          <a:p>
            <a:r>
              <a:rPr lang="en-US" altLang="zh-CN" dirty="0"/>
              <a:t>    }</a:t>
            </a:r>
          </a:p>
          <a:p>
            <a:r>
              <a:rPr lang="en-US" altLang="zh-CN" dirty="0"/>
              <a:t>}</a:t>
            </a:r>
          </a:p>
          <a:p>
            <a:endParaRPr lang="en-US" altLang="zh-CN" dirty="0"/>
          </a:p>
          <a:p>
            <a:r>
              <a:rPr lang="zh-CN" altLang="en-US" dirty="0"/>
              <a:t>新的搜索树如右所示，只有</a:t>
            </a:r>
            <a:r>
              <a:rPr lang="en-US" altLang="zh-CN" dirty="0"/>
              <a:t>N^2</a:t>
            </a:r>
            <a:r>
              <a:rPr lang="zh-CN" altLang="en-US" dirty="0"/>
              <a:t>个节点。</a:t>
            </a:r>
            <a:endParaRPr lang="en-US" altLang="zh-CN" dirty="0"/>
          </a:p>
          <a:p>
            <a:r>
              <a:rPr lang="zh-CN" altLang="en-US" dirty="0"/>
              <a:t>故时间复杂度为</a:t>
            </a:r>
            <a:r>
              <a:rPr lang="en-US" altLang="zh-CN" dirty="0"/>
              <a:t>O(N^2)</a:t>
            </a:r>
            <a:r>
              <a:rPr lang="zh-CN" altLang="en-US" dirty="0"/>
              <a:t>。</a:t>
            </a:r>
            <a:endParaRPr lang="en-US" altLang="zh-CN" dirty="0"/>
          </a:p>
        </p:txBody>
      </p:sp>
      <p:grpSp>
        <p:nvGrpSpPr>
          <p:cNvPr id="52" name="Group 51"/>
          <p:cNvGrpSpPr/>
          <p:nvPr/>
        </p:nvGrpSpPr>
        <p:grpSpPr>
          <a:xfrm>
            <a:off x="7276060" y="3249948"/>
            <a:ext cx="4175205" cy="2778136"/>
            <a:chOff x="6320421" y="3470665"/>
            <a:chExt cx="4175205" cy="2778136"/>
          </a:xfrm>
        </p:grpSpPr>
        <p:sp>
          <p:nvSpPr>
            <p:cNvPr id="2" name="Oval 1"/>
            <p:cNvSpPr/>
            <p:nvPr/>
          </p:nvSpPr>
          <p:spPr>
            <a:xfrm>
              <a:off x="8671641" y="3470665"/>
              <a:ext cx="517432" cy="524909"/>
            </a:xfrm>
            <a:prstGeom prst="ellipse">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00" dirty="0">
                  <a:ln w="0"/>
                  <a:solidFill>
                    <a:schemeClr val="tx1"/>
                  </a:solidFill>
                  <a:effectLst>
                    <a:outerShdw blurRad="38100" dist="19050" dir="2700000" algn="tl" rotWithShape="0">
                      <a:schemeClr val="dk1">
                        <a:alpha val="40000"/>
                      </a:schemeClr>
                    </a:outerShdw>
                  </a:effectLst>
                </a:rPr>
                <a:t>1,1</a:t>
              </a:r>
              <a:endParaRPr lang="en-US" sz="1000" dirty="0">
                <a:ln w="0"/>
                <a:solidFill>
                  <a:schemeClr val="tx1"/>
                </a:solidFill>
                <a:effectLst>
                  <a:outerShdw blurRad="38100" dist="19050" dir="2700000" algn="tl" rotWithShape="0">
                    <a:schemeClr val="dk1">
                      <a:alpha val="40000"/>
                    </a:schemeClr>
                  </a:outerShdw>
                </a:effectLst>
              </a:endParaRPr>
            </a:p>
          </p:txBody>
        </p:sp>
        <p:sp>
          <p:nvSpPr>
            <p:cNvPr id="6" name="Oval 5"/>
            <p:cNvSpPr/>
            <p:nvPr/>
          </p:nvSpPr>
          <p:spPr>
            <a:xfrm>
              <a:off x="7376748" y="4377588"/>
              <a:ext cx="517432" cy="524909"/>
            </a:xfrm>
            <a:prstGeom prst="ellipse">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00" dirty="0">
                  <a:ln w="0"/>
                  <a:solidFill>
                    <a:schemeClr val="tx1"/>
                  </a:solidFill>
                  <a:effectLst>
                    <a:outerShdw blurRad="38100" dist="19050" dir="2700000" algn="tl" rotWithShape="0">
                      <a:schemeClr val="dk1">
                        <a:alpha val="40000"/>
                      </a:schemeClr>
                    </a:outerShdw>
                  </a:effectLst>
                </a:rPr>
                <a:t>2,1</a:t>
              </a:r>
              <a:endParaRPr lang="en-US" sz="1000" dirty="0">
                <a:ln w="0"/>
                <a:solidFill>
                  <a:schemeClr val="tx1"/>
                </a:solidFill>
                <a:effectLst>
                  <a:outerShdw blurRad="38100" dist="19050" dir="2700000" algn="tl" rotWithShape="0">
                    <a:schemeClr val="dk1">
                      <a:alpha val="40000"/>
                    </a:schemeClr>
                  </a:outerShdw>
                </a:effectLst>
              </a:endParaRPr>
            </a:p>
          </p:txBody>
        </p:sp>
        <p:sp>
          <p:nvSpPr>
            <p:cNvPr id="8" name="Oval 7"/>
            <p:cNvSpPr/>
            <p:nvPr/>
          </p:nvSpPr>
          <p:spPr>
            <a:xfrm>
              <a:off x="6650940" y="4990498"/>
              <a:ext cx="517432" cy="524909"/>
            </a:xfrm>
            <a:prstGeom prst="ellipse">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00" dirty="0">
                  <a:ln w="0"/>
                  <a:solidFill>
                    <a:schemeClr val="tx1"/>
                  </a:solidFill>
                  <a:effectLst>
                    <a:outerShdw blurRad="38100" dist="19050" dir="2700000" algn="tl" rotWithShape="0">
                      <a:schemeClr val="dk1">
                        <a:alpha val="40000"/>
                      </a:schemeClr>
                    </a:outerShdw>
                  </a:effectLst>
                </a:rPr>
                <a:t>3,1</a:t>
              </a:r>
              <a:endParaRPr lang="en-US" sz="1000" dirty="0">
                <a:ln w="0"/>
                <a:solidFill>
                  <a:schemeClr val="tx1"/>
                </a:solidFill>
                <a:effectLst>
                  <a:outerShdw blurRad="38100" dist="19050" dir="2700000" algn="tl" rotWithShape="0">
                    <a:schemeClr val="dk1">
                      <a:alpha val="40000"/>
                    </a:schemeClr>
                  </a:outerShdw>
                </a:effectLst>
              </a:endParaRPr>
            </a:p>
          </p:txBody>
        </p:sp>
        <p:sp>
          <p:nvSpPr>
            <p:cNvPr id="9" name="Oval 8"/>
            <p:cNvSpPr/>
            <p:nvPr/>
          </p:nvSpPr>
          <p:spPr>
            <a:xfrm>
              <a:off x="7999830" y="4990499"/>
              <a:ext cx="517432" cy="524909"/>
            </a:xfrm>
            <a:prstGeom prst="ellipse">
              <a:avLst/>
            </a:prstGeom>
            <a:solidFill>
              <a:schemeClr val="bg1">
                <a:lumMod val="75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00" dirty="0">
                  <a:ln w="0"/>
                  <a:solidFill>
                    <a:schemeClr val="tx1"/>
                  </a:solidFill>
                  <a:effectLst>
                    <a:outerShdw blurRad="38100" dist="19050" dir="2700000" algn="tl" rotWithShape="0">
                      <a:schemeClr val="dk1">
                        <a:alpha val="40000"/>
                      </a:schemeClr>
                    </a:outerShdw>
                  </a:effectLst>
                </a:rPr>
                <a:t>3,2</a:t>
              </a:r>
              <a:endParaRPr lang="en-US" sz="1000" dirty="0">
                <a:ln w="0"/>
                <a:solidFill>
                  <a:schemeClr val="tx1"/>
                </a:solidFill>
                <a:effectLst>
                  <a:outerShdw blurRad="38100" dist="19050" dir="2700000" algn="tl" rotWithShape="0">
                    <a:schemeClr val="dk1">
                      <a:alpha val="40000"/>
                    </a:schemeClr>
                  </a:outerShdw>
                </a:effectLst>
              </a:endParaRPr>
            </a:p>
          </p:txBody>
        </p:sp>
        <p:sp>
          <p:nvSpPr>
            <p:cNvPr id="10" name="Oval 9"/>
            <p:cNvSpPr/>
            <p:nvPr/>
          </p:nvSpPr>
          <p:spPr>
            <a:xfrm>
              <a:off x="9975534" y="4377587"/>
              <a:ext cx="517432" cy="524909"/>
            </a:xfrm>
            <a:prstGeom prst="ellipse">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00" dirty="0">
                  <a:ln w="0"/>
                  <a:solidFill>
                    <a:schemeClr val="tx1"/>
                  </a:solidFill>
                  <a:effectLst>
                    <a:outerShdw blurRad="38100" dist="19050" dir="2700000" algn="tl" rotWithShape="0">
                      <a:schemeClr val="dk1">
                        <a:alpha val="40000"/>
                      </a:schemeClr>
                    </a:outerShdw>
                  </a:effectLst>
                </a:rPr>
                <a:t>2,2</a:t>
              </a:r>
              <a:endParaRPr lang="en-US" sz="1000" dirty="0">
                <a:ln w="0"/>
                <a:solidFill>
                  <a:schemeClr val="tx1"/>
                </a:solidFill>
                <a:effectLst>
                  <a:outerShdw blurRad="38100" dist="19050" dir="2700000" algn="tl" rotWithShape="0">
                    <a:schemeClr val="dk1">
                      <a:alpha val="40000"/>
                    </a:schemeClr>
                  </a:outerShdw>
                </a:effectLst>
              </a:endParaRPr>
            </a:p>
          </p:txBody>
        </p:sp>
        <p:sp>
          <p:nvSpPr>
            <p:cNvPr id="12" name="Oval 11"/>
            <p:cNvSpPr/>
            <p:nvPr/>
          </p:nvSpPr>
          <p:spPr>
            <a:xfrm>
              <a:off x="9978194" y="5090271"/>
              <a:ext cx="517432" cy="524909"/>
            </a:xfrm>
            <a:prstGeom prst="ellipse">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00" dirty="0">
                  <a:ln w="0"/>
                  <a:solidFill>
                    <a:schemeClr val="tx1"/>
                  </a:solidFill>
                  <a:effectLst>
                    <a:outerShdw blurRad="38100" dist="19050" dir="2700000" algn="tl" rotWithShape="0">
                      <a:schemeClr val="dk1">
                        <a:alpha val="40000"/>
                      </a:schemeClr>
                    </a:outerShdw>
                  </a:effectLst>
                </a:rPr>
                <a:t>3,3</a:t>
              </a:r>
              <a:endParaRPr lang="en-US" sz="1000" dirty="0">
                <a:ln w="0"/>
                <a:solidFill>
                  <a:schemeClr val="tx1"/>
                </a:solidFill>
                <a:effectLst>
                  <a:outerShdw blurRad="38100" dist="19050" dir="2700000" algn="tl" rotWithShape="0">
                    <a:schemeClr val="dk1">
                      <a:alpha val="40000"/>
                    </a:schemeClr>
                  </a:outerShdw>
                </a:effectLst>
              </a:endParaRPr>
            </a:p>
          </p:txBody>
        </p:sp>
        <p:sp>
          <p:nvSpPr>
            <p:cNvPr id="13" name="Oval 12"/>
            <p:cNvSpPr/>
            <p:nvPr/>
          </p:nvSpPr>
          <p:spPr>
            <a:xfrm>
              <a:off x="6320421" y="5644061"/>
              <a:ext cx="517432" cy="524909"/>
            </a:xfrm>
            <a:prstGeom prst="ellipse">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00" dirty="0">
                  <a:ln w="0"/>
                  <a:solidFill>
                    <a:schemeClr val="tx1"/>
                  </a:solidFill>
                  <a:effectLst>
                    <a:outerShdw blurRad="38100" dist="19050" dir="2700000" algn="tl" rotWithShape="0">
                      <a:schemeClr val="dk1">
                        <a:alpha val="40000"/>
                      </a:schemeClr>
                    </a:outerShdw>
                  </a:effectLst>
                </a:rPr>
                <a:t>4,1</a:t>
              </a:r>
              <a:endParaRPr lang="en-US" sz="1000" dirty="0">
                <a:ln w="0"/>
                <a:solidFill>
                  <a:schemeClr val="tx1"/>
                </a:solidFill>
                <a:effectLst>
                  <a:outerShdw blurRad="38100" dist="19050" dir="2700000" algn="tl" rotWithShape="0">
                    <a:schemeClr val="dk1">
                      <a:alpha val="40000"/>
                    </a:schemeClr>
                  </a:outerShdw>
                </a:effectLst>
              </a:endParaRPr>
            </a:p>
          </p:txBody>
        </p:sp>
        <p:sp>
          <p:nvSpPr>
            <p:cNvPr id="14" name="Oval 13"/>
            <p:cNvSpPr/>
            <p:nvPr/>
          </p:nvSpPr>
          <p:spPr>
            <a:xfrm>
              <a:off x="7051497" y="5644061"/>
              <a:ext cx="517432" cy="524909"/>
            </a:xfrm>
            <a:prstGeom prst="ellipse">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00" dirty="0">
                  <a:ln w="0"/>
                  <a:solidFill>
                    <a:schemeClr val="tx1"/>
                  </a:solidFill>
                  <a:effectLst>
                    <a:outerShdw blurRad="38100" dist="19050" dir="2700000" algn="tl" rotWithShape="0">
                      <a:schemeClr val="dk1">
                        <a:alpha val="40000"/>
                      </a:schemeClr>
                    </a:outerShdw>
                  </a:effectLst>
                </a:rPr>
                <a:t>4,2</a:t>
              </a:r>
              <a:endParaRPr lang="en-US" sz="1000" dirty="0">
                <a:ln w="0"/>
                <a:solidFill>
                  <a:schemeClr val="tx1"/>
                </a:solidFill>
                <a:effectLst>
                  <a:outerShdw blurRad="38100" dist="19050" dir="2700000" algn="tl" rotWithShape="0">
                    <a:schemeClr val="dk1">
                      <a:alpha val="40000"/>
                    </a:schemeClr>
                  </a:outerShdw>
                </a:effectLst>
              </a:endParaRPr>
            </a:p>
          </p:txBody>
        </p:sp>
        <p:sp>
          <p:nvSpPr>
            <p:cNvPr id="16" name="Oval 15"/>
            <p:cNvSpPr/>
            <p:nvPr/>
          </p:nvSpPr>
          <p:spPr>
            <a:xfrm>
              <a:off x="7999830" y="5667194"/>
              <a:ext cx="517432" cy="524909"/>
            </a:xfrm>
            <a:prstGeom prst="ellipse">
              <a:avLst/>
            </a:prstGeom>
            <a:solidFill>
              <a:schemeClr val="bg1">
                <a:lumMod val="75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00" dirty="0">
                  <a:ln w="0"/>
                  <a:solidFill>
                    <a:schemeClr val="tx1"/>
                  </a:solidFill>
                  <a:effectLst>
                    <a:outerShdw blurRad="38100" dist="19050" dir="2700000" algn="tl" rotWithShape="0">
                      <a:schemeClr val="dk1">
                        <a:alpha val="40000"/>
                      </a:schemeClr>
                    </a:outerShdw>
                  </a:effectLst>
                </a:rPr>
                <a:t>4,3</a:t>
              </a:r>
              <a:endParaRPr lang="en-US" sz="1000" dirty="0">
                <a:ln w="0"/>
                <a:solidFill>
                  <a:schemeClr val="tx1"/>
                </a:solidFill>
                <a:effectLst>
                  <a:outerShdw blurRad="38100" dist="19050" dir="2700000" algn="tl" rotWithShape="0">
                    <a:schemeClr val="dk1">
                      <a:alpha val="40000"/>
                    </a:schemeClr>
                  </a:outerShdw>
                </a:effectLst>
              </a:endParaRPr>
            </a:p>
          </p:txBody>
        </p:sp>
        <p:sp>
          <p:nvSpPr>
            <p:cNvPr id="20" name="Oval 19"/>
            <p:cNvSpPr/>
            <p:nvPr/>
          </p:nvSpPr>
          <p:spPr>
            <a:xfrm>
              <a:off x="9975534" y="5723892"/>
              <a:ext cx="517432" cy="524909"/>
            </a:xfrm>
            <a:prstGeom prst="ellipse">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00" dirty="0">
                  <a:ln w="0"/>
                  <a:solidFill>
                    <a:schemeClr val="tx1"/>
                  </a:solidFill>
                  <a:effectLst>
                    <a:outerShdw blurRad="38100" dist="19050" dir="2700000" algn="tl" rotWithShape="0">
                      <a:schemeClr val="dk1">
                        <a:alpha val="40000"/>
                      </a:schemeClr>
                    </a:outerShdw>
                  </a:effectLst>
                </a:rPr>
                <a:t>4,4</a:t>
              </a:r>
              <a:endParaRPr lang="en-US" sz="1000" dirty="0">
                <a:ln w="0"/>
                <a:solidFill>
                  <a:schemeClr val="tx1"/>
                </a:solidFill>
                <a:effectLst>
                  <a:outerShdw blurRad="38100" dist="19050" dir="2700000" algn="tl" rotWithShape="0">
                    <a:schemeClr val="dk1">
                      <a:alpha val="40000"/>
                    </a:schemeClr>
                  </a:outerShdw>
                </a:effectLst>
              </a:endParaRPr>
            </a:p>
          </p:txBody>
        </p:sp>
        <p:cxnSp>
          <p:nvCxnSpPr>
            <p:cNvPr id="22" name="Straight Arrow Connector 21"/>
            <p:cNvCxnSpPr>
              <a:stCxn id="2" idx="3"/>
              <a:endCxn id="6" idx="7"/>
            </p:cNvCxnSpPr>
            <p:nvPr/>
          </p:nvCxnSpPr>
          <p:spPr>
            <a:xfrm flipH="1">
              <a:off x="7818404" y="3918703"/>
              <a:ext cx="929013" cy="53575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p:cNvCxnSpPr>
              <a:stCxn id="2" idx="5"/>
              <a:endCxn id="10" idx="1"/>
            </p:cNvCxnSpPr>
            <p:nvPr/>
          </p:nvCxnSpPr>
          <p:spPr>
            <a:xfrm>
              <a:off x="9113297" y="3918703"/>
              <a:ext cx="938013" cy="53575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p:cNvCxnSpPr>
              <a:stCxn id="6" idx="3"/>
              <a:endCxn id="8" idx="7"/>
            </p:cNvCxnSpPr>
            <p:nvPr/>
          </p:nvCxnSpPr>
          <p:spPr>
            <a:xfrm flipH="1">
              <a:off x="7092596" y="4825626"/>
              <a:ext cx="359928" cy="24174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p:cNvCxnSpPr>
              <a:stCxn id="6" idx="5"/>
              <a:endCxn id="9" idx="1"/>
            </p:cNvCxnSpPr>
            <p:nvPr/>
          </p:nvCxnSpPr>
          <p:spPr>
            <a:xfrm>
              <a:off x="7818404" y="4825626"/>
              <a:ext cx="257202" cy="24174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p:cNvCxnSpPr>
              <a:stCxn id="8" idx="3"/>
              <a:endCxn id="13" idx="0"/>
            </p:cNvCxnSpPr>
            <p:nvPr/>
          </p:nvCxnSpPr>
          <p:spPr>
            <a:xfrm flipH="1">
              <a:off x="6579137" y="5438536"/>
              <a:ext cx="147579" cy="20552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p:cNvCxnSpPr>
              <a:stCxn id="8" idx="5"/>
              <a:endCxn id="14" idx="0"/>
            </p:cNvCxnSpPr>
            <p:nvPr/>
          </p:nvCxnSpPr>
          <p:spPr>
            <a:xfrm>
              <a:off x="7092596" y="5438536"/>
              <a:ext cx="217617" cy="20552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p:cNvCxnSpPr>
              <a:stCxn id="9" idx="4"/>
              <a:endCxn id="16" idx="0"/>
            </p:cNvCxnSpPr>
            <p:nvPr/>
          </p:nvCxnSpPr>
          <p:spPr>
            <a:xfrm>
              <a:off x="8258546" y="5515408"/>
              <a:ext cx="0" cy="15178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p:cNvCxnSpPr>
              <a:stCxn id="9" idx="3"/>
              <a:endCxn id="14" idx="7"/>
            </p:cNvCxnSpPr>
            <p:nvPr/>
          </p:nvCxnSpPr>
          <p:spPr>
            <a:xfrm flipH="1">
              <a:off x="7493153" y="5438537"/>
              <a:ext cx="582453" cy="282395"/>
            </a:xfrm>
            <a:prstGeom prst="straightConnector1">
              <a:avLst/>
            </a:prstGeom>
            <a:ln>
              <a:prstDash val="dash"/>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p:cNvCxnSpPr>
              <a:stCxn id="10" idx="3"/>
              <a:endCxn id="9" idx="6"/>
            </p:cNvCxnSpPr>
            <p:nvPr/>
          </p:nvCxnSpPr>
          <p:spPr>
            <a:xfrm flipH="1">
              <a:off x="8517262" y="4825625"/>
              <a:ext cx="1534048" cy="427329"/>
            </a:xfrm>
            <a:prstGeom prst="straightConnector1">
              <a:avLst/>
            </a:prstGeom>
            <a:ln>
              <a:prstDash val="dash"/>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p:cNvCxnSpPr>
              <a:stCxn id="12" idx="3"/>
              <a:endCxn id="16" idx="7"/>
            </p:cNvCxnSpPr>
            <p:nvPr/>
          </p:nvCxnSpPr>
          <p:spPr>
            <a:xfrm flipH="1">
              <a:off x="8441486" y="5538309"/>
              <a:ext cx="1612484" cy="205756"/>
            </a:xfrm>
            <a:prstGeom prst="straightConnector1">
              <a:avLst/>
            </a:prstGeom>
            <a:ln>
              <a:prstDash val="dash"/>
              <a:tailEnd type="triangle"/>
            </a:ln>
          </p:spPr>
          <p:style>
            <a:lnRef idx="1">
              <a:schemeClr val="accent1"/>
            </a:lnRef>
            <a:fillRef idx="0">
              <a:schemeClr val="accent1"/>
            </a:fillRef>
            <a:effectRef idx="0">
              <a:schemeClr val="accent1"/>
            </a:effectRef>
            <a:fontRef idx="minor">
              <a:schemeClr val="tx1"/>
            </a:fontRef>
          </p:style>
        </p:cxnSp>
        <p:cxnSp>
          <p:nvCxnSpPr>
            <p:cNvPr id="47" name="Straight Arrow Connector 46"/>
            <p:cNvCxnSpPr>
              <a:stCxn id="10" idx="4"/>
            </p:cNvCxnSpPr>
            <p:nvPr/>
          </p:nvCxnSpPr>
          <p:spPr>
            <a:xfrm>
              <a:off x="10234250" y="4902496"/>
              <a:ext cx="0" cy="18777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0" name="Straight Arrow Connector 49"/>
            <p:cNvCxnSpPr>
              <a:stCxn id="12" idx="4"/>
              <a:endCxn id="20" idx="0"/>
            </p:cNvCxnSpPr>
            <p:nvPr/>
          </p:nvCxnSpPr>
          <p:spPr>
            <a:xfrm flipH="1">
              <a:off x="10234250" y="5615180"/>
              <a:ext cx="2660" cy="10871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818708" y="829339"/>
            <a:ext cx="3114955" cy="523220"/>
          </a:xfrm>
          <a:prstGeom prst="rect">
            <a:avLst/>
          </a:prstGeom>
          <a:noFill/>
        </p:spPr>
        <p:txBody>
          <a:bodyPr wrap="none" rtlCol="0">
            <a:spAutoFit/>
          </a:bodyPr>
          <a:lstStyle/>
          <a:p>
            <a:r>
              <a:rPr lang="zh-CN" altLang="en-US" sz="2800" b="1" dirty="0"/>
              <a:t>例题</a:t>
            </a:r>
            <a:r>
              <a:rPr lang="en-US" altLang="zh-CN" sz="2800" b="1" dirty="0"/>
              <a:t>2</a:t>
            </a:r>
            <a:r>
              <a:rPr lang="zh-CN" altLang="en-US" sz="2800" b="1" dirty="0"/>
              <a:t> 树形金字塔</a:t>
            </a:r>
            <a:endParaRPr lang="en-US" sz="2800" b="1" dirty="0"/>
          </a:p>
        </p:txBody>
      </p:sp>
      <p:sp>
        <p:nvSpPr>
          <p:cNvPr id="5" name="TextBox 4"/>
          <p:cNvSpPr txBox="1"/>
          <p:nvPr/>
        </p:nvSpPr>
        <p:spPr>
          <a:xfrm>
            <a:off x="818708" y="1403498"/>
            <a:ext cx="10632557" cy="4154984"/>
          </a:xfrm>
          <a:prstGeom prst="rect">
            <a:avLst/>
          </a:prstGeom>
          <a:noFill/>
        </p:spPr>
        <p:txBody>
          <a:bodyPr wrap="square" rtlCol="0">
            <a:spAutoFit/>
          </a:bodyPr>
          <a:lstStyle/>
          <a:p>
            <a:r>
              <a:rPr lang="zh-CN" altLang="en-US" dirty="0"/>
              <a:t>同样这道题目可以使用递推来计算，程序如下：</a:t>
            </a:r>
            <a:endParaRPr lang="en-US" altLang="zh-CN" dirty="0"/>
          </a:p>
          <a:p>
            <a:endParaRPr lang="en-US" altLang="zh-CN" dirty="0"/>
          </a:p>
          <a:p>
            <a:r>
              <a:rPr lang="en-US" altLang="zh-CN" dirty="0" err="1"/>
              <a:t>int</a:t>
            </a:r>
            <a:r>
              <a:rPr lang="en-US" altLang="zh-CN" dirty="0"/>
              <a:t> </a:t>
            </a:r>
            <a:r>
              <a:rPr lang="en-US" altLang="zh-CN" dirty="0" err="1"/>
              <a:t>i</a:t>
            </a:r>
            <a:r>
              <a:rPr lang="en-US" altLang="zh-CN" dirty="0"/>
              <a:t>, j;</a:t>
            </a:r>
          </a:p>
          <a:p>
            <a:r>
              <a:rPr lang="en-US" altLang="zh-CN" dirty="0"/>
              <a:t>for (j = 1; j &lt;= n; </a:t>
            </a:r>
            <a:r>
              <a:rPr lang="en-US" altLang="zh-CN" dirty="0" err="1"/>
              <a:t>j++</a:t>
            </a:r>
            <a:r>
              <a:rPr lang="en-US" altLang="zh-CN" dirty="0"/>
              <a:t>) </a:t>
            </a:r>
            <a:r>
              <a:rPr lang="en-US" altLang="zh-CN" dirty="0" err="1"/>
              <a:t>dp</a:t>
            </a:r>
            <a:r>
              <a:rPr lang="en-US" altLang="zh-CN" dirty="0"/>
              <a:t>[n][j] = a[n][j];</a:t>
            </a:r>
          </a:p>
          <a:p>
            <a:r>
              <a:rPr lang="en-US" altLang="zh-CN" dirty="0"/>
              <a:t>for (</a:t>
            </a:r>
            <a:r>
              <a:rPr lang="en-US" altLang="zh-CN" dirty="0" err="1"/>
              <a:t>i</a:t>
            </a:r>
            <a:r>
              <a:rPr lang="en-US" altLang="zh-CN" dirty="0"/>
              <a:t> = n – 1; </a:t>
            </a:r>
            <a:r>
              <a:rPr lang="en-US" altLang="zh-CN" dirty="0" err="1"/>
              <a:t>i</a:t>
            </a:r>
            <a:r>
              <a:rPr lang="en-US" altLang="zh-CN" dirty="0"/>
              <a:t> &gt;= 1; </a:t>
            </a:r>
            <a:r>
              <a:rPr lang="en-US" altLang="zh-CN" dirty="0" err="1"/>
              <a:t>i</a:t>
            </a:r>
            <a:r>
              <a:rPr lang="en-US" altLang="zh-CN" dirty="0"/>
              <a:t>--) {</a:t>
            </a:r>
          </a:p>
          <a:p>
            <a:r>
              <a:rPr lang="en-US" altLang="zh-CN" dirty="0"/>
              <a:t>    for (j = 1; j &lt;= n; </a:t>
            </a:r>
            <a:r>
              <a:rPr lang="en-US" altLang="zh-CN" dirty="0" err="1"/>
              <a:t>j++</a:t>
            </a:r>
            <a:r>
              <a:rPr lang="en-US" altLang="zh-CN" dirty="0"/>
              <a:t>)</a:t>
            </a:r>
          </a:p>
          <a:p>
            <a:r>
              <a:rPr lang="en-US" altLang="zh-CN" dirty="0"/>
              <a:t>        </a:t>
            </a:r>
            <a:r>
              <a:rPr lang="en-US" altLang="zh-CN" dirty="0" err="1"/>
              <a:t>dp</a:t>
            </a:r>
            <a:r>
              <a:rPr lang="en-US" altLang="zh-CN" dirty="0"/>
              <a:t>[</a:t>
            </a:r>
            <a:r>
              <a:rPr lang="en-US" altLang="zh-CN" dirty="0" err="1"/>
              <a:t>i</a:t>
            </a:r>
            <a:r>
              <a:rPr lang="en-US" altLang="zh-CN" dirty="0"/>
              <a:t>][j] = A[</a:t>
            </a:r>
            <a:r>
              <a:rPr lang="en-US" altLang="zh-CN" dirty="0" err="1"/>
              <a:t>i</a:t>
            </a:r>
            <a:r>
              <a:rPr lang="en-US" altLang="zh-CN" dirty="0"/>
              <a:t>][j] + max(</a:t>
            </a:r>
            <a:r>
              <a:rPr lang="en-US" altLang="zh-CN" dirty="0" err="1"/>
              <a:t>dp</a:t>
            </a:r>
            <a:r>
              <a:rPr lang="en-US" altLang="zh-CN" dirty="0"/>
              <a:t>[</a:t>
            </a:r>
            <a:r>
              <a:rPr lang="en-US" altLang="zh-CN" dirty="0" err="1"/>
              <a:t>i</a:t>
            </a:r>
            <a:r>
              <a:rPr lang="en-US" altLang="zh-CN" dirty="0"/>
              <a:t> +1][j], </a:t>
            </a:r>
            <a:r>
              <a:rPr lang="en-US" altLang="zh-CN" dirty="0" err="1"/>
              <a:t>dp</a:t>
            </a:r>
            <a:r>
              <a:rPr lang="en-US" altLang="zh-CN" dirty="0"/>
              <a:t>[</a:t>
            </a:r>
            <a:r>
              <a:rPr lang="en-US" altLang="zh-CN" dirty="0" err="1"/>
              <a:t>i</a:t>
            </a:r>
            <a:r>
              <a:rPr lang="en-US" altLang="zh-CN" dirty="0"/>
              <a:t> + 1][j + 1]);</a:t>
            </a:r>
          </a:p>
          <a:p>
            <a:r>
              <a:rPr lang="en-US" altLang="zh-CN" dirty="0"/>
              <a:t>}</a:t>
            </a:r>
          </a:p>
          <a:p>
            <a:endParaRPr lang="en-US" altLang="zh-CN" dirty="0"/>
          </a:p>
          <a:p>
            <a:r>
              <a:rPr lang="zh-CN" altLang="en-US" dirty="0"/>
              <a:t>程序的时间复杂度为</a:t>
            </a:r>
            <a:r>
              <a:rPr lang="en-US" altLang="zh-CN" dirty="0"/>
              <a:t>O(N^2)</a:t>
            </a:r>
            <a:r>
              <a:rPr lang="zh-CN" altLang="en-US" dirty="0"/>
              <a:t>，为什么可以这么计算呢？原因在于</a:t>
            </a:r>
            <a:r>
              <a:rPr lang="en-US" altLang="zh-CN" dirty="0" err="1"/>
              <a:t>i</a:t>
            </a:r>
            <a:r>
              <a:rPr lang="zh-CN" altLang="en-US" dirty="0"/>
              <a:t>是</a:t>
            </a:r>
            <a:r>
              <a:rPr lang="zh-CN" altLang="en-US" b="1" dirty="0"/>
              <a:t>逆序</a:t>
            </a:r>
            <a:r>
              <a:rPr lang="zh-CN" altLang="en-US" dirty="0"/>
              <a:t>枚举的，所以在计算</a:t>
            </a:r>
            <a:r>
              <a:rPr lang="en-US" altLang="zh-CN" dirty="0"/>
              <a:t>d[</a:t>
            </a:r>
            <a:r>
              <a:rPr lang="en-US" altLang="zh-CN" dirty="0" err="1"/>
              <a:t>i</a:t>
            </a:r>
            <a:r>
              <a:rPr lang="en-US" altLang="zh-CN" dirty="0"/>
              <a:t>][j]</a:t>
            </a:r>
            <a:r>
              <a:rPr lang="zh-CN" altLang="en-US" dirty="0"/>
              <a:t>之前，另外两个需要的数字都一定已经计算过了。</a:t>
            </a:r>
            <a:endParaRPr lang="en-US" altLang="zh-CN"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818708" y="829339"/>
            <a:ext cx="4076757" cy="523220"/>
          </a:xfrm>
          <a:prstGeom prst="rect">
            <a:avLst/>
          </a:prstGeom>
          <a:noFill/>
        </p:spPr>
        <p:txBody>
          <a:bodyPr wrap="none" rtlCol="0">
            <a:spAutoFit/>
          </a:bodyPr>
          <a:lstStyle/>
          <a:p>
            <a:r>
              <a:rPr lang="zh-CN" altLang="en-US" sz="2800" b="1" dirty="0"/>
              <a:t>例题</a:t>
            </a:r>
            <a:r>
              <a:rPr lang="en-US" altLang="zh-CN" sz="2800" b="1" dirty="0"/>
              <a:t>3</a:t>
            </a:r>
            <a:r>
              <a:rPr lang="zh-CN" altLang="en-US" sz="2800" b="1" dirty="0"/>
              <a:t> 最长不下降子序列</a:t>
            </a:r>
            <a:endParaRPr lang="en-US" sz="2800" b="1" dirty="0"/>
          </a:p>
        </p:txBody>
      </p:sp>
      <p:sp>
        <p:nvSpPr>
          <p:cNvPr id="5" name="TextBox 4"/>
          <p:cNvSpPr txBox="1"/>
          <p:nvPr/>
        </p:nvSpPr>
        <p:spPr>
          <a:xfrm>
            <a:off x="818708" y="1403498"/>
            <a:ext cx="10632557" cy="3785652"/>
          </a:xfrm>
          <a:prstGeom prst="rect">
            <a:avLst/>
          </a:prstGeom>
          <a:noFill/>
        </p:spPr>
        <p:txBody>
          <a:bodyPr wrap="square" rtlCol="0">
            <a:spAutoFit/>
          </a:bodyPr>
          <a:lstStyle/>
          <a:p>
            <a:r>
              <a:rPr lang="zh-CN" altLang="en-US" dirty="0"/>
              <a:t>两道经典的例题都充分的体现了动态规划在具有重叠子问题性质的问题上使用方法。下面看一道经典的动态规划问题：最长不下降子序列。</a:t>
            </a:r>
            <a:endParaRPr lang="en-US" altLang="zh-CN" dirty="0"/>
          </a:p>
          <a:p>
            <a:endParaRPr lang="en-US" altLang="zh-CN" dirty="0"/>
          </a:p>
          <a:p>
            <a:r>
              <a:rPr lang="zh-CN" altLang="en-US" dirty="0"/>
              <a:t>首先要分清楚子序列和子串的区别，前者是可以不连续的，后者要求连续。</a:t>
            </a:r>
            <a:endParaRPr lang="en-US" altLang="zh-CN" dirty="0"/>
          </a:p>
          <a:p>
            <a:endParaRPr lang="en-US" altLang="zh-CN" dirty="0"/>
          </a:p>
          <a:p>
            <a:r>
              <a:rPr lang="zh-CN" altLang="en-US" dirty="0">
                <a:solidFill>
                  <a:srgbClr val="EE122C"/>
                </a:solidFill>
              </a:rPr>
              <a:t>样例输入</a:t>
            </a:r>
            <a:r>
              <a:rPr lang="zh-CN" altLang="en-US" dirty="0"/>
              <a:t>：</a:t>
            </a:r>
            <a:endParaRPr lang="en-US" altLang="zh-CN" dirty="0"/>
          </a:p>
          <a:p>
            <a:r>
              <a:rPr lang="en-US" altLang="zh-CN" dirty="0"/>
              <a:t>8</a:t>
            </a:r>
          </a:p>
          <a:p>
            <a:r>
              <a:rPr lang="en-US" altLang="zh-CN" dirty="0"/>
              <a:t>1</a:t>
            </a:r>
            <a:r>
              <a:rPr lang="zh-CN" altLang="en-US" dirty="0"/>
              <a:t> </a:t>
            </a:r>
            <a:r>
              <a:rPr lang="en-US" altLang="zh-CN" dirty="0"/>
              <a:t>3</a:t>
            </a:r>
            <a:r>
              <a:rPr lang="zh-CN" altLang="en-US" dirty="0"/>
              <a:t> </a:t>
            </a:r>
            <a:r>
              <a:rPr lang="en-US" altLang="zh-CN" dirty="0"/>
              <a:t>2</a:t>
            </a:r>
            <a:r>
              <a:rPr lang="zh-CN" altLang="en-US" dirty="0"/>
              <a:t> </a:t>
            </a:r>
            <a:r>
              <a:rPr lang="en-US" altLang="zh-CN" dirty="0"/>
              <a:t>4</a:t>
            </a:r>
            <a:r>
              <a:rPr lang="zh-CN" altLang="en-US" dirty="0"/>
              <a:t> </a:t>
            </a:r>
            <a:r>
              <a:rPr lang="en-US" altLang="zh-CN" dirty="0"/>
              <a:t>5</a:t>
            </a:r>
            <a:r>
              <a:rPr lang="zh-CN" altLang="en-US" dirty="0"/>
              <a:t> </a:t>
            </a:r>
            <a:r>
              <a:rPr lang="en-US" altLang="zh-CN" dirty="0"/>
              <a:t>8</a:t>
            </a:r>
            <a:r>
              <a:rPr lang="zh-CN" altLang="en-US" dirty="0"/>
              <a:t> </a:t>
            </a:r>
            <a:r>
              <a:rPr lang="en-US" altLang="zh-CN" dirty="0"/>
              <a:t>6</a:t>
            </a:r>
            <a:r>
              <a:rPr lang="zh-CN" altLang="en-US" dirty="0"/>
              <a:t> </a:t>
            </a:r>
            <a:r>
              <a:rPr lang="en-US" altLang="zh-CN" dirty="0"/>
              <a:t>10</a:t>
            </a:r>
          </a:p>
          <a:p>
            <a:r>
              <a:rPr lang="zh-CN" altLang="en-US" dirty="0">
                <a:solidFill>
                  <a:srgbClr val="EE122C"/>
                </a:solidFill>
              </a:rPr>
              <a:t>样例输出</a:t>
            </a:r>
            <a:r>
              <a:rPr lang="zh-CN" altLang="en-US" dirty="0"/>
              <a:t>：</a:t>
            </a:r>
            <a:endParaRPr lang="en-US" altLang="zh-CN" dirty="0"/>
          </a:p>
          <a:p>
            <a:r>
              <a:rPr lang="en-US" altLang="zh-CN" dirty="0"/>
              <a:t>6</a:t>
            </a:r>
            <a:r>
              <a:rPr lang="zh-CN" altLang="en-US" dirty="0"/>
              <a:t>（</a:t>
            </a:r>
            <a:r>
              <a:rPr lang="en-US" altLang="zh-CN" dirty="0"/>
              <a:t>1</a:t>
            </a:r>
            <a:r>
              <a:rPr lang="zh-CN" altLang="en-US" dirty="0"/>
              <a:t> </a:t>
            </a:r>
            <a:r>
              <a:rPr lang="en-US" altLang="zh-CN" dirty="0"/>
              <a:t>2</a:t>
            </a:r>
            <a:r>
              <a:rPr lang="zh-CN" altLang="en-US" dirty="0"/>
              <a:t> </a:t>
            </a:r>
            <a:r>
              <a:rPr lang="en-US" altLang="zh-CN" dirty="0"/>
              <a:t>4</a:t>
            </a:r>
            <a:r>
              <a:rPr lang="zh-CN" altLang="en-US" dirty="0"/>
              <a:t> </a:t>
            </a:r>
            <a:r>
              <a:rPr lang="en-US" altLang="zh-CN" dirty="0"/>
              <a:t>5</a:t>
            </a:r>
            <a:r>
              <a:rPr lang="zh-CN" altLang="en-US" dirty="0"/>
              <a:t> </a:t>
            </a:r>
            <a:r>
              <a:rPr lang="en-US" altLang="zh-CN" dirty="0"/>
              <a:t>8</a:t>
            </a:r>
            <a:r>
              <a:rPr lang="zh-CN" altLang="en-US" dirty="0"/>
              <a:t> </a:t>
            </a:r>
            <a:r>
              <a:rPr lang="en-US" altLang="zh-CN" dirty="0"/>
              <a:t>10</a:t>
            </a:r>
            <a:r>
              <a:rPr lang="zh-CN" altLang="en-US" dirty="0"/>
              <a:t>，输出长度即可）</a:t>
            </a:r>
            <a:endParaRPr lang="en-US" altLang="zh-CN"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818708" y="829339"/>
            <a:ext cx="4076757" cy="523220"/>
          </a:xfrm>
          <a:prstGeom prst="rect">
            <a:avLst/>
          </a:prstGeom>
          <a:noFill/>
        </p:spPr>
        <p:txBody>
          <a:bodyPr wrap="none" rtlCol="0">
            <a:spAutoFit/>
          </a:bodyPr>
          <a:lstStyle/>
          <a:p>
            <a:r>
              <a:rPr lang="zh-CN" altLang="en-US" sz="2800" b="1" dirty="0"/>
              <a:t>例题</a:t>
            </a:r>
            <a:r>
              <a:rPr lang="en-US" altLang="zh-CN" sz="2800" b="1" dirty="0"/>
              <a:t>3</a:t>
            </a:r>
            <a:r>
              <a:rPr lang="zh-CN" altLang="en-US" sz="2800" b="1" dirty="0"/>
              <a:t> 最长不下降子序列</a:t>
            </a:r>
            <a:endParaRPr lang="en-US" sz="2800" b="1" dirty="0"/>
          </a:p>
        </p:txBody>
      </p:sp>
      <p:sp>
        <p:nvSpPr>
          <p:cNvPr id="5" name="TextBox 4"/>
          <p:cNvSpPr txBox="1"/>
          <p:nvPr/>
        </p:nvSpPr>
        <p:spPr>
          <a:xfrm>
            <a:off x="818708" y="1403498"/>
            <a:ext cx="10632557" cy="5262979"/>
          </a:xfrm>
          <a:prstGeom prst="rect">
            <a:avLst/>
          </a:prstGeom>
          <a:noFill/>
        </p:spPr>
        <p:txBody>
          <a:bodyPr wrap="square" rtlCol="0">
            <a:spAutoFit/>
          </a:bodyPr>
          <a:lstStyle/>
          <a:p>
            <a:pPr latinLnBrk="1"/>
            <a:r>
              <a:rPr lang="zh-CN" altLang="en-US" dirty="0"/>
              <a:t>解法：</a:t>
            </a:r>
            <a:endParaRPr lang="en-US" altLang="zh-CN" dirty="0"/>
          </a:p>
          <a:p>
            <a:pPr latinLnBrk="1"/>
            <a:r>
              <a:rPr lang="zh-CN" altLang="en-US" dirty="0"/>
              <a:t>对于任意的</a:t>
            </a:r>
            <a:r>
              <a:rPr lang="en-US" altLang="zh-CN" dirty="0" err="1"/>
              <a:t>i</a:t>
            </a:r>
            <a:r>
              <a:rPr lang="zh-CN" altLang="en-US" dirty="0"/>
              <a:t>，定义</a:t>
            </a:r>
            <a:r>
              <a:rPr lang="en-US" altLang="zh-CN" dirty="0"/>
              <a:t>d[</a:t>
            </a:r>
            <a:r>
              <a:rPr lang="en-US" altLang="zh-CN" dirty="0" err="1"/>
              <a:t>i</a:t>
            </a:r>
            <a:r>
              <a:rPr lang="en-US" altLang="zh-CN" dirty="0"/>
              <a:t>]</a:t>
            </a:r>
            <a:r>
              <a:rPr lang="zh-CN" altLang="en-US" dirty="0"/>
              <a:t>。</a:t>
            </a:r>
            <a:r>
              <a:rPr lang="en-US" altLang="zh-CN" dirty="0"/>
              <a:t>d[</a:t>
            </a:r>
            <a:r>
              <a:rPr lang="en-US" altLang="zh-CN" dirty="0" err="1"/>
              <a:t>i</a:t>
            </a:r>
            <a:r>
              <a:rPr lang="en-US" altLang="zh-CN" dirty="0"/>
              <a:t>]</a:t>
            </a:r>
            <a:r>
              <a:rPr lang="zh-CN" altLang="en-US" dirty="0"/>
              <a:t>是以</a:t>
            </a:r>
            <a:r>
              <a:rPr lang="en-US" altLang="zh-CN" dirty="0" err="1"/>
              <a:t>ai</a:t>
            </a:r>
            <a:r>
              <a:rPr lang="zh-CN" altLang="en-US" dirty="0"/>
              <a:t>结束的最长不下降子序列的长度，那么显然，问题的解</a:t>
            </a:r>
            <a:r>
              <a:rPr lang="en-US" altLang="zh-CN" dirty="0"/>
              <a:t>max(d[</a:t>
            </a:r>
            <a:r>
              <a:rPr lang="en-US" altLang="zh-CN" dirty="0" err="1"/>
              <a:t>i</a:t>
            </a:r>
            <a:r>
              <a:rPr lang="en-US" altLang="zh-CN" dirty="0"/>
              <a:t>]) 1&lt;=</a:t>
            </a:r>
            <a:r>
              <a:rPr lang="en-US" altLang="zh-CN" dirty="0" err="1"/>
              <a:t>i</a:t>
            </a:r>
            <a:r>
              <a:rPr lang="en-US" altLang="zh-CN" dirty="0"/>
              <a:t>&lt;=n</a:t>
            </a:r>
            <a:r>
              <a:rPr lang="zh-CN" altLang="en-US" dirty="0"/>
              <a:t>。 </a:t>
            </a:r>
            <a:r>
              <a:rPr lang="en-US" altLang="zh-CN" dirty="0"/>
              <a:t>(</a:t>
            </a:r>
            <a:r>
              <a:rPr lang="zh-CN" altLang="en-US" dirty="0">
                <a:solidFill>
                  <a:srgbClr val="FF0000"/>
                </a:solidFill>
              </a:rPr>
              <a:t>注意定义的这个问题的重叠子问题和最优子结构性质</a:t>
            </a:r>
            <a:r>
              <a:rPr lang="en-US" altLang="zh-CN" dirty="0"/>
              <a:t>)</a:t>
            </a:r>
            <a:br>
              <a:rPr lang="zh-CN" altLang="en-US" dirty="0"/>
            </a:br>
            <a:r>
              <a:rPr lang="zh-CN" altLang="en-US" dirty="0"/>
              <a:t>不妨假设，已求得以</a:t>
            </a:r>
            <a:r>
              <a:rPr lang="en-US" altLang="zh-CN" dirty="0"/>
              <a:t>a1,a2,...,</a:t>
            </a:r>
            <a:r>
              <a:rPr lang="en-US" altLang="zh-CN" dirty="0" err="1"/>
              <a:t>ai</a:t>
            </a:r>
            <a:r>
              <a:rPr lang="zh-CN" altLang="en-US" dirty="0"/>
              <a:t>−</a:t>
            </a:r>
            <a:r>
              <a:rPr lang="en-US" altLang="zh-CN" dirty="0"/>
              <a:t>1</a:t>
            </a:r>
            <a:r>
              <a:rPr lang="zh-CN" altLang="en-US" dirty="0"/>
              <a:t>结束的最长不下降子序列的长度分别为</a:t>
            </a:r>
            <a:r>
              <a:rPr lang="en-US" altLang="zh-CN" dirty="0"/>
              <a:t>d[1],d[2],...,d[</a:t>
            </a:r>
            <a:r>
              <a:rPr lang="en-US" altLang="zh-CN" dirty="0" err="1"/>
              <a:t>i</a:t>
            </a:r>
            <a:r>
              <a:rPr lang="zh-CN" altLang="en-US" dirty="0"/>
              <a:t>−</a:t>
            </a:r>
            <a:r>
              <a:rPr lang="en-US" altLang="zh-CN" dirty="0"/>
              <a:t>1],</a:t>
            </a:r>
            <a:r>
              <a:rPr lang="zh-CN" altLang="en-US" dirty="0"/>
              <a:t>其中</a:t>
            </a:r>
            <a:r>
              <a:rPr lang="en-US" altLang="zh-CN" dirty="0"/>
              <a:t>d[1]=1</a:t>
            </a:r>
            <a:r>
              <a:rPr lang="zh-CN" altLang="en-US" dirty="0"/>
              <a:t>。 </a:t>
            </a:r>
            <a:br>
              <a:rPr lang="zh-CN" altLang="en-US" dirty="0"/>
            </a:br>
            <a:r>
              <a:rPr lang="zh-CN" altLang="en-US" dirty="0"/>
              <a:t>那么对于</a:t>
            </a:r>
            <a:r>
              <a:rPr lang="en-US" altLang="zh-CN" dirty="0" err="1"/>
              <a:t>aj</a:t>
            </a:r>
            <a:r>
              <a:rPr lang="zh-CN" altLang="en-US" dirty="0"/>
              <a:t>，其中</a:t>
            </a:r>
            <a:r>
              <a:rPr lang="en-US" altLang="zh-CN" dirty="0"/>
              <a:t>j&lt;=</a:t>
            </a:r>
            <a:r>
              <a:rPr lang="en-US" altLang="zh-CN" dirty="0" err="1"/>
              <a:t>i</a:t>
            </a:r>
            <a:r>
              <a:rPr lang="zh-CN" altLang="en-US" dirty="0"/>
              <a:t>−</a:t>
            </a:r>
            <a:r>
              <a:rPr lang="en-US" altLang="zh-CN" dirty="0"/>
              <a:t>1, </a:t>
            </a:r>
            <a:r>
              <a:rPr lang="zh-CN" altLang="en-US" dirty="0"/>
              <a:t>若</a:t>
            </a:r>
            <a:r>
              <a:rPr lang="en-US" altLang="zh-CN" dirty="0" err="1"/>
              <a:t>aj</a:t>
            </a:r>
            <a:r>
              <a:rPr lang="zh-CN" altLang="en-US" dirty="0"/>
              <a:t>≤</a:t>
            </a:r>
            <a:r>
              <a:rPr lang="en-US" altLang="zh-CN" dirty="0" err="1"/>
              <a:t>ai</a:t>
            </a:r>
            <a:r>
              <a:rPr lang="zh-CN" altLang="en-US" dirty="0"/>
              <a:t>，则以</a:t>
            </a:r>
            <a:r>
              <a:rPr lang="en-US" altLang="zh-CN" dirty="0" err="1"/>
              <a:t>ai</a:t>
            </a:r>
            <a:r>
              <a:rPr lang="zh-CN" altLang="en-US" dirty="0"/>
              <a:t>结束的不下降子序列长度为的</a:t>
            </a:r>
            <a:r>
              <a:rPr lang="en-US" altLang="zh-CN" dirty="0"/>
              <a:t>d[j]+1</a:t>
            </a:r>
            <a:r>
              <a:rPr lang="zh-CN" altLang="en-US" dirty="0"/>
              <a:t>，所以以</a:t>
            </a:r>
            <a:r>
              <a:rPr lang="en-US" altLang="zh-CN" dirty="0" err="1"/>
              <a:t>ai</a:t>
            </a:r>
            <a:r>
              <a:rPr lang="zh-CN" altLang="en-US" dirty="0"/>
              <a:t>结束的</a:t>
            </a:r>
            <a:r>
              <a:rPr lang="zh-CN" altLang="en-US" dirty="0">
                <a:solidFill>
                  <a:srgbClr val="FF0000"/>
                </a:solidFill>
              </a:rPr>
              <a:t>最长</a:t>
            </a:r>
            <a:r>
              <a:rPr lang="zh-CN" altLang="en-US" dirty="0"/>
              <a:t>不下降子序列的长度为：</a:t>
            </a:r>
            <a:br>
              <a:rPr lang="zh-CN" altLang="en-US" dirty="0"/>
            </a:br>
            <a:endParaRPr lang="zh-CN" altLang="en-US" dirty="0"/>
          </a:p>
          <a:p>
            <a:pPr latinLnBrk="1"/>
            <a:r>
              <a:rPr lang="en-US" altLang="zh-CN" dirty="0">
                <a:solidFill>
                  <a:srgbClr val="FF0000"/>
                </a:solidFill>
              </a:rPr>
              <a:t>d[</a:t>
            </a:r>
            <a:r>
              <a:rPr lang="en-US" altLang="zh-CN" dirty="0" err="1">
                <a:solidFill>
                  <a:srgbClr val="FF0000"/>
                </a:solidFill>
              </a:rPr>
              <a:t>i</a:t>
            </a:r>
            <a:r>
              <a:rPr lang="en-US" altLang="zh-CN" dirty="0">
                <a:solidFill>
                  <a:srgbClr val="FF0000"/>
                </a:solidFill>
              </a:rPr>
              <a:t>]=max(d[j])+1</a:t>
            </a:r>
            <a:r>
              <a:rPr lang="zh-CN" altLang="en-US" dirty="0">
                <a:solidFill>
                  <a:srgbClr val="FF0000"/>
                </a:solidFill>
              </a:rPr>
              <a:t>，其中</a:t>
            </a:r>
            <a:r>
              <a:rPr lang="en-US" altLang="zh-CN" dirty="0">
                <a:solidFill>
                  <a:srgbClr val="FF0000"/>
                </a:solidFill>
              </a:rPr>
              <a:t>1≤j</a:t>
            </a:r>
            <a:r>
              <a:rPr lang="zh-CN" altLang="en-US" dirty="0">
                <a:solidFill>
                  <a:srgbClr val="FF0000"/>
                </a:solidFill>
              </a:rPr>
              <a:t>≤</a:t>
            </a:r>
            <a:r>
              <a:rPr lang="en-US" altLang="zh-CN" dirty="0">
                <a:solidFill>
                  <a:srgbClr val="FF0000"/>
                </a:solidFill>
              </a:rPr>
              <a:t>i</a:t>
            </a:r>
            <a:r>
              <a:rPr lang="zh-CN" altLang="en-US" dirty="0">
                <a:solidFill>
                  <a:srgbClr val="FF0000"/>
                </a:solidFill>
              </a:rPr>
              <a:t>−</a:t>
            </a:r>
            <a:r>
              <a:rPr lang="en-US" altLang="zh-CN" dirty="0">
                <a:solidFill>
                  <a:srgbClr val="FF0000"/>
                </a:solidFill>
              </a:rPr>
              <a:t>1,aj</a:t>
            </a:r>
            <a:r>
              <a:rPr lang="zh-CN" altLang="en-US" dirty="0">
                <a:solidFill>
                  <a:srgbClr val="FF0000"/>
                </a:solidFill>
              </a:rPr>
              <a:t>≤</a:t>
            </a:r>
            <a:r>
              <a:rPr lang="en-US" altLang="zh-CN" dirty="0" err="1">
                <a:solidFill>
                  <a:srgbClr val="FF0000"/>
                </a:solidFill>
              </a:rPr>
              <a:t>ai</a:t>
            </a:r>
            <a:r>
              <a:rPr lang="zh-CN" altLang="en-US" dirty="0"/>
              <a:t>。</a:t>
            </a:r>
            <a:endParaRPr lang="en-US" altLang="zh-CN" dirty="0"/>
          </a:p>
          <a:p>
            <a:pPr latinLnBrk="1"/>
            <a:endParaRPr lang="en-US" altLang="zh-CN" dirty="0"/>
          </a:p>
          <a:p>
            <a:pPr latinLnBrk="1"/>
            <a:r>
              <a:rPr lang="zh-CN" altLang="en-US" dirty="0"/>
              <a:t>最终答案为</a:t>
            </a:r>
            <a:r>
              <a:rPr lang="en-US" altLang="zh-CN" dirty="0"/>
              <a:t>max(d[</a:t>
            </a:r>
            <a:r>
              <a:rPr lang="en-US" altLang="zh-CN" dirty="0" err="1"/>
              <a:t>i</a:t>
            </a:r>
            <a:r>
              <a:rPr lang="en-US" altLang="zh-CN" dirty="0"/>
              <a:t>])</a:t>
            </a:r>
            <a:r>
              <a:rPr lang="zh-CN" altLang="en-US" dirty="0"/>
              <a:t>。</a:t>
            </a:r>
            <a:endParaRPr lang="en-US" altLang="zh-CN" dirty="0"/>
          </a:p>
          <a:p>
            <a:pPr latinLnBrk="1"/>
            <a:br>
              <a:rPr lang="zh-CN" altLang="en-US" dirty="0"/>
            </a:br>
            <a:r>
              <a:rPr lang="zh-CN" altLang="en-US" dirty="0"/>
              <a:t>更新公式中每次都得从头遍历整个</a:t>
            </a:r>
            <a:r>
              <a:rPr lang="en-US" altLang="zh-CN" dirty="0"/>
              <a:t>d[</a:t>
            </a:r>
            <a:r>
              <a:rPr lang="en-US" altLang="zh-CN" dirty="0" err="1"/>
              <a:t>i</a:t>
            </a:r>
            <a:r>
              <a:rPr lang="en-US" altLang="zh-CN" dirty="0"/>
              <a:t>]</a:t>
            </a:r>
            <a:r>
              <a:rPr lang="zh-CN" altLang="en-US" dirty="0"/>
              <a:t>，所以算法复杂度为</a:t>
            </a:r>
            <a:r>
              <a:rPr lang="en-US" altLang="zh-CN" dirty="0"/>
              <a:t>O(n^2)</a:t>
            </a:r>
            <a:r>
              <a:rPr lang="zh-CN" altLang="en-US" dirty="0"/>
              <a:t>。</a:t>
            </a:r>
            <a:endParaRPr lang="en-US" altLang="zh-CN"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818708" y="829339"/>
            <a:ext cx="4076757" cy="523220"/>
          </a:xfrm>
          <a:prstGeom prst="rect">
            <a:avLst/>
          </a:prstGeom>
          <a:noFill/>
        </p:spPr>
        <p:txBody>
          <a:bodyPr wrap="none" rtlCol="0">
            <a:spAutoFit/>
          </a:bodyPr>
          <a:lstStyle/>
          <a:p>
            <a:r>
              <a:rPr lang="zh-CN" altLang="en-US" sz="2800" b="1" dirty="0"/>
              <a:t>例题</a:t>
            </a:r>
            <a:r>
              <a:rPr lang="en-US" altLang="zh-CN" sz="2800" b="1" dirty="0"/>
              <a:t>3</a:t>
            </a:r>
            <a:r>
              <a:rPr lang="zh-CN" altLang="en-US" sz="2800" b="1" dirty="0"/>
              <a:t> 最长不下降子序列</a:t>
            </a:r>
            <a:endParaRPr lang="en-US" sz="2800" b="1" dirty="0"/>
          </a:p>
        </p:txBody>
      </p:sp>
      <p:sp>
        <p:nvSpPr>
          <p:cNvPr id="5" name="TextBox 4"/>
          <p:cNvSpPr txBox="1"/>
          <p:nvPr/>
        </p:nvSpPr>
        <p:spPr>
          <a:xfrm>
            <a:off x="818708" y="1403498"/>
            <a:ext cx="10632557" cy="3785652"/>
          </a:xfrm>
          <a:prstGeom prst="rect">
            <a:avLst/>
          </a:prstGeom>
          <a:noFill/>
        </p:spPr>
        <p:txBody>
          <a:bodyPr wrap="square" rtlCol="0">
            <a:spAutoFit/>
          </a:bodyPr>
          <a:lstStyle/>
          <a:p>
            <a:pPr latinLnBrk="1"/>
            <a:r>
              <a:rPr lang="zh-CN" altLang="en-US" dirty="0"/>
              <a:t>将前面的算法写成代码：</a:t>
            </a:r>
            <a:endParaRPr lang="en-US" altLang="zh-CN" dirty="0"/>
          </a:p>
          <a:p>
            <a:pPr latinLnBrk="1"/>
            <a:endParaRPr lang="en-US" altLang="zh-CN" dirty="0"/>
          </a:p>
          <a:p>
            <a:pPr latinLnBrk="1"/>
            <a:r>
              <a:rPr lang="en-US" altLang="zh-CN" dirty="0"/>
              <a:t>d[0] = 1;</a:t>
            </a:r>
            <a:r>
              <a:rPr lang="zh-CN" altLang="en-US" dirty="0"/>
              <a:t> </a:t>
            </a:r>
            <a:r>
              <a:rPr lang="en-US" altLang="zh-CN" dirty="0"/>
              <a:t>//</a:t>
            </a:r>
            <a:r>
              <a:rPr lang="zh-CN" altLang="en-US" dirty="0"/>
              <a:t> 其他初始化为</a:t>
            </a:r>
            <a:r>
              <a:rPr lang="en-US" altLang="zh-CN" dirty="0"/>
              <a:t>0</a:t>
            </a:r>
          </a:p>
          <a:p>
            <a:pPr latinLnBrk="1"/>
            <a:r>
              <a:rPr lang="en-US" altLang="zh-CN" dirty="0"/>
              <a:t>for (</a:t>
            </a:r>
            <a:r>
              <a:rPr lang="en-US" altLang="zh-CN" dirty="0" err="1"/>
              <a:t>int</a:t>
            </a:r>
            <a:r>
              <a:rPr lang="en-US" altLang="zh-CN" dirty="0"/>
              <a:t> </a:t>
            </a:r>
            <a:r>
              <a:rPr lang="en-US" altLang="zh-CN" dirty="0" err="1"/>
              <a:t>i</a:t>
            </a:r>
            <a:r>
              <a:rPr lang="en-US" altLang="zh-CN" dirty="0"/>
              <a:t>  = 1; </a:t>
            </a:r>
            <a:r>
              <a:rPr lang="en-US" altLang="zh-CN" dirty="0" err="1"/>
              <a:t>i</a:t>
            </a:r>
            <a:r>
              <a:rPr lang="en-US" altLang="zh-CN" dirty="0"/>
              <a:t> &lt; n; </a:t>
            </a:r>
            <a:r>
              <a:rPr lang="en-US" altLang="zh-CN" dirty="0" err="1"/>
              <a:t>i</a:t>
            </a:r>
            <a:r>
              <a:rPr lang="en-US" altLang="zh-CN" dirty="0"/>
              <a:t>++) {</a:t>
            </a:r>
          </a:p>
          <a:p>
            <a:pPr latinLnBrk="1"/>
            <a:r>
              <a:rPr lang="en-US" altLang="zh-CN" dirty="0"/>
              <a:t>    for (</a:t>
            </a:r>
            <a:r>
              <a:rPr lang="en-US" altLang="zh-CN" dirty="0" err="1"/>
              <a:t>int</a:t>
            </a:r>
            <a:r>
              <a:rPr lang="en-US" altLang="zh-CN" dirty="0"/>
              <a:t> j = 0; j &lt; </a:t>
            </a:r>
            <a:r>
              <a:rPr lang="en-US" altLang="zh-CN" dirty="0" err="1"/>
              <a:t>i</a:t>
            </a:r>
            <a:r>
              <a:rPr lang="en-US" altLang="zh-CN" dirty="0"/>
              <a:t>; </a:t>
            </a:r>
            <a:r>
              <a:rPr lang="en-US" altLang="zh-CN" dirty="0" err="1"/>
              <a:t>j++</a:t>
            </a:r>
            <a:r>
              <a:rPr lang="en-US" altLang="zh-CN" dirty="0"/>
              <a:t>) {</a:t>
            </a:r>
          </a:p>
          <a:p>
            <a:pPr latinLnBrk="1"/>
            <a:r>
              <a:rPr lang="en-US" altLang="zh-CN" dirty="0"/>
              <a:t>        if (A[</a:t>
            </a:r>
            <a:r>
              <a:rPr lang="en-US" altLang="zh-CN" dirty="0" err="1"/>
              <a:t>i</a:t>
            </a:r>
            <a:r>
              <a:rPr lang="en-US" altLang="zh-CN" dirty="0"/>
              <a:t>] &gt;= A[j]) </a:t>
            </a:r>
          </a:p>
          <a:p>
            <a:pPr latinLnBrk="1"/>
            <a:r>
              <a:rPr lang="en-US" altLang="zh-CN" dirty="0"/>
              <a:t>            d[</a:t>
            </a:r>
            <a:r>
              <a:rPr lang="en-US" altLang="zh-CN" dirty="0" err="1"/>
              <a:t>i</a:t>
            </a:r>
            <a:r>
              <a:rPr lang="en-US" altLang="zh-CN" dirty="0"/>
              <a:t>] = max(d[</a:t>
            </a:r>
            <a:r>
              <a:rPr lang="en-US" altLang="zh-CN" dirty="0" err="1"/>
              <a:t>i</a:t>
            </a:r>
            <a:r>
              <a:rPr lang="en-US" altLang="zh-CN" dirty="0"/>
              <a:t>], d[j] + 1);</a:t>
            </a:r>
          </a:p>
          <a:p>
            <a:pPr latinLnBrk="1"/>
            <a:r>
              <a:rPr lang="en-US" altLang="zh-CN" dirty="0"/>
              <a:t>    }</a:t>
            </a:r>
          </a:p>
          <a:p>
            <a:pPr latinLnBrk="1"/>
            <a:r>
              <a:rPr lang="en-US" altLang="zh-CN" dirty="0"/>
              <a:t>    </a:t>
            </a:r>
            <a:r>
              <a:rPr lang="en-US" altLang="zh-CN" dirty="0" err="1"/>
              <a:t>ans</a:t>
            </a:r>
            <a:r>
              <a:rPr lang="en-US" altLang="zh-CN" dirty="0"/>
              <a:t> = max(</a:t>
            </a:r>
            <a:r>
              <a:rPr lang="en-US" altLang="zh-CN" dirty="0" err="1"/>
              <a:t>ans</a:t>
            </a:r>
            <a:r>
              <a:rPr lang="en-US" altLang="zh-CN" dirty="0"/>
              <a:t>, d[</a:t>
            </a:r>
            <a:r>
              <a:rPr lang="en-US" altLang="zh-CN" dirty="0" err="1"/>
              <a:t>i</a:t>
            </a:r>
            <a:r>
              <a:rPr lang="en-US" altLang="zh-CN" dirty="0"/>
              <a:t>]);</a:t>
            </a:r>
          </a:p>
          <a:p>
            <a:pPr latinLnBrk="1"/>
            <a:r>
              <a:rPr lang="en-US" altLang="zh-CN" dirty="0"/>
              <a:t>}</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818708" y="829339"/>
            <a:ext cx="4076757" cy="523220"/>
          </a:xfrm>
          <a:prstGeom prst="rect">
            <a:avLst/>
          </a:prstGeom>
          <a:noFill/>
        </p:spPr>
        <p:txBody>
          <a:bodyPr wrap="none" rtlCol="0">
            <a:spAutoFit/>
          </a:bodyPr>
          <a:lstStyle/>
          <a:p>
            <a:r>
              <a:rPr lang="zh-CN" altLang="en-US" sz="2800" b="1"/>
              <a:t>例题</a:t>
            </a:r>
            <a:r>
              <a:rPr lang="en-US" altLang="zh-CN" sz="2800" b="1"/>
              <a:t>3</a:t>
            </a:r>
            <a:r>
              <a:rPr lang="zh-CN" altLang="en-US" sz="2800" b="1" dirty="0"/>
              <a:t> 最长不下降子序列</a:t>
            </a:r>
            <a:endParaRPr lang="en-US" sz="2800" b="1" dirty="0"/>
          </a:p>
        </p:txBody>
      </p:sp>
      <p:sp>
        <p:nvSpPr>
          <p:cNvPr id="5" name="TextBox 4"/>
          <p:cNvSpPr txBox="1"/>
          <p:nvPr/>
        </p:nvSpPr>
        <p:spPr>
          <a:xfrm>
            <a:off x="818708" y="1403498"/>
            <a:ext cx="10632557" cy="5262979"/>
          </a:xfrm>
          <a:prstGeom prst="rect">
            <a:avLst/>
          </a:prstGeom>
          <a:noFill/>
        </p:spPr>
        <p:txBody>
          <a:bodyPr wrap="square" rtlCol="0">
            <a:spAutoFit/>
          </a:bodyPr>
          <a:lstStyle/>
          <a:p>
            <a:pPr latinLnBrk="1"/>
            <a:r>
              <a:rPr lang="zh-CN" altLang="en-US" dirty="0"/>
              <a:t>我们来看看</a:t>
            </a:r>
            <a:r>
              <a:rPr lang="en-US" altLang="zh-CN" dirty="0"/>
              <a:t>d</a:t>
            </a:r>
            <a:r>
              <a:rPr lang="zh-CN" altLang="en-US" dirty="0"/>
              <a:t>数组到底是怎么变化的：</a:t>
            </a:r>
            <a:endParaRPr lang="en-US" altLang="zh-CN" dirty="0"/>
          </a:p>
          <a:p>
            <a:pPr latinLnBrk="1"/>
            <a:r>
              <a:rPr lang="zh-CN" altLang="en-US" dirty="0"/>
              <a:t>对于序列</a:t>
            </a:r>
            <a:r>
              <a:rPr lang="en-US" altLang="zh-CN" dirty="0"/>
              <a:t>1</a:t>
            </a:r>
            <a:r>
              <a:rPr lang="zh-CN" altLang="en-US" dirty="0"/>
              <a:t> </a:t>
            </a:r>
            <a:r>
              <a:rPr lang="en-US" altLang="zh-CN" dirty="0"/>
              <a:t>3</a:t>
            </a:r>
            <a:r>
              <a:rPr lang="zh-CN" altLang="en-US" dirty="0"/>
              <a:t> </a:t>
            </a:r>
            <a:r>
              <a:rPr lang="en-US" altLang="zh-CN" dirty="0"/>
              <a:t>2</a:t>
            </a:r>
            <a:r>
              <a:rPr lang="zh-CN" altLang="en-US" dirty="0"/>
              <a:t> </a:t>
            </a:r>
            <a:r>
              <a:rPr lang="en-US" altLang="zh-CN" dirty="0"/>
              <a:t>4</a:t>
            </a:r>
            <a:r>
              <a:rPr lang="zh-CN" altLang="en-US" dirty="0"/>
              <a:t> </a:t>
            </a:r>
            <a:r>
              <a:rPr lang="en-US" altLang="zh-CN" dirty="0"/>
              <a:t>5</a:t>
            </a:r>
            <a:r>
              <a:rPr lang="zh-CN" altLang="en-US" dirty="0"/>
              <a:t> </a:t>
            </a:r>
            <a:r>
              <a:rPr lang="en-US" altLang="zh-CN" dirty="0"/>
              <a:t>8</a:t>
            </a:r>
            <a:r>
              <a:rPr lang="zh-CN" altLang="en-US" dirty="0"/>
              <a:t> </a:t>
            </a:r>
            <a:r>
              <a:rPr lang="en-US" altLang="zh-CN" dirty="0"/>
              <a:t>6</a:t>
            </a:r>
            <a:r>
              <a:rPr lang="zh-CN" altLang="en-US" dirty="0"/>
              <a:t> </a:t>
            </a:r>
            <a:r>
              <a:rPr lang="en-US" altLang="zh-CN" dirty="0"/>
              <a:t>10</a:t>
            </a:r>
            <a:r>
              <a:rPr lang="zh-CN" altLang="en-US" dirty="0"/>
              <a:t>有：</a:t>
            </a:r>
            <a:endParaRPr lang="en-US" altLang="zh-CN" dirty="0"/>
          </a:p>
          <a:p>
            <a:pPr latinLnBrk="1"/>
            <a:endParaRPr lang="en-US" altLang="zh-CN" dirty="0"/>
          </a:p>
          <a:p>
            <a:pPr latinLnBrk="1"/>
            <a:endParaRPr lang="en-US" altLang="zh-CN" dirty="0"/>
          </a:p>
          <a:p>
            <a:pPr latinLnBrk="1"/>
            <a:endParaRPr lang="en-US" altLang="zh-CN" dirty="0"/>
          </a:p>
          <a:p>
            <a:pPr latinLnBrk="1"/>
            <a:endParaRPr lang="en-US" altLang="zh-CN" dirty="0"/>
          </a:p>
          <a:p>
            <a:pPr latinLnBrk="1"/>
            <a:endParaRPr lang="en-US" altLang="zh-CN" dirty="0"/>
          </a:p>
          <a:p>
            <a:pPr latinLnBrk="1"/>
            <a:endParaRPr lang="en-US" altLang="zh-CN" dirty="0"/>
          </a:p>
          <a:p>
            <a:pPr latinLnBrk="1"/>
            <a:endParaRPr lang="en-US" altLang="zh-CN" dirty="0"/>
          </a:p>
          <a:p>
            <a:pPr latinLnBrk="1"/>
            <a:endParaRPr lang="en-US" altLang="zh-CN" dirty="0"/>
          </a:p>
          <a:p>
            <a:pPr latinLnBrk="1"/>
            <a:endParaRPr lang="en-US" altLang="zh-CN" dirty="0"/>
          </a:p>
          <a:p>
            <a:pPr latinLnBrk="1"/>
            <a:endParaRPr lang="en-US" altLang="zh-CN" dirty="0"/>
          </a:p>
          <a:p>
            <a:pPr latinLnBrk="1"/>
            <a:r>
              <a:rPr lang="zh-CN" altLang="en-US" dirty="0"/>
              <a:t>故最终答案为</a:t>
            </a:r>
            <a:r>
              <a:rPr lang="en-US" altLang="zh-CN" dirty="0"/>
              <a:t>max(D[</a:t>
            </a:r>
            <a:r>
              <a:rPr lang="en-US" altLang="zh-CN" dirty="0" err="1"/>
              <a:t>i</a:t>
            </a:r>
            <a:r>
              <a:rPr lang="en-US" altLang="zh-CN" dirty="0"/>
              <a:t>]) = 6</a:t>
            </a:r>
            <a:r>
              <a:rPr lang="zh-CN" altLang="en-US" dirty="0"/>
              <a:t>。</a:t>
            </a:r>
            <a:endParaRPr lang="en-US" altLang="zh-CN" dirty="0"/>
          </a:p>
          <a:p>
            <a:pPr latinLnBrk="1"/>
            <a:r>
              <a:rPr lang="zh-CN" altLang="en-US" dirty="0"/>
              <a:t>注：该问题还有</a:t>
            </a:r>
            <a:r>
              <a:rPr lang="en-US" altLang="zh-CN" dirty="0"/>
              <a:t>O(</a:t>
            </a:r>
            <a:r>
              <a:rPr lang="en-US" altLang="zh-CN" dirty="0" err="1"/>
              <a:t>NlogN</a:t>
            </a:r>
            <a:r>
              <a:rPr lang="en-US" altLang="zh-CN" dirty="0"/>
              <a:t>)</a:t>
            </a:r>
            <a:r>
              <a:rPr lang="zh-CN" altLang="en-US" dirty="0"/>
              <a:t>的求解方法，有兴趣的同学可以自己尝试一下。</a:t>
            </a:r>
            <a:endParaRPr lang="en-US" altLang="zh-CN" dirty="0"/>
          </a:p>
        </p:txBody>
      </p:sp>
      <p:graphicFrame>
        <p:nvGraphicFramePr>
          <p:cNvPr id="3" name="Table 2"/>
          <p:cNvGraphicFramePr>
            <a:graphicFrameLocks noGrp="1"/>
          </p:cNvGraphicFramePr>
          <p:nvPr/>
        </p:nvGraphicFramePr>
        <p:xfrm>
          <a:off x="1988038" y="2372994"/>
          <a:ext cx="8127999" cy="3337560"/>
        </p:xfrm>
        <a:graphic>
          <a:graphicData uri="http://schemas.openxmlformats.org/drawingml/2006/table">
            <a:tbl>
              <a:tblPr firstRow="1" bandRow="1">
                <a:tableStyleId>{5C22544A-7EE6-4342-B048-85BDC9FD1C3A}</a:tableStyleId>
              </a:tblPr>
              <a:tblGrid>
                <a:gridCol w="903111">
                  <a:extLst>
                    <a:ext uri="{9D8B030D-6E8A-4147-A177-3AD203B41FA5}">
                      <a16:colId xmlns:a16="http://schemas.microsoft.com/office/drawing/2014/main" val="20000"/>
                    </a:ext>
                  </a:extLst>
                </a:gridCol>
                <a:gridCol w="903111">
                  <a:extLst>
                    <a:ext uri="{9D8B030D-6E8A-4147-A177-3AD203B41FA5}">
                      <a16:colId xmlns:a16="http://schemas.microsoft.com/office/drawing/2014/main" val="20001"/>
                    </a:ext>
                  </a:extLst>
                </a:gridCol>
                <a:gridCol w="903111">
                  <a:extLst>
                    <a:ext uri="{9D8B030D-6E8A-4147-A177-3AD203B41FA5}">
                      <a16:colId xmlns:a16="http://schemas.microsoft.com/office/drawing/2014/main" val="20002"/>
                    </a:ext>
                  </a:extLst>
                </a:gridCol>
                <a:gridCol w="903111">
                  <a:extLst>
                    <a:ext uri="{9D8B030D-6E8A-4147-A177-3AD203B41FA5}">
                      <a16:colId xmlns:a16="http://schemas.microsoft.com/office/drawing/2014/main" val="20003"/>
                    </a:ext>
                  </a:extLst>
                </a:gridCol>
                <a:gridCol w="903111">
                  <a:extLst>
                    <a:ext uri="{9D8B030D-6E8A-4147-A177-3AD203B41FA5}">
                      <a16:colId xmlns:a16="http://schemas.microsoft.com/office/drawing/2014/main" val="20004"/>
                    </a:ext>
                  </a:extLst>
                </a:gridCol>
                <a:gridCol w="903111">
                  <a:extLst>
                    <a:ext uri="{9D8B030D-6E8A-4147-A177-3AD203B41FA5}">
                      <a16:colId xmlns:a16="http://schemas.microsoft.com/office/drawing/2014/main" val="20005"/>
                    </a:ext>
                  </a:extLst>
                </a:gridCol>
                <a:gridCol w="903111">
                  <a:extLst>
                    <a:ext uri="{9D8B030D-6E8A-4147-A177-3AD203B41FA5}">
                      <a16:colId xmlns:a16="http://schemas.microsoft.com/office/drawing/2014/main" val="20006"/>
                    </a:ext>
                  </a:extLst>
                </a:gridCol>
                <a:gridCol w="903111">
                  <a:extLst>
                    <a:ext uri="{9D8B030D-6E8A-4147-A177-3AD203B41FA5}">
                      <a16:colId xmlns:a16="http://schemas.microsoft.com/office/drawing/2014/main" val="20007"/>
                    </a:ext>
                  </a:extLst>
                </a:gridCol>
                <a:gridCol w="903111">
                  <a:extLst>
                    <a:ext uri="{9D8B030D-6E8A-4147-A177-3AD203B41FA5}">
                      <a16:colId xmlns:a16="http://schemas.microsoft.com/office/drawing/2014/main" val="20008"/>
                    </a:ext>
                  </a:extLst>
                </a:gridCol>
              </a:tblGrid>
              <a:tr h="370840">
                <a:tc>
                  <a:txBody>
                    <a:bodyPr/>
                    <a:lstStyle/>
                    <a:p>
                      <a:pPr algn="r"/>
                      <a:r>
                        <a:rPr lang="en-US" dirty="0" err="1"/>
                        <a:t>i</a:t>
                      </a:r>
                      <a:endParaRPr lang="en-US" dirty="0"/>
                    </a:p>
                  </a:txBody>
                  <a:tcPr/>
                </a:tc>
                <a:tc>
                  <a:txBody>
                    <a:bodyPr/>
                    <a:lstStyle/>
                    <a:p>
                      <a:pPr algn="r"/>
                      <a:r>
                        <a:rPr lang="en-US" dirty="0"/>
                        <a:t>D[0]</a:t>
                      </a:r>
                    </a:p>
                  </a:txBody>
                  <a:tcPr/>
                </a:tc>
                <a:tc>
                  <a:txBody>
                    <a:bodyPr/>
                    <a:lstStyle/>
                    <a:p>
                      <a:pPr algn="r"/>
                      <a:r>
                        <a:rPr lang="en-US" dirty="0"/>
                        <a:t>D[1]</a:t>
                      </a:r>
                    </a:p>
                  </a:txBody>
                  <a:tcPr/>
                </a:tc>
                <a:tc>
                  <a:txBody>
                    <a:bodyPr/>
                    <a:lstStyle/>
                    <a:p>
                      <a:pPr algn="r"/>
                      <a:r>
                        <a:rPr lang="en-US" dirty="0"/>
                        <a:t>D[2]</a:t>
                      </a:r>
                    </a:p>
                  </a:txBody>
                  <a:tcPr/>
                </a:tc>
                <a:tc>
                  <a:txBody>
                    <a:bodyPr/>
                    <a:lstStyle/>
                    <a:p>
                      <a:pPr algn="r"/>
                      <a:r>
                        <a:rPr lang="en-US" dirty="0"/>
                        <a:t>D[3]</a:t>
                      </a:r>
                    </a:p>
                  </a:txBody>
                  <a:tcPr/>
                </a:tc>
                <a:tc>
                  <a:txBody>
                    <a:bodyPr/>
                    <a:lstStyle/>
                    <a:p>
                      <a:pPr algn="r"/>
                      <a:r>
                        <a:rPr lang="en-US" dirty="0"/>
                        <a:t>D[4]</a:t>
                      </a:r>
                    </a:p>
                  </a:txBody>
                  <a:tcPr/>
                </a:tc>
                <a:tc>
                  <a:txBody>
                    <a:bodyPr/>
                    <a:lstStyle/>
                    <a:p>
                      <a:pPr algn="r"/>
                      <a:r>
                        <a:rPr lang="en-US" dirty="0"/>
                        <a:t>D[5]</a:t>
                      </a:r>
                    </a:p>
                  </a:txBody>
                  <a:tcPr/>
                </a:tc>
                <a:tc>
                  <a:txBody>
                    <a:bodyPr/>
                    <a:lstStyle/>
                    <a:p>
                      <a:pPr algn="r"/>
                      <a:r>
                        <a:rPr lang="en-US" dirty="0"/>
                        <a:t>D[6]</a:t>
                      </a:r>
                    </a:p>
                  </a:txBody>
                  <a:tcPr/>
                </a:tc>
                <a:tc>
                  <a:txBody>
                    <a:bodyPr/>
                    <a:lstStyle/>
                    <a:p>
                      <a:pPr algn="r"/>
                      <a:r>
                        <a:rPr lang="en-US" dirty="0"/>
                        <a:t>D[7]</a:t>
                      </a:r>
                    </a:p>
                  </a:txBody>
                  <a:tcPr/>
                </a:tc>
                <a:extLst>
                  <a:ext uri="{0D108BD9-81ED-4DB2-BD59-A6C34878D82A}">
                    <a16:rowId xmlns:a16="http://schemas.microsoft.com/office/drawing/2014/main" val="10000"/>
                  </a:ext>
                </a:extLst>
              </a:tr>
              <a:tr h="370840">
                <a:tc>
                  <a:txBody>
                    <a:bodyPr/>
                    <a:lstStyle/>
                    <a:p>
                      <a:pPr algn="r"/>
                      <a:r>
                        <a:rPr lang="en-US" dirty="0"/>
                        <a:t>0</a:t>
                      </a:r>
                    </a:p>
                  </a:txBody>
                  <a:tcPr/>
                </a:tc>
                <a:tc>
                  <a:txBody>
                    <a:bodyPr/>
                    <a:lstStyle/>
                    <a:p>
                      <a:pPr algn="r"/>
                      <a:r>
                        <a:rPr lang="en-US" dirty="0"/>
                        <a:t>1</a:t>
                      </a:r>
                    </a:p>
                  </a:txBody>
                  <a:tcPr/>
                </a:tc>
                <a:tc>
                  <a:txBody>
                    <a:bodyPr/>
                    <a:lstStyle/>
                    <a:p>
                      <a:pPr algn="r"/>
                      <a:r>
                        <a:rPr lang="en-US" dirty="0"/>
                        <a:t>0</a:t>
                      </a:r>
                    </a:p>
                  </a:txBody>
                  <a:tcPr/>
                </a:tc>
                <a:tc>
                  <a:txBody>
                    <a:bodyPr/>
                    <a:lstStyle/>
                    <a:p>
                      <a:pPr algn="r"/>
                      <a:r>
                        <a:rPr lang="en-US" dirty="0"/>
                        <a:t>0</a:t>
                      </a:r>
                    </a:p>
                  </a:txBody>
                  <a:tcPr/>
                </a:tc>
                <a:tc>
                  <a:txBody>
                    <a:bodyPr/>
                    <a:lstStyle/>
                    <a:p>
                      <a:pPr algn="r"/>
                      <a:r>
                        <a:rPr lang="en-US" dirty="0"/>
                        <a:t>0</a:t>
                      </a:r>
                    </a:p>
                  </a:txBody>
                  <a:tcPr/>
                </a:tc>
                <a:tc>
                  <a:txBody>
                    <a:bodyPr/>
                    <a:lstStyle/>
                    <a:p>
                      <a:pPr algn="r"/>
                      <a:r>
                        <a:rPr lang="en-US" dirty="0"/>
                        <a:t>0</a:t>
                      </a:r>
                    </a:p>
                  </a:txBody>
                  <a:tcPr/>
                </a:tc>
                <a:tc>
                  <a:txBody>
                    <a:bodyPr/>
                    <a:lstStyle/>
                    <a:p>
                      <a:pPr algn="r"/>
                      <a:r>
                        <a:rPr lang="en-US" dirty="0"/>
                        <a:t>0</a:t>
                      </a:r>
                    </a:p>
                  </a:txBody>
                  <a:tcPr/>
                </a:tc>
                <a:tc>
                  <a:txBody>
                    <a:bodyPr/>
                    <a:lstStyle/>
                    <a:p>
                      <a:pPr algn="r"/>
                      <a:r>
                        <a:rPr lang="en-US" dirty="0"/>
                        <a:t>0</a:t>
                      </a:r>
                    </a:p>
                  </a:txBody>
                  <a:tcPr/>
                </a:tc>
                <a:tc>
                  <a:txBody>
                    <a:bodyPr/>
                    <a:lstStyle/>
                    <a:p>
                      <a:pPr algn="r"/>
                      <a:r>
                        <a:rPr lang="en-US" dirty="0"/>
                        <a:t>0</a:t>
                      </a:r>
                    </a:p>
                  </a:txBody>
                  <a:tcPr/>
                </a:tc>
                <a:extLst>
                  <a:ext uri="{0D108BD9-81ED-4DB2-BD59-A6C34878D82A}">
                    <a16:rowId xmlns:a16="http://schemas.microsoft.com/office/drawing/2014/main" val="10001"/>
                  </a:ext>
                </a:extLst>
              </a:tr>
              <a:tr h="370840">
                <a:tc>
                  <a:txBody>
                    <a:bodyPr/>
                    <a:lstStyle/>
                    <a:p>
                      <a:pPr algn="r"/>
                      <a:r>
                        <a:rPr lang="en-US" dirty="0"/>
                        <a:t>1</a:t>
                      </a:r>
                    </a:p>
                  </a:txBody>
                  <a:tcPr/>
                </a:tc>
                <a:tc>
                  <a:txBody>
                    <a:bodyPr/>
                    <a:lstStyle/>
                    <a:p>
                      <a:pPr algn="r"/>
                      <a:r>
                        <a:rPr lang="en-US" altLang="zh-CN" dirty="0"/>
                        <a:t>1</a:t>
                      </a:r>
                      <a:r>
                        <a:rPr lang="zh-CN" altLang="en-US" dirty="0"/>
                        <a:t> </a:t>
                      </a:r>
                      <a:endParaRPr lang="en-US" dirty="0"/>
                    </a:p>
                  </a:txBody>
                  <a:tcPr/>
                </a:tc>
                <a:tc>
                  <a:txBody>
                    <a:bodyPr/>
                    <a:lstStyle/>
                    <a:p>
                      <a:pPr algn="r"/>
                      <a:r>
                        <a:rPr lang="en-US" altLang="zh-CN" dirty="0"/>
                        <a:t>2</a:t>
                      </a:r>
                      <a:endParaRPr lang="en-US" dirty="0"/>
                    </a:p>
                  </a:txBody>
                  <a:tcPr/>
                </a:tc>
                <a:tc>
                  <a:txBody>
                    <a:bodyPr/>
                    <a:lstStyle/>
                    <a:p>
                      <a:pPr algn="r"/>
                      <a:r>
                        <a:rPr lang="en-US" altLang="zh-CN" dirty="0"/>
                        <a:t>0</a:t>
                      </a:r>
                      <a:endParaRPr lang="en-US" dirty="0"/>
                    </a:p>
                  </a:txBody>
                  <a:tcPr/>
                </a:tc>
                <a:tc>
                  <a:txBody>
                    <a:bodyPr/>
                    <a:lstStyle/>
                    <a:p>
                      <a:pPr algn="r"/>
                      <a:r>
                        <a:rPr lang="en-US" altLang="zh-CN" dirty="0"/>
                        <a:t>0</a:t>
                      </a:r>
                      <a:endParaRPr lang="en-US" dirty="0"/>
                    </a:p>
                  </a:txBody>
                  <a:tcPr/>
                </a:tc>
                <a:tc>
                  <a:txBody>
                    <a:bodyPr/>
                    <a:lstStyle/>
                    <a:p>
                      <a:pPr algn="r"/>
                      <a:r>
                        <a:rPr lang="en-US" altLang="zh-CN" dirty="0"/>
                        <a:t>0</a:t>
                      </a:r>
                      <a:endParaRPr lang="en-US" dirty="0"/>
                    </a:p>
                  </a:txBody>
                  <a:tcPr/>
                </a:tc>
                <a:tc>
                  <a:txBody>
                    <a:bodyPr/>
                    <a:lstStyle/>
                    <a:p>
                      <a:pPr algn="r"/>
                      <a:r>
                        <a:rPr lang="en-US" altLang="zh-CN" dirty="0"/>
                        <a:t>0</a:t>
                      </a:r>
                      <a:endParaRPr lang="en-US" dirty="0"/>
                    </a:p>
                  </a:txBody>
                  <a:tcPr/>
                </a:tc>
                <a:tc>
                  <a:txBody>
                    <a:bodyPr/>
                    <a:lstStyle/>
                    <a:p>
                      <a:pPr algn="r"/>
                      <a:r>
                        <a:rPr lang="en-US" altLang="zh-CN" dirty="0"/>
                        <a:t>0</a:t>
                      </a:r>
                      <a:endParaRPr lang="en-US" dirty="0"/>
                    </a:p>
                  </a:txBody>
                  <a:tcPr/>
                </a:tc>
                <a:tc>
                  <a:txBody>
                    <a:bodyPr/>
                    <a:lstStyle/>
                    <a:p>
                      <a:pPr algn="r"/>
                      <a:r>
                        <a:rPr lang="en-US" altLang="zh-CN" dirty="0"/>
                        <a:t>0</a:t>
                      </a:r>
                      <a:endParaRPr lang="en-US" dirty="0"/>
                    </a:p>
                  </a:txBody>
                  <a:tcPr/>
                </a:tc>
                <a:extLst>
                  <a:ext uri="{0D108BD9-81ED-4DB2-BD59-A6C34878D82A}">
                    <a16:rowId xmlns:a16="http://schemas.microsoft.com/office/drawing/2014/main" val="10002"/>
                  </a:ext>
                </a:extLst>
              </a:tr>
              <a:tr h="370840">
                <a:tc>
                  <a:txBody>
                    <a:bodyPr/>
                    <a:lstStyle/>
                    <a:p>
                      <a:pPr algn="r"/>
                      <a:r>
                        <a:rPr lang="en-US" dirty="0"/>
                        <a:t>2</a:t>
                      </a:r>
                    </a:p>
                  </a:txBody>
                  <a:tcPr/>
                </a:tc>
                <a:tc>
                  <a:txBody>
                    <a:bodyPr/>
                    <a:lstStyle/>
                    <a:p>
                      <a:pPr algn="r"/>
                      <a:r>
                        <a:rPr lang="en-US" altLang="zh-CN" dirty="0"/>
                        <a:t>1</a:t>
                      </a:r>
                      <a:endParaRPr lang="en-US" dirty="0"/>
                    </a:p>
                  </a:txBody>
                  <a:tcPr/>
                </a:tc>
                <a:tc>
                  <a:txBody>
                    <a:bodyPr/>
                    <a:lstStyle/>
                    <a:p>
                      <a:pPr algn="r"/>
                      <a:r>
                        <a:rPr lang="en-US" altLang="zh-CN" dirty="0"/>
                        <a:t>2</a:t>
                      </a:r>
                      <a:endParaRPr lang="en-US" dirty="0"/>
                    </a:p>
                  </a:txBody>
                  <a:tcPr/>
                </a:tc>
                <a:tc>
                  <a:txBody>
                    <a:bodyPr/>
                    <a:lstStyle/>
                    <a:p>
                      <a:pPr algn="r"/>
                      <a:r>
                        <a:rPr lang="en-US" altLang="zh-CN" dirty="0"/>
                        <a:t>2</a:t>
                      </a:r>
                      <a:endParaRPr lang="en-US" dirty="0"/>
                    </a:p>
                  </a:txBody>
                  <a:tcPr/>
                </a:tc>
                <a:tc>
                  <a:txBody>
                    <a:bodyPr/>
                    <a:lstStyle/>
                    <a:p>
                      <a:pPr algn="r"/>
                      <a:r>
                        <a:rPr lang="en-US" altLang="zh-CN" dirty="0"/>
                        <a:t>0</a:t>
                      </a:r>
                      <a:endParaRPr lang="en-US" dirty="0"/>
                    </a:p>
                  </a:txBody>
                  <a:tcPr/>
                </a:tc>
                <a:tc>
                  <a:txBody>
                    <a:bodyPr/>
                    <a:lstStyle/>
                    <a:p>
                      <a:pPr algn="r"/>
                      <a:r>
                        <a:rPr lang="en-US" altLang="zh-CN" dirty="0"/>
                        <a:t>0</a:t>
                      </a:r>
                      <a:endParaRPr lang="en-US" dirty="0"/>
                    </a:p>
                  </a:txBody>
                  <a:tcPr/>
                </a:tc>
                <a:tc>
                  <a:txBody>
                    <a:bodyPr/>
                    <a:lstStyle/>
                    <a:p>
                      <a:pPr algn="r"/>
                      <a:r>
                        <a:rPr lang="en-US" altLang="zh-CN" dirty="0"/>
                        <a:t>0</a:t>
                      </a:r>
                      <a:endParaRPr lang="en-US" dirty="0"/>
                    </a:p>
                  </a:txBody>
                  <a:tcPr/>
                </a:tc>
                <a:tc>
                  <a:txBody>
                    <a:bodyPr/>
                    <a:lstStyle/>
                    <a:p>
                      <a:pPr algn="r"/>
                      <a:r>
                        <a:rPr lang="en-US" altLang="zh-CN" dirty="0"/>
                        <a:t>0</a:t>
                      </a:r>
                      <a:endParaRPr lang="en-US" dirty="0"/>
                    </a:p>
                  </a:txBody>
                  <a:tcPr/>
                </a:tc>
                <a:tc>
                  <a:txBody>
                    <a:bodyPr/>
                    <a:lstStyle/>
                    <a:p>
                      <a:pPr algn="r"/>
                      <a:r>
                        <a:rPr lang="en-US" altLang="zh-CN" dirty="0"/>
                        <a:t>0</a:t>
                      </a:r>
                      <a:endParaRPr lang="en-US" dirty="0"/>
                    </a:p>
                  </a:txBody>
                  <a:tcPr/>
                </a:tc>
                <a:extLst>
                  <a:ext uri="{0D108BD9-81ED-4DB2-BD59-A6C34878D82A}">
                    <a16:rowId xmlns:a16="http://schemas.microsoft.com/office/drawing/2014/main" val="10003"/>
                  </a:ext>
                </a:extLst>
              </a:tr>
              <a:tr h="370840">
                <a:tc>
                  <a:txBody>
                    <a:bodyPr/>
                    <a:lstStyle/>
                    <a:p>
                      <a:pPr algn="r"/>
                      <a:r>
                        <a:rPr lang="en-US" dirty="0"/>
                        <a:t>3</a:t>
                      </a:r>
                    </a:p>
                  </a:txBody>
                  <a:tcPr/>
                </a:tc>
                <a:tc>
                  <a:txBody>
                    <a:bodyPr/>
                    <a:lstStyle/>
                    <a:p>
                      <a:pPr algn="r"/>
                      <a:r>
                        <a:rPr lang="en-US" altLang="zh-CN" dirty="0"/>
                        <a:t>1</a:t>
                      </a:r>
                      <a:endParaRPr lang="en-US" dirty="0"/>
                    </a:p>
                  </a:txBody>
                  <a:tcPr/>
                </a:tc>
                <a:tc>
                  <a:txBody>
                    <a:bodyPr/>
                    <a:lstStyle/>
                    <a:p>
                      <a:pPr algn="r"/>
                      <a:r>
                        <a:rPr lang="en-US" altLang="zh-CN" dirty="0"/>
                        <a:t>2</a:t>
                      </a:r>
                      <a:endParaRPr lang="en-US" dirty="0"/>
                    </a:p>
                  </a:txBody>
                  <a:tcPr/>
                </a:tc>
                <a:tc>
                  <a:txBody>
                    <a:bodyPr/>
                    <a:lstStyle/>
                    <a:p>
                      <a:pPr algn="r"/>
                      <a:r>
                        <a:rPr lang="en-US" altLang="zh-CN" dirty="0"/>
                        <a:t>2</a:t>
                      </a:r>
                      <a:endParaRPr lang="en-US" dirty="0"/>
                    </a:p>
                  </a:txBody>
                  <a:tcPr/>
                </a:tc>
                <a:tc>
                  <a:txBody>
                    <a:bodyPr/>
                    <a:lstStyle/>
                    <a:p>
                      <a:pPr algn="r"/>
                      <a:r>
                        <a:rPr lang="en-US" altLang="zh-CN" dirty="0"/>
                        <a:t>3</a:t>
                      </a:r>
                      <a:endParaRPr lang="en-US" dirty="0"/>
                    </a:p>
                  </a:txBody>
                  <a:tcPr/>
                </a:tc>
                <a:tc>
                  <a:txBody>
                    <a:bodyPr/>
                    <a:lstStyle/>
                    <a:p>
                      <a:pPr algn="r"/>
                      <a:r>
                        <a:rPr lang="en-US" altLang="zh-CN" dirty="0"/>
                        <a:t>0</a:t>
                      </a:r>
                      <a:endParaRPr lang="en-US" dirty="0"/>
                    </a:p>
                  </a:txBody>
                  <a:tcPr/>
                </a:tc>
                <a:tc>
                  <a:txBody>
                    <a:bodyPr/>
                    <a:lstStyle/>
                    <a:p>
                      <a:pPr algn="r"/>
                      <a:r>
                        <a:rPr lang="en-US" altLang="zh-CN" dirty="0"/>
                        <a:t>0</a:t>
                      </a:r>
                      <a:endParaRPr lang="en-US" dirty="0"/>
                    </a:p>
                  </a:txBody>
                  <a:tcPr/>
                </a:tc>
                <a:tc>
                  <a:txBody>
                    <a:bodyPr/>
                    <a:lstStyle/>
                    <a:p>
                      <a:pPr algn="r"/>
                      <a:r>
                        <a:rPr lang="en-US" altLang="zh-CN" dirty="0"/>
                        <a:t>0</a:t>
                      </a:r>
                      <a:endParaRPr lang="en-US" dirty="0"/>
                    </a:p>
                  </a:txBody>
                  <a:tcPr/>
                </a:tc>
                <a:tc>
                  <a:txBody>
                    <a:bodyPr/>
                    <a:lstStyle/>
                    <a:p>
                      <a:pPr algn="r"/>
                      <a:r>
                        <a:rPr lang="en-US" altLang="zh-CN" dirty="0"/>
                        <a:t>0</a:t>
                      </a:r>
                      <a:endParaRPr lang="en-US" dirty="0"/>
                    </a:p>
                  </a:txBody>
                  <a:tcPr/>
                </a:tc>
                <a:extLst>
                  <a:ext uri="{0D108BD9-81ED-4DB2-BD59-A6C34878D82A}">
                    <a16:rowId xmlns:a16="http://schemas.microsoft.com/office/drawing/2014/main" val="10004"/>
                  </a:ext>
                </a:extLst>
              </a:tr>
              <a:tr h="370840">
                <a:tc>
                  <a:txBody>
                    <a:bodyPr/>
                    <a:lstStyle/>
                    <a:p>
                      <a:pPr algn="r"/>
                      <a:r>
                        <a:rPr lang="en-US" dirty="0"/>
                        <a:t>4</a:t>
                      </a:r>
                    </a:p>
                  </a:txBody>
                  <a:tcPr/>
                </a:tc>
                <a:tc>
                  <a:txBody>
                    <a:bodyPr/>
                    <a:lstStyle/>
                    <a:p>
                      <a:pPr algn="r"/>
                      <a:r>
                        <a:rPr lang="en-US" altLang="zh-CN" dirty="0"/>
                        <a:t>1</a:t>
                      </a:r>
                      <a:endParaRPr lang="en-US" dirty="0"/>
                    </a:p>
                  </a:txBody>
                  <a:tcPr/>
                </a:tc>
                <a:tc>
                  <a:txBody>
                    <a:bodyPr/>
                    <a:lstStyle/>
                    <a:p>
                      <a:pPr algn="r"/>
                      <a:r>
                        <a:rPr lang="en-US" altLang="zh-CN" dirty="0"/>
                        <a:t>2</a:t>
                      </a:r>
                      <a:endParaRPr lang="en-US" dirty="0"/>
                    </a:p>
                  </a:txBody>
                  <a:tcPr/>
                </a:tc>
                <a:tc>
                  <a:txBody>
                    <a:bodyPr/>
                    <a:lstStyle/>
                    <a:p>
                      <a:pPr algn="r"/>
                      <a:r>
                        <a:rPr lang="en-US" altLang="zh-CN" dirty="0"/>
                        <a:t>2</a:t>
                      </a:r>
                      <a:endParaRPr lang="en-US" dirty="0"/>
                    </a:p>
                  </a:txBody>
                  <a:tcPr/>
                </a:tc>
                <a:tc>
                  <a:txBody>
                    <a:bodyPr/>
                    <a:lstStyle/>
                    <a:p>
                      <a:pPr algn="r"/>
                      <a:r>
                        <a:rPr lang="en-US" altLang="zh-CN" dirty="0"/>
                        <a:t>3</a:t>
                      </a:r>
                      <a:endParaRPr lang="en-US" dirty="0"/>
                    </a:p>
                  </a:txBody>
                  <a:tcPr/>
                </a:tc>
                <a:tc>
                  <a:txBody>
                    <a:bodyPr/>
                    <a:lstStyle/>
                    <a:p>
                      <a:pPr algn="r"/>
                      <a:r>
                        <a:rPr lang="en-US" altLang="zh-CN" dirty="0"/>
                        <a:t>4</a:t>
                      </a:r>
                      <a:endParaRPr lang="en-US" dirty="0"/>
                    </a:p>
                  </a:txBody>
                  <a:tcPr/>
                </a:tc>
                <a:tc>
                  <a:txBody>
                    <a:bodyPr/>
                    <a:lstStyle/>
                    <a:p>
                      <a:pPr algn="r"/>
                      <a:r>
                        <a:rPr lang="en-US" altLang="zh-CN" dirty="0"/>
                        <a:t>0</a:t>
                      </a:r>
                      <a:endParaRPr lang="en-US" dirty="0"/>
                    </a:p>
                  </a:txBody>
                  <a:tcPr/>
                </a:tc>
                <a:tc>
                  <a:txBody>
                    <a:bodyPr/>
                    <a:lstStyle/>
                    <a:p>
                      <a:pPr algn="r"/>
                      <a:r>
                        <a:rPr lang="en-US" altLang="zh-CN" dirty="0"/>
                        <a:t>0</a:t>
                      </a:r>
                      <a:endParaRPr lang="en-US" dirty="0"/>
                    </a:p>
                  </a:txBody>
                  <a:tcPr/>
                </a:tc>
                <a:tc>
                  <a:txBody>
                    <a:bodyPr/>
                    <a:lstStyle/>
                    <a:p>
                      <a:pPr algn="r"/>
                      <a:r>
                        <a:rPr lang="en-US" altLang="zh-CN" dirty="0"/>
                        <a:t>0</a:t>
                      </a:r>
                      <a:endParaRPr lang="en-US" dirty="0"/>
                    </a:p>
                  </a:txBody>
                  <a:tcPr/>
                </a:tc>
                <a:extLst>
                  <a:ext uri="{0D108BD9-81ED-4DB2-BD59-A6C34878D82A}">
                    <a16:rowId xmlns:a16="http://schemas.microsoft.com/office/drawing/2014/main" val="10005"/>
                  </a:ext>
                </a:extLst>
              </a:tr>
              <a:tr h="370840">
                <a:tc>
                  <a:txBody>
                    <a:bodyPr/>
                    <a:lstStyle/>
                    <a:p>
                      <a:pPr algn="r"/>
                      <a:r>
                        <a:rPr lang="en-US" dirty="0"/>
                        <a:t>5</a:t>
                      </a:r>
                    </a:p>
                  </a:txBody>
                  <a:tcPr/>
                </a:tc>
                <a:tc>
                  <a:txBody>
                    <a:bodyPr/>
                    <a:lstStyle/>
                    <a:p>
                      <a:pPr algn="r"/>
                      <a:r>
                        <a:rPr lang="en-US" altLang="zh-CN" dirty="0"/>
                        <a:t>1</a:t>
                      </a:r>
                      <a:endParaRPr lang="en-US" dirty="0"/>
                    </a:p>
                  </a:txBody>
                  <a:tcPr/>
                </a:tc>
                <a:tc>
                  <a:txBody>
                    <a:bodyPr/>
                    <a:lstStyle/>
                    <a:p>
                      <a:pPr algn="r"/>
                      <a:r>
                        <a:rPr lang="en-US" altLang="zh-CN" dirty="0"/>
                        <a:t>2</a:t>
                      </a:r>
                      <a:endParaRPr lang="en-US" dirty="0"/>
                    </a:p>
                  </a:txBody>
                  <a:tcPr/>
                </a:tc>
                <a:tc>
                  <a:txBody>
                    <a:bodyPr/>
                    <a:lstStyle/>
                    <a:p>
                      <a:pPr algn="r"/>
                      <a:r>
                        <a:rPr lang="en-US" altLang="zh-CN" dirty="0"/>
                        <a:t>2</a:t>
                      </a:r>
                      <a:endParaRPr lang="en-US" dirty="0"/>
                    </a:p>
                  </a:txBody>
                  <a:tcPr/>
                </a:tc>
                <a:tc>
                  <a:txBody>
                    <a:bodyPr/>
                    <a:lstStyle/>
                    <a:p>
                      <a:pPr algn="r"/>
                      <a:r>
                        <a:rPr lang="en-US" altLang="zh-CN" dirty="0"/>
                        <a:t>3</a:t>
                      </a:r>
                      <a:endParaRPr lang="en-US" dirty="0"/>
                    </a:p>
                  </a:txBody>
                  <a:tcPr/>
                </a:tc>
                <a:tc>
                  <a:txBody>
                    <a:bodyPr/>
                    <a:lstStyle/>
                    <a:p>
                      <a:pPr algn="r"/>
                      <a:r>
                        <a:rPr lang="en-US" altLang="zh-CN" dirty="0"/>
                        <a:t>4</a:t>
                      </a:r>
                      <a:endParaRPr lang="en-US" dirty="0"/>
                    </a:p>
                  </a:txBody>
                  <a:tcPr/>
                </a:tc>
                <a:tc>
                  <a:txBody>
                    <a:bodyPr/>
                    <a:lstStyle/>
                    <a:p>
                      <a:pPr algn="r"/>
                      <a:r>
                        <a:rPr lang="en-US" altLang="zh-CN" dirty="0"/>
                        <a:t>5</a:t>
                      </a:r>
                      <a:endParaRPr lang="en-US" dirty="0"/>
                    </a:p>
                  </a:txBody>
                  <a:tcPr/>
                </a:tc>
                <a:tc>
                  <a:txBody>
                    <a:bodyPr/>
                    <a:lstStyle/>
                    <a:p>
                      <a:pPr algn="r"/>
                      <a:r>
                        <a:rPr lang="en-US" altLang="zh-CN" dirty="0"/>
                        <a:t>0</a:t>
                      </a:r>
                      <a:endParaRPr lang="en-US" dirty="0"/>
                    </a:p>
                  </a:txBody>
                  <a:tcPr/>
                </a:tc>
                <a:tc>
                  <a:txBody>
                    <a:bodyPr/>
                    <a:lstStyle/>
                    <a:p>
                      <a:pPr algn="r"/>
                      <a:r>
                        <a:rPr lang="en-US" altLang="zh-CN" dirty="0"/>
                        <a:t>0</a:t>
                      </a:r>
                      <a:endParaRPr lang="en-US" dirty="0"/>
                    </a:p>
                  </a:txBody>
                  <a:tcPr/>
                </a:tc>
                <a:extLst>
                  <a:ext uri="{0D108BD9-81ED-4DB2-BD59-A6C34878D82A}">
                    <a16:rowId xmlns:a16="http://schemas.microsoft.com/office/drawing/2014/main" val="10006"/>
                  </a:ext>
                </a:extLst>
              </a:tr>
              <a:tr h="370840">
                <a:tc>
                  <a:txBody>
                    <a:bodyPr/>
                    <a:lstStyle/>
                    <a:p>
                      <a:pPr algn="r"/>
                      <a:r>
                        <a:rPr lang="en-US" dirty="0"/>
                        <a:t>6</a:t>
                      </a:r>
                    </a:p>
                  </a:txBody>
                  <a:tcPr/>
                </a:tc>
                <a:tc>
                  <a:txBody>
                    <a:bodyPr/>
                    <a:lstStyle/>
                    <a:p>
                      <a:pPr algn="r"/>
                      <a:r>
                        <a:rPr lang="en-US" altLang="zh-CN" dirty="0"/>
                        <a:t>1</a:t>
                      </a:r>
                      <a:endParaRPr lang="en-US" dirty="0"/>
                    </a:p>
                  </a:txBody>
                  <a:tcPr/>
                </a:tc>
                <a:tc>
                  <a:txBody>
                    <a:bodyPr/>
                    <a:lstStyle/>
                    <a:p>
                      <a:pPr algn="r"/>
                      <a:r>
                        <a:rPr lang="en-US" altLang="zh-CN" dirty="0"/>
                        <a:t>2</a:t>
                      </a:r>
                      <a:endParaRPr lang="en-US" dirty="0"/>
                    </a:p>
                  </a:txBody>
                  <a:tcPr/>
                </a:tc>
                <a:tc>
                  <a:txBody>
                    <a:bodyPr/>
                    <a:lstStyle/>
                    <a:p>
                      <a:pPr algn="r"/>
                      <a:r>
                        <a:rPr lang="en-US" altLang="zh-CN" dirty="0"/>
                        <a:t>2</a:t>
                      </a:r>
                      <a:endParaRPr lang="en-US" dirty="0"/>
                    </a:p>
                  </a:txBody>
                  <a:tcPr/>
                </a:tc>
                <a:tc>
                  <a:txBody>
                    <a:bodyPr/>
                    <a:lstStyle/>
                    <a:p>
                      <a:pPr algn="r"/>
                      <a:r>
                        <a:rPr lang="en-US" altLang="zh-CN" dirty="0"/>
                        <a:t>3</a:t>
                      </a:r>
                      <a:endParaRPr lang="en-US" dirty="0"/>
                    </a:p>
                  </a:txBody>
                  <a:tcPr/>
                </a:tc>
                <a:tc>
                  <a:txBody>
                    <a:bodyPr/>
                    <a:lstStyle/>
                    <a:p>
                      <a:pPr algn="r"/>
                      <a:r>
                        <a:rPr lang="en-US" altLang="zh-CN" dirty="0"/>
                        <a:t>4</a:t>
                      </a:r>
                      <a:endParaRPr lang="en-US" dirty="0"/>
                    </a:p>
                  </a:txBody>
                  <a:tcPr/>
                </a:tc>
                <a:tc>
                  <a:txBody>
                    <a:bodyPr/>
                    <a:lstStyle/>
                    <a:p>
                      <a:pPr algn="r"/>
                      <a:r>
                        <a:rPr lang="en-US" altLang="zh-CN" dirty="0"/>
                        <a:t>5</a:t>
                      </a:r>
                      <a:endParaRPr lang="en-US" dirty="0"/>
                    </a:p>
                  </a:txBody>
                  <a:tcPr/>
                </a:tc>
                <a:tc>
                  <a:txBody>
                    <a:bodyPr/>
                    <a:lstStyle/>
                    <a:p>
                      <a:pPr algn="r"/>
                      <a:r>
                        <a:rPr lang="en-US" altLang="zh-CN" dirty="0"/>
                        <a:t>5</a:t>
                      </a:r>
                      <a:endParaRPr lang="en-US" dirty="0"/>
                    </a:p>
                  </a:txBody>
                  <a:tcPr/>
                </a:tc>
                <a:tc>
                  <a:txBody>
                    <a:bodyPr/>
                    <a:lstStyle/>
                    <a:p>
                      <a:pPr algn="r"/>
                      <a:r>
                        <a:rPr lang="en-US" altLang="zh-CN" dirty="0"/>
                        <a:t>0</a:t>
                      </a:r>
                      <a:endParaRPr lang="en-US" dirty="0"/>
                    </a:p>
                  </a:txBody>
                  <a:tcPr/>
                </a:tc>
                <a:extLst>
                  <a:ext uri="{0D108BD9-81ED-4DB2-BD59-A6C34878D82A}">
                    <a16:rowId xmlns:a16="http://schemas.microsoft.com/office/drawing/2014/main" val="10007"/>
                  </a:ext>
                </a:extLst>
              </a:tr>
              <a:tr h="370840">
                <a:tc>
                  <a:txBody>
                    <a:bodyPr/>
                    <a:lstStyle/>
                    <a:p>
                      <a:pPr algn="r"/>
                      <a:r>
                        <a:rPr lang="en-US" dirty="0"/>
                        <a:t>7</a:t>
                      </a:r>
                    </a:p>
                  </a:txBody>
                  <a:tcPr/>
                </a:tc>
                <a:tc>
                  <a:txBody>
                    <a:bodyPr/>
                    <a:lstStyle/>
                    <a:p>
                      <a:pPr algn="r"/>
                      <a:r>
                        <a:rPr lang="en-US" altLang="zh-CN" dirty="0"/>
                        <a:t>1</a:t>
                      </a:r>
                      <a:endParaRPr lang="en-US" dirty="0"/>
                    </a:p>
                  </a:txBody>
                  <a:tcPr/>
                </a:tc>
                <a:tc>
                  <a:txBody>
                    <a:bodyPr/>
                    <a:lstStyle/>
                    <a:p>
                      <a:pPr algn="r"/>
                      <a:r>
                        <a:rPr lang="en-US" altLang="zh-CN" dirty="0"/>
                        <a:t>2</a:t>
                      </a:r>
                      <a:endParaRPr lang="en-US" dirty="0"/>
                    </a:p>
                  </a:txBody>
                  <a:tcPr/>
                </a:tc>
                <a:tc>
                  <a:txBody>
                    <a:bodyPr/>
                    <a:lstStyle/>
                    <a:p>
                      <a:pPr algn="r"/>
                      <a:r>
                        <a:rPr lang="en-US" altLang="zh-CN" dirty="0"/>
                        <a:t>2</a:t>
                      </a:r>
                      <a:endParaRPr lang="en-US" dirty="0"/>
                    </a:p>
                  </a:txBody>
                  <a:tcPr/>
                </a:tc>
                <a:tc>
                  <a:txBody>
                    <a:bodyPr/>
                    <a:lstStyle/>
                    <a:p>
                      <a:pPr algn="r"/>
                      <a:r>
                        <a:rPr lang="en-US" altLang="zh-CN" dirty="0"/>
                        <a:t>3</a:t>
                      </a:r>
                      <a:endParaRPr lang="en-US" dirty="0"/>
                    </a:p>
                  </a:txBody>
                  <a:tcPr/>
                </a:tc>
                <a:tc>
                  <a:txBody>
                    <a:bodyPr/>
                    <a:lstStyle/>
                    <a:p>
                      <a:pPr algn="r"/>
                      <a:r>
                        <a:rPr lang="en-US" altLang="zh-CN" dirty="0"/>
                        <a:t>4</a:t>
                      </a:r>
                      <a:endParaRPr lang="en-US" dirty="0"/>
                    </a:p>
                  </a:txBody>
                  <a:tcPr/>
                </a:tc>
                <a:tc>
                  <a:txBody>
                    <a:bodyPr/>
                    <a:lstStyle/>
                    <a:p>
                      <a:pPr algn="r"/>
                      <a:r>
                        <a:rPr lang="en-US" altLang="zh-CN" dirty="0"/>
                        <a:t>5</a:t>
                      </a:r>
                      <a:endParaRPr lang="en-US" dirty="0"/>
                    </a:p>
                  </a:txBody>
                  <a:tcPr/>
                </a:tc>
                <a:tc>
                  <a:txBody>
                    <a:bodyPr/>
                    <a:lstStyle/>
                    <a:p>
                      <a:pPr algn="r"/>
                      <a:r>
                        <a:rPr lang="en-US" altLang="zh-CN" dirty="0"/>
                        <a:t>5</a:t>
                      </a:r>
                      <a:endParaRPr lang="en-US" dirty="0"/>
                    </a:p>
                  </a:txBody>
                  <a:tcPr/>
                </a:tc>
                <a:tc>
                  <a:txBody>
                    <a:bodyPr/>
                    <a:lstStyle/>
                    <a:p>
                      <a:pPr algn="r"/>
                      <a:r>
                        <a:rPr lang="en-US" altLang="zh-CN" dirty="0"/>
                        <a:t>6</a:t>
                      </a:r>
                      <a:endParaRPr lang="en-US" dirty="0"/>
                    </a:p>
                  </a:txBody>
                  <a:tcPr/>
                </a:tc>
                <a:extLst>
                  <a:ext uri="{0D108BD9-81ED-4DB2-BD59-A6C34878D82A}">
                    <a16:rowId xmlns:a16="http://schemas.microsoft.com/office/drawing/2014/main" val="10008"/>
                  </a:ext>
                </a:extLst>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818708" y="829339"/>
            <a:ext cx="902811" cy="523220"/>
          </a:xfrm>
          <a:prstGeom prst="rect">
            <a:avLst/>
          </a:prstGeom>
          <a:noFill/>
        </p:spPr>
        <p:txBody>
          <a:bodyPr wrap="none" rtlCol="0">
            <a:spAutoFit/>
          </a:bodyPr>
          <a:lstStyle/>
          <a:p>
            <a:r>
              <a:rPr lang="zh-CN" altLang="en-US" sz="2800" b="1" dirty="0"/>
              <a:t>小结</a:t>
            </a:r>
            <a:endParaRPr lang="en-US" sz="2800" b="1" dirty="0"/>
          </a:p>
        </p:txBody>
      </p:sp>
      <p:sp>
        <p:nvSpPr>
          <p:cNvPr id="5" name="TextBox 4"/>
          <p:cNvSpPr txBox="1"/>
          <p:nvPr/>
        </p:nvSpPr>
        <p:spPr>
          <a:xfrm>
            <a:off x="818708" y="1403498"/>
            <a:ext cx="10632557" cy="3416320"/>
          </a:xfrm>
          <a:prstGeom prst="rect">
            <a:avLst/>
          </a:prstGeom>
          <a:noFill/>
        </p:spPr>
        <p:txBody>
          <a:bodyPr wrap="square" rtlCol="0">
            <a:spAutoFit/>
          </a:bodyPr>
          <a:lstStyle/>
          <a:p>
            <a:pPr latinLnBrk="1"/>
            <a:r>
              <a:rPr lang="zh-CN" altLang="en-US" dirty="0"/>
              <a:t>动态规划主要就是来减少重复的计算，将计算过的值保存起来，这些问题满足</a:t>
            </a:r>
            <a:r>
              <a:rPr lang="zh-CN" altLang="en-US" b="1" dirty="0"/>
              <a:t>重叠子问题</a:t>
            </a:r>
            <a:r>
              <a:rPr lang="zh-CN" altLang="en-US" dirty="0"/>
              <a:t>或者</a:t>
            </a:r>
            <a:r>
              <a:rPr lang="zh-CN" altLang="en-US" b="1" dirty="0"/>
              <a:t>最优子结构性质。</a:t>
            </a:r>
            <a:endParaRPr lang="en-US" altLang="zh-CN" b="1" dirty="0"/>
          </a:p>
          <a:p>
            <a:pPr latinLnBrk="1"/>
            <a:endParaRPr lang="en-US" altLang="zh-CN" b="1" dirty="0"/>
          </a:p>
          <a:p>
            <a:pPr latinLnBrk="1"/>
            <a:r>
              <a:rPr lang="zh-CN" altLang="en-US" dirty="0"/>
              <a:t>在能够简单确定递推顺序的时候，我们可以使用</a:t>
            </a:r>
            <a:r>
              <a:rPr lang="zh-CN" altLang="en-US" b="1" dirty="0"/>
              <a:t>递推的方式</a:t>
            </a:r>
            <a:r>
              <a:rPr lang="zh-CN" altLang="en-US" dirty="0"/>
              <a:t>来求解。如果不能直观的得知递推顺序，我们使用</a:t>
            </a:r>
            <a:r>
              <a:rPr lang="zh-CN" altLang="en-US" b="1" dirty="0"/>
              <a:t>记忆化搜索</a:t>
            </a:r>
            <a:r>
              <a:rPr lang="zh-CN" altLang="en-US" dirty="0"/>
              <a:t>来求解。</a:t>
            </a:r>
            <a:endParaRPr lang="en-US" altLang="zh-CN" dirty="0"/>
          </a:p>
          <a:p>
            <a:pPr latinLnBrk="1"/>
            <a:endParaRPr lang="en-US" altLang="zh-CN" dirty="0"/>
          </a:p>
          <a:p>
            <a:pPr latinLnBrk="1"/>
            <a:r>
              <a:rPr lang="zh-CN" altLang="en-US" dirty="0"/>
              <a:t>求解动态规划问题的一般步骤是，首先确定这个问题具有重叠子问题或者最优子结构的性质，然后找到</a:t>
            </a:r>
            <a:r>
              <a:rPr lang="zh-CN" altLang="en-US" b="1" dirty="0"/>
              <a:t>状态转移方程</a:t>
            </a:r>
            <a:r>
              <a:rPr lang="zh-CN" altLang="en-US" dirty="0"/>
              <a:t>。最终确定求解顺序，来选择使用循环还是搜索。</a:t>
            </a:r>
            <a:endParaRPr lang="en-US" altLang="zh-CN"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818708" y="829339"/>
            <a:ext cx="902811" cy="523220"/>
          </a:xfrm>
          <a:prstGeom prst="rect">
            <a:avLst/>
          </a:prstGeom>
          <a:noFill/>
        </p:spPr>
        <p:txBody>
          <a:bodyPr wrap="none" rtlCol="0">
            <a:spAutoFit/>
          </a:bodyPr>
          <a:lstStyle/>
          <a:p>
            <a:r>
              <a:rPr lang="zh-CN" altLang="en-US" sz="2800" b="1" dirty="0"/>
              <a:t>作业</a:t>
            </a:r>
            <a:endParaRPr lang="en-US" sz="2800" b="1" dirty="0"/>
          </a:p>
        </p:txBody>
      </p:sp>
      <p:sp>
        <p:nvSpPr>
          <p:cNvPr id="5" name="TextBox 4"/>
          <p:cNvSpPr txBox="1"/>
          <p:nvPr/>
        </p:nvSpPr>
        <p:spPr>
          <a:xfrm>
            <a:off x="818708" y="1352559"/>
            <a:ext cx="10632557" cy="4154984"/>
          </a:xfrm>
          <a:prstGeom prst="rect">
            <a:avLst/>
          </a:prstGeom>
          <a:noFill/>
        </p:spPr>
        <p:txBody>
          <a:bodyPr wrap="square" rtlCol="0">
            <a:spAutoFit/>
          </a:bodyPr>
          <a:lstStyle/>
          <a:p>
            <a:r>
              <a:rPr lang="en-US" altLang="zh-CN" b="1" dirty="0"/>
              <a:t>P1060 </a:t>
            </a:r>
            <a:r>
              <a:rPr lang="zh-CN" altLang="en-US" b="1" dirty="0"/>
              <a:t>开心的金明</a:t>
            </a:r>
          </a:p>
          <a:p>
            <a:r>
              <a:rPr lang="zh-CN" altLang="en-US" dirty="0">
                <a:hlinkClick r:id="rId3"/>
              </a:rPr>
              <a:t> </a:t>
            </a:r>
            <a:r>
              <a:rPr lang="en-US" altLang="zh-CN" dirty="0">
                <a:hlinkClick r:id="rId3"/>
              </a:rPr>
              <a:t>https://www.luogu.org/problemnew/show/P1060</a:t>
            </a:r>
            <a:endParaRPr lang="en-US" altLang="zh-CN" dirty="0"/>
          </a:p>
          <a:p>
            <a:endParaRPr lang="en-US" altLang="zh-CN" dirty="0"/>
          </a:p>
          <a:p>
            <a:r>
              <a:rPr lang="en-US" altLang="zh-CN" b="1" dirty="0"/>
              <a:t>P1025 </a:t>
            </a:r>
            <a:r>
              <a:rPr lang="zh-CN" altLang="en-US" b="1" dirty="0"/>
              <a:t>数的划分</a:t>
            </a:r>
          </a:p>
          <a:p>
            <a:r>
              <a:rPr lang="en-US" altLang="zh-CN" dirty="0">
                <a:hlinkClick r:id="rId4"/>
              </a:rPr>
              <a:t>https://www.luogu.org/problemnew/show/P1025</a:t>
            </a:r>
            <a:endParaRPr lang="en-US" altLang="zh-CN" dirty="0"/>
          </a:p>
          <a:p>
            <a:endParaRPr lang="en-US" altLang="zh-CN" dirty="0"/>
          </a:p>
          <a:p>
            <a:r>
              <a:rPr lang="en-US" altLang="zh-CN" b="1" dirty="0"/>
              <a:t>P1077 </a:t>
            </a:r>
            <a:r>
              <a:rPr lang="zh-CN" altLang="en-US" b="1" dirty="0"/>
              <a:t>摆花</a:t>
            </a:r>
          </a:p>
          <a:p>
            <a:r>
              <a:rPr lang="en-US" altLang="zh-CN" dirty="0">
                <a:hlinkClick r:id="rId5"/>
              </a:rPr>
              <a:t>https://www.luogu.org/problemnew/show/P1077</a:t>
            </a:r>
            <a:endParaRPr lang="en-US" altLang="zh-CN" dirty="0"/>
          </a:p>
          <a:p>
            <a:endParaRPr lang="en-US" altLang="zh-CN" dirty="0"/>
          </a:p>
          <a:p>
            <a:r>
              <a:rPr lang="en-US" altLang="zh-CN" b="1" dirty="0"/>
              <a:t>P1049 </a:t>
            </a:r>
            <a:r>
              <a:rPr lang="zh-CN" altLang="en-US" b="1" dirty="0"/>
              <a:t>装箱问题</a:t>
            </a:r>
            <a:endParaRPr lang="en-US" altLang="zh-CN" dirty="0"/>
          </a:p>
          <a:p>
            <a:r>
              <a:rPr lang="en-US" altLang="zh-CN" dirty="0">
                <a:hlinkClick r:id="rId6"/>
              </a:rPr>
              <a:t>https://www.luogu.org/problemnew/show/P1049</a:t>
            </a:r>
            <a:endParaRPr lang="en-US" altLang="zh-CN" dirty="0"/>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M_TEMPLATE_THUMBS_INDEX" val="1、4、5、9、12、15、20、25、26、28、29"/>
  <p:tag name="KSO_WM_TEMPLATE_CATEGORY" val="custom"/>
  <p:tag name="KSO_WM_TEMPLATE_INDEX" val="160337"/>
  <p:tag name="KSO_WM_TAG_VERSION" val="1.0"/>
  <p:tag name="KSO_WM_SLIDE_ID" val="custom160337_1"/>
  <p:tag name="KSO_WM_SLIDE_INDEX" val="1"/>
  <p:tag name="KSO_WM_SLIDE_ITEM_CNT" val="2"/>
  <p:tag name="KSO_WM_SLIDE_LAYOUT" val="a_b"/>
  <p:tag name="KSO_WM_SLIDE_LAYOUT_CNT" val="1_1"/>
  <p:tag name="KSO_WM_SLIDE_TYPE" val="title"/>
  <p:tag name="KSO_WM_BEAUTIFY_FLAG" val="#wm#"/>
</p:tagLst>
</file>

<file path=ppt/tags/tag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337"/>
  <p:tag name="KSO_WM_UNIT_TYPE" val="a"/>
  <p:tag name="KSO_WM_UNIT_INDEX" val="1"/>
  <p:tag name="KSO_WM_UNIT_ID" val="custom160337_1*a*1"/>
  <p:tag name="KSO_WM_UNIT_CLEAR" val="1"/>
  <p:tag name="KSO_WM_UNIT_LAYERLEVEL" val="1"/>
  <p:tag name="KSO_WM_UNIT_VALUE" val="21"/>
  <p:tag name="KSO_WM_UNIT_ISCONTENTSTITLE" val="0"/>
  <p:tag name="KSO_WM_UNIT_HIGHLIGHT" val="0"/>
  <p:tag name="KSO_WM_UNIT_COMPATIBLE" val="0"/>
  <p:tag name="KSO_WM_UNIT_PRESET_TEXT_INDEX" val="3"/>
  <p:tag name="KSO_WM_UNIT_PRESET_TEXT_LEN" val="17"/>
</p:tagLst>
</file>

<file path=ppt/theme/theme1.xml><?xml version="1.0" encoding="utf-8"?>
<a:theme xmlns:a="http://schemas.openxmlformats.org/drawingml/2006/main" name="1_Office 主题">
  <a:themeElements>
    <a:clrScheme name="自定义 33">
      <a:dk1>
        <a:srgbClr val="000000"/>
      </a:dk1>
      <a:lt1>
        <a:srgbClr val="FFFFFF"/>
      </a:lt1>
      <a:dk2>
        <a:srgbClr val="000000"/>
      </a:dk2>
      <a:lt2>
        <a:srgbClr val="FEFEFE"/>
      </a:lt2>
      <a:accent1>
        <a:srgbClr val="F17700"/>
      </a:accent1>
      <a:accent2>
        <a:srgbClr val="DC2144"/>
      </a:accent2>
      <a:accent3>
        <a:srgbClr val="71CAE0"/>
      </a:accent3>
      <a:accent4>
        <a:srgbClr val="112D43"/>
      </a:accent4>
      <a:accent5>
        <a:srgbClr val="050F25"/>
      </a:accent5>
      <a:accent6>
        <a:srgbClr val="162D4E"/>
      </a:accent6>
      <a:hlink>
        <a:srgbClr val="0563C1"/>
      </a:hlink>
      <a:folHlink>
        <a:srgbClr val="954F72"/>
      </a:folHlink>
    </a:clrScheme>
    <a:fontScheme name="Century Gothic">
      <a:majorFont>
        <a:latin typeface="Century Gothic"/>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Office 主题">
  <a:themeElements>
    <a:clrScheme name="自定义 33">
      <a:dk1>
        <a:srgbClr val="000000"/>
      </a:dk1>
      <a:lt1>
        <a:srgbClr val="FFFFFF"/>
      </a:lt1>
      <a:dk2>
        <a:srgbClr val="000000"/>
      </a:dk2>
      <a:lt2>
        <a:srgbClr val="FEFEFE"/>
      </a:lt2>
      <a:accent1>
        <a:srgbClr val="F17700"/>
      </a:accent1>
      <a:accent2>
        <a:srgbClr val="DC2144"/>
      </a:accent2>
      <a:accent3>
        <a:srgbClr val="71CAE0"/>
      </a:accent3>
      <a:accent4>
        <a:srgbClr val="112D43"/>
      </a:accent4>
      <a:accent5>
        <a:srgbClr val="050F25"/>
      </a:accent5>
      <a:accent6>
        <a:srgbClr val="162D4E"/>
      </a:accent6>
      <a:hlink>
        <a:srgbClr val="0563C1"/>
      </a:hlink>
      <a:folHlink>
        <a:srgbClr val="954F72"/>
      </a:folHlink>
    </a:clrScheme>
    <a:fontScheme name="Century Gothic">
      <a:majorFont>
        <a:latin typeface="Century Gothic"/>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3_Office 主题">
  <a:themeElements>
    <a:clrScheme name="自定义 33">
      <a:dk1>
        <a:srgbClr val="000000"/>
      </a:dk1>
      <a:lt1>
        <a:srgbClr val="FFFFFF"/>
      </a:lt1>
      <a:dk2>
        <a:srgbClr val="000000"/>
      </a:dk2>
      <a:lt2>
        <a:srgbClr val="FEFEFE"/>
      </a:lt2>
      <a:accent1>
        <a:srgbClr val="F17700"/>
      </a:accent1>
      <a:accent2>
        <a:srgbClr val="DC2144"/>
      </a:accent2>
      <a:accent3>
        <a:srgbClr val="71CAE0"/>
      </a:accent3>
      <a:accent4>
        <a:srgbClr val="112D43"/>
      </a:accent4>
      <a:accent5>
        <a:srgbClr val="050F25"/>
      </a:accent5>
      <a:accent6>
        <a:srgbClr val="162D4E"/>
      </a:accent6>
      <a:hlink>
        <a:srgbClr val="0563C1"/>
      </a:hlink>
      <a:folHlink>
        <a:srgbClr val="954F72"/>
      </a:folHlink>
    </a:clrScheme>
    <a:fontScheme name="Century Gothic">
      <a:majorFont>
        <a:latin typeface="Century Gothic"/>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A000120141114A22KPBG</Template>
  <TotalTime>308</TotalTime>
  <Words>5270</Words>
  <Application>Microsoft Office PowerPoint</Application>
  <PresentationFormat>宽屏</PresentationFormat>
  <Paragraphs>391</Paragraphs>
  <Slides>17</Slides>
  <Notes>17</Notes>
  <HiddenSlides>0</HiddenSlides>
  <MMClips>0</MMClips>
  <ScaleCrop>false</ScaleCrop>
  <HeadingPairs>
    <vt:vector size="6" baseType="variant">
      <vt:variant>
        <vt:lpstr>已用的字体</vt:lpstr>
      </vt:variant>
      <vt:variant>
        <vt:i4>5</vt:i4>
      </vt:variant>
      <vt:variant>
        <vt:lpstr>主题</vt:lpstr>
      </vt:variant>
      <vt:variant>
        <vt:i4>3</vt:i4>
      </vt:variant>
      <vt:variant>
        <vt:lpstr>幻灯片标题</vt:lpstr>
      </vt:variant>
      <vt:variant>
        <vt:i4>17</vt:i4>
      </vt:variant>
    </vt:vector>
  </HeadingPairs>
  <TitlesOfParts>
    <vt:vector size="25" baseType="lpstr">
      <vt:lpstr>等线</vt:lpstr>
      <vt:lpstr>微软雅黑</vt:lpstr>
      <vt:lpstr>Arial</vt:lpstr>
      <vt:lpstr>Calibri</vt:lpstr>
      <vt:lpstr>Century Gothic</vt:lpstr>
      <vt:lpstr>1_Office 主题</vt:lpstr>
      <vt:lpstr>2_Office 主题</vt:lpstr>
      <vt:lpstr>3_Office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fdsa</dc:title>
  <dc:creator>admin</dc:creator>
  <cp:lastModifiedBy>yq s</cp:lastModifiedBy>
  <cp:revision>1388</cp:revision>
  <dcterms:created xsi:type="dcterms:W3CDTF">2014-06-03T02:52:00Z</dcterms:created>
  <dcterms:modified xsi:type="dcterms:W3CDTF">2018-12-14T12:37:45Z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模板文件">
    <vt:lpwstr>A000120141114A22KPBG.pptx</vt:lpwstr>
  </property>
  <property fmtid="{D5CDD505-2E9C-101B-9397-08002B2CF9AE}" pid="3" name="标题">
    <vt:lpwstr>蓝色风格_A000120141114A22KPBG</vt:lpwstr>
  </property>
  <property fmtid="{D5CDD505-2E9C-101B-9397-08002B2CF9AE}" pid="4" name="关键字">
    <vt:lpwstr>PPT背景模板 商业科技 蓝 蓝色 宽屏 星光 闪烁 宽屏 V2007</vt:lpwstr>
  </property>
  <property fmtid="{D5CDD505-2E9C-101B-9397-08002B2CF9AE}" pid="5" name="KSOProductBuildVer">
    <vt:lpwstr>2052-11.1.0.7711</vt:lpwstr>
  </property>
  <property fmtid="{D5CDD505-2E9C-101B-9397-08002B2CF9AE}" pid="6" name="name">
    <vt:lpwstr>蓝色简约.pptx</vt:lpwstr>
  </property>
  <property fmtid="{D5CDD505-2E9C-101B-9397-08002B2CF9AE}" pid="7" name="fileid">
    <vt:lpwstr>861037</vt:lpwstr>
  </property>
  <property fmtid="{D5CDD505-2E9C-101B-9397-08002B2CF9AE}" pid="8" name="search_tags">
    <vt:lpwstr>PPT模板</vt:lpwstr>
  </property>
</Properties>
</file>