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4" r:id="rId3"/>
  </p:sldMasterIdLst>
  <p:notesMasterIdLst>
    <p:notesMasterId r:id="rId24"/>
  </p:notesMasterIdLst>
  <p:handoutMasterIdLst>
    <p:handoutMasterId r:id="rId25"/>
  </p:handoutMasterIdLst>
  <p:sldIdLst>
    <p:sldId id="265" r:id="rId4"/>
    <p:sldId id="344" r:id="rId5"/>
    <p:sldId id="346" r:id="rId6"/>
    <p:sldId id="345" r:id="rId7"/>
    <p:sldId id="347" r:id="rId8"/>
    <p:sldId id="348" r:id="rId9"/>
    <p:sldId id="349" r:id="rId10"/>
    <p:sldId id="350" r:id="rId11"/>
    <p:sldId id="351" r:id="rId12"/>
    <p:sldId id="352" r:id="rId13"/>
    <p:sldId id="353" r:id="rId14"/>
    <p:sldId id="354" r:id="rId15"/>
    <p:sldId id="355" r:id="rId16"/>
    <p:sldId id="356" r:id="rId17"/>
    <p:sldId id="357" r:id="rId18"/>
    <p:sldId id="358" r:id="rId19"/>
    <p:sldId id="359" r:id="rId20"/>
    <p:sldId id="360" r:id="rId21"/>
    <p:sldId id="361" r:id="rId22"/>
    <p:sldId id="340" r:id="rId23"/>
  </p:sldIdLst>
  <p:sldSz cx="12192000" cy="6858000"/>
  <p:notesSz cx="6858000" cy="9144000"/>
  <p:defaultTex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AFCF"/>
    <a:srgbClr val="76CBE0"/>
    <a:srgbClr val="EE122C"/>
    <a:srgbClr val="FF40FF"/>
    <a:srgbClr val="F46B34"/>
    <a:srgbClr val="FF7E79"/>
    <a:srgbClr val="F57D4D"/>
    <a:srgbClr val="ED939C"/>
    <a:srgbClr val="F6CACE"/>
    <a:srgbClr val="449E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3" autoAdjust="0"/>
    <p:restoredTop sz="83676" autoAdjust="0"/>
  </p:normalViewPr>
  <p:slideViewPr>
    <p:cSldViewPr snapToGrid="0">
      <p:cViewPr varScale="1">
        <p:scale>
          <a:sx n="96" d="100"/>
          <a:sy n="96" d="100"/>
        </p:scale>
        <p:origin x="1140"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01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46A36E-8CE9-4233-9D17-03EBF3D3C3EA}" type="datetimeFigureOut">
              <a:rPr lang="zh-CN" altLang="en-US" smtClean="0"/>
              <a:t>2018/12/22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ED53AB-73E4-496E-889A-60B59C3079AE}"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88BAF574-9E5E-4479-A694-7B0504769AE1}" type="datetimeFigureOut">
              <a:rPr lang="zh-CN" altLang="en-US" smtClean="0"/>
              <a:t>2018/12/22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CN" altLang="en-US" dirty="0"/>
              <a:t>模板来自于 </a:t>
            </a:r>
            <a:r>
              <a:rPr lang="en-US" altLang="zh-CN" dirty="0"/>
              <a:t>http://docer.mysoeasy.com</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8F04A-84B0-4E5D-A1A7-EE43D6EF2A6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indent="0" algn="l" defTabSz="1218565" rtl="0" eaLnBrk="1" latinLnBrk="0" hangingPunct="1">
      <a:buFont typeface="Arial" panose="020B0604020202020204" pitchFamily="34" charset="0"/>
      <a:buNone/>
      <a:defRPr sz="1865" kern="1200" baseline="0">
        <a:solidFill>
          <a:srgbClr val="FF0000"/>
        </a:solidFill>
        <a:latin typeface="+mn-lt"/>
        <a:ea typeface="+mn-ea"/>
        <a:cs typeface="+mn-cs"/>
      </a:defRPr>
    </a:lvl1pPr>
    <a:lvl2pPr marL="609600" algn="l" defTabSz="1218565" rtl="0" eaLnBrk="1" latinLnBrk="0" hangingPunct="1">
      <a:defRPr sz="1600" kern="1200">
        <a:solidFill>
          <a:schemeClr val="tx1"/>
        </a:solidFill>
        <a:latin typeface="+mn-lt"/>
        <a:ea typeface="+mn-ea"/>
        <a:cs typeface="+mn-cs"/>
      </a:defRPr>
    </a:lvl2pPr>
    <a:lvl3pPr marL="1219200" algn="l" defTabSz="1218565" rtl="0" eaLnBrk="1" latinLnBrk="0" hangingPunct="1">
      <a:defRPr sz="1600" kern="1200">
        <a:solidFill>
          <a:schemeClr val="tx1"/>
        </a:solidFill>
        <a:latin typeface="+mn-lt"/>
        <a:ea typeface="+mn-ea"/>
        <a:cs typeface="+mn-cs"/>
      </a:defRPr>
    </a:lvl3pPr>
    <a:lvl4pPr marL="1828800" algn="l" defTabSz="1218565" rtl="0" eaLnBrk="1" latinLnBrk="0" hangingPunct="1">
      <a:defRPr sz="1600" kern="1200">
        <a:solidFill>
          <a:schemeClr val="tx1"/>
        </a:solidFill>
        <a:latin typeface="+mn-lt"/>
        <a:ea typeface="+mn-ea"/>
        <a:cs typeface="+mn-cs"/>
      </a:defRPr>
    </a:lvl4pPr>
    <a:lvl5pPr marL="2438400" algn="l" defTabSz="1218565" rtl="0" eaLnBrk="1" latinLnBrk="0" hangingPunct="1">
      <a:defRPr sz="1600" kern="1200">
        <a:solidFill>
          <a:schemeClr val="tx1"/>
        </a:solidFill>
        <a:latin typeface="+mn-lt"/>
        <a:ea typeface="+mn-ea"/>
        <a:cs typeface="+mn-cs"/>
      </a:defRPr>
    </a:lvl5pPr>
    <a:lvl6pPr marL="3048000" algn="l" defTabSz="1218565" rtl="0" eaLnBrk="1" latinLnBrk="0" hangingPunct="1">
      <a:defRPr sz="1600" kern="1200">
        <a:solidFill>
          <a:schemeClr val="tx1"/>
        </a:solidFill>
        <a:latin typeface="+mn-lt"/>
        <a:ea typeface="+mn-ea"/>
        <a:cs typeface="+mn-cs"/>
      </a:defRPr>
    </a:lvl6pPr>
    <a:lvl7pPr marL="3657600" algn="l" defTabSz="1218565" rtl="0" eaLnBrk="1" latinLnBrk="0" hangingPunct="1">
      <a:defRPr sz="1600" kern="1200">
        <a:solidFill>
          <a:schemeClr val="tx1"/>
        </a:solidFill>
        <a:latin typeface="+mn-lt"/>
        <a:ea typeface="+mn-ea"/>
        <a:cs typeface="+mn-cs"/>
      </a:defRPr>
    </a:lvl7pPr>
    <a:lvl8pPr marL="4267200" algn="l" defTabSz="1218565" rtl="0" eaLnBrk="1" latinLnBrk="0" hangingPunct="1">
      <a:defRPr sz="1600" kern="1200">
        <a:solidFill>
          <a:schemeClr val="tx1"/>
        </a:solidFill>
        <a:latin typeface="+mn-lt"/>
        <a:ea typeface="+mn-ea"/>
        <a:cs typeface="+mn-cs"/>
      </a:defRPr>
    </a:lvl8pPr>
    <a:lvl9pPr marL="4876800" algn="l" defTabSz="121856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图片大家会用，数学公式可以选直接贴图片或者</a:t>
            </a:r>
            <a:r>
              <a:rPr lang="en-US" altLang="zh-CN" dirty="0" err="1" smtClean="0"/>
              <a:t>ppt</a:t>
            </a:r>
            <a:r>
              <a:rPr lang="zh-CN" altLang="en-US" dirty="0" smtClean="0"/>
              <a:t>的公式编辑器</a:t>
            </a:r>
            <a:r>
              <a:rPr lang="en-US" altLang="zh-CN" dirty="0" smtClean="0"/>
              <a:t>(</a:t>
            </a:r>
            <a:r>
              <a:rPr lang="zh-CN" altLang="en-US" dirty="0" smtClean="0"/>
              <a:t>虽然感觉贼鸡儿难用</a:t>
            </a:r>
            <a:r>
              <a:rPr lang="en-US" altLang="zh-CN" dirty="0" smtClean="0"/>
              <a:t>)</a:t>
            </a:r>
          </a:p>
          <a:p>
            <a:endParaRPr lang="en-US" altLang="zh-CN" dirty="0" smtClean="0"/>
          </a:p>
          <a:p>
            <a:r>
              <a:rPr lang="zh-CN" altLang="en-US" dirty="0" smtClean="0"/>
              <a:t>已调整为 </a:t>
            </a:r>
            <a:r>
              <a:rPr lang="en-US" altLang="zh-CN" dirty="0" smtClean="0"/>
              <a:t>consoles </a:t>
            </a:r>
            <a:r>
              <a:rPr lang="zh-CN" altLang="en-US" dirty="0" smtClean="0"/>
              <a:t>字体，方便贴代码（虽然依然没有高亮）</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2</a:t>
            </a:fld>
            <a:endParaRPr lang="zh-CN" altLang="en-US"/>
          </a:p>
        </p:txBody>
      </p:sp>
    </p:spTree>
    <p:extLst>
      <p:ext uri="{BB962C8B-B14F-4D97-AF65-F5344CB8AC3E}">
        <p14:creationId xmlns:p14="http://schemas.microsoft.com/office/powerpoint/2010/main" val="11083928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787796" y="736275"/>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8" name="Freeform 363"/>
          <p:cNvSpPr>
            <a:spLocks noEditPoints="1"/>
          </p:cNvSpPr>
          <p:nvPr userDrawn="1"/>
        </p:nvSpPr>
        <p:spPr bwMode="auto">
          <a:xfrm rot="1658487">
            <a:off x="6324103" y="367060"/>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9" name="Freeform 463"/>
          <p:cNvSpPr>
            <a:spLocks noEditPoints="1"/>
          </p:cNvSpPr>
          <p:nvPr userDrawn="1"/>
        </p:nvSpPr>
        <p:spPr bwMode="auto">
          <a:xfrm rot="19468345">
            <a:off x="4618331" y="568096"/>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2" name="Freeform 387"/>
          <p:cNvSpPr>
            <a:spLocks noEditPoints="1"/>
          </p:cNvSpPr>
          <p:nvPr userDrawn="1"/>
        </p:nvSpPr>
        <p:spPr bwMode="auto">
          <a:xfrm rot="1888595">
            <a:off x="2182514" y="446521"/>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
        <p:nvSpPr>
          <p:cNvPr id="5" name="标题 4"/>
          <p:cNvSpPr>
            <a:spLocks noGrp="1"/>
          </p:cNvSpPr>
          <p:nvPr>
            <p:ph type="title"/>
          </p:nvPr>
        </p:nvSpPr>
        <p:spPr>
          <a:xfrm>
            <a:off x="578555" y="419543"/>
            <a:ext cx="7763933" cy="696031"/>
          </a:xfrm>
          <a:prstGeom prst="rect">
            <a:avLst/>
          </a:prstGeom>
        </p:spPr>
        <p:txBody>
          <a:bodyPr/>
          <a:lstStyle/>
          <a:p>
            <a:r>
              <a:rPr kumimoji="1" lang="zh-CN" altLang="en-US" dirty="0" smtClean="0"/>
              <a:t>单击此处编辑母版标题样式</a:t>
            </a:r>
            <a:endParaRPr kumimoji="1" lang="zh-CN" altLang="en-US" dirty="0"/>
          </a:p>
        </p:txBody>
      </p:sp>
      <p:sp>
        <p:nvSpPr>
          <p:cNvPr id="7" name="文本占位符 6"/>
          <p:cNvSpPr>
            <a:spLocks noGrp="1"/>
          </p:cNvSpPr>
          <p:nvPr>
            <p:ph type="body" sz="quarter" idx="10"/>
          </p:nvPr>
        </p:nvSpPr>
        <p:spPr>
          <a:xfrm>
            <a:off x="578555" y="1667318"/>
            <a:ext cx="9028113" cy="4348163"/>
          </a:xfrm>
          <a:prstGeom prst="rect">
            <a:avLst/>
          </a:prstGeom>
        </p:spPr>
        <p:txBody>
          <a:bodyPr/>
          <a:lstStyle>
            <a:lvl1pPr>
              <a:defRPr>
                <a:latin typeface="Consolas" panose="020B0609020204030204" charset="0"/>
                <a:ea typeface="Consolas" panose="020B0609020204030204" charset="0"/>
                <a:cs typeface="Consolas" panose="020B0609020204030204" charset="0"/>
              </a:defRPr>
            </a:lvl1pPr>
          </a:lstStyle>
          <a:p>
            <a:pPr lvl="0"/>
            <a:r>
              <a:rPr kumimoji="1" lang="zh-CN" altLang="en-US" dirty="0" smtClean="0"/>
              <a:t>单击此处编辑母版文本样式</a:t>
            </a:r>
            <a:endParaRPr kumimoji="1" lang="en-US" altLang="zh-CN" dirty="0" smtClean="0"/>
          </a:p>
          <a:p>
            <a:pPr lvl="0"/>
            <a:r>
              <a:rPr kumimoji="1" lang="en-US" altLang="zh-CN" dirty="0" smtClean="0"/>
              <a:t>dad</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9" name="Freeform 463"/>
          <p:cNvSpPr>
            <a:spLocks noEditPoints="1"/>
          </p:cNvSpPr>
          <p:nvPr userDrawn="1"/>
        </p:nvSpPr>
        <p:spPr bwMode="auto">
          <a:xfrm rot="19468345">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
        <p:nvSpPr>
          <p:cNvPr id="8" name="Freeform 77"/>
          <p:cNvSpPr>
            <a:spLocks noEditPoints="1"/>
          </p:cNvSpPr>
          <p:nvPr userDrawn="1"/>
        </p:nvSpPr>
        <p:spPr bwMode="auto">
          <a:xfrm rot="20644514">
            <a:off x="787796" y="736275"/>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9" name="Freeform 363"/>
          <p:cNvSpPr>
            <a:spLocks noEditPoints="1"/>
          </p:cNvSpPr>
          <p:nvPr userDrawn="1"/>
        </p:nvSpPr>
        <p:spPr bwMode="auto">
          <a:xfrm rot="1658487">
            <a:off x="6324103" y="367060"/>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0" name="Freeform 463"/>
          <p:cNvSpPr>
            <a:spLocks noEditPoints="1"/>
          </p:cNvSpPr>
          <p:nvPr userDrawn="1"/>
        </p:nvSpPr>
        <p:spPr bwMode="auto">
          <a:xfrm rot="19468345">
            <a:off x="4618331" y="568096"/>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1" name="Freeform 387"/>
          <p:cNvSpPr>
            <a:spLocks noEditPoints="1"/>
          </p:cNvSpPr>
          <p:nvPr userDrawn="1"/>
        </p:nvSpPr>
        <p:spPr bwMode="auto">
          <a:xfrm rot="1888595">
            <a:off x="2182514" y="446521"/>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2" name="标题 4"/>
          <p:cNvSpPr>
            <a:spLocks noGrp="1"/>
          </p:cNvSpPr>
          <p:nvPr>
            <p:ph type="title"/>
          </p:nvPr>
        </p:nvSpPr>
        <p:spPr>
          <a:xfrm>
            <a:off x="578555" y="419543"/>
            <a:ext cx="7763933" cy="696031"/>
          </a:xfrm>
          <a:prstGeom prst="rect">
            <a:avLst/>
          </a:prstGeom>
        </p:spPr>
        <p:txBody>
          <a:bodyPr/>
          <a:lstStyle/>
          <a:p>
            <a:r>
              <a:rPr kumimoji="1" lang="zh-CN" altLang="en-US" dirty="0" smtClean="0"/>
              <a:t>单击此处编辑母版标题样式</a:t>
            </a:r>
            <a:endParaRPr kumimoji="1" lang="zh-CN" altLang="en-US" dirty="0"/>
          </a:p>
        </p:txBody>
      </p:sp>
      <p:sp>
        <p:nvSpPr>
          <p:cNvPr id="13" name="文本占位符 6"/>
          <p:cNvSpPr>
            <a:spLocks noGrp="1"/>
          </p:cNvSpPr>
          <p:nvPr>
            <p:ph type="body" sz="quarter" idx="10"/>
          </p:nvPr>
        </p:nvSpPr>
        <p:spPr>
          <a:xfrm>
            <a:off x="578555" y="1667318"/>
            <a:ext cx="9028113" cy="4348163"/>
          </a:xfrm>
          <a:prstGeom prst="rect">
            <a:avLst/>
          </a:prstGeom>
        </p:spPr>
        <p:txBody>
          <a:bodyPr/>
          <a:lstStyle>
            <a:lvl1pPr>
              <a:defRPr>
                <a:latin typeface="Consolas" panose="020B0609020204030204" charset="0"/>
                <a:ea typeface="Consolas" panose="020B0609020204030204" charset="0"/>
                <a:cs typeface="Consolas" panose="020B0609020204030204" charset="0"/>
              </a:defRPr>
            </a:lvl1pPr>
          </a:lstStyle>
          <a:p>
            <a:pPr lvl="0"/>
            <a:r>
              <a:rPr kumimoji="1" lang="zh-CN" altLang="en-US" dirty="0" smtClean="0"/>
              <a:t>单击此处编辑母版文本样式</a:t>
            </a:r>
            <a:endParaRPr kumimoji="1" lang="en-US" altLang="zh-CN" dirty="0" smtClean="0"/>
          </a:p>
          <a:p>
            <a:pPr lvl="0"/>
            <a:r>
              <a:rPr kumimoji="1" lang="en-US" altLang="zh-CN" dirty="0" smtClean="0"/>
              <a:t>dad</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3" name="图片 2"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7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9" name="Freeform 463"/>
          <p:cNvSpPr>
            <a:spLocks noEditPoints="1"/>
          </p:cNvSpPr>
          <p:nvPr userDrawn="1"/>
        </p:nvSpPr>
        <p:spPr bwMode="auto">
          <a:xfrm rot="19468345">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19" name="Freeform 463"/>
          <p:cNvSpPr>
            <a:spLocks noEditPoints="1"/>
          </p:cNvSpPr>
          <p:nvPr userDrawn="1"/>
        </p:nvSpPr>
        <p:spPr bwMode="auto">
          <a:xfrm rot="19468345">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luogu.org/problemnew/show/P1052"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luogu.org/problemnew/show/P1020" TargetMode="External"/><Relationship Id="rId2" Type="http://schemas.openxmlformats.org/officeDocument/2006/relationships/hyperlink" Target="https://www.luogu.org/problemnew/show/AT2827" TargetMode="External"/><Relationship Id="rId1" Type="http://schemas.openxmlformats.org/officeDocument/2006/relationships/slideLayout" Target="../slideLayouts/slideLayout2.xml"/><Relationship Id="rId4" Type="http://schemas.openxmlformats.org/officeDocument/2006/relationships/hyperlink" Target="https://www.luogu.org/problemnew/show/CF10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custDataLst>
              <p:tags r:id="rId2"/>
            </p:custDataLst>
          </p:nvPr>
        </p:nvSpPr>
        <p:spPr>
          <a:xfrm>
            <a:off x="1974122" y="2036074"/>
            <a:ext cx="7893050" cy="89376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线性动态规划进阶</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概念强化</a:t>
            </a:r>
            <a:endParaRPr kumimoji="1" lang="zh-CN" altLang="en-US" dirty="0"/>
          </a:p>
        </p:txBody>
      </p:sp>
      <p:sp>
        <p:nvSpPr>
          <p:cNvPr id="3" name="文本占位符 2"/>
          <p:cNvSpPr>
            <a:spLocks noGrp="1"/>
          </p:cNvSpPr>
          <p:nvPr>
            <p:ph type="body" sz="quarter" idx="10"/>
          </p:nvPr>
        </p:nvSpPr>
        <p:spPr/>
        <p:txBody>
          <a:bodyPr/>
          <a:lstStyle/>
          <a:p>
            <a:r>
              <a:rPr kumimoji="1" lang="zh-CN" altLang="en-US" dirty="0"/>
              <a:t>动态规划是一种用途很广的问题求解方法，它本身并不是一个特定的算法，而是一种思想，一种手段。它的设计是对解最优化问题的一种途径、一种方法，而不是一种特殊算法。不像搜索或数值计算那样，具有一个标准的数学表达式和明确清晰的解题方法。动态规划程序设计往往是针对一种最优化问题，由于各种问题的性质不同，确定最优解的条件也互不相同，因而动态规划的设计方法对不同的问题，有各具特色的解题方法，而不存在一种万能的动态规划算法，可以解决各类最优化</a:t>
            </a:r>
            <a:r>
              <a:rPr kumimoji="1" lang="zh-CN" altLang="en-US" dirty="0" smtClean="0"/>
              <a:t>问</a:t>
            </a:r>
            <a:endParaRPr kumimoji="1"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多阶段</a:t>
            </a:r>
            <a:r>
              <a:rPr lang="zh-CN" altLang="en-US" dirty="0" smtClean="0"/>
              <a:t>决策</a:t>
            </a:r>
            <a:endParaRPr lang="zh-CN" altLang="en-US" dirty="0"/>
          </a:p>
        </p:txBody>
      </p:sp>
      <p:sp>
        <p:nvSpPr>
          <p:cNvPr id="3" name="文本占位符 2"/>
          <p:cNvSpPr>
            <a:spLocks noGrp="1"/>
          </p:cNvSpPr>
          <p:nvPr>
            <p:ph type="body" sz="quarter" idx="10"/>
          </p:nvPr>
        </p:nvSpPr>
        <p:spPr/>
        <p:txBody>
          <a:bodyPr/>
          <a:lstStyle/>
          <a:p>
            <a:endParaRPr lang="en-US" altLang="zh-CN" dirty="0" smtClean="0"/>
          </a:p>
          <a:p>
            <a:r>
              <a:rPr lang="zh-CN" altLang="en-US" dirty="0" smtClean="0"/>
              <a:t>多</a:t>
            </a:r>
            <a:r>
              <a:rPr lang="zh-CN" altLang="en-US" dirty="0"/>
              <a:t>阶段决策问题</a:t>
            </a:r>
            <a:r>
              <a:rPr lang="en-US" altLang="zh-CN" dirty="0"/>
              <a:t>:</a:t>
            </a:r>
            <a:r>
              <a:rPr lang="zh-CN" altLang="en-US" dirty="0"/>
              <a:t>如果一类活动过程可以分为若干个互相联系的阶段，在每一个阶段都需作出决策</a:t>
            </a:r>
            <a:r>
              <a:rPr lang="en-US" altLang="zh-CN" dirty="0"/>
              <a:t>(</a:t>
            </a:r>
            <a:r>
              <a:rPr lang="zh-CN" altLang="en-US" dirty="0"/>
              <a:t>采取措施</a:t>
            </a:r>
            <a:r>
              <a:rPr lang="en-US" altLang="zh-CN" dirty="0"/>
              <a:t>)</a:t>
            </a:r>
            <a:r>
              <a:rPr lang="zh-CN" altLang="en-US" dirty="0"/>
              <a:t>，一个阶段的决策确定以后，常常影响到下一个阶段的决策，从而就完全确定了一个过程的活动路线，则称它为多阶段决策问题。（不同于贪心，贪心在当前阶段的决策确定以后，不会影响下一个阶段的</a:t>
            </a:r>
            <a:r>
              <a:rPr lang="zh-CN" altLang="en-US" dirty="0" smtClean="0"/>
              <a:t>决策</a:t>
            </a:r>
            <a:endParaRPr lang="zh-CN" altLang="en-US" dirty="0"/>
          </a:p>
        </p:txBody>
      </p:sp>
    </p:spTree>
    <p:extLst>
      <p:ext uri="{BB962C8B-B14F-4D97-AF65-F5344CB8AC3E}">
        <p14:creationId xmlns:p14="http://schemas.microsoft.com/office/powerpoint/2010/main" val="35405224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阶段</a:t>
            </a:r>
          </a:p>
        </p:txBody>
      </p:sp>
      <p:sp>
        <p:nvSpPr>
          <p:cNvPr id="3" name="文本占位符 2"/>
          <p:cNvSpPr>
            <a:spLocks noGrp="1"/>
          </p:cNvSpPr>
          <p:nvPr>
            <p:ph type="body" sz="quarter" idx="10"/>
          </p:nvPr>
        </p:nvSpPr>
        <p:spPr/>
        <p:txBody>
          <a:bodyPr/>
          <a:lstStyle/>
          <a:p>
            <a:r>
              <a:rPr kumimoji="1" lang="zh-CN" altLang="en-US" dirty="0"/>
              <a:t>把所给求解问题的过程恰当地分成若干个相互联系的阶段，以便于求解，过程不同，阶段数就可能不同．描述阶段的变量称为阶段变量。在多数情况下，阶段变量是离散的，用</a:t>
            </a:r>
            <a:r>
              <a:rPr kumimoji="1" lang="en-US" altLang="zh-CN" dirty="0"/>
              <a:t>k</a:t>
            </a:r>
            <a:r>
              <a:rPr kumimoji="1" lang="zh-CN" altLang="en-US" dirty="0"/>
              <a:t>表示。此外，也有阶段变量是连续的情形。如果过程可以在任何时刻作出决策，且在任意两个不同的时刻之间允许有无穷多个决策时，阶段变量就是连续的。</a:t>
            </a:r>
          </a:p>
          <a:p>
            <a:endParaRPr lang="zh-CN" altLang="en-US" dirty="0"/>
          </a:p>
        </p:txBody>
      </p:sp>
    </p:spTree>
    <p:extLst>
      <p:ext uri="{BB962C8B-B14F-4D97-AF65-F5344CB8AC3E}">
        <p14:creationId xmlns:p14="http://schemas.microsoft.com/office/powerpoint/2010/main" val="32566508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a:t>
            </a:r>
            <a:endParaRPr kumimoji="1" lang="zh-CN" altLang="en-US" dirty="0"/>
          </a:p>
        </p:txBody>
      </p:sp>
      <p:sp>
        <p:nvSpPr>
          <p:cNvPr id="3" name="文本占位符 2"/>
          <p:cNvSpPr>
            <a:spLocks noGrp="1"/>
          </p:cNvSpPr>
          <p:nvPr>
            <p:ph type="body" sz="quarter" idx="10"/>
          </p:nvPr>
        </p:nvSpPr>
        <p:spPr/>
        <p:txBody>
          <a:bodyPr/>
          <a:lstStyle/>
          <a:p>
            <a:r>
              <a:rPr kumimoji="1" lang="zh-CN" altLang="en-US" dirty="0"/>
              <a:t>状态表示每个阶段开始面临的自然状况或客观条件，它不以人们的主观意志为转移，也称为不可控因素。在上面的例子中状态就是某阶段的出发位置，它既是该阶段某路的起点，同时又是前一阶段某支路的终点。在前面的例子中，第一个阶段有一个状态即</a:t>
            </a:r>
            <a:r>
              <a:rPr kumimoji="1" lang="en-US" altLang="zh-CN" dirty="0"/>
              <a:t>A</a:t>
            </a:r>
            <a:r>
              <a:rPr kumimoji="1" lang="zh-CN" altLang="en-US" dirty="0"/>
              <a:t>，而第二个阶段有两个状态</a:t>
            </a:r>
            <a:r>
              <a:rPr kumimoji="1" lang="en-US" altLang="zh-CN" dirty="0"/>
              <a:t>B1</a:t>
            </a:r>
            <a:r>
              <a:rPr kumimoji="1" lang="zh-CN" altLang="en-US" dirty="0"/>
              <a:t>和</a:t>
            </a:r>
            <a:r>
              <a:rPr kumimoji="1" lang="en-US" altLang="zh-CN" dirty="0"/>
              <a:t>B2</a:t>
            </a:r>
            <a:r>
              <a:rPr kumimoji="1" lang="zh-CN" altLang="en-US" dirty="0"/>
              <a:t>，第三个阶段是三个状态</a:t>
            </a:r>
            <a:r>
              <a:rPr kumimoji="1" lang="en-US" altLang="zh-CN" dirty="0"/>
              <a:t>C1</a:t>
            </a:r>
            <a:r>
              <a:rPr kumimoji="1" lang="zh-CN" altLang="en-US" dirty="0"/>
              <a:t>，</a:t>
            </a:r>
            <a:r>
              <a:rPr kumimoji="1" lang="en-US" altLang="zh-CN" dirty="0"/>
              <a:t>C2</a:t>
            </a:r>
            <a:r>
              <a:rPr kumimoji="1" lang="zh-CN" altLang="en-US" dirty="0"/>
              <a:t>和</a:t>
            </a:r>
            <a:r>
              <a:rPr kumimoji="1" lang="en-US" altLang="zh-CN" dirty="0"/>
              <a:t>C3</a:t>
            </a:r>
            <a:r>
              <a:rPr kumimoji="1" lang="zh-CN" altLang="en-US" dirty="0"/>
              <a:t>，而第四个阶段又是一个状态</a:t>
            </a:r>
            <a:r>
              <a:rPr kumimoji="1" lang="en-US" altLang="zh-CN" dirty="0"/>
              <a:t>D</a:t>
            </a:r>
            <a:r>
              <a:rPr kumimoji="1" lang="zh-CN" altLang="en-US" dirty="0" smtClean="0"/>
              <a:t>。</a:t>
            </a:r>
            <a:endParaRPr kumimoji="1" lang="zh-CN" altLang="en-US" dirty="0"/>
          </a:p>
        </p:txBody>
      </p:sp>
    </p:spTree>
    <p:extLst>
      <p:ext uri="{BB962C8B-B14F-4D97-AF65-F5344CB8AC3E}">
        <p14:creationId xmlns:p14="http://schemas.microsoft.com/office/powerpoint/2010/main" val="7777267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基本模型</a:t>
            </a:r>
            <a:endParaRPr kumimoji="1" lang="zh-CN" altLang="en-US" dirty="0"/>
          </a:p>
        </p:txBody>
      </p:sp>
      <p:sp>
        <p:nvSpPr>
          <p:cNvPr id="3" name="文本占位符 2"/>
          <p:cNvSpPr>
            <a:spLocks noGrp="1"/>
          </p:cNvSpPr>
          <p:nvPr>
            <p:ph type="body" sz="quarter" idx="10"/>
          </p:nvPr>
        </p:nvSpPr>
        <p:spPr/>
        <p:txBody>
          <a:bodyPr/>
          <a:lstStyle/>
          <a:p>
            <a:r>
              <a:rPr kumimoji="1" lang="zh-CN" altLang="en-US" dirty="0"/>
              <a:t>基本模型</a:t>
            </a:r>
            <a:r>
              <a:rPr kumimoji="1" lang="en-US" altLang="zh-CN" dirty="0" smtClean="0"/>
              <a:t>:</a:t>
            </a:r>
          </a:p>
          <a:p>
            <a:r>
              <a:rPr kumimoji="1" lang="en-US" altLang="zh-CN" dirty="0" smtClean="0"/>
              <a:t>(</a:t>
            </a:r>
            <a:r>
              <a:rPr kumimoji="1" lang="en-US" altLang="zh-CN" dirty="0"/>
              <a:t>1)</a:t>
            </a:r>
            <a:r>
              <a:rPr kumimoji="1" lang="zh-CN" altLang="en-US" dirty="0"/>
              <a:t>确定问题的决策对象。 </a:t>
            </a:r>
            <a:endParaRPr kumimoji="1" lang="en-US" altLang="zh-CN" dirty="0" smtClean="0"/>
          </a:p>
          <a:p>
            <a:r>
              <a:rPr kumimoji="1" lang="en-US" altLang="zh-CN" dirty="0" smtClean="0"/>
              <a:t>(</a:t>
            </a:r>
            <a:r>
              <a:rPr kumimoji="1" lang="en-US" altLang="zh-CN" dirty="0"/>
              <a:t>2)</a:t>
            </a:r>
            <a:r>
              <a:rPr kumimoji="1" lang="zh-CN" altLang="en-US" dirty="0"/>
              <a:t>对决策过程划分阶段。 </a:t>
            </a:r>
            <a:endParaRPr kumimoji="1" lang="en-US" altLang="zh-CN" dirty="0" smtClean="0"/>
          </a:p>
          <a:p>
            <a:r>
              <a:rPr kumimoji="1" lang="en-US" altLang="zh-CN" dirty="0" smtClean="0"/>
              <a:t>(</a:t>
            </a:r>
            <a:r>
              <a:rPr kumimoji="1" lang="en-US" altLang="zh-CN" dirty="0"/>
              <a:t>3)</a:t>
            </a:r>
            <a:r>
              <a:rPr kumimoji="1" lang="zh-CN" altLang="en-US" dirty="0"/>
              <a:t>对各阶段确定状态变量 </a:t>
            </a:r>
            <a:endParaRPr kumimoji="1" lang="en-US" altLang="zh-CN" dirty="0" smtClean="0"/>
          </a:p>
          <a:p>
            <a:r>
              <a:rPr kumimoji="1" lang="en-US" altLang="zh-CN" dirty="0" smtClean="0"/>
              <a:t>(</a:t>
            </a:r>
            <a:r>
              <a:rPr kumimoji="1" lang="en-US" altLang="zh-CN" dirty="0"/>
              <a:t>4)</a:t>
            </a:r>
            <a:r>
              <a:rPr kumimoji="1" lang="zh-CN" altLang="en-US" dirty="0"/>
              <a:t>根据状态变量确定费用函数和目标函数。 </a:t>
            </a:r>
            <a:endParaRPr kumimoji="1" lang="en-US" altLang="zh-CN" dirty="0" smtClean="0"/>
          </a:p>
          <a:p>
            <a:r>
              <a:rPr kumimoji="1" lang="en-US" altLang="zh-CN" dirty="0" smtClean="0"/>
              <a:t>(</a:t>
            </a:r>
            <a:r>
              <a:rPr kumimoji="1" lang="en-US" altLang="zh-CN" dirty="0"/>
              <a:t>5)</a:t>
            </a:r>
            <a:r>
              <a:rPr kumimoji="1" lang="zh-CN" altLang="en-US" dirty="0"/>
              <a:t>建立各阶段状态变量的转移过程，确定状态转移方程</a:t>
            </a:r>
            <a:r>
              <a:rPr kumimoji="1" lang="zh-CN" altLang="en-US" dirty="0" smtClean="0"/>
              <a:t>。</a:t>
            </a:r>
            <a:endParaRPr kumimoji="1" lang="zh-CN" altLang="en-US" dirty="0"/>
          </a:p>
        </p:txBody>
      </p:sp>
    </p:spTree>
    <p:extLst>
      <p:ext uri="{BB962C8B-B14F-4D97-AF65-F5344CB8AC3E}">
        <p14:creationId xmlns:p14="http://schemas.microsoft.com/office/powerpoint/2010/main" val="16679948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一般形式</a:t>
            </a:r>
            <a:endParaRPr kumimoji="1" lang="zh-CN" altLang="en-US" dirty="0"/>
          </a:p>
        </p:txBody>
      </p:sp>
      <p:sp>
        <p:nvSpPr>
          <p:cNvPr id="3" name="文本占位符 2"/>
          <p:cNvSpPr>
            <a:spLocks noGrp="1"/>
          </p:cNvSpPr>
          <p:nvPr>
            <p:ph type="body" sz="quarter" idx="10"/>
          </p:nvPr>
        </p:nvSpPr>
        <p:spPr>
          <a:xfrm>
            <a:off x="578555" y="1667318"/>
            <a:ext cx="9894373" cy="4348163"/>
          </a:xfrm>
        </p:spPr>
        <p:txBody>
          <a:bodyPr/>
          <a:lstStyle/>
          <a:p>
            <a:r>
              <a:rPr kumimoji="1" lang="zh-CN" altLang="en-US" dirty="0"/>
              <a:t>状态转移方程的一般形式</a:t>
            </a:r>
            <a:r>
              <a:rPr kumimoji="1" lang="zh-CN" altLang="en-US" dirty="0" smtClean="0"/>
              <a:t>：</a:t>
            </a:r>
            <a:endParaRPr kumimoji="1" lang="en-US" altLang="zh-CN" dirty="0" smtClean="0"/>
          </a:p>
          <a:p>
            <a:r>
              <a:rPr kumimoji="1" lang="zh-CN" altLang="en-US" dirty="0" smtClean="0"/>
              <a:t>一般</a:t>
            </a:r>
            <a:r>
              <a:rPr kumimoji="1" lang="zh-CN" altLang="en-US" dirty="0"/>
              <a:t>形式： </a:t>
            </a:r>
            <a:r>
              <a:rPr kumimoji="1" lang="en-US" altLang="zh-CN" dirty="0"/>
              <a:t>U</a:t>
            </a:r>
            <a:r>
              <a:rPr kumimoji="1" lang="zh-CN" altLang="en-US" dirty="0"/>
              <a:t>：状态； </a:t>
            </a:r>
            <a:r>
              <a:rPr kumimoji="1" lang="en-US" altLang="zh-CN" dirty="0"/>
              <a:t>X</a:t>
            </a:r>
            <a:r>
              <a:rPr kumimoji="1" lang="zh-CN" altLang="en-US" dirty="0"/>
              <a:t>：策略　　</a:t>
            </a:r>
            <a:endParaRPr kumimoji="1" lang="en-US" altLang="zh-CN" dirty="0" smtClean="0"/>
          </a:p>
          <a:p>
            <a:endParaRPr kumimoji="1" lang="en-US" altLang="zh-CN" dirty="0"/>
          </a:p>
          <a:p>
            <a:r>
              <a:rPr kumimoji="1" lang="zh-CN" altLang="en-US" dirty="0" smtClean="0"/>
              <a:t>顺推</a:t>
            </a:r>
            <a:r>
              <a:rPr kumimoji="1" lang="en-US" altLang="zh-CN" dirty="0" smtClean="0"/>
              <a:t>:f[</a:t>
            </a:r>
            <a:r>
              <a:rPr kumimoji="1" lang="en-US" altLang="zh-CN" dirty="0" err="1" smtClean="0"/>
              <a:t>Uk</a:t>
            </a:r>
            <a:r>
              <a:rPr kumimoji="1" lang="en-US" altLang="zh-CN" dirty="0"/>
              <a:t>]=opt{f[Uk-1]+L[Uk-1,Xk-1]} </a:t>
            </a:r>
          </a:p>
          <a:p>
            <a:r>
              <a:rPr kumimoji="1" lang="en-US" altLang="zh-CN" dirty="0" smtClean="0"/>
              <a:t>L[Uk-1,Xk-1]:</a:t>
            </a:r>
            <a:r>
              <a:rPr kumimoji="1" lang="zh-CN" altLang="en-US" dirty="0" smtClean="0"/>
              <a:t>状态</a:t>
            </a:r>
            <a:r>
              <a:rPr kumimoji="1" lang="en-US" altLang="zh-CN" dirty="0"/>
              <a:t>Uk-1</a:t>
            </a:r>
            <a:r>
              <a:rPr kumimoji="1" lang="zh-CN" altLang="en-US" dirty="0"/>
              <a:t>通过策略</a:t>
            </a:r>
            <a:r>
              <a:rPr kumimoji="1" lang="en-US" altLang="zh-CN" dirty="0"/>
              <a:t>Xk-1</a:t>
            </a:r>
            <a:r>
              <a:rPr kumimoji="1" lang="zh-CN" altLang="en-US" dirty="0"/>
              <a:t>到达状态</a:t>
            </a:r>
            <a:r>
              <a:rPr kumimoji="1" lang="en-US" altLang="zh-CN" dirty="0" err="1"/>
              <a:t>Uk</a:t>
            </a:r>
            <a:r>
              <a:rPr kumimoji="1" lang="en-US" altLang="zh-CN" dirty="0"/>
              <a:t> </a:t>
            </a:r>
            <a:r>
              <a:rPr kumimoji="1" lang="zh-CN" altLang="en-US" dirty="0"/>
              <a:t>的费用 </a:t>
            </a:r>
            <a:endParaRPr kumimoji="1" lang="en-US" altLang="zh-CN" dirty="0" smtClean="0"/>
          </a:p>
          <a:p>
            <a:r>
              <a:rPr kumimoji="1" lang="zh-CN" altLang="en-US" dirty="0" smtClean="0"/>
              <a:t>初始</a:t>
            </a:r>
            <a:r>
              <a:rPr kumimoji="1" lang="en-US" altLang="zh-CN" dirty="0"/>
              <a:t>f[U1</a:t>
            </a:r>
            <a:r>
              <a:rPr kumimoji="1" lang="en-US" altLang="zh-CN" dirty="0" smtClean="0"/>
              <a:t>]</a:t>
            </a:r>
            <a:r>
              <a:rPr kumimoji="1" lang="en-US" altLang="zh-CN" dirty="0"/>
              <a:t>;</a:t>
            </a:r>
            <a:endParaRPr kumimoji="1" lang="en-US" altLang="zh-CN" dirty="0" smtClean="0"/>
          </a:p>
          <a:p>
            <a:r>
              <a:rPr kumimoji="1" lang="zh-CN" altLang="en-US" dirty="0" smtClean="0"/>
              <a:t>结果</a:t>
            </a:r>
            <a:r>
              <a:rPr kumimoji="1" lang="en-US" altLang="zh-CN" dirty="0" smtClean="0"/>
              <a:t>:f[Un</a:t>
            </a:r>
            <a:r>
              <a:rPr kumimoji="1" lang="en-US" altLang="zh-CN" dirty="0"/>
              <a:t>]</a:t>
            </a:r>
            <a:r>
              <a:rPr kumimoji="1" lang="zh-CN" altLang="en-US" dirty="0"/>
              <a:t>。</a:t>
            </a:r>
          </a:p>
          <a:p>
            <a:endParaRPr kumimoji="1" lang="zh-CN" altLang="en-US" dirty="0"/>
          </a:p>
        </p:txBody>
      </p:sp>
    </p:spTree>
    <p:extLst>
      <p:ext uri="{BB962C8B-B14F-4D97-AF65-F5344CB8AC3E}">
        <p14:creationId xmlns:p14="http://schemas.microsoft.com/office/powerpoint/2010/main" val="7370924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最大子段和</a:t>
            </a:r>
            <a:endParaRPr kumimoji="1" lang="zh-CN" altLang="en-US" dirty="0"/>
          </a:p>
        </p:txBody>
      </p:sp>
      <p:sp>
        <p:nvSpPr>
          <p:cNvPr id="3" name="文本占位符 2"/>
          <p:cNvSpPr>
            <a:spLocks noGrp="1"/>
          </p:cNvSpPr>
          <p:nvPr>
            <p:ph type="body" sz="quarter" idx="10"/>
          </p:nvPr>
        </p:nvSpPr>
        <p:spPr/>
        <p:txBody>
          <a:bodyPr/>
          <a:lstStyle/>
          <a:p>
            <a:r>
              <a:rPr lang="zh-CN" altLang="en-US" sz="1800" b="1" dirty="0"/>
              <a:t>题目描述</a:t>
            </a:r>
          </a:p>
          <a:p>
            <a:r>
              <a:rPr lang="zh-CN" altLang="en-US" sz="1800" dirty="0"/>
              <a:t>给出一段序列，选出其中连续且非空的一段使得这段和最大。</a:t>
            </a:r>
          </a:p>
          <a:p>
            <a:r>
              <a:rPr lang="zh-CN" altLang="en-US" sz="1800" b="1" dirty="0"/>
              <a:t>输入输出</a:t>
            </a:r>
            <a:r>
              <a:rPr lang="zh-CN" altLang="en-US" sz="1800" b="1" dirty="0" smtClean="0"/>
              <a:t>格式</a:t>
            </a:r>
            <a:endParaRPr lang="en-US" altLang="zh-CN" sz="1800" b="1" dirty="0" smtClean="0"/>
          </a:p>
          <a:p>
            <a:endParaRPr lang="zh-CN" altLang="en-US" sz="1800" b="1" dirty="0"/>
          </a:p>
          <a:p>
            <a:r>
              <a:rPr lang="zh-CN" altLang="en-US" sz="1800" b="1" dirty="0"/>
              <a:t>输入格式</a:t>
            </a:r>
            <a:r>
              <a:rPr lang="zh-CN" altLang="en-US" sz="1800" b="1" dirty="0" smtClean="0"/>
              <a:t>：</a:t>
            </a:r>
            <a:endParaRPr lang="zh-CN" altLang="en-US" sz="1800" dirty="0"/>
          </a:p>
          <a:p>
            <a:r>
              <a:rPr lang="zh-CN" altLang="en-US" sz="1800" dirty="0"/>
              <a:t>第一行是一个正整数</a:t>
            </a:r>
            <a:r>
              <a:rPr lang="en-US" altLang="zh-CN" sz="1800" dirty="0" smtClean="0"/>
              <a:t>N</a:t>
            </a:r>
            <a:r>
              <a:rPr lang="zh-CN" altLang="en-US" sz="1800" dirty="0" smtClean="0"/>
              <a:t>，</a:t>
            </a:r>
            <a:r>
              <a:rPr lang="zh-CN" altLang="en-US" sz="1800" dirty="0"/>
              <a:t>表示了序列的长度。</a:t>
            </a:r>
          </a:p>
          <a:p>
            <a:r>
              <a:rPr lang="zh-CN" altLang="en-US" sz="1800" dirty="0"/>
              <a:t>第二行包含</a:t>
            </a:r>
            <a:r>
              <a:rPr lang="en-US" altLang="zh-CN" sz="1800" dirty="0" smtClean="0"/>
              <a:t>N</a:t>
            </a:r>
            <a:r>
              <a:rPr lang="zh-CN" altLang="en-US" sz="1800" dirty="0" smtClean="0"/>
              <a:t>个</a:t>
            </a:r>
            <a:r>
              <a:rPr lang="zh-CN" altLang="en-US" sz="1800" dirty="0"/>
              <a:t>绝对值不大于</a:t>
            </a:r>
            <a:r>
              <a:rPr lang="en-US" altLang="zh-CN" sz="1800" dirty="0" smtClean="0"/>
              <a:t>10000</a:t>
            </a:r>
            <a:r>
              <a:rPr lang="zh-CN" altLang="en-US" sz="1800" dirty="0" smtClean="0"/>
              <a:t>的</a:t>
            </a:r>
            <a:r>
              <a:rPr lang="zh-CN" altLang="en-US" sz="1800" dirty="0"/>
              <a:t>整数</a:t>
            </a:r>
            <a:r>
              <a:rPr lang="en-US" altLang="zh-CN" sz="1800" dirty="0" err="1" smtClean="0"/>
              <a:t>A_i</a:t>
            </a:r>
            <a:r>
              <a:rPr lang="zh-CN" altLang="en-US" sz="1800" dirty="0"/>
              <a:t>​，描述了这段序列</a:t>
            </a:r>
            <a:r>
              <a:rPr lang="zh-CN" altLang="en-US" sz="1800" dirty="0" smtClean="0"/>
              <a:t>。</a:t>
            </a:r>
            <a:endParaRPr lang="en-US" altLang="zh-CN" sz="1800" dirty="0" smtClean="0"/>
          </a:p>
          <a:p>
            <a:endParaRPr lang="zh-CN" altLang="en-US" sz="1800" dirty="0"/>
          </a:p>
          <a:p>
            <a:r>
              <a:rPr lang="zh-CN" altLang="en-US" sz="1800" b="1" dirty="0"/>
              <a:t>输出格式</a:t>
            </a:r>
            <a:r>
              <a:rPr lang="zh-CN" altLang="en-US" sz="1800" b="1" dirty="0" smtClean="0"/>
              <a:t>：</a:t>
            </a:r>
            <a:endParaRPr lang="zh-CN" altLang="en-US" sz="1800" dirty="0"/>
          </a:p>
          <a:p>
            <a:r>
              <a:rPr lang="zh-CN" altLang="en-US" sz="1800" dirty="0"/>
              <a:t>一个整数，为最大的子段和是多少。子段的最小长度为</a:t>
            </a:r>
            <a:r>
              <a:rPr lang="en-US" altLang="zh-CN" sz="1800" dirty="0"/>
              <a:t>11</a:t>
            </a:r>
            <a:r>
              <a:rPr lang="zh-CN" altLang="en-US" sz="1800" dirty="0"/>
              <a:t>。</a:t>
            </a:r>
          </a:p>
          <a:p>
            <a:endParaRPr kumimoji="1" lang="zh-CN" altLang="en-US" sz="1800" dirty="0"/>
          </a:p>
        </p:txBody>
      </p:sp>
    </p:spTree>
    <p:extLst>
      <p:ext uri="{BB962C8B-B14F-4D97-AF65-F5344CB8AC3E}">
        <p14:creationId xmlns:p14="http://schemas.microsoft.com/office/powerpoint/2010/main" val="15745219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文本占位符 2"/>
          <p:cNvSpPr>
            <a:spLocks noGrp="1"/>
          </p:cNvSpPr>
          <p:nvPr>
            <p:ph type="body" sz="quarter" idx="10"/>
          </p:nvPr>
        </p:nvSpPr>
        <p:spPr/>
        <p:txBody>
          <a:bodyPr/>
          <a:lstStyle/>
          <a:p>
            <a:r>
              <a:rPr lang="zh-CN" altLang="en-US" sz="2000" b="1" dirty="0"/>
              <a:t>输入输出样例</a:t>
            </a:r>
          </a:p>
          <a:p>
            <a:r>
              <a:rPr lang="zh-CN" altLang="en-US" sz="2000" b="1" dirty="0"/>
              <a:t>输入样例</a:t>
            </a:r>
            <a:r>
              <a:rPr lang="en-US" altLang="zh-CN" sz="2000" b="1" dirty="0"/>
              <a:t>#1</a:t>
            </a:r>
            <a:r>
              <a:rPr lang="zh-CN" altLang="en-US" sz="2000" b="1" dirty="0" smtClean="0"/>
              <a:t>：</a:t>
            </a:r>
            <a:endParaRPr lang="en-US" altLang="zh-CN" sz="2000" dirty="0"/>
          </a:p>
          <a:p>
            <a:pPr marL="0" indent="0">
              <a:buNone/>
            </a:pPr>
            <a:r>
              <a:rPr lang="en-US" altLang="zh-CN" sz="2000" dirty="0" smtClean="0">
                <a:solidFill>
                  <a:srgbClr val="FF0000"/>
                </a:solidFill>
              </a:rPr>
              <a:t>7 </a:t>
            </a:r>
          </a:p>
          <a:p>
            <a:pPr marL="0" indent="0">
              <a:buNone/>
            </a:pPr>
            <a:r>
              <a:rPr lang="en-US" altLang="zh-CN" sz="2000" dirty="0" smtClean="0">
                <a:solidFill>
                  <a:srgbClr val="FF0000"/>
                </a:solidFill>
              </a:rPr>
              <a:t>2 </a:t>
            </a:r>
            <a:r>
              <a:rPr lang="en-US" altLang="zh-CN" sz="2000" dirty="0">
                <a:solidFill>
                  <a:srgbClr val="FF0000"/>
                </a:solidFill>
              </a:rPr>
              <a:t>-4 3 -1 2 -4 3</a:t>
            </a:r>
          </a:p>
          <a:p>
            <a:r>
              <a:rPr lang="zh-CN" altLang="en-US" sz="2000" b="1" dirty="0"/>
              <a:t>输出样例</a:t>
            </a:r>
            <a:r>
              <a:rPr lang="en-US" altLang="zh-CN" sz="2000" b="1" dirty="0"/>
              <a:t>#1</a:t>
            </a:r>
            <a:r>
              <a:rPr lang="zh-CN" altLang="en-US" sz="2000" b="1" dirty="0" smtClean="0"/>
              <a:t>：</a:t>
            </a:r>
            <a:endParaRPr lang="en-US" altLang="zh-CN" sz="2000" b="1" dirty="0" smtClean="0"/>
          </a:p>
          <a:p>
            <a:pPr marL="0" indent="0">
              <a:buNone/>
            </a:pPr>
            <a:r>
              <a:rPr lang="en-US" altLang="zh-CN" sz="2000" dirty="0" smtClean="0">
                <a:solidFill>
                  <a:srgbClr val="FF0000"/>
                </a:solidFill>
              </a:rPr>
              <a:t>4</a:t>
            </a:r>
            <a:endParaRPr lang="en-US" altLang="zh-CN" sz="2000" dirty="0">
              <a:solidFill>
                <a:srgbClr val="FF0000"/>
              </a:solidFill>
            </a:endParaRPr>
          </a:p>
          <a:p>
            <a:r>
              <a:rPr lang="en-US" altLang="zh-CN" sz="2000" dirty="0" smtClean="0"/>
              <a:t>【</a:t>
            </a:r>
            <a:r>
              <a:rPr lang="zh-CN" altLang="en-US" sz="2000" dirty="0"/>
              <a:t>数据规模与约定</a:t>
            </a:r>
            <a:r>
              <a:rPr lang="en-US" altLang="zh-CN" sz="2000" dirty="0"/>
              <a:t>】</a:t>
            </a:r>
          </a:p>
          <a:p>
            <a:r>
              <a:rPr lang="zh-CN" altLang="en-US" sz="2000" dirty="0" smtClean="0"/>
              <a:t>对于</a:t>
            </a:r>
            <a:r>
              <a:rPr lang="en-US" altLang="zh-CN" sz="2000" dirty="0" smtClean="0"/>
              <a:t>40</a:t>
            </a:r>
            <a:r>
              <a:rPr lang="en-US" altLang="zh-CN" sz="2000" dirty="0"/>
              <a:t>%</a:t>
            </a:r>
            <a:r>
              <a:rPr lang="zh-CN" altLang="en-US" sz="2000" dirty="0"/>
              <a:t>的数据，有</a:t>
            </a:r>
            <a:r>
              <a:rPr lang="en-US" altLang="zh-CN" sz="2000" dirty="0"/>
              <a:t>N ≤ </a:t>
            </a:r>
            <a:r>
              <a:rPr lang="en-US" altLang="zh-CN" sz="2000" dirty="0" smtClean="0"/>
              <a:t>2000</a:t>
            </a:r>
            <a:r>
              <a:rPr lang="zh-CN" altLang="en-US" sz="2000" dirty="0" smtClean="0"/>
              <a:t>。</a:t>
            </a:r>
            <a:endParaRPr lang="zh-CN" altLang="en-US" sz="2000" dirty="0"/>
          </a:p>
          <a:p>
            <a:r>
              <a:rPr lang="zh-CN" altLang="en-US" sz="2000" dirty="0" smtClean="0"/>
              <a:t>对于</a:t>
            </a:r>
            <a:r>
              <a:rPr lang="en-US" altLang="zh-CN" sz="2000" dirty="0" smtClean="0"/>
              <a:t>100</a:t>
            </a:r>
            <a:r>
              <a:rPr lang="en-US" altLang="zh-CN" sz="2000" dirty="0"/>
              <a:t>%</a:t>
            </a:r>
            <a:r>
              <a:rPr lang="zh-CN" altLang="en-US" sz="2000" dirty="0"/>
              <a:t>的数据，有</a:t>
            </a:r>
            <a:r>
              <a:rPr lang="en-US" altLang="zh-CN" sz="2000" dirty="0"/>
              <a:t>N ≤ </a:t>
            </a:r>
            <a:r>
              <a:rPr lang="en-US" altLang="zh-CN" sz="2000" dirty="0" smtClean="0"/>
              <a:t>200000</a:t>
            </a:r>
            <a:r>
              <a:rPr lang="zh-CN" altLang="en-US" sz="2000" dirty="0" smtClean="0"/>
              <a:t>。</a:t>
            </a:r>
            <a:endParaRPr lang="zh-CN" altLang="en-US" sz="2000" dirty="0"/>
          </a:p>
          <a:p>
            <a:endParaRPr kumimoji="1" lang="zh-CN" altLang="en-US" sz="2000" dirty="0"/>
          </a:p>
        </p:txBody>
      </p:sp>
    </p:spTree>
    <p:extLst>
      <p:ext uri="{BB962C8B-B14F-4D97-AF65-F5344CB8AC3E}">
        <p14:creationId xmlns:p14="http://schemas.microsoft.com/office/powerpoint/2010/main" val="16966295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题解</a:t>
            </a:r>
            <a:endParaRPr kumimoji="1" lang="zh-CN" altLang="en-US" dirty="0"/>
          </a:p>
        </p:txBody>
      </p:sp>
      <p:sp>
        <p:nvSpPr>
          <p:cNvPr id="3" name="文本占位符 2"/>
          <p:cNvSpPr>
            <a:spLocks noGrp="1"/>
          </p:cNvSpPr>
          <p:nvPr>
            <p:ph type="body" sz="quarter" idx="10"/>
          </p:nvPr>
        </p:nvSpPr>
        <p:spPr/>
        <p:txBody>
          <a:bodyPr/>
          <a:lstStyle/>
          <a:p>
            <a:pPr marL="0" indent="0">
              <a:buNone/>
            </a:pPr>
            <a:r>
              <a:rPr lang="zh-CN" altLang="mr-IN" sz="1800" dirty="0" smtClean="0"/>
              <a:t>我们假设</a:t>
            </a:r>
            <a:r>
              <a:rPr lang="mr-IN" altLang="zh-CN" sz="1800" i="1" dirty="0" err="1" smtClean="0"/>
              <a:t>f</a:t>
            </a:r>
            <a:r>
              <a:rPr lang="mr-IN" altLang="zh-CN" sz="1800" dirty="0" smtClean="0"/>
              <a:t>[</a:t>
            </a:r>
            <a:r>
              <a:rPr lang="mr-IN" altLang="zh-CN" sz="1800" dirty="0" err="1" smtClean="0"/>
              <a:t>i</a:t>
            </a:r>
            <a:r>
              <a:rPr lang="mr-IN" altLang="zh-CN" sz="1800" dirty="0" smtClean="0"/>
              <a:t>]</a:t>
            </a:r>
            <a:r>
              <a:rPr lang="zh-CN" altLang="mr-IN" sz="1800" dirty="0" smtClean="0"/>
              <a:t>为</a:t>
            </a:r>
            <a:r>
              <a:rPr lang="zh-CN" altLang="mr-IN" sz="1800" dirty="0"/>
              <a:t>结尾在</a:t>
            </a:r>
            <a:r>
              <a:rPr lang="zh-CN" altLang="mr-IN" sz="1800" dirty="0" smtClean="0"/>
              <a:t>第</a:t>
            </a:r>
            <a:r>
              <a:rPr lang="mr-IN" altLang="zh-CN" sz="1800" i="1" dirty="0" err="1" smtClean="0"/>
              <a:t>i</a:t>
            </a:r>
            <a:r>
              <a:rPr lang="zh-CN" altLang="mr-IN" sz="1800" dirty="0"/>
              <a:t>个格子的最优解，</a:t>
            </a:r>
            <a:r>
              <a:rPr lang="zh-CN" altLang="mr-IN" sz="1800" dirty="0" smtClean="0"/>
              <a:t>用</a:t>
            </a:r>
            <a:r>
              <a:rPr lang="mr-IN" altLang="zh-CN" sz="1800" i="1" dirty="0" err="1" smtClean="0"/>
              <a:t>a</a:t>
            </a:r>
            <a:r>
              <a:rPr lang="zh-CN" altLang="mr-IN" sz="1800" dirty="0"/>
              <a:t>数组来表示这些数（</a:t>
            </a:r>
            <a:r>
              <a:rPr lang="zh-CN" altLang="mr-IN" sz="1800" dirty="0" smtClean="0"/>
              <a:t>即</a:t>
            </a:r>
            <a:r>
              <a:rPr lang="mr-IN" altLang="zh-CN" sz="1800" i="1" dirty="0" err="1" smtClean="0"/>
              <a:t>a</a:t>
            </a:r>
            <a:r>
              <a:rPr lang="mr-IN" altLang="zh-CN" sz="1800" dirty="0" smtClean="0"/>
              <a:t>[</a:t>
            </a:r>
            <a:r>
              <a:rPr lang="mr-IN" altLang="zh-CN" sz="1800" i="1" dirty="0" err="1" smtClean="0"/>
              <a:t>i</a:t>
            </a:r>
            <a:r>
              <a:rPr lang="mr-IN" altLang="zh-CN" sz="1800" dirty="0"/>
              <a:t>]</a:t>
            </a:r>
            <a:r>
              <a:rPr lang="zh-CN" altLang="mr-IN" sz="1800" dirty="0"/>
              <a:t>表示这个集合中的</a:t>
            </a:r>
            <a:r>
              <a:rPr lang="zh-CN" altLang="mr-IN" sz="1800" dirty="0" smtClean="0"/>
              <a:t>第</a:t>
            </a:r>
            <a:r>
              <a:rPr lang="mr-IN" altLang="zh-CN" sz="1800" i="1" dirty="0" err="1" smtClean="0"/>
              <a:t>i</a:t>
            </a:r>
            <a:r>
              <a:rPr lang="zh-CN" altLang="mr-IN" sz="1800" dirty="0"/>
              <a:t>个数），那么很显然，答案就</a:t>
            </a:r>
            <a:r>
              <a:rPr lang="zh-CN" altLang="mr-IN" sz="1800" dirty="0" smtClean="0"/>
              <a:t>是</a:t>
            </a:r>
            <a:r>
              <a:rPr lang="mr-IN" altLang="zh-CN" sz="1800" i="1" dirty="0" err="1" smtClean="0"/>
              <a:t>f</a:t>
            </a:r>
            <a:r>
              <a:rPr lang="mr-IN" altLang="zh-CN" sz="1800" dirty="0" smtClean="0"/>
              <a:t>[</a:t>
            </a:r>
            <a:r>
              <a:rPr lang="mr-IN" altLang="zh-CN" sz="1800" i="1" dirty="0" err="1" smtClean="0"/>
              <a:t>n</a:t>
            </a:r>
            <a:r>
              <a:rPr lang="mr-IN" altLang="zh-CN" sz="1800" dirty="0"/>
              <a:t>]</a:t>
            </a:r>
            <a:r>
              <a:rPr lang="zh-CN" altLang="mr-IN" sz="1800" dirty="0"/>
              <a:t>。</a:t>
            </a:r>
          </a:p>
          <a:p>
            <a:pPr marL="0" indent="0">
              <a:buNone/>
            </a:pPr>
            <a:r>
              <a:rPr lang="zh-CN" altLang="mr-IN" sz="1800" dirty="0"/>
              <a:t>不难发现，如果我们在</a:t>
            </a:r>
            <a:r>
              <a:rPr lang="zh-CN" altLang="mr-IN" sz="1800" dirty="0" smtClean="0"/>
              <a:t>第</a:t>
            </a:r>
            <a:r>
              <a:rPr lang="mr-IN" altLang="zh-CN" sz="1800" i="1" dirty="0" err="1" smtClean="0"/>
              <a:t>i</a:t>
            </a:r>
            <a:r>
              <a:rPr lang="zh-CN" altLang="mr-IN" sz="1800" dirty="0"/>
              <a:t>个格子，那么我们可以选择在</a:t>
            </a:r>
            <a:r>
              <a:rPr lang="zh-CN" altLang="mr-IN" sz="1800" dirty="0" smtClean="0"/>
              <a:t>第</a:t>
            </a:r>
            <a:r>
              <a:rPr lang="mr-IN" altLang="zh-CN" sz="1800" i="1" dirty="0" smtClean="0"/>
              <a:t>i</a:t>
            </a:r>
            <a:r>
              <a:rPr lang="mr-IN" altLang="zh-CN" sz="1800" dirty="0"/>
              <a:t>−1</a:t>
            </a:r>
            <a:r>
              <a:rPr lang="zh-CN" altLang="mr-IN" sz="1800" dirty="0"/>
              <a:t>个格子的最优解</a:t>
            </a:r>
            <a:r>
              <a:rPr lang="mr-IN" altLang="zh-CN" sz="1800" dirty="0"/>
              <a:t>+</a:t>
            </a:r>
            <a:r>
              <a:rPr lang="zh-CN" altLang="mr-IN" sz="1800" dirty="0" smtClean="0"/>
              <a:t>第</a:t>
            </a:r>
            <a:r>
              <a:rPr lang="mr-IN" altLang="zh-CN" sz="1800" i="1" dirty="0" smtClean="0"/>
              <a:t>i</a:t>
            </a:r>
            <a:r>
              <a:rPr lang="zh-CN" altLang="mr-IN" sz="1800" dirty="0"/>
              <a:t>个格子的值，或</a:t>
            </a:r>
            <a:r>
              <a:rPr lang="zh-CN" altLang="mr-IN" sz="1800" dirty="0" smtClean="0"/>
              <a:t>第</a:t>
            </a:r>
            <a:r>
              <a:rPr lang="mr-IN" altLang="zh-CN" sz="1800" i="1" dirty="0" err="1" smtClean="0"/>
              <a:t>i</a:t>
            </a:r>
            <a:r>
              <a:rPr lang="zh-CN" altLang="mr-IN" sz="1800" dirty="0"/>
              <a:t>个格子的值</a:t>
            </a:r>
            <a:r>
              <a:rPr lang="zh-CN" altLang="mr-IN" sz="1800" dirty="0" smtClean="0"/>
              <a:t>或</a:t>
            </a:r>
            <a:r>
              <a:rPr lang="mr-IN" altLang="zh-CN" sz="1800" dirty="0" smtClean="0"/>
              <a:t>0</a:t>
            </a:r>
            <a:r>
              <a:rPr lang="zh-CN" altLang="mr-IN" sz="1800" dirty="0" smtClean="0"/>
              <a:t>。</a:t>
            </a:r>
            <a:endParaRPr lang="en-US" altLang="zh-CN" sz="1800" dirty="0" smtClean="0"/>
          </a:p>
          <a:p>
            <a:pPr marL="0" indent="0">
              <a:buNone/>
            </a:pPr>
            <a:endParaRPr lang="zh-CN" altLang="mr-IN" sz="1800" dirty="0"/>
          </a:p>
          <a:p>
            <a:pPr marL="0" indent="0">
              <a:buNone/>
            </a:pPr>
            <a:r>
              <a:rPr lang="zh-CN" altLang="mr-IN" sz="1800" dirty="0"/>
              <a:t>那么得到结论</a:t>
            </a:r>
            <a:r>
              <a:rPr lang="zh-CN" altLang="mr-IN" sz="1800" dirty="0" smtClean="0"/>
              <a:t>：</a:t>
            </a:r>
            <a:endParaRPr lang="zh-CN" altLang="mr-IN" sz="1800" dirty="0"/>
          </a:p>
          <a:p>
            <a:pPr marL="0" indent="0">
              <a:buNone/>
            </a:pPr>
            <a:r>
              <a:rPr lang="mr-IN" altLang="zh-CN" sz="1800" i="1" dirty="0" err="1" smtClean="0"/>
              <a:t>f</a:t>
            </a:r>
            <a:r>
              <a:rPr lang="mr-IN" altLang="zh-CN" sz="1800" dirty="0" smtClean="0"/>
              <a:t>[1]=</a:t>
            </a:r>
            <a:r>
              <a:rPr lang="mr-IN" altLang="zh-CN" sz="1800" i="1" dirty="0" err="1" smtClean="0"/>
              <a:t>a</a:t>
            </a:r>
            <a:r>
              <a:rPr lang="mr-IN" altLang="zh-CN" sz="1800" dirty="0" smtClean="0"/>
              <a:t>[1]</a:t>
            </a:r>
            <a:r>
              <a:rPr lang="zh-CN" altLang="mr-IN" sz="1800" dirty="0" smtClean="0"/>
              <a:t>，</a:t>
            </a:r>
            <a:r>
              <a:rPr lang="zh-CN" altLang="mr-IN" sz="1800" dirty="0"/>
              <a:t>并且</a:t>
            </a:r>
            <a:r>
              <a:rPr lang="zh-CN" altLang="mr-IN" sz="1800" dirty="0" smtClean="0"/>
              <a:t>如果</a:t>
            </a:r>
            <a:r>
              <a:rPr lang="mr-IN" altLang="zh-CN" sz="1800" i="1" dirty="0" err="1" smtClean="0"/>
              <a:t>a</a:t>
            </a:r>
            <a:r>
              <a:rPr lang="mr-IN" altLang="zh-CN" sz="1800" dirty="0" smtClean="0"/>
              <a:t>[</a:t>
            </a:r>
            <a:r>
              <a:rPr lang="mr-IN" altLang="zh-CN" sz="1800" i="1" dirty="0" err="1" smtClean="0"/>
              <a:t>i</a:t>
            </a:r>
            <a:r>
              <a:rPr lang="mr-IN" altLang="zh-CN" sz="1800" dirty="0"/>
              <a:t>]&gt;=0</a:t>
            </a:r>
            <a:r>
              <a:rPr lang="zh-CN" altLang="mr-IN" sz="1800" dirty="0"/>
              <a:t>，那么</a:t>
            </a:r>
            <a:r>
              <a:rPr lang="zh-CN" altLang="mr-IN" sz="1800" dirty="0" smtClean="0"/>
              <a:t>：</a:t>
            </a:r>
            <a:r>
              <a:rPr lang="mr-IN" altLang="zh-CN" sz="1800" i="1" dirty="0" err="1" smtClean="0"/>
              <a:t>f</a:t>
            </a:r>
            <a:r>
              <a:rPr lang="mr-IN" altLang="zh-CN" sz="1800" dirty="0" smtClean="0"/>
              <a:t>[</a:t>
            </a:r>
            <a:r>
              <a:rPr lang="mr-IN" altLang="zh-CN" sz="1800" i="1" dirty="0" err="1" smtClean="0"/>
              <a:t>i</a:t>
            </a:r>
            <a:r>
              <a:rPr lang="mr-IN" altLang="zh-CN" sz="1800" dirty="0"/>
              <a:t>]=</a:t>
            </a:r>
            <a:r>
              <a:rPr lang="mr-IN" altLang="zh-CN" sz="1800" i="1" dirty="0" err="1"/>
              <a:t>f</a:t>
            </a:r>
            <a:r>
              <a:rPr lang="mr-IN" altLang="zh-CN" sz="1800" dirty="0"/>
              <a:t>[</a:t>
            </a:r>
            <a:r>
              <a:rPr lang="mr-IN" altLang="zh-CN" sz="1800" i="1" dirty="0"/>
              <a:t>i</a:t>
            </a:r>
            <a:r>
              <a:rPr lang="mr-IN" altLang="zh-CN" sz="1800" dirty="0"/>
              <a:t>−1]+</a:t>
            </a:r>
            <a:r>
              <a:rPr lang="mr-IN" altLang="zh-CN" sz="1800" i="1" dirty="0" err="1"/>
              <a:t>a</a:t>
            </a:r>
            <a:r>
              <a:rPr lang="mr-IN" altLang="zh-CN" sz="1800" dirty="0"/>
              <a:t>[</a:t>
            </a:r>
            <a:r>
              <a:rPr lang="mr-IN" altLang="zh-CN" sz="1800" i="1" dirty="0" err="1"/>
              <a:t>i</a:t>
            </a:r>
            <a:r>
              <a:rPr lang="mr-IN" altLang="zh-CN" sz="1800" dirty="0" smtClean="0"/>
              <a:t>];</a:t>
            </a:r>
            <a:endParaRPr lang="en-US" altLang="zh-CN" sz="1800" dirty="0" smtClean="0"/>
          </a:p>
          <a:p>
            <a:pPr marL="0" indent="0">
              <a:buNone/>
            </a:pPr>
            <a:r>
              <a:rPr lang="zh-CN" altLang="mr-IN" sz="1800" dirty="0" smtClean="0"/>
              <a:t>否则：</a:t>
            </a:r>
            <a:r>
              <a:rPr lang="mr-IN" altLang="zh-CN" sz="1800" i="1" dirty="0" err="1" smtClean="0"/>
              <a:t>f</a:t>
            </a:r>
            <a:r>
              <a:rPr lang="mr-IN" altLang="zh-CN" sz="1800" dirty="0" smtClean="0"/>
              <a:t>[</a:t>
            </a:r>
            <a:r>
              <a:rPr lang="mr-IN" altLang="zh-CN" sz="1800" i="1" dirty="0" err="1" smtClean="0"/>
              <a:t>i</a:t>
            </a:r>
            <a:r>
              <a:rPr lang="mr-IN" altLang="zh-CN" sz="1800" dirty="0"/>
              <a:t>]=</a:t>
            </a:r>
            <a:r>
              <a:rPr lang="mr-IN" altLang="zh-CN" sz="1800" i="1" dirty="0" err="1"/>
              <a:t>max</a:t>
            </a:r>
            <a:r>
              <a:rPr lang="mr-IN" altLang="zh-CN" sz="1800" dirty="0"/>
              <a:t>(0,</a:t>
            </a:r>
            <a:r>
              <a:rPr lang="mr-IN" altLang="zh-CN" sz="1800" i="1" dirty="0"/>
              <a:t>f</a:t>
            </a:r>
            <a:r>
              <a:rPr lang="mr-IN" altLang="zh-CN" sz="1800" dirty="0"/>
              <a:t>[</a:t>
            </a:r>
            <a:r>
              <a:rPr lang="mr-IN" altLang="zh-CN" sz="1800" i="1" dirty="0"/>
              <a:t>i</a:t>
            </a:r>
            <a:r>
              <a:rPr lang="mr-IN" altLang="zh-CN" sz="1800" dirty="0"/>
              <a:t>−1]+</a:t>
            </a:r>
            <a:r>
              <a:rPr lang="mr-IN" altLang="zh-CN" sz="1800" i="1" dirty="0" err="1"/>
              <a:t>a</a:t>
            </a:r>
            <a:r>
              <a:rPr lang="mr-IN" altLang="zh-CN" sz="1800" dirty="0"/>
              <a:t>[</a:t>
            </a:r>
            <a:r>
              <a:rPr lang="mr-IN" altLang="zh-CN" sz="1800" i="1" dirty="0" err="1"/>
              <a:t>i</a:t>
            </a:r>
            <a:r>
              <a:rPr lang="mr-IN" altLang="zh-CN" sz="1800" dirty="0" smtClean="0"/>
              <a:t>]);</a:t>
            </a:r>
            <a:r>
              <a:rPr lang="zh-CN" altLang="mr-IN" sz="1800" dirty="0" smtClean="0"/>
              <a:t>（</a:t>
            </a:r>
            <a:r>
              <a:rPr lang="mr-IN" altLang="zh-CN" sz="1800" i="1" dirty="0" err="1" smtClean="0"/>
              <a:t>i</a:t>
            </a:r>
            <a:r>
              <a:rPr lang="mr-IN" altLang="zh-CN" sz="1800" dirty="0"/>
              <a:t>&gt;=2</a:t>
            </a:r>
            <a:r>
              <a:rPr lang="zh-CN" altLang="mr-IN" sz="1800" dirty="0"/>
              <a:t>）</a:t>
            </a:r>
            <a:r>
              <a:rPr lang="zh-CN" altLang="mr-IN" sz="1800" dirty="0" smtClean="0"/>
              <a:t>。</a:t>
            </a:r>
            <a:endParaRPr lang="en-US" altLang="zh-CN" sz="1800" dirty="0" smtClean="0"/>
          </a:p>
          <a:p>
            <a:pPr marL="0" indent="0">
              <a:buNone/>
            </a:pPr>
            <a:endParaRPr lang="zh-CN" altLang="mr-IN" sz="1800" dirty="0"/>
          </a:p>
          <a:p>
            <a:pPr marL="0" indent="0">
              <a:buNone/>
            </a:pPr>
            <a:r>
              <a:rPr lang="zh-CN" altLang="mr-IN" sz="1800" dirty="0"/>
              <a:t>将其简化后得到：</a:t>
            </a:r>
          </a:p>
          <a:p>
            <a:pPr marL="0" indent="0">
              <a:buNone/>
            </a:pPr>
            <a:r>
              <a:rPr lang="mr-IN" altLang="zh-CN" sz="1800" i="1" dirty="0" err="1" smtClean="0">
                <a:solidFill>
                  <a:srgbClr val="FF0000"/>
                </a:solidFill>
              </a:rPr>
              <a:t>f</a:t>
            </a:r>
            <a:r>
              <a:rPr lang="mr-IN" altLang="zh-CN" sz="1800" dirty="0" smtClean="0">
                <a:solidFill>
                  <a:srgbClr val="FF0000"/>
                </a:solidFill>
              </a:rPr>
              <a:t>[</a:t>
            </a:r>
            <a:r>
              <a:rPr lang="mr-IN" altLang="zh-CN" sz="1800" i="1" dirty="0" err="1" smtClean="0">
                <a:solidFill>
                  <a:srgbClr val="FF0000"/>
                </a:solidFill>
              </a:rPr>
              <a:t>i</a:t>
            </a:r>
            <a:r>
              <a:rPr lang="mr-IN" altLang="zh-CN" sz="1800" dirty="0">
                <a:solidFill>
                  <a:srgbClr val="FF0000"/>
                </a:solidFill>
              </a:rPr>
              <a:t>]=</a:t>
            </a:r>
            <a:r>
              <a:rPr lang="mr-IN" altLang="zh-CN" sz="1800" i="1" dirty="0" err="1">
                <a:solidFill>
                  <a:srgbClr val="FF0000"/>
                </a:solidFill>
              </a:rPr>
              <a:t>max</a:t>
            </a:r>
            <a:r>
              <a:rPr lang="mr-IN" altLang="zh-CN" sz="1800" dirty="0">
                <a:solidFill>
                  <a:srgbClr val="FF0000"/>
                </a:solidFill>
              </a:rPr>
              <a:t>(0,</a:t>
            </a:r>
            <a:r>
              <a:rPr lang="mr-IN" altLang="zh-CN" sz="1800" i="1" dirty="0">
                <a:solidFill>
                  <a:srgbClr val="FF0000"/>
                </a:solidFill>
              </a:rPr>
              <a:t>max</a:t>
            </a:r>
            <a:r>
              <a:rPr lang="mr-IN" altLang="zh-CN" sz="1800" dirty="0">
                <a:solidFill>
                  <a:srgbClr val="FF0000"/>
                </a:solidFill>
              </a:rPr>
              <a:t>(</a:t>
            </a:r>
            <a:r>
              <a:rPr lang="mr-IN" altLang="zh-CN" sz="1800" i="1" dirty="0" err="1">
                <a:solidFill>
                  <a:srgbClr val="FF0000"/>
                </a:solidFill>
              </a:rPr>
              <a:t>f</a:t>
            </a:r>
            <a:r>
              <a:rPr lang="mr-IN" altLang="zh-CN" sz="1800" dirty="0">
                <a:solidFill>
                  <a:srgbClr val="FF0000"/>
                </a:solidFill>
              </a:rPr>
              <a:t>[</a:t>
            </a:r>
            <a:r>
              <a:rPr lang="mr-IN" altLang="zh-CN" sz="1800" i="1" dirty="0">
                <a:solidFill>
                  <a:srgbClr val="FF0000"/>
                </a:solidFill>
              </a:rPr>
              <a:t>i</a:t>
            </a:r>
            <a:r>
              <a:rPr lang="mr-IN" altLang="zh-CN" sz="1800" dirty="0">
                <a:solidFill>
                  <a:srgbClr val="FF0000"/>
                </a:solidFill>
              </a:rPr>
              <a:t>−1]+</a:t>
            </a:r>
            <a:r>
              <a:rPr lang="mr-IN" altLang="zh-CN" sz="1800" i="1" dirty="0" err="1">
                <a:solidFill>
                  <a:srgbClr val="FF0000"/>
                </a:solidFill>
              </a:rPr>
              <a:t>a</a:t>
            </a:r>
            <a:r>
              <a:rPr lang="mr-IN" altLang="zh-CN" sz="1800" dirty="0">
                <a:solidFill>
                  <a:srgbClr val="FF0000"/>
                </a:solidFill>
              </a:rPr>
              <a:t>[</a:t>
            </a:r>
            <a:r>
              <a:rPr lang="mr-IN" altLang="zh-CN" sz="1800" i="1" dirty="0" err="1">
                <a:solidFill>
                  <a:srgbClr val="FF0000"/>
                </a:solidFill>
              </a:rPr>
              <a:t>i</a:t>
            </a:r>
            <a:r>
              <a:rPr lang="mr-IN" altLang="zh-CN" sz="1800" dirty="0">
                <a:solidFill>
                  <a:srgbClr val="FF0000"/>
                </a:solidFill>
              </a:rPr>
              <a:t>],</a:t>
            </a:r>
            <a:r>
              <a:rPr lang="mr-IN" altLang="zh-CN" sz="1800" i="1" dirty="0" err="1">
                <a:solidFill>
                  <a:srgbClr val="FF0000"/>
                </a:solidFill>
              </a:rPr>
              <a:t>a</a:t>
            </a:r>
            <a:r>
              <a:rPr lang="mr-IN" altLang="zh-CN" sz="1800" dirty="0">
                <a:solidFill>
                  <a:srgbClr val="FF0000"/>
                </a:solidFill>
              </a:rPr>
              <a:t>[</a:t>
            </a:r>
            <a:r>
              <a:rPr lang="mr-IN" altLang="zh-CN" sz="1800" i="1" dirty="0" err="1">
                <a:solidFill>
                  <a:srgbClr val="FF0000"/>
                </a:solidFill>
              </a:rPr>
              <a:t>i</a:t>
            </a:r>
            <a:r>
              <a:rPr lang="mr-IN" altLang="zh-CN" sz="1800" dirty="0" smtClean="0">
                <a:solidFill>
                  <a:srgbClr val="FF0000"/>
                </a:solidFill>
              </a:rPr>
              <a:t>]));</a:t>
            </a:r>
            <a:r>
              <a:rPr lang="zh-CN" altLang="mr-IN" sz="1800" dirty="0" smtClean="0">
                <a:solidFill>
                  <a:srgbClr val="FF0000"/>
                </a:solidFill>
              </a:rPr>
              <a:t>（</a:t>
            </a:r>
            <a:r>
              <a:rPr lang="mr-IN" altLang="zh-CN" sz="1800" i="1" dirty="0" err="1" smtClean="0">
                <a:solidFill>
                  <a:srgbClr val="FF0000"/>
                </a:solidFill>
              </a:rPr>
              <a:t>i</a:t>
            </a:r>
            <a:r>
              <a:rPr lang="mr-IN" altLang="zh-CN" sz="1800" dirty="0" smtClean="0">
                <a:solidFill>
                  <a:srgbClr val="FF0000"/>
                </a:solidFill>
              </a:rPr>
              <a:t>&gt;=</a:t>
            </a:r>
            <a:r>
              <a:rPr lang="mr-IN" altLang="zh-CN" sz="1800" dirty="0">
                <a:solidFill>
                  <a:srgbClr val="FF0000"/>
                </a:solidFill>
              </a:rPr>
              <a:t>1</a:t>
            </a:r>
            <a:r>
              <a:rPr lang="zh-CN" altLang="mr-IN" sz="1800" dirty="0">
                <a:solidFill>
                  <a:srgbClr val="FF0000"/>
                </a:solidFill>
              </a:rPr>
              <a:t>）。</a:t>
            </a:r>
          </a:p>
          <a:p>
            <a:endParaRPr kumimoji="1" lang="zh-CN" altLang="en-US" sz="1800" dirty="0"/>
          </a:p>
        </p:txBody>
      </p:sp>
    </p:spTree>
    <p:extLst>
      <p:ext uri="{BB962C8B-B14F-4D97-AF65-F5344CB8AC3E}">
        <p14:creationId xmlns:p14="http://schemas.microsoft.com/office/powerpoint/2010/main" val="9657719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566363" y="585216"/>
            <a:ext cx="9028113" cy="5844793"/>
          </a:xfrm>
        </p:spPr>
        <p:txBody>
          <a:bodyPr/>
          <a:lstStyle/>
          <a:p>
            <a:pPr marL="0" indent="0">
              <a:buNone/>
            </a:pPr>
            <a:r>
              <a:rPr kumimoji="1" lang="mr-IN" altLang="zh-CN" sz="1600" dirty="0"/>
              <a:t>#</a:t>
            </a:r>
            <a:r>
              <a:rPr kumimoji="1" lang="mr-IN" altLang="zh-CN" sz="1600" dirty="0" err="1"/>
              <a:t>include</a:t>
            </a:r>
            <a:r>
              <a:rPr kumimoji="1" lang="mr-IN" altLang="zh-CN" sz="1600" dirty="0"/>
              <a:t> &lt;</a:t>
            </a:r>
            <a:r>
              <a:rPr kumimoji="1" lang="mr-IN" altLang="zh-CN" sz="1600" dirty="0" err="1"/>
              <a:t>bits</a:t>
            </a:r>
            <a:r>
              <a:rPr kumimoji="1" lang="mr-IN" altLang="zh-CN" sz="1600" dirty="0"/>
              <a:t>/</a:t>
            </a:r>
            <a:r>
              <a:rPr kumimoji="1" lang="mr-IN" altLang="zh-CN" sz="1600" dirty="0" err="1"/>
              <a:t>stdc</a:t>
            </a:r>
            <a:r>
              <a:rPr kumimoji="1" lang="mr-IN" altLang="zh-CN" sz="1600" dirty="0"/>
              <a:t>++.</a:t>
            </a:r>
            <a:r>
              <a:rPr kumimoji="1" lang="mr-IN" altLang="zh-CN" sz="1600" dirty="0" err="1"/>
              <a:t>h</a:t>
            </a:r>
            <a:r>
              <a:rPr kumimoji="1" lang="mr-IN" altLang="zh-CN" sz="1600" dirty="0" smtClean="0"/>
              <a:t>&gt;</a:t>
            </a:r>
            <a:endParaRPr kumimoji="1" lang="en-US" altLang="zh-CN" sz="1600" dirty="0" smtClean="0"/>
          </a:p>
          <a:p>
            <a:pPr marL="0" indent="0">
              <a:buNone/>
            </a:pPr>
            <a:r>
              <a:rPr kumimoji="1" lang="mr-IN" altLang="zh-CN" sz="1600" dirty="0" err="1" smtClean="0"/>
              <a:t>using</a:t>
            </a:r>
            <a:r>
              <a:rPr kumimoji="1" lang="mr-IN" altLang="zh-CN" sz="1600" dirty="0" smtClean="0"/>
              <a:t> </a:t>
            </a:r>
            <a:r>
              <a:rPr kumimoji="1" lang="mr-IN" altLang="zh-CN" sz="1600" dirty="0" err="1"/>
              <a:t>namespace</a:t>
            </a:r>
            <a:r>
              <a:rPr kumimoji="1" lang="mr-IN" altLang="zh-CN" sz="1600" dirty="0"/>
              <a:t> </a:t>
            </a:r>
            <a:r>
              <a:rPr kumimoji="1" lang="mr-IN" altLang="zh-CN" sz="1600" dirty="0" err="1"/>
              <a:t>std</a:t>
            </a:r>
            <a:r>
              <a:rPr kumimoji="1" lang="mr-IN" altLang="zh-CN" sz="1600" dirty="0" smtClean="0"/>
              <a:t>;</a:t>
            </a:r>
            <a:endParaRPr kumimoji="1" lang="en-US" altLang="zh-CN" sz="1600" dirty="0" smtClean="0"/>
          </a:p>
          <a:p>
            <a:pPr marL="0" indent="0">
              <a:buNone/>
            </a:pPr>
            <a:r>
              <a:rPr kumimoji="1" lang="mr-IN" altLang="zh-CN" sz="1600" dirty="0" err="1" smtClean="0"/>
              <a:t>const</a:t>
            </a:r>
            <a:r>
              <a:rPr kumimoji="1" lang="mr-IN" altLang="zh-CN" sz="1600" dirty="0" smtClean="0"/>
              <a:t> </a:t>
            </a:r>
            <a:r>
              <a:rPr kumimoji="1" lang="mr-IN" altLang="zh-CN" sz="1600" dirty="0" err="1"/>
              <a:t>int</a:t>
            </a:r>
            <a:r>
              <a:rPr kumimoji="1" lang="mr-IN" altLang="zh-CN" sz="1600" dirty="0"/>
              <a:t> </a:t>
            </a:r>
            <a:r>
              <a:rPr kumimoji="1" lang="mr-IN" altLang="zh-CN" sz="1600" dirty="0" err="1"/>
              <a:t>maxn</a:t>
            </a:r>
            <a:r>
              <a:rPr kumimoji="1" lang="mr-IN" altLang="zh-CN" sz="1600" dirty="0"/>
              <a:t> = 200000 + 100</a:t>
            </a:r>
            <a:r>
              <a:rPr kumimoji="1" lang="mr-IN" altLang="zh-CN" sz="1600" dirty="0" smtClean="0"/>
              <a:t>;</a:t>
            </a:r>
            <a:endParaRPr kumimoji="1" lang="en-US" altLang="zh-CN" sz="1600" dirty="0" smtClean="0"/>
          </a:p>
          <a:p>
            <a:pPr marL="0" indent="0">
              <a:buNone/>
            </a:pPr>
            <a:r>
              <a:rPr kumimoji="1" lang="mr-IN" altLang="zh-CN" sz="1600" dirty="0" err="1" smtClean="0"/>
              <a:t>int</a:t>
            </a:r>
            <a:r>
              <a:rPr kumimoji="1" lang="mr-IN" altLang="zh-CN" sz="1600" dirty="0" smtClean="0"/>
              <a:t> </a:t>
            </a:r>
            <a:r>
              <a:rPr kumimoji="1" lang="mr-IN" altLang="zh-CN" sz="1600" dirty="0" err="1"/>
              <a:t>a</a:t>
            </a:r>
            <a:r>
              <a:rPr kumimoji="1" lang="mr-IN" altLang="zh-CN" sz="1600" dirty="0"/>
              <a:t>[</a:t>
            </a:r>
            <a:r>
              <a:rPr kumimoji="1" lang="mr-IN" altLang="zh-CN" sz="1600" dirty="0" err="1"/>
              <a:t>maxn</a:t>
            </a:r>
            <a:r>
              <a:rPr kumimoji="1" lang="mr-IN" altLang="zh-CN" sz="1600" dirty="0"/>
              <a:t>],</a:t>
            </a:r>
            <a:r>
              <a:rPr kumimoji="1" lang="mr-IN" altLang="zh-CN" sz="1600" dirty="0" err="1"/>
              <a:t>dp</a:t>
            </a:r>
            <a:r>
              <a:rPr kumimoji="1" lang="mr-IN" altLang="zh-CN" sz="1600" dirty="0"/>
              <a:t>[</a:t>
            </a:r>
            <a:r>
              <a:rPr kumimoji="1" lang="mr-IN" altLang="zh-CN" sz="1600" dirty="0" err="1"/>
              <a:t>maxn</a:t>
            </a:r>
            <a:r>
              <a:rPr kumimoji="1" lang="mr-IN" altLang="zh-CN" sz="1600" dirty="0" smtClean="0"/>
              <a:t>];</a:t>
            </a:r>
            <a:endParaRPr kumimoji="1" lang="en-US" altLang="zh-CN" sz="1600" dirty="0" smtClean="0"/>
          </a:p>
          <a:p>
            <a:pPr marL="0" indent="0">
              <a:buNone/>
            </a:pPr>
            <a:r>
              <a:rPr kumimoji="1" lang="mr-IN" altLang="zh-CN" sz="1600" dirty="0" err="1" smtClean="0"/>
              <a:t>int</a:t>
            </a:r>
            <a:r>
              <a:rPr kumimoji="1" lang="mr-IN" altLang="zh-CN" sz="1600" dirty="0" smtClean="0"/>
              <a:t> </a:t>
            </a:r>
            <a:r>
              <a:rPr kumimoji="1" lang="mr-IN" altLang="zh-CN" sz="1600" dirty="0" err="1"/>
              <a:t>n</a:t>
            </a:r>
            <a:r>
              <a:rPr kumimoji="1" lang="mr-IN" altLang="zh-CN" sz="1600" dirty="0" smtClean="0"/>
              <a:t>;</a:t>
            </a:r>
            <a:endParaRPr kumimoji="1" lang="en-US" altLang="zh-CN" sz="1600" dirty="0" smtClean="0"/>
          </a:p>
          <a:p>
            <a:pPr marL="0" indent="0">
              <a:buNone/>
            </a:pPr>
            <a:r>
              <a:rPr kumimoji="1" lang="mr-IN" altLang="zh-CN" sz="1600" dirty="0" err="1" smtClean="0"/>
              <a:t>int</a:t>
            </a:r>
            <a:r>
              <a:rPr kumimoji="1" lang="mr-IN" altLang="zh-CN" sz="1600" dirty="0" smtClean="0"/>
              <a:t> </a:t>
            </a:r>
            <a:r>
              <a:rPr kumimoji="1" lang="mr-IN" altLang="zh-CN" sz="1600" dirty="0" err="1"/>
              <a:t>main</a:t>
            </a:r>
            <a:r>
              <a:rPr kumimoji="1" lang="mr-IN" altLang="zh-CN" sz="1600" dirty="0"/>
              <a:t>() {    </a:t>
            </a:r>
            <a:endParaRPr kumimoji="1" lang="en-US" altLang="zh-CN" sz="1600" dirty="0" smtClean="0"/>
          </a:p>
          <a:p>
            <a:pPr marL="0" indent="0">
              <a:buNone/>
            </a:pPr>
            <a:r>
              <a:rPr kumimoji="1" lang="en-US" altLang="zh-CN" sz="1600" dirty="0" smtClean="0"/>
              <a:t>    </a:t>
            </a:r>
            <a:r>
              <a:rPr kumimoji="1" lang="mr-IN" altLang="zh-CN" sz="1600" dirty="0" err="1" smtClean="0"/>
              <a:t>scanf</a:t>
            </a:r>
            <a:r>
              <a:rPr kumimoji="1" lang="mr-IN" altLang="zh-CN" sz="1600" dirty="0"/>
              <a:t>("%</a:t>
            </a:r>
            <a:r>
              <a:rPr kumimoji="1" lang="mr-IN" altLang="zh-CN" sz="1600" dirty="0" err="1"/>
              <a:t>d</a:t>
            </a:r>
            <a:r>
              <a:rPr kumimoji="1" lang="mr-IN" altLang="zh-CN" sz="1600" dirty="0"/>
              <a:t>",&amp;</a:t>
            </a:r>
            <a:r>
              <a:rPr kumimoji="1" lang="mr-IN" altLang="zh-CN" sz="1600" dirty="0" err="1"/>
              <a:t>n</a:t>
            </a:r>
            <a:r>
              <a:rPr kumimoji="1" lang="mr-IN" altLang="zh-CN" sz="1600" dirty="0"/>
              <a:t>);    </a:t>
            </a:r>
            <a:endParaRPr kumimoji="1" lang="en-US" altLang="zh-CN" sz="1600" dirty="0" smtClean="0"/>
          </a:p>
          <a:p>
            <a:pPr marL="0" indent="0">
              <a:buNone/>
            </a:pPr>
            <a:r>
              <a:rPr kumimoji="1" lang="en-US" altLang="zh-CN" sz="1600" dirty="0" smtClean="0"/>
              <a:t>    </a:t>
            </a:r>
            <a:r>
              <a:rPr kumimoji="1" lang="mr-IN" altLang="zh-CN" sz="1600" dirty="0" err="1" smtClean="0"/>
              <a:t>for</a:t>
            </a:r>
            <a:r>
              <a:rPr kumimoji="1" lang="mr-IN" altLang="zh-CN" sz="1600" dirty="0" smtClean="0"/>
              <a:t>(</a:t>
            </a:r>
            <a:r>
              <a:rPr kumimoji="1" lang="mr-IN" altLang="zh-CN" sz="1600" dirty="0" err="1" smtClean="0"/>
              <a:t>int</a:t>
            </a:r>
            <a:r>
              <a:rPr kumimoji="1" lang="mr-IN" altLang="zh-CN" sz="1600" dirty="0" smtClean="0"/>
              <a:t> </a:t>
            </a:r>
            <a:r>
              <a:rPr kumimoji="1" lang="mr-IN" altLang="zh-CN" sz="1600" dirty="0" err="1"/>
              <a:t>i</a:t>
            </a:r>
            <a:r>
              <a:rPr kumimoji="1" lang="mr-IN" altLang="zh-CN" sz="1600" dirty="0"/>
              <a:t>=1;i&lt;=</a:t>
            </a:r>
            <a:r>
              <a:rPr kumimoji="1" lang="mr-IN" altLang="zh-CN" sz="1600" dirty="0" err="1"/>
              <a:t>n;i</a:t>
            </a:r>
            <a:r>
              <a:rPr kumimoji="1" lang="mr-IN" altLang="zh-CN" sz="1600" dirty="0"/>
              <a:t>++)        </a:t>
            </a:r>
            <a:endParaRPr kumimoji="1" lang="en-US" altLang="zh-CN" sz="1600" dirty="0" smtClean="0"/>
          </a:p>
          <a:p>
            <a:pPr marL="0" indent="0">
              <a:buNone/>
            </a:pPr>
            <a:r>
              <a:rPr kumimoji="1" lang="en-US" altLang="zh-CN" sz="1600" dirty="0" smtClean="0"/>
              <a:t>        </a:t>
            </a:r>
            <a:r>
              <a:rPr kumimoji="1" lang="mr-IN" altLang="zh-CN" sz="1600" dirty="0" err="1" smtClean="0"/>
              <a:t>scanf</a:t>
            </a:r>
            <a:r>
              <a:rPr kumimoji="1" lang="mr-IN" altLang="zh-CN" sz="1600" dirty="0"/>
              <a:t>("%</a:t>
            </a:r>
            <a:r>
              <a:rPr kumimoji="1" lang="mr-IN" altLang="zh-CN" sz="1600" dirty="0" err="1"/>
              <a:t>d</a:t>
            </a:r>
            <a:r>
              <a:rPr kumimoji="1" lang="mr-IN" altLang="zh-CN" sz="1600" dirty="0"/>
              <a:t>",&amp;</a:t>
            </a:r>
            <a:r>
              <a:rPr kumimoji="1" lang="mr-IN" altLang="zh-CN" sz="1600" dirty="0" err="1"/>
              <a:t>a</a:t>
            </a:r>
            <a:r>
              <a:rPr kumimoji="1" lang="mr-IN" altLang="zh-CN" sz="1600" dirty="0"/>
              <a:t>[</a:t>
            </a:r>
            <a:r>
              <a:rPr kumimoji="1" lang="mr-IN" altLang="zh-CN" sz="1600" dirty="0" err="1"/>
              <a:t>i</a:t>
            </a:r>
            <a:r>
              <a:rPr kumimoji="1" lang="mr-IN" altLang="zh-CN" sz="1600" dirty="0"/>
              <a:t>]);    </a:t>
            </a:r>
            <a:endParaRPr kumimoji="1" lang="en-US" altLang="zh-CN" sz="1600" dirty="0" smtClean="0"/>
          </a:p>
          <a:p>
            <a:pPr marL="0" indent="0">
              <a:buNone/>
            </a:pPr>
            <a:r>
              <a:rPr kumimoji="1" lang="en-US" altLang="zh-CN" sz="1600" dirty="0" smtClean="0"/>
              <a:t>    </a:t>
            </a:r>
            <a:r>
              <a:rPr kumimoji="1" lang="mr-IN" altLang="zh-CN" sz="1600" dirty="0" err="1" smtClean="0"/>
              <a:t>dp</a:t>
            </a:r>
            <a:r>
              <a:rPr kumimoji="1" lang="mr-IN" altLang="zh-CN" sz="1600" dirty="0" smtClean="0"/>
              <a:t>[1</a:t>
            </a:r>
            <a:r>
              <a:rPr kumimoji="1" lang="mr-IN" altLang="zh-CN" sz="1600" dirty="0"/>
              <a:t>] = </a:t>
            </a:r>
            <a:r>
              <a:rPr kumimoji="1" lang="mr-IN" altLang="zh-CN" sz="1600" dirty="0" err="1"/>
              <a:t>a</a:t>
            </a:r>
            <a:r>
              <a:rPr kumimoji="1" lang="mr-IN" altLang="zh-CN" sz="1600" dirty="0"/>
              <a:t>[1];    </a:t>
            </a:r>
            <a:endParaRPr kumimoji="1" lang="en-US" altLang="zh-CN" sz="1600" dirty="0" smtClean="0"/>
          </a:p>
          <a:p>
            <a:pPr marL="0" indent="0">
              <a:buNone/>
            </a:pPr>
            <a:r>
              <a:rPr kumimoji="1" lang="en-US" altLang="zh-CN" sz="1600" dirty="0" smtClean="0"/>
              <a:t>    </a:t>
            </a:r>
            <a:r>
              <a:rPr kumimoji="1" lang="mr-IN" altLang="zh-CN" sz="1600" dirty="0" err="1" smtClean="0"/>
              <a:t>for</a:t>
            </a:r>
            <a:r>
              <a:rPr kumimoji="1" lang="mr-IN" altLang="zh-CN" sz="1600" dirty="0" smtClean="0"/>
              <a:t>(</a:t>
            </a:r>
            <a:r>
              <a:rPr kumimoji="1" lang="mr-IN" altLang="zh-CN" sz="1600" dirty="0" err="1" smtClean="0"/>
              <a:t>int</a:t>
            </a:r>
            <a:r>
              <a:rPr kumimoji="1" lang="mr-IN" altLang="zh-CN" sz="1600" dirty="0" smtClean="0"/>
              <a:t> </a:t>
            </a:r>
            <a:r>
              <a:rPr kumimoji="1" lang="mr-IN" altLang="zh-CN" sz="1600" dirty="0" err="1"/>
              <a:t>i</a:t>
            </a:r>
            <a:r>
              <a:rPr kumimoji="1" lang="mr-IN" altLang="zh-CN" sz="1600" dirty="0"/>
              <a:t>=2;i&lt;=</a:t>
            </a:r>
            <a:r>
              <a:rPr kumimoji="1" lang="mr-IN" altLang="zh-CN" sz="1600" dirty="0" err="1"/>
              <a:t>n;i</a:t>
            </a:r>
            <a:r>
              <a:rPr kumimoji="1" lang="mr-IN" altLang="zh-CN" sz="1600" dirty="0"/>
              <a:t>++)         </a:t>
            </a:r>
            <a:endParaRPr kumimoji="1" lang="en-US" altLang="zh-CN" sz="1600" dirty="0" smtClean="0"/>
          </a:p>
          <a:p>
            <a:pPr marL="0" indent="0">
              <a:buNone/>
            </a:pPr>
            <a:r>
              <a:rPr kumimoji="1" lang="en-US" altLang="zh-CN" sz="1600" dirty="0" smtClean="0"/>
              <a:t>        </a:t>
            </a:r>
            <a:r>
              <a:rPr kumimoji="1" lang="mr-IN" altLang="zh-CN" sz="1600" dirty="0" err="1" smtClean="0"/>
              <a:t>dp</a:t>
            </a:r>
            <a:r>
              <a:rPr kumimoji="1" lang="mr-IN" altLang="zh-CN" sz="1600" dirty="0" smtClean="0"/>
              <a:t>[</a:t>
            </a:r>
            <a:r>
              <a:rPr kumimoji="1" lang="mr-IN" altLang="zh-CN" sz="1600" dirty="0" err="1" smtClean="0"/>
              <a:t>i</a:t>
            </a:r>
            <a:r>
              <a:rPr kumimoji="1" lang="mr-IN" altLang="zh-CN" sz="1600" dirty="0"/>
              <a:t>] = </a:t>
            </a:r>
            <a:r>
              <a:rPr kumimoji="1" lang="mr-IN" altLang="zh-CN" sz="1600" dirty="0" err="1"/>
              <a:t>max</a:t>
            </a:r>
            <a:r>
              <a:rPr kumimoji="1" lang="mr-IN" altLang="zh-CN" sz="1600" dirty="0"/>
              <a:t>(</a:t>
            </a:r>
            <a:r>
              <a:rPr kumimoji="1" lang="mr-IN" altLang="zh-CN" sz="1600" dirty="0" err="1"/>
              <a:t>dp</a:t>
            </a:r>
            <a:r>
              <a:rPr kumimoji="1" lang="mr-IN" altLang="zh-CN" sz="1600" dirty="0"/>
              <a:t>[i-1]+</a:t>
            </a:r>
            <a:r>
              <a:rPr kumimoji="1" lang="mr-IN" altLang="zh-CN" sz="1600" dirty="0" err="1"/>
              <a:t>a</a:t>
            </a:r>
            <a:r>
              <a:rPr kumimoji="1" lang="mr-IN" altLang="zh-CN" sz="1600" dirty="0"/>
              <a:t>[</a:t>
            </a:r>
            <a:r>
              <a:rPr kumimoji="1" lang="mr-IN" altLang="zh-CN" sz="1600" dirty="0" err="1"/>
              <a:t>i</a:t>
            </a:r>
            <a:r>
              <a:rPr kumimoji="1" lang="mr-IN" altLang="zh-CN" sz="1600" dirty="0"/>
              <a:t>],</a:t>
            </a:r>
            <a:r>
              <a:rPr kumimoji="1" lang="mr-IN" altLang="zh-CN" sz="1600" dirty="0" err="1"/>
              <a:t>a</a:t>
            </a:r>
            <a:r>
              <a:rPr kumimoji="1" lang="mr-IN" altLang="zh-CN" sz="1600" dirty="0"/>
              <a:t>[</a:t>
            </a:r>
            <a:r>
              <a:rPr kumimoji="1" lang="mr-IN" altLang="zh-CN" sz="1600" dirty="0" err="1"/>
              <a:t>i</a:t>
            </a:r>
            <a:r>
              <a:rPr kumimoji="1" lang="mr-IN" altLang="zh-CN" sz="1600" dirty="0"/>
              <a:t>]);    </a:t>
            </a:r>
            <a:endParaRPr kumimoji="1" lang="en-US" altLang="zh-CN" sz="1600" dirty="0" smtClean="0"/>
          </a:p>
          <a:p>
            <a:pPr marL="0" indent="0">
              <a:buNone/>
            </a:pPr>
            <a:r>
              <a:rPr kumimoji="1" lang="en-US" altLang="zh-CN" sz="1600" dirty="0" smtClean="0"/>
              <a:t>    </a:t>
            </a:r>
            <a:r>
              <a:rPr kumimoji="1" lang="mr-IN" altLang="zh-CN" sz="1600" dirty="0" err="1" smtClean="0"/>
              <a:t>int</a:t>
            </a:r>
            <a:r>
              <a:rPr kumimoji="1" lang="mr-IN" altLang="zh-CN" sz="1600" dirty="0" smtClean="0"/>
              <a:t> </a:t>
            </a:r>
            <a:r>
              <a:rPr kumimoji="1" lang="mr-IN" altLang="zh-CN" sz="1600" dirty="0" err="1"/>
              <a:t>ans</a:t>
            </a:r>
            <a:r>
              <a:rPr kumimoji="1" lang="mr-IN" altLang="zh-CN" sz="1600" dirty="0"/>
              <a:t> = -9999999;    </a:t>
            </a:r>
            <a:endParaRPr kumimoji="1" lang="en-US" altLang="zh-CN" sz="1600" dirty="0" smtClean="0"/>
          </a:p>
          <a:p>
            <a:pPr marL="0" indent="0">
              <a:buNone/>
            </a:pPr>
            <a:r>
              <a:rPr kumimoji="1" lang="en-US" altLang="zh-CN" sz="1600" dirty="0" smtClean="0"/>
              <a:t>    </a:t>
            </a:r>
            <a:r>
              <a:rPr kumimoji="1" lang="mr-IN" altLang="zh-CN" sz="1600" dirty="0" err="1" smtClean="0"/>
              <a:t>for</a:t>
            </a:r>
            <a:r>
              <a:rPr kumimoji="1" lang="mr-IN" altLang="zh-CN" sz="1600" dirty="0" smtClean="0"/>
              <a:t>(</a:t>
            </a:r>
            <a:r>
              <a:rPr kumimoji="1" lang="mr-IN" altLang="zh-CN" sz="1600" dirty="0" err="1" smtClean="0"/>
              <a:t>int</a:t>
            </a:r>
            <a:r>
              <a:rPr kumimoji="1" lang="mr-IN" altLang="zh-CN" sz="1600" dirty="0" smtClean="0"/>
              <a:t> </a:t>
            </a:r>
            <a:r>
              <a:rPr kumimoji="1" lang="mr-IN" altLang="zh-CN" sz="1600" dirty="0" err="1"/>
              <a:t>i</a:t>
            </a:r>
            <a:r>
              <a:rPr kumimoji="1" lang="mr-IN" altLang="zh-CN" sz="1600" dirty="0"/>
              <a:t>=1;i&lt;=</a:t>
            </a:r>
            <a:r>
              <a:rPr kumimoji="1" lang="mr-IN" altLang="zh-CN" sz="1600" dirty="0" err="1"/>
              <a:t>n;i</a:t>
            </a:r>
            <a:r>
              <a:rPr kumimoji="1" lang="mr-IN" altLang="zh-CN" sz="1600" dirty="0" smtClean="0"/>
              <a:t>++) </a:t>
            </a:r>
            <a:r>
              <a:rPr kumimoji="1" lang="mr-IN" altLang="zh-CN" sz="1600" dirty="0" err="1" smtClean="0"/>
              <a:t>ans</a:t>
            </a:r>
            <a:r>
              <a:rPr kumimoji="1" lang="mr-IN" altLang="zh-CN" sz="1600" dirty="0" smtClean="0"/>
              <a:t> </a:t>
            </a:r>
            <a:r>
              <a:rPr kumimoji="1" lang="mr-IN" altLang="zh-CN" sz="1600" dirty="0"/>
              <a:t>= </a:t>
            </a:r>
            <a:r>
              <a:rPr kumimoji="1" lang="mr-IN" altLang="zh-CN" sz="1600" dirty="0" err="1"/>
              <a:t>max</a:t>
            </a:r>
            <a:r>
              <a:rPr kumimoji="1" lang="mr-IN" altLang="zh-CN" sz="1600" dirty="0"/>
              <a:t>(</a:t>
            </a:r>
            <a:r>
              <a:rPr kumimoji="1" lang="mr-IN" altLang="zh-CN" sz="1600" dirty="0" err="1"/>
              <a:t>ans</a:t>
            </a:r>
            <a:r>
              <a:rPr kumimoji="1" lang="mr-IN" altLang="zh-CN" sz="1600" dirty="0"/>
              <a:t>, </a:t>
            </a:r>
            <a:r>
              <a:rPr kumimoji="1" lang="mr-IN" altLang="zh-CN" sz="1600" dirty="0" err="1"/>
              <a:t>dp</a:t>
            </a:r>
            <a:r>
              <a:rPr kumimoji="1" lang="mr-IN" altLang="zh-CN" sz="1600" dirty="0"/>
              <a:t>[</a:t>
            </a:r>
            <a:r>
              <a:rPr kumimoji="1" lang="mr-IN" altLang="zh-CN" sz="1600" dirty="0" err="1"/>
              <a:t>i</a:t>
            </a:r>
            <a:r>
              <a:rPr kumimoji="1" lang="mr-IN" altLang="zh-CN" sz="1600" dirty="0"/>
              <a:t>]);    </a:t>
            </a:r>
            <a:endParaRPr kumimoji="1" lang="en-US" altLang="zh-CN" sz="1600" dirty="0" smtClean="0"/>
          </a:p>
          <a:p>
            <a:pPr marL="0" indent="0">
              <a:buNone/>
            </a:pPr>
            <a:r>
              <a:rPr kumimoji="1" lang="en-US" altLang="zh-CN" sz="1600" dirty="0" smtClean="0"/>
              <a:t>    </a:t>
            </a:r>
            <a:r>
              <a:rPr kumimoji="1" lang="mr-IN" altLang="zh-CN" sz="1600" dirty="0" err="1" smtClean="0"/>
              <a:t>printf</a:t>
            </a:r>
            <a:r>
              <a:rPr kumimoji="1" lang="mr-IN" altLang="zh-CN" sz="1600" dirty="0"/>
              <a:t>("%</a:t>
            </a:r>
            <a:r>
              <a:rPr kumimoji="1" lang="mr-IN" altLang="zh-CN" sz="1600" dirty="0" err="1"/>
              <a:t>d</a:t>
            </a:r>
            <a:r>
              <a:rPr kumimoji="1" lang="mr-IN" altLang="zh-CN" sz="1600" dirty="0"/>
              <a:t>\</a:t>
            </a:r>
            <a:r>
              <a:rPr kumimoji="1" lang="mr-IN" altLang="zh-CN" sz="1600" dirty="0" err="1"/>
              <a:t>n</a:t>
            </a:r>
            <a:r>
              <a:rPr kumimoji="1" lang="mr-IN" altLang="zh-CN" sz="1600" dirty="0"/>
              <a:t>",</a:t>
            </a:r>
            <a:r>
              <a:rPr kumimoji="1" lang="mr-IN" altLang="zh-CN" sz="1600" dirty="0" err="1"/>
              <a:t>ans</a:t>
            </a:r>
            <a:r>
              <a:rPr kumimoji="1" lang="mr-IN" altLang="zh-CN" sz="1600" dirty="0"/>
              <a:t>);    </a:t>
            </a:r>
            <a:endParaRPr kumimoji="1" lang="en-US" altLang="zh-CN" sz="1600" dirty="0" smtClean="0"/>
          </a:p>
          <a:p>
            <a:pPr marL="0" indent="0">
              <a:buNone/>
            </a:pPr>
            <a:r>
              <a:rPr kumimoji="1" lang="en-US" altLang="zh-CN" sz="1600" dirty="0" smtClean="0"/>
              <a:t>    </a:t>
            </a:r>
            <a:r>
              <a:rPr kumimoji="1" lang="mr-IN" altLang="zh-CN" sz="1600" dirty="0" err="1" smtClean="0"/>
              <a:t>return</a:t>
            </a:r>
            <a:r>
              <a:rPr kumimoji="1" lang="mr-IN" altLang="zh-CN" sz="1600" dirty="0" smtClean="0"/>
              <a:t> </a:t>
            </a:r>
            <a:r>
              <a:rPr kumimoji="1" lang="mr-IN" altLang="zh-CN" sz="1600" dirty="0"/>
              <a:t>0</a:t>
            </a:r>
            <a:r>
              <a:rPr kumimoji="1" lang="mr-IN" altLang="zh-CN" sz="1600" dirty="0" smtClean="0"/>
              <a:t>;</a:t>
            </a:r>
            <a:endParaRPr kumimoji="1" lang="en-US" altLang="zh-CN" sz="1600" dirty="0" smtClean="0"/>
          </a:p>
          <a:p>
            <a:pPr marL="0" indent="0">
              <a:buNone/>
            </a:pPr>
            <a:r>
              <a:rPr kumimoji="1" lang="mr-IN" altLang="zh-CN" sz="1600" dirty="0" smtClean="0"/>
              <a:t>}</a:t>
            </a:r>
            <a:endParaRPr kumimoji="1" lang="zh-CN" altLang="en-US" sz="1600" dirty="0"/>
          </a:p>
        </p:txBody>
      </p:sp>
    </p:spTree>
    <p:extLst>
      <p:ext uri="{BB962C8B-B14F-4D97-AF65-F5344CB8AC3E}">
        <p14:creationId xmlns:p14="http://schemas.microsoft.com/office/powerpoint/2010/main" val="110447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过河</a:t>
            </a:r>
            <a:endParaRPr kumimoji="1" lang="zh-CN" altLang="en-US" dirty="0"/>
          </a:p>
        </p:txBody>
      </p:sp>
      <p:sp>
        <p:nvSpPr>
          <p:cNvPr id="3" name="文本占位符 2"/>
          <p:cNvSpPr>
            <a:spLocks noGrp="1"/>
          </p:cNvSpPr>
          <p:nvPr>
            <p:ph type="body" sz="quarter" idx="10"/>
          </p:nvPr>
        </p:nvSpPr>
        <p:spPr/>
        <p:txBody>
          <a:bodyPr/>
          <a:lstStyle/>
          <a:p>
            <a:r>
              <a:rPr lang="zh-CN" altLang="en-US" sz="1600" b="1" dirty="0"/>
              <a:t>题目描述</a:t>
            </a:r>
          </a:p>
          <a:p>
            <a:r>
              <a:rPr lang="zh-CN" altLang="en-US" sz="1600" dirty="0"/>
              <a:t>在河上有一座独木桥，一只青蛙想沿着独木桥从河的一侧跳到另一侧。在桥上有一些石子，青蛙很讨厌踩在这些石子上。由于桥的长度和青蛙一次跳过的距离都是正整数，我们可以把独木桥上青蛙可能到达的点看成数轴上的一串整点：</a:t>
            </a:r>
            <a:r>
              <a:rPr lang="en-US" altLang="zh-CN" sz="1600" dirty="0"/>
              <a:t>0,1</a:t>
            </a:r>
            <a:r>
              <a:rPr lang="en-US" altLang="zh-CN" sz="1600" dirty="0" smtClean="0"/>
              <a:t>,…,</a:t>
            </a:r>
            <a:r>
              <a:rPr lang="en-US" altLang="zh-CN" sz="1600" dirty="0"/>
              <a:t>L</a:t>
            </a:r>
            <a:r>
              <a:rPr lang="zh-CN" altLang="en-US" sz="1600" dirty="0" smtClean="0"/>
              <a:t>（其中</a:t>
            </a:r>
            <a:r>
              <a:rPr lang="en-US" altLang="zh-CN" sz="1600" i="1" dirty="0" smtClean="0"/>
              <a:t>L</a:t>
            </a:r>
            <a:r>
              <a:rPr lang="zh-CN" altLang="en-US" sz="1600" dirty="0"/>
              <a:t>是桥的长度）。坐标</a:t>
            </a:r>
            <a:r>
              <a:rPr lang="zh-CN" altLang="en-US" sz="1600" dirty="0" smtClean="0"/>
              <a:t>为</a:t>
            </a:r>
            <a:r>
              <a:rPr lang="en-US" altLang="zh-CN" sz="1600" dirty="0" smtClean="0"/>
              <a:t>0</a:t>
            </a:r>
            <a:r>
              <a:rPr lang="zh-CN" altLang="en-US" sz="1600" dirty="0"/>
              <a:t>的点表示桥的起点，坐标</a:t>
            </a:r>
            <a:r>
              <a:rPr lang="zh-CN" altLang="en-US" sz="1600" dirty="0" smtClean="0"/>
              <a:t>为</a:t>
            </a:r>
            <a:r>
              <a:rPr lang="en-US" altLang="zh-CN" sz="1600" i="1" dirty="0" smtClean="0"/>
              <a:t>L</a:t>
            </a:r>
            <a:r>
              <a:rPr lang="zh-CN" altLang="en-US" sz="1600" dirty="0"/>
              <a:t>的点表示桥的终点。青蛙从桥的起点开始，不停的向终点方向跳跃。一次跳跃的距离</a:t>
            </a:r>
            <a:r>
              <a:rPr lang="zh-CN" altLang="en-US" sz="1600" dirty="0" smtClean="0"/>
              <a:t>是</a:t>
            </a:r>
            <a:r>
              <a:rPr lang="en-US" altLang="zh-CN" sz="1600" i="1" dirty="0" smtClean="0"/>
              <a:t>S</a:t>
            </a:r>
            <a:r>
              <a:rPr lang="zh-CN" altLang="en-US" sz="1600" dirty="0" smtClean="0"/>
              <a:t>到</a:t>
            </a:r>
            <a:r>
              <a:rPr lang="en-US" altLang="zh-CN" sz="1600" i="1" dirty="0" smtClean="0"/>
              <a:t>T</a:t>
            </a:r>
            <a:r>
              <a:rPr lang="zh-CN" altLang="en-US" sz="1600" dirty="0"/>
              <a:t>之间的任意正整数（</a:t>
            </a:r>
            <a:r>
              <a:rPr lang="zh-CN" altLang="en-US" sz="1600" dirty="0" smtClean="0"/>
              <a:t>包括</a:t>
            </a:r>
            <a:r>
              <a:rPr lang="en-US" altLang="zh-CN" sz="1600" i="1" dirty="0" smtClean="0"/>
              <a:t>S</a:t>
            </a:r>
            <a:r>
              <a:rPr lang="en-US" altLang="zh-CN" sz="1600" dirty="0" smtClean="0"/>
              <a:t>,</a:t>
            </a:r>
            <a:r>
              <a:rPr lang="en-US" altLang="zh-CN" sz="1600" i="1" dirty="0" smtClean="0"/>
              <a:t>T</a:t>
            </a:r>
            <a:r>
              <a:rPr lang="zh-CN" altLang="en-US" sz="1600" dirty="0"/>
              <a:t>）。当青蛙跳到或跳过坐标</a:t>
            </a:r>
            <a:r>
              <a:rPr lang="zh-CN" altLang="en-US" sz="1600" dirty="0" smtClean="0"/>
              <a:t>为</a:t>
            </a:r>
            <a:r>
              <a:rPr lang="en-US" altLang="zh-CN" sz="1600" i="1" dirty="0" smtClean="0"/>
              <a:t>L</a:t>
            </a:r>
            <a:r>
              <a:rPr lang="zh-CN" altLang="en-US" sz="1600" dirty="0"/>
              <a:t>的点时，就算青蛙已经跳出了独木桥。</a:t>
            </a:r>
          </a:p>
          <a:p>
            <a:r>
              <a:rPr lang="zh-CN" altLang="en-US" sz="1600" dirty="0"/>
              <a:t>题目给出独木桥的长度</a:t>
            </a:r>
            <a:r>
              <a:rPr lang="en-US" altLang="zh-CN" sz="1600" dirty="0"/>
              <a:t>L</a:t>
            </a:r>
            <a:r>
              <a:rPr lang="en-US" altLang="zh-CN" sz="1600" i="1" dirty="0"/>
              <a:t>L</a:t>
            </a:r>
            <a:r>
              <a:rPr lang="zh-CN" altLang="en-US" sz="1600" dirty="0"/>
              <a:t>，青蛙跳跃的距离范围</a:t>
            </a:r>
            <a:r>
              <a:rPr lang="en-US" altLang="zh-CN" sz="1600" dirty="0"/>
              <a:t>S,T</a:t>
            </a:r>
            <a:r>
              <a:rPr lang="en-US" altLang="zh-CN" sz="1600" i="1" dirty="0"/>
              <a:t>S</a:t>
            </a:r>
            <a:r>
              <a:rPr lang="en-US" altLang="zh-CN" sz="1600" dirty="0"/>
              <a:t>,</a:t>
            </a:r>
            <a:r>
              <a:rPr lang="en-US" altLang="zh-CN" sz="1600" i="1" dirty="0"/>
              <a:t>T</a:t>
            </a:r>
            <a:r>
              <a:rPr lang="zh-CN" altLang="en-US" sz="1600" dirty="0"/>
              <a:t>，桥上石子的位置。你的任务是确定青蛙要想过河，最少需要踩到的石子数</a:t>
            </a:r>
            <a:r>
              <a:rPr lang="zh-CN" altLang="en-US" sz="1600" dirty="0" smtClean="0"/>
              <a:t>。</a:t>
            </a:r>
            <a:endParaRPr lang="en-US" altLang="zh-CN" sz="1600" dirty="0" smtClean="0"/>
          </a:p>
          <a:p>
            <a:endParaRPr lang="en-US" altLang="zh-CN" sz="1600" dirty="0" smtClean="0"/>
          </a:p>
          <a:p>
            <a:r>
              <a:rPr lang="zh-CN" altLang="en-US" sz="1600" dirty="0" smtClean="0"/>
              <a:t>链接：</a:t>
            </a:r>
            <a:r>
              <a:rPr lang="en-US" altLang="zh-CN" sz="1600" dirty="0">
                <a:hlinkClick r:id="rId2"/>
              </a:rPr>
              <a:t>https://</a:t>
            </a:r>
            <a:r>
              <a:rPr lang="en-US" altLang="zh-CN" sz="1600" dirty="0" smtClean="0">
                <a:hlinkClick r:id="rId2"/>
              </a:rPr>
              <a:t>www.luogu.org/problemnew/show/P1052</a:t>
            </a:r>
            <a:r>
              <a:rPr lang="zh-CN" altLang="en-US" sz="1600" dirty="0" smtClean="0"/>
              <a:t> </a:t>
            </a:r>
            <a:endParaRPr lang="en-US" altLang="zh-CN" sz="1600" dirty="0"/>
          </a:p>
        </p:txBody>
      </p:sp>
    </p:spTree>
    <p:extLst>
      <p:ext uri="{BB962C8B-B14F-4D97-AF65-F5344CB8AC3E}">
        <p14:creationId xmlns:p14="http://schemas.microsoft.com/office/powerpoint/2010/main" val="9453179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文本占位符 2"/>
          <p:cNvSpPr>
            <a:spLocks noGrp="1"/>
          </p:cNvSpPr>
          <p:nvPr>
            <p:ph type="body" sz="quarter" idx="10"/>
          </p:nvPr>
        </p:nvSpPr>
        <p:spPr/>
        <p:txBody>
          <a:bodyPr/>
          <a:lstStyle/>
          <a:p>
            <a:r>
              <a:rPr lang="zh-CN" altLang="en-US" sz="1800" b="1" dirty="0"/>
              <a:t>输入输出格式</a:t>
            </a:r>
          </a:p>
          <a:p>
            <a:r>
              <a:rPr lang="zh-CN" altLang="en-US" sz="1800" b="1" dirty="0"/>
              <a:t>输入格式：</a:t>
            </a:r>
            <a:r>
              <a:rPr lang="zh-CN" altLang="en-US" sz="1800" dirty="0"/>
              <a:t/>
            </a:r>
            <a:br>
              <a:rPr lang="zh-CN" altLang="en-US" sz="1800" dirty="0"/>
            </a:br>
            <a:endParaRPr lang="zh-CN" altLang="en-US" sz="1800" dirty="0"/>
          </a:p>
          <a:p>
            <a:r>
              <a:rPr lang="zh-CN" altLang="en-US" sz="1800" dirty="0"/>
              <a:t>第一行有</a:t>
            </a:r>
            <a:r>
              <a:rPr lang="en-US" altLang="zh-CN" sz="1800" dirty="0" smtClean="0"/>
              <a:t>1</a:t>
            </a:r>
            <a:r>
              <a:rPr lang="zh-CN" altLang="en-US" sz="1800" dirty="0" smtClean="0"/>
              <a:t>个</a:t>
            </a:r>
            <a:r>
              <a:rPr lang="zh-CN" altLang="en-US" sz="1800" dirty="0"/>
              <a:t>正整数</a:t>
            </a:r>
            <a:r>
              <a:rPr lang="en-US" altLang="zh-CN" sz="1800" dirty="0" smtClean="0"/>
              <a:t>L(1≤</a:t>
            </a:r>
            <a:r>
              <a:rPr lang="en-US" altLang="zh-CN" sz="1800" i="1" dirty="0"/>
              <a:t>L</a:t>
            </a:r>
            <a:r>
              <a:rPr lang="zh-CN" altLang="en-US" sz="1800" dirty="0"/>
              <a:t>≤</a:t>
            </a:r>
            <a:r>
              <a:rPr lang="en-US" altLang="zh-CN" sz="1800" dirty="0" smtClean="0"/>
              <a:t>1e9</a:t>
            </a:r>
            <a:r>
              <a:rPr lang="en-US" altLang="zh-CN" sz="1800" dirty="0"/>
              <a:t>)</a:t>
            </a:r>
            <a:r>
              <a:rPr lang="zh-CN" altLang="en-US" sz="1800" dirty="0"/>
              <a:t>，表示独木桥的长度。</a:t>
            </a:r>
          </a:p>
          <a:p>
            <a:r>
              <a:rPr lang="zh-CN" altLang="en-US" sz="1800" dirty="0"/>
              <a:t>第二行</a:t>
            </a:r>
            <a:r>
              <a:rPr lang="zh-CN" altLang="en-US" sz="1800" dirty="0" smtClean="0"/>
              <a:t>有</a:t>
            </a:r>
            <a:r>
              <a:rPr lang="en-US" altLang="zh-CN" sz="1800" dirty="0" smtClean="0"/>
              <a:t>3</a:t>
            </a:r>
            <a:r>
              <a:rPr lang="zh-CN" altLang="en-US" sz="1800" dirty="0"/>
              <a:t>个正整数</a:t>
            </a:r>
            <a:r>
              <a:rPr lang="en-US" altLang="zh-CN" sz="1800" dirty="0" smtClean="0"/>
              <a:t>S,T,M</a:t>
            </a:r>
            <a:r>
              <a:rPr lang="zh-CN" altLang="en-US" sz="1800" dirty="0" smtClean="0"/>
              <a:t>分别</a:t>
            </a:r>
            <a:r>
              <a:rPr lang="zh-CN" altLang="en-US" sz="1800" dirty="0"/>
              <a:t>表示青蛙一次跳跃的最小距离，最大距离及桥上石子的个数，</a:t>
            </a:r>
            <a:r>
              <a:rPr lang="zh-CN" altLang="en-US" sz="1800" dirty="0" smtClean="0"/>
              <a:t>其中</a:t>
            </a:r>
            <a:r>
              <a:rPr lang="en-US" altLang="zh-CN" sz="1800" dirty="0" smtClean="0"/>
              <a:t>1</a:t>
            </a:r>
            <a:r>
              <a:rPr lang="en-US" altLang="zh-CN" sz="1800" dirty="0"/>
              <a:t>≤</a:t>
            </a:r>
            <a:r>
              <a:rPr lang="en-US" altLang="zh-CN" sz="1800" i="1" dirty="0"/>
              <a:t>S</a:t>
            </a:r>
            <a:r>
              <a:rPr lang="zh-CN" altLang="en-US" sz="1800" dirty="0"/>
              <a:t>≤</a:t>
            </a:r>
            <a:r>
              <a:rPr lang="en-US" altLang="zh-CN" sz="1800" i="1" dirty="0"/>
              <a:t>T</a:t>
            </a:r>
            <a:r>
              <a:rPr lang="zh-CN" altLang="en-US" sz="1800" dirty="0"/>
              <a:t>≤</a:t>
            </a:r>
            <a:r>
              <a:rPr lang="en-US" altLang="zh-CN" sz="1800" dirty="0" smtClean="0"/>
              <a:t>10,1</a:t>
            </a:r>
            <a:r>
              <a:rPr lang="en-US" altLang="zh-CN" sz="1800" dirty="0"/>
              <a:t>≤</a:t>
            </a:r>
            <a:r>
              <a:rPr lang="en-US" altLang="zh-CN" sz="1800" i="1" dirty="0"/>
              <a:t>M</a:t>
            </a:r>
            <a:r>
              <a:rPr lang="zh-CN" altLang="en-US" sz="1800" dirty="0"/>
              <a:t>≤</a:t>
            </a:r>
            <a:r>
              <a:rPr lang="en-US" altLang="zh-CN" sz="1800" dirty="0"/>
              <a:t>100</a:t>
            </a:r>
            <a:r>
              <a:rPr lang="zh-CN" altLang="en-US" sz="1800" dirty="0"/>
              <a:t>。</a:t>
            </a:r>
          </a:p>
          <a:p>
            <a:r>
              <a:rPr lang="zh-CN" altLang="en-US" sz="1800" dirty="0"/>
              <a:t>第三行有</a:t>
            </a:r>
            <a:r>
              <a:rPr lang="en-US" altLang="zh-CN" sz="1800" dirty="0" smtClean="0"/>
              <a:t>M</a:t>
            </a:r>
            <a:r>
              <a:rPr lang="zh-CN" altLang="en-US" sz="1800" dirty="0" smtClean="0"/>
              <a:t>个</a:t>
            </a:r>
            <a:r>
              <a:rPr lang="zh-CN" altLang="en-US" sz="1800" dirty="0"/>
              <a:t>不同的正整数分别表示这</a:t>
            </a:r>
            <a:r>
              <a:rPr lang="en-US" altLang="zh-CN" sz="1800" dirty="0" smtClean="0"/>
              <a:t>M</a:t>
            </a:r>
            <a:r>
              <a:rPr lang="zh-CN" altLang="en-US" sz="1800" dirty="0" smtClean="0"/>
              <a:t>个</a:t>
            </a:r>
            <a:r>
              <a:rPr lang="zh-CN" altLang="en-US" sz="1800" dirty="0"/>
              <a:t>石子在数轴上的位置（数据保证桥的起点和终点处没有石子）。所有相邻的整数之间用一个空格隔开。</a:t>
            </a:r>
          </a:p>
          <a:p>
            <a:r>
              <a:rPr lang="zh-CN" altLang="en-US" sz="1800" b="1" dirty="0"/>
              <a:t>输出格式：</a:t>
            </a:r>
            <a:r>
              <a:rPr lang="zh-CN" altLang="en-US" sz="1800" dirty="0"/>
              <a:t/>
            </a:r>
            <a:br>
              <a:rPr lang="zh-CN" altLang="en-US" sz="1800" dirty="0"/>
            </a:br>
            <a:endParaRPr lang="zh-CN" altLang="en-US" sz="1800" dirty="0"/>
          </a:p>
          <a:p>
            <a:r>
              <a:rPr lang="zh-CN" altLang="en-US" sz="1800" dirty="0"/>
              <a:t>一个整数，表示青蛙过河最少需要踩到的石子数。</a:t>
            </a:r>
          </a:p>
          <a:p>
            <a:endParaRPr kumimoji="1" lang="zh-CN" altLang="en-US" sz="1800" dirty="0"/>
          </a:p>
        </p:txBody>
      </p:sp>
    </p:spTree>
    <p:extLst>
      <p:ext uri="{BB962C8B-B14F-4D97-AF65-F5344CB8AC3E}">
        <p14:creationId xmlns:p14="http://schemas.microsoft.com/office/powerpoint/2010/main" val="8743281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文本占位符 2"/>
          <p:cNvSpPr>
            <a:spLocks noGrp="1"/>
          </p:cNvSpPr>
          <p:nvPr>
            <p:ph type="body" sz="quarter" idx="10"/>
          </p:nvPr>
        </p:nvSpPr>
        <p:spPr/>
        <p:txBody>
          <a:bodyPr/>
          <a:lstStyle/>
          <a:p>
            <a:r>
              <a:rPr lang="zh-CN" altLang="en-US" sz="2400" b="1" dirty="0"/>
              <a:t>输入</a:t>
            </a:r>
            <a:r>
              <a:rPr lang="zh-CN" altLang="en-US" sz="2400" b="1" dirty="0" smtClean="0"/>
              <a:t>样例</a:t>
            </a:r>
            <a:r>
              <a:rPr lang="en-US" altLang="zh-CN" sz="2400" b="1" dirty="0"/>
              <a:t>#1</a:t>
            </a:r>
            <a:r>
              <a:rPr lang="zh-CN" altLang="en-US" sz="2400" b="1" dirty="0"/>
              <a:t>：</a:t>
            </a:r>
            <a:r>
              <a:rPr lang="zh-CN" altLang="en-US" sz="2400" dirty="0"/>
              <a:t> </a:t>
            </a:r>
            <a:endParaRPr lang="en-US" altLang="zh-CN" sz="2400" dirty="0" smtClean="0"/>
          </a:p>
          <a:p>
            <a:pPr marL="0" indent="0">
              <a:buNone/>
            </a:pPr>
            <a:r>
              <a:rPr lang="en-US" altLang="zh-CN" sz="2400" dirty="0" smtClean="0">
                <a:solidFill>
                  <a:srgbClr val="FF0000"/>
                </a:solidFill>
              </a:rPr>
              <a:t>10 </a:t>
            </a:r>
          </a:p>
          <a:p>
            <a:pPr marL="0" indent="0">
              <a:buNone/>
            </a:pPr>
            <a:r>
              <a:rPr lang="en-US" altLang="zh-CN" sz="2400" dirty="0" smtClean="0">
                <a:solidFill>
                  <a:srgbClr val="FF0000"/>
                </a:solidFill>
              </a:rPr>
              <a:t>2 </a:t>
            </a:r>
            <a:r>
              <a:rPr lang="en-US" altLang="zh-CN" sz="2400" dirty="0">
                <a:solidFill>
                  <a:srgbClr val="FF0000"/>
                </a:solidFill>
              </a:rPr>
              <a:t>3 5 </a:t>
            </a:r>
            <a:endParaRPr lang="en-US" altLang="zh-CN" sz="2400" dirty="0" smtClean="0">
              <a:solidFill>
                <a:srgbClr val="FF0000"/>
              </a:solidFill>
            </a:endParaRPr>
          </a:p>
          <a:p>
            <a:pPr marL="0" indent="0">
              <a:buNone/>
            </a:pPr>
            <a:r>
              <a:rPr lang="en-US" altLang="zh-CN" sz="2400" dirty="0" smtClean="0">
                <a:solidFill>
                  <a:srgbClr val="FF0000"/>
                </a:solidFill>
              </a:rPr>
              <a:t>2 </a:t>
            </a:r>
            <a:r>
              <a:rPr lang="en-US" altLang="zh-CN" sz="2400" dirty="0">
                <a:solidFill>
                  <a:srgbClr val="FF0000"/>
                </a:solidFill>
              </a:rPr>
              <a:t>3 5 6 </a:t>
            </a:r>
            <a:r>
              <a:rPr lang="en-US" altLang="zh-CN" sz="2400" dirty="0" smtClean="0">
                <a:solidFill>
                  <a:srgbClr val="FF0000"/>
                </a:solidFill>
              </a:rPr>
              <a:t>7</a:t>
            </a:r>
            <a:endParaRPr kumimoji="1" lang="en-US" altLang="zh-CN" sz="2400" dirty="0">
              <a:solidFill>
                <a:srgbClr val="FF0000"/>
              </a:solidFill>
            </a:endParaRPr>
          </a:p>
          <a:p>
            <a:r>
              <a:rPr lang="zh-CN" altLang="en-US" sz="2400" b="1" dirty="0"/>
              <a:t>输出样例</a:t>
            </a:r>
            <a:r>
              <a:rPr lang="en-US" altLang="zh-CN" sz="2400" b="1" dirty="0"/>
              <a:t>#1</a:t>
            </a:r>
            <a:r>
              <a:rPr lang="zh-CN" altLang="en-US" sz="2400" b="1" dirty="0" smtClean="0"/>
              <a:t>：</a:t>
            </a:r>
            <a:endParaRPr lang="en-US" altLang="zh-CN" sz="2400" dirty="0"/>
          </a:p>
          <a:p>
            <a:pPr marL="0" indent="0">
              <a:buNone/>
            </a:pPr>
            <a:r>
              <a:rPr lang="en-US" altLang="zh-CN" sz="2400" dirty="0" smtClean="0">
                <a:solidFill>
                  <a:srgbClr val="FF0000"/>
                </a:solidFill>
              </a:rPr>
              <a:t>2</a:t>
            </a:r>
          </a:p>
          <a:p>
            <a:r>
              <a:rPr lang="zh-CN" altLang="en-US" sz="2400" b="1" dirty="0" smtClean="0"/>
              <a:t>说明</a:t>
            </a:r>
            <a:endParaRPr lang="zh-CN" altLang="en-US" sz="2400" b="1" dirty="0"/>
          </a:p>
          <a:p>
            <a:r>
              <a:rPr lang="zh-CN" altLang="en-US" sz="2400" dirty="0"/>
              <a:t>对于</a:t>
            </a:r>
            <a:r>
              <a:rPr lang="en-US" altLang="zh-CN" sz="2400" dirty="0"/>
              <a:t>30%</a:t>
            </a:r>
            <a:r>
              <a:rPr lang="zh-CN" altLang="en-US" sz="2400" dirty="0"/>
              <a:t>的数据</a:t>
            </a:r>
            <a:r>
              <a:rPr lang="zh-CN" altLang="en-US" sz="2400" dirty="0" smtClean="0"/>
              <a:t>，</a:t>
            </a:r>
            <a:r>
              <a:rPr lang="en-US" altLang="zh-CN" sz="2400" i="1" dirty="0" smtClean="0">
                <a:solidFill>
                  <a:srgbClr val="FF0000"/>
                </a:solidFill>
              </a:rPr>
              <a:t>L</a:t>
            </a:r>
            <a:r>
              <a:rPr lang="zh-CN" altLang="en-US" sz="2400" dirty="0">
                <a:solidFill>
                  <a:srgbClr val="FF0000"/>
                </a:solidFill>
              </a:rPr>
              <a:t>≤</a:t>
            </a:r>
            <a:r>
              <a:rPr lang="en-US" altLang="zh-CN" sz="2400" dirty="0">
                <a:solidFill>
                  <a:srgbClr val="FF0000"/>
                </a:solidFill>
              </a:rPr>
              <a:t>10000</a:t>
            </a:r>
            <a:r>
              <a:rPr lang="zh-CN" altLang="en-US" sz="2400" dirty="0"/>
              <a:t>；</a:t>
            </a:r>
          </a:p>
          <a:p>
            <a:r>
              <a:rPr lang="zh-CN" altLang="en-US" sz="2400" dirty="0"/>
              <a:t>对于全部的数据</a:t>
            </a:r>
            <a:r>
              <a:rPr lang="zh-CN" altLang="en-US" sz="2400" dirty="0" smtClean="0"/>
              <a:t>，</a:t>
            </a:r>
            <a:r>
              <a:rPr lang="en-US" altLang="zh-CN" sz="2400" i="1" dirty="0" smtClean="0">
                <a:solidFill>
                  <a:srgbClr val="FF0000"/>
                </a:solidFill>
              </a:rPr>
              <a:t>L</a:t>
            </a:r>
            <a:r>
              <a:rPr lang="zh-CN" altLang="en-US" sz="2400" dirty="0">
                <a:solidFill>
                  <a:srgbClr val="FF0000"/>
                </a:solidFill>
              </a:rPr>
              <a:t>≤</a:t>
            </a:r>
            <a:r>
              <a:rPr lang="en-US" altLang="zh-CN" sz="2400" dirty="0" smtClean="0">
                <a:solidFill>
                  <a:srgbClr val="FF0000"/>
                </a:solidFill>
              </a:rPr>
              <a:t>1e9</a:t>
            </a:r>
            <a:r>
              <a:rPr lang="zh-CN" altLang="en-US" sz="2400" dirty="0"/>
              <a:t>。</a:t>
            </a:r>
          </a:p>
          <a:p>
            <a:endParaRPr kumimoji="1" lang="zh-CN" altLang="en-US" sz="2400" dirty="0"/>
          </a:p>
        </p:txBody>
      </p:sp>
    </p:spTree>
    <p:extLst>
      <p:ext uri="{BB962C8B-B14F-4D97-AF65-F5344CB8AC3E}">
        <p14:creationId xmlns:p14="http://schemas.microsoft.com/office/powerpoint/2010/main" val="182224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思路讲解</a:t>
            </a:r>
            <a:endParaRPr kumimoji="1" lang="zh-CN" altLang="en-US" dirty="0"/>
          </a:p>
        </p:txBody>
      </p:sp>
      <p:sp>
        <p:nvSpPr>
          <p:cNvPr id="3" name="文本占位符 2"/>
          <p:cNvSpPr>
            <a:spLocks noGrp="1"/>
          </p:cNvSpPr>
          <p:nvPr>
            <p:ph type="body" sz="quarter" idx="10"/>
          </p:nvPr>
        </p:nvSpPr>
        <p:spPr/>
        <p:txBody>
          <a:bodyPr/>
          <a:lstStyle/>
          <a:p>
            <a:r>
              <a:rPr lang="zh-CN" altLang="mr-IN" dirty="0"/>
              <a:t>当前的点</a:t>
            </a:r>
            <a:r>
              <a:rPr lang="mr-IN" altLang="zh-CN" dirty="0" err="1" smtClean="0"/>
              <a:t>i</a:t>
            </a:r>
            <a:r>
              <a:rPr lang="zh-CN" altLang="mr-IN" dirty="0" smtClean="0"/>
              <a:t>只</a:t>
            </a:r>
            <a:r>
              <a:rPr lang="zh-CN" altLang="mr-IN" dirty="0"/>
              <a:t>与它前</a:t>
            </a:r>
            <a:r>
              <a:rPr lang="mr-IN" altLang="zh-CN" dirty="0" err="1" smtClean="0"/>
              <a:t>i-j</a:t>
            </a:r>
            <a:r>
              <a:rPr lang="zh-CN" altLang="mr-IN" dirty="0" smtClean="0"/>
              <a:t>个</a:t>
            </a:r>
            <a:r>
              <a:rPr lang="zh-CN" altLang="mr-IN" dirty="0"/>
              <a:t>点有关</a:t>
            </a:r>
            <a:r>
              <a:rPr lang="mr-IN" altLang="zh-CN" dirty="0" smtClean="0"/>
              <a:t>(</a:t>
            </a:r>
            <a:r>
              <a:rPr lang="mr-IN" altLang="zh-CN" i="1" dirty="0" err="1" smtClean="0"/>
              <a:t>s</a:t>
            </a:r>
            <a:r>
              <a:rPr lang="mr-IN" altLang="zh-CN" dirty="0" err="1"/>
              <a:t>≤</a:t>
            </a:r>
            <a:r>
              <a:rPr lang="mr-IN" altLang="zh-CN" i="1" dirty="0" err="1"/>
              <a:t>j</a:t>
            </a:r>
            <a:r>
              <a:rPr lang="mr-IN" altLang="zh-CN" dirty="0" err="1"/>
              <a:t>≤</a:t>
            </a:r>
            <a:r>
              <a:rPr lang="mr-IN" altLang="zh-CN" i="1" dirty="0" err="1"/>
              <a:t>t</a:t>
            </a:r>
            <a:r>
              <a:rPr lang="mr-IN" altLang="zh-CN" dirty="0"/>
              <a:t>)</a:t>
            </a:r>
          </a:p>
          <a:p>
            <a:r>
              <a:rPr lang="zh-CN" altLang="mr-IN" dirty="0"/>
              <a:t>如果当前的点是石头那么就是所有到达该点的位置所需踩的最少石头数加</a:t>
            </a:r>
            <a:r>
              <a:rPr lang="mr-IN" altLang="zh-CN" dirty="0" smtClean="0"/>
              <a:t>1</a:t>
            </a:r>
            <a:endParaRPr lang="mr-IN" altLang="zh-CN" dirty="0"/>
          </a:p>
          <a:p>
            <a:r>
              <a:rPr lang="zh-CN" altLang="mr-IN" dirty="0"/>
              <a:t>经过上述的分析我们就可以得出我们的状态转移方程了：</a:t>
            </a:r>
          </a:p>
          <a:p>
            <a:r>
              <a:rPr lang="zh-CN" altLang="mr-IN" dirty="0"/>
              <a:t>该点为石头： </a:t>
            </a:r>
            <a:endParaRPr lang="en-US" altLang="zh-CN" dirty="0" smtClean="0"/>
          </a:p>
          <a:p>
            <a:pPr marL="0" indent="0">
              <a:buNone/>
            </a:pPr>
            <a:r>
              <a:rPr lang="mr-IN" altLang="zh-CN" dirty="0" err="1" smtClean="0"/>
              <a:t>dp</a:t>
            </a:r>
            <a:r>
              <a:rPr lang="mr-IN" altLang="zh-CN" dirty="0" smtClean="0"/>
              <a:t>[</a:t>
            </a:r>
            <a:r>
              <a:rPr lang="mr-IN" altLang="zh-CN" dirty="0" err="1" smtClean="0"/>
              <a:t>i</a:t>
            </a:r>
            <a:r>
              <a:rPr lang="mr-IN" altLang="zh-CN" dirty="0"/>
              <a:t>] = </a:t>
            </a:r>
            <a:r>
              <a:rPr lang="mr-IN" altLang="zh-CN" dirty="0" err="1"/>
              <a:t>min</a:t>
            </a:r>
            <a:r>
              <a:rPr lang="mr-IN" altLang="zh-CN" dirty="0"/>
              <a:t>(</a:t>
            </a:r>
            <a:r>
              <a:rPr lang="mr-IN" altLang="zh-CN" dirty="0" err="1"/>
              <a:t>dp</a:t>
            </a:r>
            <a:r>
              <a:rPr lang="mr-IN" altLang="zh-CN" dirty="0"/>
              <a:t>[</a:t>
            </a:r>
            <a:r>
              <a:rPr lang="mr-IN" altLang="zh-CN" dirty="0" err="1"/>
              <a:t>i</a:t>
            </a:r>
            <a:r>
              <a:rPr lang="mr-IN" altLang="zh-CN" dirty="0"/>
              <a:t>],</a:t>
            </a:r>
            <a:r>
              <a:rPr lang="mr-IN" altLang="zh-CN" dirty="0" err="1"/>
              <a:t>dp</a:t>
            </a:r>
            <a:r>
              <a:rPr lang="mr-IN" altLang="zh-CN" dirty="0"/>
              <a:t>[</a:t>
            </a:r>
            <a:r>
              <a:rPr lang="mr-IN" altLang="zh-CN" dirty="0" err="1"/>
              <a:t>i-j</a:t>
            </a:r>
            <a:r>
              <a:rPr lang="mr-IN" altLang="zh-CN" dirty="0"/>
              <a:t>] +1</a:t>
            </a:r>
            <a:r>
              <a:rPr lang="mr-IN" altLang="zh-CN" dirty="0" smtClean="0"/>
              <a:t>)(</a:t>
            </a:r>
            <a:r>
              <a:rPr lang="mr-IN" altLang="zh-CN" i="1" dirty="0" err="1" smtClean="0"/>
              <a:t>s</a:t>
            </a:r>
            <a:r>
              <a:rPr lang="mr-IN" altLang="zh-CN" dirty="0" err="1"/>
              <a:t>≤</a:t>
            </a:r>
            <a:r>
              <a:rPr lang="mr-IN" altLang="zh-CN" i="1" dirty="0" err="1"/>
              <a:t>j</a:t>
            </a:r>
            <a:r>
              <a:rPr lang="mr-IN" altLang="zh-CN" dirty="0" err="1"/>
              <a:t>≤</a:t>
            </a:r>
            <a:r>
              <a:rPr lang="mr-IN" altLang="zh-CN" i="1" dirty="0" err="1"/>
              <a:t>t</a:t>
            </a:r>
            <a:r>
              <a:rPr lang="mr-IN" altLang="zh-CN" dirty="0"/>
              <a:t>)</a:t>
            </a:r>
          </a:p>
          <a:p>
            <a:r>
              <a:rPr lang="zh-CN" altLang="mr-IN" dirty="0"/>
              <a:t>该点不为石头： </a:t>
            </a:r>
            <a:endParaRPr lang="en-US" altLang="zh-CN" dirty="0" smtClean="0"/>
          </a:p>
          <a:p>
            <a:pPr marL="0" indent="0">
              <a:buNone/>
            </a:pPr>
            <a:r>
              <a:rPr lang="mr-IN" altLang="zh-CN" dirty="0" err="1" smtClean="0"/>
              <a:t>dp</a:t>
            </a:r>
            <a:r>
              <a:rPr lang="mr-IN" altLang="zh-CN" dirty="0" smtClean="0"/>
              <a:t>[</a:t>
            </a:r>
            <a:r>
              <a:rPr lang="mr-IN" altLang="zh-CN" dirty="0" err="1" smtClean="0"/>
              <a:t>i</a:t>
            </a:r>
            <a:r>
              <a:rPr lang="mr-IN" altLang="zh-CN" dirty="0"/>
              <a:t>] = </a:t>
            </a:r>
            <a:r>
              <a:rPr lang="mr-IN" altLang="zh-CN" dirty="0" err="1"/>
              <a:t>min</a:t>
            </a:r>
            <a:r>
              <a:rPr lang="mr-IN" altLang="zh-CN" dirty="0"/>
              <a:t>(</a:t>
            </a:r>
            <a:r>
              <a:rPr lang="mr-IN" altLang="zh-CN" dirty="0" err="1"/>
              <a:t>dp</a:t>
            </a:r>
            <a:r>
              <a:rPr lang="mr-IN" altLang="zh-CN" dirty="0"/>
              <a:t>[</a:t>
            </a:r>
            <a:r>
              <a:rPr lang="mr-IN" altLang="zh-CN" dirty="0" err="1"/>
              <a:t>i</a:t>
            </a:r>
            <a:r>
              <a:rPr lang="mr-IN" altLang="zh-CN" dirty="0"/>
              <a:t>],</a:t>
            </a:r>
            <a:r>
              <a:rPr lang="mr-IN" altLang="zh-CN" dirty="0" err="1"/>
              <a:t>dp</a:t>
            </a:r>
            <a:r>
              <a:rPr lang="mr-IN" altLang="zh-CN" dirty="0"/>
              <a:t>[</a:t>
            </a:r>
            <a:r>
              <a:rPr lang="mr-IN" altLang="zh-CN" dirty="0" err="1"/>
              <a:t>i-j</a:t>
            </a:r>
            <a:r>
              <a:rPr lang="mr-IN" altLang="zh-CN" dirty="0" smtClean="0"/>
              <a:t>])(</a:t>
            </a:r>
            <a:r>
              <a:rPr lang="mr-IN" altLang="zh-CN" i="1" dirty="0" err="1" smtClean="0"/>
              <a:t>s</a:t>
            </a:r>
            <a:r>
              <a:rPr lang="mr-IN" altLang="zh-CN" dirty="0" err="1"/>
              <a:t>≤</a:t>
            </a:r>
            <a:r>
              <a:rPr lang="mr-IN" altLang="zh-CN" i="1" dirty="0" err="1"/>
              <a:t>j</a:t>
            </a:r>
            <a:r>
              <a:rPr lang="mr-IN" altLang="zh-CN" dirty="0" err="1"/>
              <a:t>≤</a:t>
            </a:r>
            <a:r>
              <a:rPr lang="mr-IN" altLang="zh-CN" i="1" dirty="0" err="1"/>
              <a:t>t</a:t>
            </a:r>
            <a:r>
              <a:rPr lang="mr-IN" altLang="zh-CN" dirty="0"/>
              <a:t>)</a:t>
            </a:r>
          </a:p>
          <a:p>
            <a:endParaRPr kumimoji="1" lang="zh-CN" altLang="en-US" dirty="0"/>
          </a:p>
        </p:txBody>
      </p:sp>
    </p:spTree>
    <p:extLst>
      <p:ext uri="{BB962C8B-B14F-4D97-AF65-F5344CB8AC3E}">
        <p14:creationId xmlns:p14="http://schemas.microsoft.com/office/powerpoint/2010/main" val="340717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思考数据范围</a:t>
            </a:r>
            <a:endParaRPr kumimoji="1" lang="zh-CN" altLang="en-US" dirty="0"/>
          </a:p>
        </p:txBody>
      </p:sp>
      <p:sp>
        <p:nvSpPr>
          <p:cNvPr id="3" name="文本占位符 2"/>
          <p:cNvSpPr>
            <a:spLocks noGrp="1"/>
          </p:cNvSpPr>
          <p:nvPr>
            <p:ph type="body" sz="quarter" idx="10"/>
          </p:nvPr>
        </p:nvSpPr>
        <p:spPr/>
        <p:txBody>
          <a:bodyPr/>
          <a:lstStyle/>
          <a:p>
            <a:r>
              <a:rPr lang="is-IS" altLang="zh-CN" i="1" dirty="0" smtClean="0"/>
              <a:t>L</a:t>
            </a:r>
            <a:r>
              <a:rPr lang="is-IS" altLang="zh-CN" dirty="0"/>
              <a:t>≤</a:t>
            </a:r>
            <a:r>
              <a:rPr lang="is-IS" altLang="zh-CN" dirty="0" smtClean="0"/>
              <a:t>1</a:t>
            </a:r>
            <a:r>
              <a:rPr lang="en-US" altLang="zh-CN" dirty="0" smtClean="0"/>
              <a:t>e</a:t>
            </a:r>
            <a:r>
              <a:rPr lang="is-IS" altLang="zh-CN" dirty="0" smtClean="0"/>
              <a:t>9  L</a:t>
            </a:r>
            <a:r>
              <a:rPr lang="zh-CN" altLang="en-US" dirty="0" smtClean="0"/>
              <a:t>的值是如此的大</a:t>
            </a:r>
            <a:endParaRPr lang="en-US" altLang="zh-CN" dirty="0" smtClean="0"/>
          </a:p>
          <a:p>
            <a:r>
              <a:rPr kumimoji="1" lang="zh-CN" altLang="en-US" dirty="0" smtClean="0"/>
              <a:t>如何做？</a:t>
            </a:r>
            <a:endParaRPr kumimoji="1" lang="en-US" altLang="zh-CN" dirty="0"/>
          </a:p>
        </p:txBody>
      </p:sp>
    </p:spTree>
    <p:extLst>
      <p:ext uri="{BB962C8B-B14F-4D97-AF65-F5344CB8AC3E}">
        <p14:creationId xmlns:p14="http://schemas.microsoft.com/office/powerpoint/2010/main" val="1253586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思考数据范围</a:t>
            </a:r>
          </a:p>
        </p:txBody>
      </p:sp>
      <p:sp>
        <p:nvSpPr>
          <p:cNvPr id="3" name="文本占位符 2"/>
          <p:cNvSpPr>
            <a:spLocks noGrp="1"/>
          </p:cNvSpPr>
          <p:nvPr>
            <p:ph type="body" sz="quarter" idx="10"/>
          </p:nvPr>
        </p:nvSpPr>
        <p:spPr/>
        <p:txBody>
          <a:bodyPr/>
          <a:lstStyle/>
          <a:p>
            <a:r>
              <a:rPr lang="is-IS" altLang="zh-CN" i="1" dirty="0"/>
              <a:t>L</a:t>
            </a:r>
            <a:r>
              <a:rPr lang="is-IS" altLang="zh-CN" dirty="0"/>
              <a:t>≤1</a:t>
            </a:r>
            <a:r>
              <a:rPr lang="en-US" altLang="zh-CN" dirty="0"/>
              <a:t>e</a:t>
            </a:r>
            <a:r>
              <a:rPr lang="is-IS" altLang="zh-CN" dirty="0"/>
              <a:t>9  L</a:t>
            </a:r>
            <a:r>
              <a:rPr lang="zh-CN" altLang="en-US" dirty="0"/>
              <a:t>的值是如此的大</a:t>
            </a:r>
            <a:endParaRPr lang="en-US" altLang="zh-CN" dirty="0"/>
          </a:p>
          <a:p>
            <a:r>
              <a:rPr kumimoji="1" lang="zh-CN" altLang="en-US" dirty="0"/>
              <a:t>如何做？</a:t>
            </a:r>
            <a:endParaRPr kumimoji="1" lang="en-US" altLang="zh-CN" dirty="0"/>
          </a:p>
          <a:p>
            <a:pPr marL="0" indent="0">
              <a:buNone/>
            </a:pPr>
            <a:r>
              <a:rPr lang="zh-CN" altLang="mr-IN" sz="2000" dirty="0"/>
              <a:t>假设每次走</a:t>
            </a:r>
            <a:r>
              <a:rPr lang="mr-IN" altLang="zh-CN" sz="2000" dirty="0" err="1"/>
              <a:t>p</a:t>
            </a:r>
            <a:r>
              <a:rPr lang="zh-CN" altLang="mr-IN" sz="2000" dirty="0"/>
              <a:t>或者</a:t>
            </a:r>
            <a:r>
              <a:rPr lang="mr-IN" altLang="zh-CN" sz="2000" dirty="0"/>
              <a:t>p+1</a:t>
            </a:r>
            <a:r>
              <a:rPr lang="zh-CN" altLang="mr-IN" sz="2000" dirty="0"/>
              <a:t>步</a:t>
            </a:r>
            <a:r>
              <a:rPr lang="mr-IN" altLang="zh-CN" sz="2000" dirty="0"/>
              <a:t>.</a:t>
            </a:r>
            <a:r>
              <a:rPr lang="zh-CN" altLang="mr-IN" sz="2000" dirty="0"/>
              <a:t>我们</a:t>
            </a:r>
            <a:r>
              <a:rPr lang="zh-CN" altLang="mr-IN" sz="2000" dirty="0" smtClean="0"/>
              <a:t>知道</a:t>
            </a:r>
            <a:r>
              <a:rPr lang="mr-IN" altLang="zh-CN" sz="2000" dirty="0" err="1" smtClean="0"/>
              <a:t>gcd</a:t>
            </a:r>
            <a:r>
              <a:rPr lang="mr-IN" altLang="zh-CN" sz="2000" dirty="0" smtClean="0"/>
              <a:t>(</a:t>
            </a:r>
            <a:r>
              <a:rPr lang="mr-IN" altLang="zh-CN" sz="2000" i="1" dirty="0" smtClean="0"/>
              <a:t>p</a:t>
            </a:r>
            <a:r>
              <a:rPr lang="mr-IN" altLang="zh-CN" sz="2000" dirty="0" smtClean="0"/>
              <a:t>,</a:t>
            </a:r>
            <a:r>
              <a:rPr lang="mr-IN" altLang="zh-CN" sz="2000" i="1" dirty="0" smtClean="0"/>
              <a:t>p</a:t>
            </a:r>
            <a:r>
              <a:rPr lang="mr-IN" altLang="zh-CN" sz="2000" dirty="0" smtClean="0"/>
              <a:t>+1</a:t>
            </a:r>
            <a:r>
              <a:rPr lang="mr-IN" altLang="zh-CN" sz="2000" dirty="0"/>
              <a:t>)=1.</a:t>
            </a:r>
          </a:p>
          <a:p>
            <a:pPr marL="0" indent="0">
              <a:buNone/>
            </a:pPr>
            <a:r>
              <a:rPr lang="zh-CN" altLang="mr-IN" sz="2000" dirty="0"/>
              <a:t>由扩展欧几里得可知，对于二元一次方程组：</a:t>
            </a:r>
          </a:p>
          <a:p>
            <a:pPr marL="0" indent="0">
              <a:buNone/>
            </a:pPr>
            <a:r>
              <a:rPr lang="mr-IN" altLang="zh-CN" sz="2000" i="1" dirty="0" err="1" smtClean="0"/>
              <a:t>px</a:t>
            </a:r>
            <a:r>
              <a:rPr lang="mr-IN" altLang="zh-CN" sz="2000" dirty="0"/>
              <a:t>+(</a:t>
            </a:r>
            <a:r>
              <a:rPr lang="mr-IN" altLang="zh-CN" sz="2000" i="1" dirty="0"/>
              <a:t>p</a:t>
            </a:r>
            <a:r>
              <a:rPr lang="mr-IN" altLang="zh-CN" sz="2000" dirty="0"/>
              <a:t>+1)</a:t>
            </a:r>
            <a:r>
              <a:rPr lang="mr-IN" altLang="zh-CN" sz="2000" i="1" dirty="0" err="1"/>
              <a:t>y</a:t>
            </a:r>
            <a:r>
              <a:rPr lang="mr-IN" altLang="zh-CN" sz="2000" dirty="0"/>
              <a:t>=</a:t>
            </a:r>
            <a:r>
              <a:rPr lang="mr-IN" altLang="zh-CN" sz="2000" dirty="0" err="1"/>
              <a:t>gcd</a:t>
            </a:r>
            <a:r>
              <a:rPr lang="mr-IN" altLang="zh-CN" sz="2000" dirty="0"/>
              <a:t>(</a:t>
            </a:r>
            <a:r>
              <a:rPr lang="mr-IN" altLang="zh-CN" sz="2000" i="1" dirty="0"/>
              <a:t>p</a:t>
            </a:r>
            <a:r>
              <a:rPr lang="mr-IN" altLang="zh-CN" sz="2000" dirty="0"/>
              <a:t>,</a:t>
            </a:r>
            <a:r>
              <a:rPr lang="mr-IN" altLang="zh-CN" sz="2000" i="1" dirty="0"/>
              <a:t>p</a:t>
            </a:r>
            <a:r>
              <a:rPr lang="mr-IN" altLang="zh-CN" sz="2000" dirty="0"/>
              <a:t>+1)</a:t>
            </a:r>
            <a:r>
              <a:rPr lang="zh-CN" altLang="mr-IN" sz="2000" dirty="0"/>
              <a:t>是有整数解</a:t>
            </a:r>
            <a:r>
              <a:rPr lang="zh-CN" altLang="mr-IN" sz="2000" dirty="0" smtClean="0"/>
              <a:t>的</a:t>
            </a:r>
            <a:endParaRPr lang="en-US" altLang="zh-CN" sz="2000" dirty="0" smtClean="0"/>
          </a:p>
          <a:p>
            <a:pPr marL="0" indent="0">
              <a:buNone/>
            </a:pPr>
            <a:r>
              <a:rPr lang="zh-CN" altLang="mr-IN" sz="2000" dirty="0" smtClean="0"/>
              <a:t>即可</a:t>
            </a:r>
            <a:r>
              <a:rPr lang="zh-CN" altLang="mr-IN" sz="2000" dirty="0"/>
              <a:t>得</a:t>
            </a:r>
            <a:r>
              <a:rPr lang="zh-CN" altLang="mr-IN" sz="2000" dirty="0" smtClean="0"/>
              <a:t>：</a:t>
            </a:r>
            <a:r>
              <a:rPr lang="mr-IN" altLang="zh-CN" sz="2000" i="1" dirty="0" err="1" smtClean="0"/>
              <a:t>px</a:t>
            </a:r>
            <a:r>
              <a:rPr lang="mr-IN" altLang="zh-CN" sz="2000" dirty="0"/>
              <a:t>+(</a:t>
            </a:r>
            <a:r>
              <a:rPr lang="mr-IN" altLang="zh-CN" sz="2000" i="1" dirty="0"/>
              <a:t>p</a:t>
            </a:r>
            <a:r>
              <a:rPr lang="mr-IN" altLang="zh-CN" sz="2000" dirty="0"/>
              <a:t>+1)</a:t>
            </a:r>
            <a:r>
              <a:rPr lang="mr-IN" altLang="zh-CN" sz="2000" i="1" dirty="0" err="1"/>
              <a:t>y</a:t>
            </a:r>
            <a:r>
              <a:rPr lang="mr-IN" altLang="zh-CN" sz="2000" dirty="0"/>
              <a:t>=</a:t>
            </a:r>
            <a:r>
              <a:rPr lang="mr-IN" altLang="zh-CN" sz="2000" i="1" dirty="0" err="1"/>
              <a:t>s</a:t>
            </a:r>
            <a:r>
              <a:rPr lang="zh-CN" altLang="mr-IN" sz="2000" dirty="0"/>
              <a:t>是一定有整数解的。</a:t>
            </a:r>
          </a:p>
          <a:p>
            <a:pPr marL="0" indent="0">
              <a:buNone/>
            </a:pPr>
            <a:r>
              <a:rPr lang="zh-CN" altLang="mr-IN" sz="2000" dirty="0"/>
              <a:t>设</a:t>
            </a:r>
            <a:r>
              <a:rPr lang="mr-IN" altLang="zh-CN" sz="2000" dirty="0" err="1"/>
              <a:t>px</a:t>
            </a:r>
            <a:r>
              <a:rPr lang="mr-IN" altLang="zh-CN" sz="2000" dirty="0"/>
              <a:t>+(</a:t>
            </a:r>
            <a:r>
              <a:rPr lang="mr-IN" altLang="zh-CN" sz="2000" dirty="0" smtClean="0"/>
              <a:t>p+1)</a:t>
            </a:r>
            <a:r>
              <a:rPr lang="mr-IN" altLang="zh-CN" sz="2000" dirty="0" err="1" smtClean="0"/>
              <a:t>y</a:t>
            </a:r>
            <a:r>
              <a:rPr lang="mr-IN" altLang="zh-CN" sz="2000" dirty="0" smtClean="0"/>
              <a:t>=</a:t>
            </a:r>
            <a:r>
              <a:rPr lang="mr-IN" altLang="zh-CN" sz="2000" dirty="0" err="1" smtClean="0"/>
              <a:t>s</a:t>
            </a:r>
            <a:r>
              <a:rPr lang="zh-CN" altLang="mr-IN" sz="2000" dirty="0" smtClean="0"/>
              <a:t>的</a:t>
            </a:r>
            <a:r>
              <a:rPr lang="zh-CN" altLang="mr-IN" sz="2000" dirty="0"/>
              <a:t>解为</a:t>
            </a:r>
            <a:r>
              <a:rPr lang="zh-CN" altLang="mr-IN" sz="2000" dirty="0" smtClean="0"/>
              <a:t>：</a:t>
            </a:r>
            <a:endParaRPr lang="en-US" altLang="zh-CN" sz="2000" dirty="0" smtClean="0"/>
          </a:p>
          <a:p>
            <a:pPr marL="0" indent="0">
              <a:buNone/>
            </a:pPr>
            <a:r>
              <a:rPr lang="mr-IN" altLang="zh-CN" sz="2000" dirty="0" smtClean="0"/>
              <a:t>x=x0</a:t>
            </a:r>
            <a:r>
              <a:rPr lang="mr-IN" altLang="zh-CN" sz="2000" dirty="0"/>
              <a:t>+(</a:t>
            </a:r>
            <a:r>
              <a:rPr lang="mr-IN" altLang="zh-CN" sz="2000" dirty="0" smtClean="0"/>
              <a:t>p+1)t</a:t>
            </a:r>
            <a:r>
              <a:rPr lang="mr-IN" altLang="zh-CN" sz="2000" dirty="0" smtClean="0"/>
              <a:t>,</a:t>
            </a:r>
            <a:r>
              <a:rPr lang="en-US" altLang="zh-CN" sz="2000" dirty="0" smtClean="0"/>
              <a:t> </a:t>
            </a:r>
            <a:r>
              <a:rPr lang="mr-IN" altLang="zh-CN" sz="2000" dirty="0" smtClean="0"/>
              <a:t>y=y0-pt</a:t>
            </a:r>
            <a:r>
              <a:rPr lang="zh-CN" altLang="mr-IN" sz="2000" dirty="0" smtClean="0"/>
              <a:t>。</a:t>
            </a:r>
            <a:endParaRPr lang="en-US" altLang="zh-CN" sz="2000" dirty="0" smtClean="0"/>
          </a:p>
          <a:p>
            <a:pPr marL="0" indent="0">
              <a:buNone/>
            </a:pPr>
            <a:r>
              <a:rPr lang="zh-CN" altLang="mr-IN" sz="2000" dirty="0" smtClean="0"/>
              <a:t>令</a:t>
            </a:r>
            <a:r>
              <a:rPr lang="mr-IN" altLang="zh-CN" sz="2000" dirty="0"/>
              <a:t>0&lt;=</a:t>
            </a:r>
            <a:r>
              <a:rPr lang="mr-IN" altLang="zh-CN" sz="2000" dirty="0" err="1"/>
              <a:t>x</a:t>
            </a:r>
            <a:r>
              <a:rPr lang="mr-IN" altLang="zh-CN" sz="2000" dirty="0"/>
              <a:t>&lt;=</a:t>
            </a:r>
            <a:r>
              <a:rPr lang="mr-IN" altLang="zh-CN" sz="2000" dirty="0" err="1" smtClean="0"/>
              <a:t>p</a:t>
            </a:r>
            <a:r>
              <a:rPr lang="mr-IN" altLang="zh-CN" sz="2000" dirty="0" smtClean="0"/>
              <a:t>(</a:t>
            </a:r>
            <a:r>
              <a:rPr lang="zh-CN" altLang="mr-IN" sz="2000" dirty="0"/>
              <a:t>通过增减</a:t>
            </a:r>
            <a:r>
              <a:rPr lang="mr-IN" altLang="zh-CN" sz="2000" dirty="0" err="1"/>
              <a:t>t</a:t>
            </a:r>
            <a:r>
              <a:rPr lang="zh-CN" altLang="mr-IN" sz="2000" dirty="0"/>
              <a:t>个</a:t>
            </a:r>
            <a:r>
              <a:rPr lang="mr-IN" altLang="zh-CN" sz="2000" dirty="0"/>
              <a:t>p+1</a:t>
            </a:r>
            <a:r>
              <a:rPr lang="zh-CN" altLang="mr-IN" sz="2000" dirty="0"/>
              <a:t>来实现</a:t>
            </a:r>
            <a:r>
              <a:rPr lang="mr-IN" altLang="zh-CN" sz="2000" dirty="0"/>
              <a:t>)</a:t>
            </a:r>
            <a:r>
              <a:rPr lang="zh-CN" altLang="mr-IN" sz="2000" dirty="0"/>
              <a:t>，</a:t>
            </a:r>
            <a:r>
              <a:rPr lang="mr-IN" altLang="zh-CN" sz="2000" dirty="0" smtClean="0"/>
              <a:t>s</a:t>
            </a:r>
            <a:r>
              <a:rPr lang="en-US" altLang="zh-CN" sz="2000" dirty="0" smtClean="0"/>
              <a:t> </a:t>
            </a:r>
            <a:r>
              <a:rPr lang="mr-IN" altLang="zh-CN" sz="2000" dirty="0" smtClean="0"/>
              <a:t>&gt;</a:t>
            </a:r>
            <a:r>
              <a:rPr lang="en-US" altLang="zh-CN" sz="2000" dirty="0" smtClean="0"/>
              <a:t> </a:t>
            </a:r>
            <a:r>
              <a:rPr lang="mr-IN" altLang="zh-CN" sz="2000" dirty="0" smtClean="0"/>
              <a:t>p</a:t>
            </a:r>
            <a:r>
              <a:rPr lang="mr-IN" altLang="zh-CN" sz="2000" dirty="0"/>
              <a:t>*(p+1)-</a:t>
            </a:r>
            <a:r>
              <a:rPr lang="mr-IN" altLang="zh-CN" sz="2000" dirty="0" smtClean="0"/>
              <a:t>1</a:t>
            </a:r>
            <a:endParaRPr lang="mr-IN" altLang="zh-CN" sz="2000" dirty="0"/>
          </a:p>
          <a:p>
            <a:endParaRPr kumimoji="1" lang="zh-CN" altLang="en-US" dirty="0"/>
          </a:p>
        </p:txBody>
      </p:sp>
    </p:spTree>
    <p:extLst>
      <p:ext uri="{BB962C8B-B14F-4D97-AF65-F5344CB8AC3E}">
        <p14:creationId xmlns:p14="http://schemas.microsoft.com/office/powerpoint/2010/main" val="59236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文本占位符 2"/>
          <p:cNvSpPr>
            <a:spLocks noGrp="1"/>
          </p:cNvSpPr>
          <p:nvPr>
            <p:ph type="body" sz="quarter" idx="10"/>
          </p:nvPr>
        </p:nvSpPr>
        <p:spPr/>
        <p:txBody>
          <a:bodyPr/>
          <a:lstStyle/>
          <a:p>
            <a:pPr marL="0" indent="0">
              <a:buNone/>
            </a:pPr>
            <a:r>
              <a:rPr lang="zh-CN" altLang="en-US" sz="1800" dirty="0" smtClean="0"/>
              <a:t>当</a:t>
            </a:r>
            <a:r>
              <a:rPr lang="zh-CN" altLang="en-US" sz="1800" dirty="0"/>
              <a:t> </a:t>
            </a:r>
            <a:r>
              <a:rPr lang="en-US" altLang="zh-CN" sz="1800" dirty="0"/>
              <a:t>s&gt;=p*(</a:t>
            </a:r>
            <a:r>
              <a:rPr lang="en-US" altLang="zh-CN" sz="1800" dirty="0" smtClean="0"/>
              <a:t>p+1)</a:t>
            </a:r>
            <a:r>
              <a:rPr lang="zh-CN" altLang="en-US" sz="1800" dirty="0"/>
              <a:t> 时，</a:t>
            </a:r>
            <a:r>
              <a:rPr lang="en-US" altLang="zh-CN" sz="1800" dirty="0" err="1"/>
              <a:t>px</a:t>
            </a:r>
            <a:r>
              <a:rPr lang="en-US" altLang="zh-CN" sz="1800" dirty="0"/>
              <a:t>+(</a:t>
            </a:r>
            <a:r>
              <a:rPr lang="en-US" altLang="zh-CN" sz="1800" dirty="0" smtClean="0"/>
              <a:t>p+1)y=s</a:t>
            </a:r>
            <a:r>
              <a:rPr lang="zh-CN" altLang="en-US" sz="1800" dirty="0"/>
              <a:t> 有两个非负整数解，每次走</a:t>
            </a:r>
            <a:r>
              <a:rPr lang="en-US" altLang="zh-CN" sz="1800" dirty="0"/>
              <a:t>p</a:t>
            </a:r>
            <a:r>
              <a:rPr lang="zh-CN" altLang="en-US" sz="1800" dirty="0"/>
              <a:t>步或者 </a:t>
            </a:r>
            <a:r>
              <a:rPr lang="en-US" altLang="zh-CN" sz="1800" dirty="0" smtClean="0"/>
              <a:t>p+1</a:t>
            </a:r>
            <a:r>
              <a:rPr lang="zh-CN" altLang="en-US" sz="1800" dirty="0"/>
              <a:t> 步，</a:t>
            </a:r>
            <a:r>
              <a:rPr lang="en-US" altLang="zh-CN" sz="1800" dirty="0"/>
              <a:t>p*(</a:t>
            </a:r>
            <a:r>
              <a:rPr lang="en-US" altLang="zh-CN" sz="1800" dirty="0" smtClean="0"/>
              <a:t>p+1)</a:t>
            </a:r>
            <a:r>
              <a:rPr lang="zh-CN" altLang="en-US" sz="1800" dirty="0"/>
              <a:t> 之后的地方均能够到达。</a:t>
            </a:r>
          </a:p>
          <a:p>
            <a:pPr marL="0" indent="0">
              <a:buNone/>
            </a:pPr>
            <a:r>
              <a:rPr lang="zh-CN" altLang="en-US" sz="1800" dirty="0"/>
              <a:t>如果两个石子之间的距离大于 </a:t>
            </a:r>
            <a:r>
              <a:rPr lang="en-US" altLang="zh-CN" sz="1800" dirty="0"/>
              <a:t>p*(</a:t>
            </a:r>
            <a:r>
              <a:rPr lang="en-US" altLang="zh-CN" sz="1800" dirty="0" smtClean="0"/>
              <a:t>p+1)</a:t>
            </a:r>
            <a:r>
              <a:rPr lang="zh-CN" altLang="en-US" sz="1800" dirty="0"/>
              <a:t> ，那么就可以直接将他们之间的距离更改为 </a:t>
            </a:r>
            <a:r>
              <a:rPr lang="en-US" altLang="zh-CN" sz="1800" dirty="0"/>
              <a:t>p*(</a:t>
            </a:r>
            <a:r>
              <a:rPr lang="en-US" altLang="zh-CN" sz="1800" dirty="0" smtClean="0"/>
              <a:t>p+1)</a:t>
            </a:r>
            <a:r>
              <a:rPr lang="zh-CN" altLang="en-US" sz="1800" dirty="0" smtClean="0"/>
              <a:t>。</a:t>
            </a:r>
            <a:endParaRPr lang="zh-CN" altLang="en-US" sz="1800" dirty="0"/>
          </a:p>
          <a:p>
            <a:pPr marL="0" indent="0">
              <a:buNone/>
            </a:pPr>
            <a:r>
              <a:rPr lang="zh-CN" altLang="en-US" sz="1800" dirty="0"/>
              <a:t>综上，得到压缩路径的方法：若两个石子之间的距离</a:t>
            </a:r>
            <a:r>
              <a:rPr lang="en-US" altLang="zh-CN" sz="1800" dirty="0"/>
              <a:t>&gt; t*(</a:t>
            </a:r>
            <a:r>
              <a:rPr lang="en-US" altLang="zh-CN" sz="1800" dirty="0" smtClean="0"/>
              <a:t>t-1)</a:t>
            </a:r>
            <a:r>
              <a:rPr lang="zh-CN" altLang="en-US" sz="1800" dirty="0"/>
              <a:t> ，则将他们的距离更改为 </a:t>
            </a:r>
            <a:r>
              <a:rPr lang="en-US" altLang="zh-CN" sz="1800" dirty="0"/>
              <a:t>t*(</a:t>
            </a:r>
            <a:r>
              <a:rPr lang="en-US" altLang="zh-CN" sz="1800" dirty="0" smtClean="0"/>
              <a:t>t-1)</a:t>
            </a:r>
            <a:r>
              <a:rPr lang="zh-CN" altLang="en-US" sz="1800" dirty="0"/>
              <a:t> 。</a:t>
            </a:r>
          </a:p>
          <a:p>
            <a:pPr marL="0" indent="0">
              <a:buNone/>
            </a:pPr>
            <a:r>
              <a:rPr lang="zh-CN" altLang="en-US" sz="1800" dirty="0"/>
              <a:t>因为 </a:t>
            </a:r>
            <a:r>
              <a:rPr lang="en-US" altLang="zh-CN" sz="1800" dirty="0"/>
              <a:t>t&lt;=</a:t>
            </a:r>
            <a:r>
              <a:rPr lang="en-US" altLang="zh-CN" sz="1800" dirty="0" smtClean="0"/>
              <a:t>10</a:t>
            </a:r>
            <a:r>
              <a:rPr lang="zh-CN" altLang="en-US" sz="1800" dirty="0"/>
              <a:t> ，因此我们可以直接将大于</a:t>
            </a:r>
            <a:r>
              <a:rPr lang="en-US" altLang="zh-CN" sz="1800" dirty="0"/>
              <a:t>10*9</a:t>
            </a:r>
            <a:r>
              <a:rPr lang="zh-CN" altLang="en-US" sz="1800" dirty="0"/>
              <a:t>的距离直接化为</a:t>
            </a:r>
            <a:r>
              <a:rPr lang="en-US" altLang="zh-CN" sz="1800" dirty="0"/>
              <a:t>90.</a:t>
            </a:r>
          </a:p>
          <a:p>
            <a:pPr marL="0" indent="0">
              <a:buNone/>
            </a:pPr>
            <a:r>
              <a:rPr lang="zh-CN" altLang="en-US" sz="1800" dirty="0"/>
              <a:t>但是要注意，对于 </a:t>
            </a:r>
            <a:r>
              <a:rPr lang="en-US" altLang="zh-CN" sz="1800" i="1" dirty="0" smtClean="0"/>
              <a:t>s</a:t>
            </a:r>
            <a:r>
              <a:rPr lang="en-US" altLang="zh-CN" sz="1800" dirty="0" smtClean="0"/>
              <a:t>=</a:t>
            </a:r>
            <a:r>
              <a:rPr lang="en-US" altLang="zh-CN" sz="1800" i="1" dirty="0" smtClean="0"/>
              <a:t>t</a:t>
            </a:r>
            <a:r>
              <a:rPr lang="zh-CN" altLang="en-US" sz="1800" dirty="0"/>
              <a:t> 这种特殊情况，这种方法是不成立的应为在这种情况下，每次是不能够走</a:t>
            </a:r>
            <a:r>
              <a:rPr lang="en-US" altLang="zh-CN" sz="1800" dirty="0"/>
              <a:t>p+1</a:t>
            </a:r>
            <a:r>
              <a:rPr lang="zh-CN" altLang="en-US" sz="1800" dirty="0"/>
              <a:t>步的，因此需要另外特殊判断。</a:t>
            </a:r>
          </a:p>
          <a:p>
            <a:pPr marL="0" indent="0">
              <a:buNone/>
            </a:pPr>
            <a:r>
              <a:rPr lang="zh-CN" altLang="en-US" sz="1800" dirty="0"/>
              <a:t>方程如下</a:t>
            </a:r>
            <a:r>
              <a:rPr lang="en-US" altLang="zh-CN" sz="1800" dirty="0"/>
              <a:t>:</a:t>
            </a:r>
          </a:p>
          <a:p>
            <a:pPr marL="0" indent="0">
              <a:buNone/>
            </a:pPr>
            <a:r>
              <a:rPr lang="en-US" altLang="zh-CN" sz="1800" i="1" dirty="0" smtClean="0"/>
              <a:t>f</a:t>
            </a:r>
            <a:r>
              <a:rPr lang="en-US" altLang="zh-CN" sz="1800" dirty="0" smtClean="0"/>
              <a:t>[</a:t>
            </a:r>
            <a:r>
              <a:rPr lang="en-US" altLang="zh-CN" sz="1800" i="1" dirty="0" err="1" smtClean="0"/>
              <a:t>i</a:t>
            </a:r>
            <a:r>
              <a:rPr lang="en-US" altLang="zh-CN" sz="1800" dirty="0"/>
              <a:t>]=</a:t>
            </a:r>
            <a:r>
              <a:rPr lang="en-US" altLang="zh-CN" sz="1800" i="1" dirty="0"/>
              <a:t>f</a:t>
            </a:r>
            <a:r>
              <a:rPr lang="en-US" altLang="zh-CN" sz="1800" dirty="0"/>
              <a:t>[</a:t>
            </a:r>
            <a:r>
              <a:rPr lang="en-US" altLang="zh-CN" sz="1800" i="1" dirty="0" err="1"/>
              <a:t>i</a:t>
            </a:r>
            <a:r>
              <a:rPr lang="zh-CN" altLang="en-US" sz="1800" dirty="0"/>
              <a:t>−</a:t>
            </a:r>
            <a:r>
              <a:rPr lang="en-US" altLang="zh-CN" sz="1800" dirty="0"/>
              <a:t>1]+(</a:t>
            </a:r>
            <a:r>
              <a:rPr lang="en-US" altLang="zh-CN" sz="1800" i="1" dirty="0" err="1" smtClean="0"/>
              <a:t>i</a:t>
            </a:r>
            <a:r>
              <a:rPr lang="en-US" altLang="zh-CN" sz="1800" i="1" dirty="0" smtClean="0"/>
              <a:t> </a:t>
            </a:r>
            <a:r>
              <a:rPr lang="en-US" altLang="zh-CN" sz="1800" dirty="0" smtClean="0"/>
              <a:t>mod </a:t>
            </a:r>
            <a:r>
              <a:rPr lang="en-US" altLang="zh-CN" sz="1800" i="1" dirty="0" smtClean="0"/>
              <a:t>s</a:t>
            </a:r>
            <a:r>
              <a:rPr lang="en-US" altLang="zh-CN" sz="1800" dirty="0"/>
              <a:t>==0)</a:t>
            </a:r>
            <a:endParaRPr lang="zh-CN" altLang="en-US" sz="1800" dirty="0"/>
          </a:p>
          <a:p>
            <a:endParaRPr kumimoji="1" lang="zh-CN" altLang="en-US" sz="1800" dirty="0"/>
          </a:p>
        </p:txBody>
      </p:sp>
    </p:spTree>
    <p:extLst>
      <p:ext uri="{BB962C8B-B14F-4D97-AF65-F5344CB8AC3E}">
        <p14:creationId xmlns:p14="http://schemas.microsoft.com/office/powerpoint/2010/main" val="1751343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示例代码</a:t>
            </a:r>
            <a:endParaRPr kumimoji="1" lang="zh-CN" altLang="en-US" dirty="0"/>
          </a:p>
        </p:txBody>
      </p:sp>
      <p:pic>
        <p:nvPicPr>
          <p:cNvPr id="4" name="图片 3"/>
          <p:cNvPicPr>
            <a:picLocks noChangeAspect="1"/>
          </p:cNvPicPr>
          <p:nvPr/>
        </p:nvPicPr>
        <p:blipFill>
          <a:blip r:embed="rId2"/>
          <a:stretch>
            <a:fillRect/>
          </a:stretch>
        </p:blipFill>
        <p:spPr>
          <a:xfrm>
            <a:off x="578555" y="1115574"/>
            <a:ext cx="4773987" cy="5029200"/>
          </a:xfrm>
          <a:prstGeom prst="rect">
            <a:avLst/>
          </a:prstGeom>
        </p:spPr>
      </p:pic>
    </p:spTree>
    <p:extLst>
      <p:ext uri="{BB962C8B-B14F-4D97-AF65-F5344CB8AC3E}">
        <p14:creationId xmlns:p14="http://schemas.microsoft.com/office/powerpoint/2010/main" val="1690406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作业</a:t>
            </a:r>
            <a:endParaRPr kumimoji="1" lang="zh-CN" altLang="en-US" dirty="0"/>
          </a:p>
        </p:txBody>
      </p:sp>
      <p:sp>
        <p:nvSpPr>
          <p:cNvPr id="3" name="文本占位符 2"/>
          <p:cNvSpPr>
            <a:spLocks noGrp="1"/>
          </p:cNvSpPr>
          <p:nvPr>
            <p:ph type="body" sz="quarter" idx="10"/>
          </p:nvPr>
        </p:nvSpPr>
        <p:spPr>
          <a:xfrm>
            <a:off x="578555" y="1667318"/>
            <a:ext cx="11308645" cy="4348163"/>
          </a:xfrm>
        </p:spPr>
        <p:txBody>
          <a:bodyPr/>
          <a:lstStyle/>
          <a:p>
            <a:r>
              <a:rPr lang="is-IS" altLang="zh-CN" b="1" dirty="0"/>
              <a:t>AT2827 LIS</a:t>
            </a:r>
          </a:p>
          <a:p>
            <a:r>
              <a:rPr kumimoji="1" lang="en-US" altLang="zh-CN" dirty="0">
                <a:hlinkClick r:id="rId2"/>
              </a:rPr>
              <a:t>https://</a:t>
            </a:r>
            <a:r>
              <a:rPr kumimoji="1" lang="en-US" altLang="zh-CN" dirty="0" smtClean="0">
                <a:hlinkClick r:id="rId2"/>
              </a:rPr>
              <a:t>www.luogu.org/problemnew/show/AT2827</a:t>
            </a:r>
            <a:r>
              <a:rPr kumimoji="1" lang="zh-CN" altLang="en-US" dirty="0" smtClean="0"/>
              <a:t> </a:t>
            </a:r>
            <a:endParaRPr kumimoji="1" lang="en-US" altLang="zh-CN" dirty="0" smtClean="0"/>
          </a:p>
          <a:p>
            <a:endParaRPr kumimoji="1" lang="en-US" altLang="zh-CN" dirty="0" smtClean="0"/>
          </a:p>
          <a:p>
            <a:r>
              <a:rPr lang="en-US" altLang="zh-CN" b="1" dirty="0"/>
              <a:t>P1020 </a:t>
            </a:r>
            <a:r>
              <a:rPr lang="zh-CN" altLang="en-US" b="1" dirty="0"/>
              <a:t>导弹拦截</a:t>
            </a:r>
          </a:p>
          <a:p>
            <a:r>
              <a:rPr kumimoji="1" lang="en-US" altLang="zh-CN" dirty="0">
                <a:hlinkClick r:id="rId3"/>
              </a:rPr>
              <a:t>https://</a:t>
            </a:r>
            <a:r>
              <a:rPr kumimoji="1" lang="en-US" altLang="zh-CN" dirty="0" smtClean="0">
                <a:hlinkClick r:id="rId3"/>
              </a:rPr>
              <a:t>www.luogu.org/problemnew/show/P1020</a:t>
            </a:r>
            <a:r>
              <a:rPr kumimoji="1" lang="zh-CN" altLang="en-US" dirty="0" smtClean="0"/>
              <a:t> </a:t>
            </a:r>
            <a:endParaRPr kumimoji="1" lang="en-US" altLang="zh-CN" dirty="0" smtClean="0"/>
          </a:p>
          <a:p>
            <a:endParaRPr kumimoji="1" lang="en-US" altLang="zh-CN" dirty="0"/>
          </a:p>
          <a:p>
            <a:r>
              <a:rPr lang="en-US" altLang="zh-CN" b="1" dirty="0"/>
              <a:t>CF10D </a:t>
            </a:r>
            <a:r>
              <a:rPr lang="en-US" altLang="zh-CN" b="1" dirty="0" smtClean="0"/>
              <a:t>LCIS(</a:t>
            </a:r>
            <a:r>
              <a:rPr lang="zh-CN" altLang="en-US" b="1" dirty="0" smtClean="0"/>
              <a:t>难</a:t>
            </a:r>
            <a:r>
              <a:rPr lang="en-US" altLang="zh-CN" b="1" dirty="0" smtClean="0"/>
              <a:t>)</a:t>
            </a:r>
            <a:endParaRPr lang="en-US" altLang="zh-CN" b="1" dirty="0"/>
          </a:p>
          <a:p>
            <a:r>
              <a:rPr kumimoji="1" lang="en-US" altLang="zh-CN" dirty="0">
                <a:hlinkClick r:id="rId4"/>
              </a:rPr>
              <a:t>https://</a:t>
            </a:r>
            <a:r>
              <a:rPr kumimoji="1" lang="en-US" altLang="zh-CN" dirty="0" smtClean="0">
                <a:hlinkClick r:id="rId4"/>
              </a:rPr>
              <a:t>www.luogu.org/problemnew/show/CF10D</a:t>
            </a:r>
            <a:r>
              <a:rPr kumimoji="1" lang="zh-CN" altLang="en-US" dirty="0" smtClean="0"/>
              <a:t> </a:t>
            </a:r>
            <a:endParaRPr kumimoji="1" lang="en-US" altLang="zh-CN" dirty="0" smtClean="0"/>
          </a:p>
          <a:p>
            <a:endParaRPr kumimoji="1" lang="en-US" altLang="zh-CN" dirty="0" smtClean="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5、9、12、15、20、25、26、28、29"/>
  <p:tag name="KSO_WM_TEMPLATE_CATEGORY" val="custom"/>
  <p:tag name="KSO_WM_TEMPLATE_INDEX" val="160337"/>
  <p:tag name="KSO_WM_TAG_VERSION" val="1.0"/>
  <p:tag name="KSO_WM_SLIDE_ID" val="custom160337_1"/>
  <p:tag name="KSO_WM_SLIDE_INDEX" val="1"/>
  <p:tag name="KSO_WM_SLIDE_ITEM_CNT" val="2"/>
  <p:tag name="KSO_WM_SLIDE_LAYOUT" val="a_b"/>
  <p:tag name="KSO_WM_SLIDE_LAYOUT_CNT" val="1_1"/>
  <p:tag name="KSO_WM_SLIDE_TYPE" val="title"/>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1*a*1"/>
  <p:tag name="KSO_WM_UNIT_CLEAR" val="1"/>
  <p:tag name="KSO_WM_UNIT_LAYERLEVEL" val="1"/>
  <p:tag name="KSO_WM_UNIT_VALUE" val="21"/>
  <p:tag name="KSO_WM_UNIT_ISCONTENTSTITLE" val="0"/>
  <p:tag name="KSO_WM_UNIT_HIGHLIGHT" val="0"/>
  <p:tag name="KSO_WM_UNIT_COMPATIBLE" val="0"/>
  <p:tag name="KSO_WM_UNIT_PRESET_TEXT_INDEX" val="3"/>
  <p:tag name="KSO_WM_UNIT_PRESET_TEXT_LEN" val="17"/>
</p:tagLst>
</file>

<file path=ppt/theme/theme1.xml><?xml version="1.0" encoding="utf-8"?>
<a:theme xmlns:a="http://schemas.openxmlformats.org/drawingml/2006/main" name="1_Office 主题">
  <a:themeElements>
    <a:clrScheme name="自定义 33">
      <a:dk1>
        <a:srgbClr val="000000"/>
      </a:dk1>
      <a:lt1>
        <a:srgbClr val="FFFFFF"/>
      </a:lt1>
      <a:dk2>
        <a:srgbClr val="000000"/>
      </a:dk2>
      <a:lt2>
        <a:srgbClr val="FEFEFE"/>
      </a:lt2>
      <a:accent1>
        <a:srgbClr val="F17700"/>
      </a:accent1>
      <a:accent2>
        <a:srgbClr val="DC2144"/>
      </a:accent2>
      <a:accent3>
        <a:srgbClr val="71CAE0"/>
      </a:accent3>
      <a:accent4>
        <a:srgbClr val="112D43"/>
      </a:accent4>
      <a:accent5>
        <a:srgbClr val="050F25"/>
      </a:accent5>
      <a:accent6>
        <a:srgbClr val="162D4E"/>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33">
      <a:dk1>
        <a:srgbClr val="000000"/>
      </a:dk1>
      <a:lt1>
        <a:srgbClr val="FFFFFF"/>
      </a:lt1>
      <a:dk2>
        <a:srgbClr val="000000"/>
      </a:dk2>
      <a:lt2>
        <a:srgbClr val="FEFEFE"/>
      </a:lt2>
      <a:accent1>
        <a:srgbClr val="F17700"/>
      </a:accent1>
      <a:accent2>
        <a:srgbClr val="DC2144"/>
      </a:accent2>
      <a:accent3>
        <a:srgbClr val="71CAE0"/>
      </a:accent3>
      <a:accent4>
        <a:srgbClr val="112D43"/>
      </a:accent4>
      <a:accent5>
        <a:srgbClr val="050F25"/>
      </a:accent5>
      <a:accent6>
        <a:srgbClr val="162D4E"/>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自定义 33">
      <a:dk1>
        <a:srgbClr val="000000"/>
      </a:dk1>
      <a:lt1>
        <a:srgbClr val="FFFFFF"/>
      </a:lt1>
      <a:dk2>
        <a:srgbClr val="000000"/>
      </a:dk2>
      <a:lt2>
        <a:srgbClr val="FEFEFE"/>
      </a:lt2>
      <a:accent1>
        <a:srgbClr val="F17700"/>
      </a:accent1>
      <a:accent2>
        <a:srgbClr val="DC2144"/>
      </a:accent2>
      <a:accent3>
        <a:srgbClr val="71CAE0"/>
      </a:accent3>
      <a:accent4>
        <a:srgbClr val="112D43"/>
      </a:accent4>
      <a:accent5>
        <a:srgbClr val="050F25"/>
      </a:accent5>
      <a:accent6>
        <a:srgbClr val="162D4E"/>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A000120141114A22KPBG</Template>
  <TotalTime>146</TotalTime>
  <Words>1350</Words>
  <Application>Microsoft Office PowerPoint</Application>
  <PresentationFormat>宽屏</PresentationFormat>
  <Paragraphs>137</Paragraphs>
  <Slides>20</Slides>
  <Notes>2</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20</vt:i4>
      </vt:variant>
    </vt:vector>
  </HeadingPairs>
  <TitlesOfParts>
    <vt:vector size="30" baseType="lpstr">
      <vt:lpstr>等线</vt:lpstr>
      <vt:lpstr>宋体</vt:lpstr>
      <vt:lpstr>微软雅黑</vt:lpstr>
      <vt:lpstr>Arial</vt:lpstr>
      <vt:lpstr>Calibri</vt:lpstr>
      <vt:lpstr>Century Gothic</vt:lpstr>
      <vt:lpstr>Consolas</vt:lpstr>
      <vt:lpstr>1_Office 主题</vt:lpstr>
      <vt:lpstr>2_Office 主题</vt:lpstr>
      <vt:lpstr>3_Office 主题</vt:lpstr>
      <vt:lpstr>PowerPoint 演示文稿</vt:lpstr>
      <vt:lpstr>概念强化</vt:lpstr>
      <vt:lpstr>多阶段决策</vt:lpstr>
      <vt:lpstr>阶段</vt:lpstr>
      <vt:lpstr>状态</vt:lpstr>
      <vt:lpstr>基本模型</vt:lpstr>
      <vt:lpstr>一般形式</vt:lpstr>
      <vt:lpstr>最大子段和</vt:lpstr>
      <vt:lpstr>PowerPoint 演示文稿</vt:lpstr>
      <vt:lpstr>题解</vt:lpstr>
      <vt:lpstr>PowerPoint 演示文稿</vt:lpstr>
      <vt:lpstr>过河</vt:lpstr>
      <vt:lpstr>PowerPoint 演示文稿</vt:lpstr>
      <vt:lpstr>PowerPoint 演示文稿</vt:lpstr>
      <vt:lpstr>思路讲解</vt:lpstr>
      <vt:lpstr>思考数据范围</vt:lpstr>
      <vt:lpstr>思考数据范围</vt:lpstr>
      <vt:lpstr>PowerPoint 演示文稿</vt:lpstr>
      <vt:lpstr>示例代码</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fdsa</dc:title>
  <dc:creator>admin</dc:creator>
  <cp:lastModifiedBy>Windows 用户</cp:lastModifiedBy>
  <cp:revision>1272</cp:revision>
  <dcterms:created xsi:type="dcterms:W3CDTF">2014-06-03T02:52:00Z</dcterms:created>
  <dcterms:modified xsi:type="dcterms:W3CDTF">2018-12-22T08:34:37Z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模板文件">
    <vt:lpwstr>A000120141114A22KPBG.pptx</vt:lpwstr>
  </property>
  <property fmtid="{D5CDD505-2E9C-101B-9397-08002B2CF9AE}" pid="3" name="标题">
    <vt:lpwstr>蓝色风格_A000120141114A22KPBG</vt:lpwstr>
  </property>
  <property fmtid="{D5CDD505-2E9C-101B-9397-08002B2CF9AE}" pid="4" name="关键字">
    <vt:lpwstr>PPT背景模板 商业科技 蓝 蓝色 宽屏 星光 闪烁 宽屏 V2007</vt:lpwstr>
  </property>
  <property fmtid="{D5CDD505-2E9C-101B-9397-08002B2CF9AE}" pid="5" name="KSOProductBuildVer">
    <vt:lpwstr>2052-11.1.0.7711</vt:lpwstr>
  </property>
  <property fmtid="{D5CDD505-2E9C-101B-9397-08002B2CF9AE}" pid="6" name="name">
    <vt:lpwstr>蓝色简约.pptx</vt:lpwstr>
  </property>
  <property fmtid="{D5CDD505-2E9C-101B-9397-08002B2CF9AE}" pid="7" name="fileid">
    <vt:lpwstr>861037</vt:lpwstr>
  </property>
  <property fmtid="{D5CDD505-2E9C-101B-9397-08002B2CF9AE}" pid="8" name="search_tags">
    <vt:lpwstr>PPT模板</vt:lpwstr>
  </property>
</Properties>
</file>