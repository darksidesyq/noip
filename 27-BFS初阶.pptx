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</p:sldMasterIdLst>
  <p:notesMasterIdLst>
    <p:notesMasterId r:id="rId6"/>
  </p:notesMasterIdLst>
  <p:handoutMasterIdLst>
    <p:handoutMasterId r:id="rId28"/>
  </p:handoutMasterIdLst>
  <p:sldIdLst>
    <p:sldId id="265" r:id="rId5"/>
    <p:sldId id="402" r:id="rId7"/>
    <p:sldId id="328" r:id="rId8"/>
    <p:sldId id="383" r:id="rId9"/>
    <p:sldId id="403" r:id="rId10"/>
    <p:sldId id="404" r:id="rId11"/>
    <p:sldId id="405" r:id="rId12"/>
    <p:sldId id="406" r:id="rId13"/>
    <p:sldId id="407" r:id="rId14"/>
    <p:sldId id="408" r:id="rId15"/>
    <p:sldId id="409" r:id="rId16"/>
    <p:sldId id="384" r:id="rId17"/>
    <p:sldId id="410" r:id="rId18"/>
    <p:sldId id="411" r:id="rId19"/>
    <p:sldId id="412" r:id="rId20"/>
    <p:sldId id="413" r:id="rId21"/>
    <p:sldId id="414" r:id="rId22"/>
    <p:sldId id="415" r:id="rId23"/>
    <p:sldId id="321" r:id="rId24"/>
    <p:sldId id="386" r:id="rId25"/>
    <p:sldId id="387" r:id="rId26"/>
    <p:sldId id="401" r:id="rId27"/>
  </p:sldIdLst>
  <p:sldSz cx="12192000" cy="6858000"/>
  <p:notesSz cx="6858000" cy="9144000"/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AFCF"/>
    <a:srgbClr val="76CBE0"/>
    <a:srgbClr val="EE122C"/>
    <a:srgbClr val="FF40FF"/>
    <a:srgbClr val="F46B34"/>
    <a:srgbClr val="FF7E79"/>
    <a:srgbClr val="F57D4D"/>
    <a:srgbClr val="ED939C"/>
    <a:srgbClr val="F6CACE"/>
    <a:srgbClr val="449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1" autoAdjust="0"/>
    <p:restoredTop sz="96838" autoAdjust="0"/>
  </p:normalViewPr>
  <p:slideViewPr>
    <p:cSldViewPr snapToGrid="0">
      <p:cViewPr varScale="1">
        <p:scale>
          <a:sx n="150" d="100"/>
          <a:sy n="150" d="100"/>
        </p:scale>
        <p:origin x="1336" y="176"/>
      </p:cViewPr>
      <p:guideLst>
        <p:guide orient="horz" pos="2160"/>
        <p:guide pos="38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A36E-8CE9-4233-9D17-03EBF3D3C3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D53AB-73E4-496E-889A-60B59C3079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AF574-9E5E-4479-A694-7B0504769A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模板来自于 </a:t>
            </a:r>
            <a:r>
              <a:rPr lang="en-US" altLang="zh-CN" dirty="0"/>
              <a:t>http://docer.mysoeasy.com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218565" rtl="0" eaLnBrk="1" latinLnBrk="0" hangingPunct="1">
      <a:buFont typeface="Arial" panose="020B0604020202020204" pitchFamily="34" charset="0"/>
      <a:buNone/>
      <a:defRPr sz="1865" kern="1200" baseline="0">
        <a:solidFill>
          <a:srgbClr val="FF0000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全国青少年信息学奥林匹克（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）是国内包括港澳在内的省级代表队最高水平的大赛，自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1984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年至今，在国内包括香港、澳门组织竞赛活动。每年经各省选拔产生</a:t>
            </a:r>
            <a:r>
              <a:rPr lang="en-US" altLang="zh-CN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18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名选手（其中一名是女选手），由中国计算机学会在计算机普及较好的城市组织进行比赛。这一竞赛记个人成绩，同时记团体总分。</a:t>
            </a:r>
            <a:endParaRPr lang="en-US" altLang="zh-CN" sz="18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是全国青少年信息学奥林匹克联赛。每年由中国计算机学会统一组织比赛。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en-US" altLang="zh-CN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NOIP</a:t>
            </a: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。全国统一大纲、统一试卷。初、高中或其他中等专业学校的学生可报名参加联赛。</a:t>
            </a: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endParaRPr lang="en-US" altLang="zh-CN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914400">
              <a:spcBef>
                <a:spcPct val="0"/>
              </a:spcBef>
            </a:pPr>
            <a:r>
              <a:rPr lang="zh-CN" altLang="en-US" sz="2000" b="1" kern="1200" baseline="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赛分初赛和复赛两个阶段。初赛考察计算机科学基础知识，以笔试形式（做试卷）进行。复赛为编程，须在计算机上编程完成。参加初赛者须达到一定分数线后才有资格参加复赛。联赛分普及组和提高组两个组别，难度不同，分别面向初中和高中阶段的学生，也就是一般初中生参加普及组，高中生参加提高组。有些省市小学生也可以向特派员报名参赛。</a:t>
            </a:r>
            <a:endParaRPr lang="zh-CN" altLang="en-US" sz="2000" b="1" kern="1200" baseline="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7"/>
          <p:cNvSpPr>
            <a:spLocks noEditPoints="1"/>
          </p:cNvSpPr>
          <p:nvPr userDrawn="1"/>
        </p:nvSpPr>
        <p:spPr bwMode="auto">
          <a:xfrm rot="20644514">
            <a:off x="1047441" y="681857"/>
            <a:ext cx="1042017" cy="802702"/>
          </a:xfrm>
          <a:custGeom>
            <a:avLst/>
            <a:gdLst/>
            <a:ahLst/>
            <a:cxnLst>
              <a:cxn ang="0">
                <a:pos x="402" y="8"/>
              </a:cxn>
              <a:cxn ang="0">
                <a:pos x="402" y="6"/>
              </a:cxn>
              <a:cxn ang="0">
                <a:pos x="398" y="2"/>
              </a:cxn>
              <a:cxn ang="0">
                <a:pos x="242" y="0"/>
              </a:cxn>
              <a:cxn ang="0">
                <a:pos x="232" y="2"/>
              </a:cxn>
              <a:cxn ang="0">
                <a:pos x="216" y="10"/>
              </a:cxn>
              <a:cxn ang="0">
                <a:pos x="210" y="18"/>
              </a:cxn>
              <a:cxn ang="0">
                <a:pos x="210" y="18"/>
              </a:cxn>
              <a:cxn ang="0">
                <a:pos x="196" y="6"/>
              </a:cxn>
              <a:cxn ang="0">
                <a:pos x="178" y="0"/>
              </a:cxn>
              <a:cxn ang="0">
                <a:pos x="26" y="0"/>
              </a:cxn>
              <a:cxn ang="0">
                <a:pos x="20" y="4"/>
              </a:cxn>
              <a:cxn ang="0">
                <a:pos x="16" y="8"/>
              </a:cxn>
              <a:cxn ang="0">
                <a:pos x="0" y="34"/>
              </a:cxn>
              <a:cxn ang="0">
                <a:pos x="174" y="306"/>
              </a:cxn>
              <a:cxn ang="0">
                <a:pos x="182" y="314"/>
              </a:cxn>
              <a:cxn ang="0">
                <a:pos x="200" y="322"/>
              </a:cxn>
              <a:cxn ang="0">
                <a:pos x="210" y="322"/>
              </a:cxn>
              <a:cxn ang="0">
                <a:pos x="230" y="318"/>
              </a:cxn>
              <a:cxn ang="0">
                <a:pos x="246" y="306"/>
              </a:cxn>
              <a:cxn ang="0">
                <a:pos x="418" y="34"/>
              </a:cxn>
              <a:cxn ang="0">
                <a:pos x="34" y="18"/>
              </a:cxn>
              <a:cxn ang="0">
                <a:pos x="178" y="18"/>
              </a:cxn>
              <a:cxn ang="0">
                <a:pos x="194" y="24"/>
              </a:cxn>
              <a:cxn ang="0">
                <a:pos x="202" y="42"/>
              </a:cxn>
              <a:cxn ang="0">
                <a:pos x="202" y="194"/>
              </a:cxn>
              <a:cxn ang="0">
                <a:pos x="204" y="200"/>
              </a:cxn>
              <a:cxn ang="0">
                <a:pos x="210" y="202"/>
              </a:cxn>
              <a:cxn ang="0">
                <a:pos x="212" y="202"/>
              </a:cxn>
              <a:cxn ang="0">
                <a:pos x="218" y="198"/>
              </a:cxn>
              <a:cxn ang="0">
                <a:pos x="218" y="42"/>
              </a:cxn>
              <a:cxn ang="0">
                <a:pos x="220" y="32"/>
              </a:cxn>
              <a:cxn ang="0">
                <a:pos x="232" y="18"/>
              </a:cxn>
              <a:cxn ang="0">
                <a:pos x="386" y="18"/>
              </a:cxn>
              <a:cxn ang="0">
                <a:pos x="242" y="274"/>
              </a:cxn>
              <a:cxn ang="0">
                <a:pos x="232" y="276"/>
              </a:cxn>
              <a:cxn ang="0">
                <a:pos x="216" y="284"/>
              </a:cxn>
              <a:cxn ang="0">
                <a:pos x="210" y="290"/>
              </a:cxn>
              <a:cxn ang="0">
                <a:pos x="210" y="290"/>
              </a:cxn>
              <a:cxn ang="0">
                <a:pos x="196" y="278"/>
              </a:cxn>
              <a:cxn ang="0">
                <a:pos x="178" y="274"/>
              </a:cxn>
              <a:cxn ang="0">
                <a:pos x="34" y="18"/>
              </a:cxn>
            </a:cxnLst>
            <a:rect l="0" t="0" r="r" b="b"/>
            <a:pathLst>
              <a:path w="418" h="322">
                <a:moveTo>
                  <a:pt x="402" y="34"/>
                </a:moveTo>
                <a:lnTo>
                  <a:pt x="402" y="8"/>
                </a:lnTo>
                <a:lnTo>
                  <a:pt x="402" y="8"/>
                </a:lnTo>
                <a:lnTo>
                  <a:pt x="402" y="6"/>
                </a:lnTo>
                <a:lnTo>
                  <a:pt x="400" y="4"/>
                </a:lnTo>
                <a:lnTo>
                  <a:pt x="398" y="2"/>
                </a:lnTo>
                <a:lnTo>
                  <a:pt x="394" y="0"/>
                </a:lnTo>
                <a:lnTo>
                  <a:pt x="242" y="0"/>
                </a:lnTo>
                <a:lnTo>
                  <a:pt x="242" y="0"/>
                </a:lnTo>
                <a:lnTo>
                  <a:pt x="232" y="2"/>
                </a:lnTo>
                <a:lnTo>
                  <a:pt x="224" y="6"/>
                </a:lnTo>
                <a:lnTo>
                  <a:pt x="216" y="10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10" y="18"/>
                </a:lnTo>
                <a:lnTo>
                  <a:pt x="204" y="10"/>
                </a:lnTo>
                <a:lnTo>
                  <a:pt x="196" y="6"/>
                </a:lnTo>
                <a:lnTo>
                  <a:pt x="188" y="2"/>
                </a:lnTo>
                <a:lnTo>
                  <a:pt x="178" y="0"/>
                </a:lnTo>
                <a:lnTo>
                  <a:pt x="26" y="0"/>
                </a:lnTo>
                <a:lnTo>
                  <a:pt x="26" y="0"/>
                </a:lnTo>
                <a:lnTo>
                  <a:pt x="22" y="2"/>
                </a:lnTo>
                <a:lnTo>
                  <a:pt x="20" y="4"/>
                </a:lnTo>
                <a:lnTo>
                  <a:pt x="18" y="6"/>
                </a:lnTo>
                <a:lnTo>
                  <a:pt x="16" y="8"/>
                </a:lnTo>
                <a:lnTo>
                  <a:pt x="16" y="34"/>
                </a:lnTo>
                <a:lnTo>
                  <a:pt x="0" y="34"/>
                </a:lnTo>
                <a:lnTo>
                  <a:pt x="0" y="306"/>
                </a:lnTo>
                <a:lnTo>
                  <a:pt x="174" y="306"/>
                </a:lnTo>
                <a:lnTo>
                  <a:pt x="174" y="306"/>
                </a:lnTo>
                <a:lnTo>
                  <a:pt x="182" y="314"/>
                </a:lnTo>
                <a:lnTo>
                  <a:pt x="190" y="318"/>
                </a:lnTo>
                <a:lnTo>
                  <a:pt x="200" y="322"/>
                </a:lnTo>
                <a:lnTo>
                  <a:pt x="210" y="322"/>
                </a:lnTo>
                <a:lnTo>
                  <a:pt x="210" y="322"/>
                </a:lnTo>
                <a:lnTo>
                  <a:pt x="220" y="322"/>
                </a:lnTo>
                <a:lnTo>
                  <a:pt x="230" y="318"/>
                </a:lnTo>
                <a:lnTo>
                  <a:pt x="238" y="314"/>
                </a:lnTo>
                <a:lnTo>
                  <a:pt x="246" y="306"/>
                </a:lnTo>
                <a:lnTo>
                  <a:pt x="418" y="306"/>
                </a:lnTo>
                <a:lnTo>
                  <a:pt x="418" y="34"/>
                </a:lnTo>
                <a:lnTo>
                  <a:pt x="402" y="34"/>
                </a:lnTo>
                <a:close/>
                <a:moveTo>
                  <a:pt x="34" y="18"/>
                </a:moveTo>
                <a:lnTo>
                  <a:pt x="178" y="18"/>
                </a:lnTo>
                <a:lnTo>
                  <a:pt x="178" y="18"/>
                </a:lnTo>
                <a:lnTo>
                  <a:pt x="188" y="18"/>
                </a:lnTo>
                <a:lnTo>
                  <a:pt x="194" y="24"/>
                </a:lnTo>
                <a:lnTo>
                  <a:pt x="200" y="32"/>
                </a:lnTo>
                <a:lnTo>
                  <a:pt x="202" y="42"/>
                </a:lnTo>
                <a:lnTo>
                  <a:pt x="202" y="194"/>
                </a:lnTo>
                <a:lnTo>
                  <a:pt x="202" y="194"/>
                </a:lnTo>
                <a:lnTo>
                  <a:pt x="202" y="198"/>
                </a:lnTo>
                <a:lnTo>
                  <a:pt x="204" y="200"/>
                </a:lnTo>
                <a:lnTo>
                  <a:pt x="206" y="202"/>
                </a:lnTo>
                <a:lnTo>
                  <a:pt x="210" y="202"/>
                </a:lnTo>
                <a:lnTo>
                  <a:pt x="210" y="202"/>
                </a:lnTo>
                <a:lnTo>
                  <a:pt x="212" y="202"/>
                </a:lnTo>
                <a:lnTo>
                  <a:pt x="216" y="200"/>
                </a:lnTo>
                <a:lnTo>
                  <a:pt x="218" y="198"/>
                </a:lnTo>
                <a:lnTo>
                  <a:pt x="218" y="194"/>
                </a:lnTo>
                <a:lnTo>
                  <a:pt x="218" y="42"/>
                </a:lnTo>
                <a:lnTo>
                  <a:pt x="218" y="42"/>
                </a:lnTo>
                <a:lnTo>
                  <a:pt x="220" y="32"/>
                </a:lnTo>
                <a:lnTo>
                  <a:pt x="224" y="24"/>
                </a:lnTo>
                <a:lnTo>
                  <a:pt x="232" y="18"/>
                </a:lnTo>
                <a:lnTo>
                  <a:pt x="242" y="18"/>
                </a:lnTo>
                <a:lnTo>
                  <a:pt x="386" y="18"/>
                </a:lnTo>
                <a:lnTo>
                  <a:pt x="386" y="274"/>
                </a:lnTo>
                <a:lnTo>
                  <a:pt x="242" y="274"/>
                </a:lnTo>
                <a:lnTo>
                  <a:pt x="242" y="274"/>
                </a:lnTo>
                <a:lnTo>
                  <a:pt x="232" y="276"/>
                </a:lnTo>
                <a:lnTo>
                  <a:pt x="224" y="278"/>
                </a:lnTo>
                <a:lnTo>
                  <a:pt x="216" y="284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10" y="290"/>
                </a:lnTo>
                <a:lnTo>
                  <a:pt x="204" y="284"/>
                </a:lnTo>
                <a:lnTo>
                  <a:pt x="196" y="278"/>
                </a:lnTo>
                <a:lnTo>
                  <a:pt x="188" y="276"/>
                </a:lnTo>
                <a:lnTo>
                  <a:pt x="178" y="274"/>
                </a:lnTo>
                <a:lnTo>
                  <a:pt x="34" y="274"/>
                </a:lnTo>
                <a:lnTo>
                  <a:pt x="34" y="18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Freeform 363"/>
          <p:cNvSpPr>
            <a:spLocks noEditPoints="1"/>
          </p:cNvSpPr>
          <p:nvPr userDrawn="1"/>
        </p:nvSpPr>
        <p:spPr bwMode="auto">
          <a:xfrm rot="1658487">
            <a:off x="6583748" y="312642"/>
            <a:ext cx="773335" cy="770514"/>
          </a:xfrm>
          <a:custGeom>
            <a:avLst/>
            <a:gdLst>
              <a:gd name="T0" fmla="*/ 145 w 274"/>
              <a:gd name="T1" fmla="*/ 262 h 273"/>
              <a:gd name="T2" fmla="*/ 189 w 274"/>
              <a:gd name="T3" fmla="*/ 204 h 273"/>
              <a:gd name="T4" fmla="*/ 263 w 274"/>
              <a:gd name="T5" fmla="*/ 204 h 273"/>
              <a:gd name="T6" fmla="*/ 216 w 274"/>
              <a:gd name="T7" fmla="*/ 217 h 273"/>
              <a:gd name="T8" fmla="*/ 104 w 274"/>
              <a:gd name="T9" fmla="*/ 199 h 273"/>
              <a:gd name="T10" fmla="*/ 55 w 274"/>
              <a:gd name="T11" fmla="*/ 186 h 273"/>
              <a:gd name="T12" fmla="*/ 14 w 274"/>
              <a:gd name="T13" fmla="*/ 168 h 273"/>
              <a:gd name="T14" fmla="*/ 44 w 274"/>
              <a:gd name="T15" fmla="*/ 207 h 273"/>
              <a:gd name="T16" fmla="*/ 45 w 274"/>
              <a:gd name="T17" fmla="*/ 217 h 273"/>
              <a:gd name="T18" fmla="*/ 95 w 274"/>
              <a:gd name="T19" fmla="*/ 254 h 273"/>
              <a:gd name="T20" fmla="*/ 86 w 274"/>
              <a:gd name="T21" fmla="*/ 232 h 273"/>
              <a:gd name="T22" fmla="*/ 114 w 274"/>
              <a:gd name="T23" fmla="*/ 255 h 273"/>
              <a:gd name="T24" fmla="*/ 131 w 274"/>
              <a:gd name="T25" fmla="*/ 196 h 273"/>
              <a:gd name="T26" fmla="*/ 110 w 274"/>
              <a:gd name="T27" fmla="*/ 189 h 273"/>
              <a:gd name="T28" fmla="*/ 132 w 274"/>
              <a:gd name="T29" fmla="*/ 145 h 273"/>
              <a:gd name="T30" fmla="*/ 74 w 274"/>
              <a:gd name="T31" fmla="*/ 145 h 273"/>
              <a:gd name="T32" fmla="*/ 67 w 274"/>
              <a:gd name="T33" fmla="*/ 166 h 273"/>
              <a:gd name="T34" fmla="*/ 205 w 274"/>
              <a:gd name="T35" fmla="*/ 111 h 273"/>
              <a:gd name="T36" fmla="*/ 192 w 274"/>
              <a:gd name="T37" fmla="*/ 159 h 273"/>
              <a:gd name="T38" fmla="*/ 150 w 274"/>
              <a:gd name="T39" fmla="*/ 59 h 273"/>
              <a:gd name="T40" fmla="*/ 114 w 274"/>
              <a:gd name="T41" fmla="*/ 94 h 273"/>
              <a:gd name="T42" fmla="*/ 57 w 274"/>
              <a:gd name="T43" fmla="*/ 42 h 273"/>
              <a:gd name="T44" fmla="*/ 9 w 274"/>
              <a:gd name="T45" fmla="*/ 55 h 273"/>
              <a:gd name="T46" fmla="*/ 178 w 274"/>
              <a:gd name="T47" fmla="*/ 23 h 273"/>
              <a:gd name="T48" fmla="*/ 230 w 274"/>
              <a:gd name="T49" fmla="*/ 57 h 273"/>
              <a:gd name="T50" fmla="*/ 137 w 274"/>
              <a:gd name="T51" fmla="*/ 0 h 273"/>
              <a:gd name="T52" fmla="*/ 271 w 274"/>
              <a:gd name="T53" fmla="*/ 108 h 273"/>
              <a:gd name="T54" fmla="*/ 257 w 274"/>
              <a:gd name="T55" fmla="*/ 189 h 273"/>
              <a:gd name="T56" fmla="*/ 260 w 274"/>
              <a:gd name="T57" fmla="*/ 142 h 273"/>
              <a:gd name="T58" fmla="*/ 238 w 274"/>
              <a:gd name="T59" fmla="*/ 133 h 273"/>
              <a:gd name="T60" fmla="*/ 261 w 274"/>
              <a:gd name="T61" fmla="*/ 105 h 273"/>
              <a:gd name="T62" fmla="*/ 206 w 274"/>
              <a:gd name="T63" fmla="*/ 76 h 273"/>
              <a:gd name="T64" fmla="*/ 206 w 274"/>
              <a:gd name="T65" fmla="*/ 103 h 273"/>
              <a:gd name="T66" fmla="*/ 193 w 274"/>
              <a:gd name="T67" fmla="*/ 82 h 273"/>
              <a:gd name="T68" fmla="*/ 169 w 274"/>
              <a:gd name="T69" fmla="*/ 79 h 273"/>
              <a:gd name="T70" fmla="*/ 189 w 274"/>
              <a:gd name="T71" fmla="*/ 66 h 273"/>
              <a:gd name="T72" fmla="*/ 142 w 274"/>
              <a:gd name="T73" fmla="*/ 13 h 273"/>
              <a:gd name="T74" fmla="*/ 136 w 274"/>
              <a:gd name="T75" fmla="*/ 50 h 273"/>
              <a:gd name="T76" fmla="*/ 127 w 274"/>
              <a:gd name="T77" fmla="*/ 11 h 273"/>
              <a:gd name="T78" fmla="*/ 86 w 274"/>
              <a:gd name="T79" fmla="*/ 71 h 273"/>
              <a:gd name="T80" fmla="*/ 104 w 274"/>
              <a:gd name="T81" fmla="*/ 83 h 273"/>
              <a:gd name="T82" fmla="*/ 76 w 274"/>
              <a:gd name="T83" fmla="*/ 105 h 273"/>
              <a:gd name="T84" fmla="*/ 132 w 274"/>
              <a:gd name="T85" fmla="*/ 130 h 273"/>
              <a:gd name="T86" fmla="*/ 140 w 274"/>
              <a:gd name="T87" fmla="*/ 113 h 273"/>
              <a:gd name="T88" fmla="*/ 146 w 274"/>
              <a:gd name="T89" fmla="*/ 131 h 273"/>
              <a:gd name="T90" fmla="*/ 171 w 274"/>
              <a:gd name="T91" fmla="*/ 140 h 273"/>
              <a:gd name="T92" fmla="*/ 142 w 274"/>
              <a:gd name="T93" fmla="*/ 182 h 273"/>
              <a:gd name="T94" fmla="*/ 193 w 274"/>
              <a:gd name="T95" fmla="*/ 191 h 273"/>
              <a:gd name="T96" fmla="*/ 206 w 274"/>
              <a:gd name="T97" fmla="*/ 170 h 273"/>
              <a:gd name="T98" fmla="*/ 206 w 274"/>
              <a:gd name="T99" fmla="*/ 196 h 273"/>
              <a:gd name="T100" fmla="*/ 209 w 274"/>
              <a:gd name="T101" fmla="*/ 207 h 273"/>
              <a:gd name="T102" fmla="*/ 179 w 274"/>
              <a:gd name="T103" fmla="*/ 249 h 273"/>
              <a:gd name="T104" fmla="*/ 212 w 274"/>
              <a:gd name="T105" fmla="*/ 239 h 273"/>
              <a:gd name="T106" fmla="*/ 219 w 274"/>
              <a:gd name="T107" fmla="*/ 246 h 273"/>
              <a:gd name="T108" fmla="*/ 31 w 274"/>
              <a:gd name="T109" fmla="*/ 222 h 273"/>
              <a:gd name="T110" fmla="*/ 14 w 274"/>
              <a:gd name="T111" fmla="*/ 82 h 273"/>
              <a:gd name="T112" fmla="*/ 11 w 274"/>
              <a:gd name="T113" fmla="*/ 130 h 273"/>
              <a:gd name="T114" fmla="*/ 67 w 274"/>
              <a:gd name="T115" fmla="*/ 103 h 273"/>
              <a:gd name="T116" fmla="*/ 63 w 274"/>
              <a:gd name="T117" fmla="*/ 74 h 273"/>
              <a:gd name="T118" fmla="*/ 72 w 274"/>
              <a:gd name="T119" fmla="*/ 67 h 273"/>
              <a:gd name="T120" fmla="*/ 95 w 274"/>
              <a:gd name="T121" fmla="*/ 19 h 273"/>
              <a:gd name="T122" fmla="*/ 58 w 274"/>
              <a:gd name="T123" fmla="*/ 33 h 273"/>
              <a:gd name="T124" fmla="*/ 109 w 274"/>
              <a:gd name="T125" fmla="*/ 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4" h="273">
                <a:moveTo>
                  <a:pt x="146" y="196"/>
                </a:moveTo>
                <a:lnTo>
                  <a:pt x="143" y="196"/>
                </a:lnTo>
                <a:lnTo>
                  <a:pt x="142" y="198"/>
                </a:lnTo>
                <a:lnTo>
                  <a:pt x="142" y="200"/>
                </a:lnTo>
                <a:lnTo>
                  <a:pt x="142" y="258"/>
                </a:lnTo>
                <a:lnTo>
                  <a:pt x="142" y="260"/>
                </a:lnTo>
                <a:lnTo>
                  <a:pt x="145" y="262"/>
                </a:lnTo>
                <a:lnTo>
                  <a:pt x="147" y="262"/>
                </a:lnTo>
                <a:lnTo>
                  <a:pt x="159" y="255"/>
                </a:lnTo>
                <a:lnTo>
                  <a:pt x="169" y="245"/>
                </a:lnTo>
                <a:lnTo>
                  <a:pt x="178" y="234"/>
                </a:lnTo>
                <a:lnTo>
                  <a:pt x="184" y="219"/>
                </a:lnTo>
                <a:lnTo>
                  <a:pt x="189" y="207"/>
                </a:lnTo>
                <a:lnTo>
                  <a:pt x="189" y="204"/>
                </a:lnTo>
                <a:lnTo>
                  <a:pt x="189" y="203"/>
                </a:lnTo>
                <a:lnTo>
                  <a:pt x="187" y="202"/>
                </a:lnTo>
                <a:lnTo>
                  <a:pt x="168" y="198"/>
                </a:lnTo>
                <a:lnTo>
                  <a:pt x="146" y="196"/>
                </a:lnTo>
                <a:close/>
                <a:moveTo>
                  <a:pt x="242" y="191"/>
                </a:moveTo>
                <a:lnTo>
                  <a:pt x="254" y="195"/>
                </a:lnTo>
                <a:lnTo>
                  <a:pt x="263" y="204"/>
                </a:lnTo>
                <a:lnTo>
                  <a:pt x="267" y="217"/>
                </a:lnTo>
                <a:lnTo>
                  <a:pt x="263" y="230"/>
                </a:lnTo>
                <a:lnTo>
                  <a:pt x="254" y="239"/>
                </a:lnTo>
                <a:lnTo>
                  <a:pt x="242" y="242"/>
                </a:lnTo>
                <a:lnTo>
                  <a:pt x="229" y="239"/>
                </a:lnTo>
                <a:lnTo>
                  <a:pt x="219" y="230"/>
                </a:lnTo>
                <a:lnTo>
                  <a:pt x="216" y="217"/>
                </a:lnTo>
                <a:lnTo>
                  <a:pt x="219" y="204"/>
                </a:lnTo>
                <a:lnTo>
                  <a:pt x="229" y="195"/>
                </a:lnTo>
                <a:lnTo>
                  <a:pt x="242" y="191"/>
                </a:lnTo>
                <a:close/>
                <a:moveTo>
                  <a:pt x="78" y="173"/>
                </a:moveTo>
                <a:lnTo>
                  <a:pt x="91" y="177"/>
                </a:lnTo>
                <a:lnTo>
                  <a:pt x="100" y="186"/>
                </a:lnTo>
                <a:lnTo>
                  <a:pt x="104" y="199"/>
                </a:lnTo>
                <a:lnTo>
                  <a:pt x="100" y="212"/>
                </a:lnTo>
                <a:lnTo>
                  <a:pt x="91" y="222"/>
                </a:lnTo>
                <a:lnTo>
                  <a:pt x="78" y="225"/>
                </a:lnTo>
                <a:lnTo>
                  <a:pt x="65" y="222"/>
                </a:lnTo>
                <a:lnTo>
                  <a:pt x="55" y="212"/>
                </a:lnTo>
                <a:lnTo>
                  <a:pt x="53" y="199"/>
                </a:lnTo>
                <a:lnTo>
                  <a:pt x="55" y="186"/>
                </a:lnTo>
                <a:lnTo>
                  <a:pt x="65" y="177"/>
                </a:lnTo>
                <a:lnTo>
                  <a:pt x="78" y="173"/>
                </a:lnTo>
                <a:close/>
                <a:moveTo>
                  <a:pt x="14" y="142"/>
                </a:moveTo>
                <a:lnTo>
                  <a:pt x="12" y="142"/>
                </a:lnTo>
                <a:lnTo>
                  <a:pt x="11" y="144"/>
                </a:lnTo>
                <a:lnTo>
                  <a:pt x="11" y="145"/>
                </a:lnTo>
                <a:lnTo>
                  <a:pt x="14" y="168"/>
                </a:lnTo>
                <a:lnTo>
                  <a:pt x="22" y="189"/>
                </a:lnTo>
                <a:lnTo>
                  <a:pt x="32" y="208"/>
                </a:lnTo>
                <a:lnTo>
                  <a:pt x="34" y="209"/>
                </a:lnTo>
                <a:lnTo>
                  <a:pt x="36" y="211"/>
                </a:lnTo>
                <a:lnTo>
                  <a:pt x="37" y="209"/>
                </a:lnTo>
                <a:lnTo>
                  <a:pt x="42" y="207"/>
                </a:lnTo>
                <a:lnTo>
                  <a:pt x="44" y="207"/>
                </a:lnTo>
                <a:lnTo>
                  <a:pt x="45" y="207"/>
                </a:lnTo>
                <a:lnTo>
                  <a:pt x="46" y="208"/>
                </a:lnTo>
                <a:lnTo>
                  <a:pt x="48" y="211"/>
                </a:lnTo>
                <a:lnTo>
                  <a:pt x="48" y="212"/>
                </a:lnTo>
                <a:lnTo>
                  <a:pt x="48" y="214"/>
                </a:lnTo>
                <a:lnTo>
                  <a:pt x="46" y="216"/>
                </a:lnTo>
                <a:lnTo>
                  <a:pt x="45" y="217"/>
                </a:lnTo>
                <a:lnTo>
                  <a:pt x="42" y="218"/>
                </a:lnTo>
                <a:lnTo>
                  <a:pt x="42" y="221"/>
                </a:lnTo>
                <a:lnTo>
                  <a:pt x="44" y="222"/>
                </a:lnTo>
                <a:lnTo>
                  <a:pt x="65" y="241"/>
                </a:lnTo>
                <a:lnTo>
                  <a:pt x="91" y="255"/>
                </a:lnTo>
                <a:lnTo>
                  <a:pt x="94" y="255"/>
                </a:lnTo>
                <a:lnTo>
                  <a:pt x="95" y="254"/>
                </a:lnTo>
                <a:lnTo>
                  <a:pt x="96" y="253"/>
                </a:lnTo>
                <a:lnTo>
                  <a:pt x="96" y="251"/>
                </a:lnTo>
                <a:lnTo>
                  <a:pt x="95" y="249"/>
                </a:lnTo>
                <a:lnTo>
                  <a:pt x="91" y="242"/>
                </a:lnTo>
                <a:lnTo>
                  <a:pt x="86" y="235"/>
                </a:lnTo>
                <a:lnTo>
                  <a:pt x="86" y="234"/>
                </a:lnTo>
                <a:lnTo>
                  <a:pt x="86" y="232"/>
                </a:lnTo>
                <a:lnTo>
                  <a:pt x="87" y="231"/>
                </a:lnTo>
                <a:lnTo>
                  <a:pt x="90" y="230"/>
                </a:lnTo>
                <a:lnTo>
                  <a:pt x="91" y="228"/>
                </a:lnTo>
                <a:lnTo>
                  <a:pt x="94" y="230"/>
                </a:lnTo>
                <a:lnTo>
                  <a:pt x="95" y="231"/>
                </a:lnTo>
                <a:lnTo>
                  <a:pt x="104" y="244"/>
                </a:lnTo>
                <a:lnTo>
                  <a:pt x="114" y="255"/>
                </a:lnTo>
                <a:lnTo>
                  <a:pt x="127" y="262"/>
                </a:lnTo>
                <a:lnTo>
                  <a:pt x="129" y="262"/>
                </a:lnTo>
                <a:lnTo>
                  <a:pt x="132" y="260"/>
                </a:lnTo>
                <a:lnTo>
                  <a:pt x="132" y="258"/>
                </a:lnTo>
                <a:lnTo>
                  <a:pt x="132" y="200"/>
                </a:lnTo>
                <a:lnTo>
                  <a:pt x="132" y="198"/>
                </a:lnTo>
                <a:lnTo>
                  <a:pt x="131" y="196"/>
                </a:lnTo>
                <a:lnTo>
                  <a:pt x="128" y="196"/>
                </a:lnTo>
                <a:lnTo>
                  <a:pt x="114" y="198"/>
                </a:lnTo>
                <a:lnTo>
                  <a:pt x="111" y="196"/>
                </a:lnTo>
                <a:lnTo>
                  <a:pt x="110" y="195"/>
                </a:lnTo>
                <a:lnTo>
                  <a:pt x="109" y="194"/>
                </a:lnTo>
                <a:lnTo>
                  <a:pt x="109" y="191"/>
                </a:lnTo>
                <a:lnTo>
                  <a:pt x="110" y="189"/>
                </a:lnTo>
                <a:lnTo>
                  <a:pt x="111" y="189"/>
                </a:lnTo>
                <a:lnTo>
                  <a:pt x="113" y="188"/>
                </a:lnTo>
                <a:lnTo>
                  <a:pt x="128" y="186"/>
                </a:lnTo>
                <a:lnTo>
                  <a:pt x="131" y="186"/>
                </a:lnTo>
                <a:lnTo>
                  <a:pt x="132" y="185"/>
                </a:lnTo>
                <a:lnTo>
                  <a:pt x="132" y="182"/>
                </a:lnTo>
                <a:lnTo>
                  <a:pt x="132" y="145"/>
                </a:lnTo>
                <a:lnTo>
                  <a:pt x="132" y="143"/>
                </a:lnTo>
                <a:lnTo>
                  <a:pt x="131" y="142"/>
                </a:lnTo>
                <a:lnTo>
                  <a:pt x="128" y="142"/>
                </a:lnTo>
                <a:lnTo>
                  <a:pt x="78" y="142"/>
                </a:lnTo>
                <a:lnTo>
                  <a:pt x="76" y="142"/>
                </a:lnTo>
                <a:lnTo>
                  <a:pt x="74" y="143"/>
                </a:lnTo>
                <a:lnTo>
                  <a:pt x="74" y="145"/>
                </a:lnTo>
                <a:lnTo>
                  <a:pt x="76" y="163"/>
                </a:lnTo>
                <a:lnTo>
                  <a:pt x="74" y="166"/>
                </a:lnTo>
                <a:lnTo>
                  <a:pt x="73" y="167"/>
                </a:lnTo>
                <a:lnTo>
                  <a:pt x="72" y="168"/>
                </a:lnTo>
                <a:lnTo>
                  <a:pt x="69" y="168"/>
                </a:lnTo>
                <a:lnTo>
                  <a:pt x="68" y="167"/>
                </a:lnTo>
                <a:lnTo>
                  <a:pt x="67" y="166"/>
                </a:lnTo>
                <a:lnTo>
                  <a:pt x="65" y="165"/>
                </a:lnTo>
                <a:lnTo>
                  <a:pt x="64" y="145"/>
                </a:lnTo>
                <a:lnTo>
                  <a:pt x="64" y="143"/>
                </a:lnTo>
                <a:lnTo>
                  <a:pt x="63" y="142"/>
                </a:lnTo>
                <a:lnTo>
                  <a:pt x="60" y="142"/>
                </a:lnTo>
                <a:lnTo>
                  <a:pt x="14" y="142"/>
                </a:lnTo>
                <a:close/>
                <a:moveTo>
                  <a:pt x="205" y="111"/>
                </a:moveTo>
                <a:lnTo>
                  <a:pt x="217" y="115"/>
                </a:lnTo>
                <a:lnTo>
                  <a:pt x="226" y="124"/>
                </a:lnTo>
                <a:lnTo>
                  <a:pt x="230" y="136"/>
                </a:lnTo>
                <a:lnTo>
                  <a:pt x="226" y="149"/>
                </a:lnTo>
                <a:lnTo>
                  <a:pt x="217" y="159"/>
                </a:lnTo>
                <a:lnTo>
                  <a:pt x="205" y="162"/>
                </a:lnTo>
                <a:lnTo>
                  <a:pt x="192" y="159"/>
                </a:lnTo>
                <a:lnTo>
                  <a:pt x="183" y="149"/>
                </a:lnTo>
                <a:lnTo>
                  <a:pt x="179" y="136"/>
                </a:lnTo>
                <a:lnTo>
                  <a:pt x="183" y="124"/>
                </a:lnTo>
                <a:lnTo>
                  <a:pt x="192" y="115"/>
                </a:lnTo>
                <a:lnTo>
                  <a:pt x="205" y="111"/>
                </a:lnTo>
                <a:close/>
                <a:moveTo>
                  <a:pt x="137" y="56"/>
                </a:moveTo>
                <a:lnTo>
                  <a:pt x="150" y="59"/>
                </a:lnTo>
                <a:lnTo>
                  <a:pt x="159" y="69"/>
                </a:lnTo>
                <a:lnTo>
                  <a:pt x="163" y="82"/>
                </a:lnTo>
                <a:lnTo>
                  <a:pt x="159" y="94"/>
                </a:lnTo>
                <a:lnTo>
                  <a:pt x="150" y="103"/>
                </a:lnTo>
                <a:lnTo>
                  <a:pt x="137" y="107"/>
                </a:lnTo>
                <a:lnTo>
                  <a:pt x="124" y="103"/>
                </a:lnTo>
                <a:lnTo>
                  <a:pt x="114" y="94"/>
                </a:lnTo>
                <a:lnTo>
                  <a:pt x="111" y="82"/>
                </a:lnTo>
                <a:lnTo>
                  <a:pt x="114" y="69"/>
                </a:lnTo>
                <a:lnTo>
                  <a:pt x="124" y="59"/>
                </a:lnTo>
                <a:lnTo>
                  <a:pt x="137" y="56"/>
                </a:lnTo>
                <a:close/>
                <a:moveTo>
                  <a:pt x="35" y="29"/>
                </a:moveTo>
                <a:lnTo>
                  <a:pt x="48" y="33"/>
                </a:lnTo>
                <a:lnTo>
                  <a:pt x="57" y="42"/>
                </a:lnTo>
                <a:lnTo>
                  <a:pt x="60" y="55"/>
                </a:lnTo>
                <a:lnTo>
                  <a:pt x="57" y="67"/>
                </a:lnTo>
                <a:lnTo>
                  <a:pt x="48" y="76"/>
                </a:lnTo>
                <a:lnTo>
                  <a:pt x="35" y="80"/>
                </a:lnTo>
                <a:lnTo>
                  <a:pt x="22" y="76"/>
                </a:lnTo>
                <a:lnTo>
                  <a:pt x="13" y="67"/>
                </a:lnTo>
                <a:lnTo>
                  <a:pt x="9" y="55"/>
                </a:lnTo>
                <a:lnTo>
                  <a:pt x="13" y="42"/>
                </a:lnTo>
                <a:lnTo>
                  <a:pt x="22" y="33"/>
                </a:lnTo>
                <a:lnTo>
                  <a:pt x="35" y="29"/>
                </a:lnTo>
                <a:close/>
                <a:moveTo>
                  <a:pt x="182" y="18"/>
                </a:moveTo>
                <a:lnTo>
                  <a:pt x="179" y="19"/>
                </a:lnTo>
                <a:lnTo>
                  <a:pt x="178" y="20"/>
                </a:lnTo>
                <a:lnTo>
                  <a:pt x="178" y="23"/>
                </a:lnTo>
                <a:lnTo>
                  <a:pt x="179" y="24"/>
                </a:lnTo>
                <a:lnTo>
                  <a:pt x="191" y="43"/>
                </a:lnTo>
                <a:lnTo>
                  <a:pt x="200" y="65"/>
                </a:lnTo>
                <a:lnTo>
                  <a:pt x="201" y="66"/>
                </a:lnTo>
                <a:lnTo>
                  <a:pt x="202" y="67"/>
                </a:lnTo>
                <a:lnTo>
                  <a:pt x="205" y="67"/>
                </a:lnTo>
                <a:lnTo>
                  <a:pt x="230" y="57"/>
                </a:lnTo>
                <a:lnTo>
                  <a:pt x="232" y="55"/>
                </a:lnTo>
                <a:lnTo>
                  <a:pt x="232" y="53"/>
                </a:lnTo>
                <a:lnTo>
                  <a:pt x="230" y="51"/>
                </a:lnTo>
                <a:lnTo>
                  <a:pt x="209" y="32"/>
                </a:lnTo>
                <a:lnTo>
                  <a:pt x="183" y="18"/>
                </a:lnTo>
                <a:lnTo>
                  <a:pt x="182" y="18"/>
                </a:lnTo>
                <a:close/>
                <a:moveTo>
                  <a:pt x="137" y="0"/>
                </a:moveTo>
                <a:lnTo>
                  <a:pt x="164" y="2"/>
                </a:lnTo>
                <a:lnTo>
                  <a:pt x="189" y="10"/>
                </a:lnTo>
                <a:lnTo>
                  <a:pt x="212" y="23"/>
                </a:lnTo>
                <a:lnTo>
                  <a:pt x="233" y="39"/>
                </a:lnTo>
                <a:lnTo>
                  <a:pt x="249" y="59"/>
                </a:lnTo>
                <a:lnTo>
                  <a:pt x="262" y="83"/>
                </a:lnTo>
                <a:lnTo>
                  <a:pt x="271" y="108"/>
                </a:lnTo>
                <a:lnTo>
                  <a:pt x="274" y="136"/>
                </a:lnTo>
                <a:lnTo>
                  <a:pt x="271" y="163"/>
                </a:lnTo>
                <a:lnTo>
                  <a:pt x="263" y="188"/>
                </a:lnTo>
                <a:lnTo>
                  <a:pt x="263" y="189"/>
                </a:lnTo>
                <a:lnTo>
                  <a:pt x="262" y="190"/>
                </a:lnTo>
                <a:lnTo>
                  <a:pt x="260" y="190"/>
                </a:lnTo>
                <a:lnTo>
                  <a:pt x="257" y="189"/>
                </a:lnTo>
                <a:lnTo>
                  <a:pt x="254" y="186"/>
                </a:lnTo>
                <a:lnTo>
                  <a:pt x="254" y="184"/>
                </a:lnTo>
                <a:lnTo>
                  <a:pt x="261" y="166"/>
                </a:lnTo>
                <a:lnTo>
                  <a:pt x="263" y="145"/>
                </a:lnTo>
                <a:lnTo>
                  <a:pt x="263" y="144"/>
                </a:lnTo>
                <a:lnTo>
                  <a:pt x="262" y="142"/>
                </a:lnTo>
                <a:lnTo>
                  <a:pt x="260" y="142"/>
                </a:lnTo>
                <a:lnTo>
                  <a:pt x="240" y="142"/>
                </a:lnTo>
                <a:lnTo>
                  <a:pt x="239" y="142"/>
                </a:lnTo>
                <a:lnTo>
                  <a:pt x="238" y="140"/>
                </a:lnTo>
                <a:lnTo>
                  <a:pt x="237" y="139"/>
                </a:lnTo>
                <a:lnTo>
                  <a:pt x="237" y="136"/>
                </a:lnTo>
                <a:lnTo>
                  <a:pt x="237" y="135"/>
                </a:lnTo>
                <a:lnTo>
                  <a:pt x="238" y="133"/>
                </a:lnTo>
                <a:lnTo>
                  <a:pt x="239" y="133"/>
                </a:lnTo>
                <a:lnTo>
                  <a:pt x="240" y="131"/>
                </a:lnTo>
                <a:lnTo>
                  <a:pt x="260" y="131"/>
                </a:lnTo>
                <a:lnTo>
                  <a:pt x="262" y="131"/>
                </a:lnTo>
                <a:lnTo>
                  <a:pt x="263" y="130"/>
                </a:lnTo>
                <a:lnTo>
                  <a:pt x="263" y="127"/>
                </a:lnTo>
                <a:lnTo>
                  <a:pt x="261" y="105"/>
                </a:lnTo>
                <a:lnTo>
                  <a:pt x="253" y="84"/>
                </a:lnTo>
                <a:lnTo>
                  <a:pt x="242" y="65"/>
                </a:lnTo>
                <a:lnTo>
                  <a:pt x="240" y="64"/>
                </a:lnTo>
                <a:lnTo>
                  <a:pt x="239" y="64"/>
                </a:lnTo>
                <a:lnTo>
                  <a:pt x="237" y="64"/>
                </a:lnTo>
                <a:lnTo>
                  <a:pt x="223" y="71"/>
                </a:lnTo>
                <a:lnTo>
                  <a:pt x="206" y="76"/>
                </a:lnTo>
                <a:lnTo>
                  <a:pt x="205" y="78"/>
                </a:lnTo>
                <a:lnTo>
                  <a:pt x="203" y="79"/>
                </a:lnTo>
                <a:lnTo>
                  <a:pt x="203" y="82"/>
                </a:lnTo>
                <a:lnTo>
                  <a:pt x="206" y="90"/>
                </a:lnTo>
                <a:lnTo>
                  <a:pt x="207" y="101"/>
                </a:lnTo>
                <a:lnTo>
                  <a:pt x="207" y="102"/>
                </a:lnTo>
                <a:lnTo>
                  <a:pt x="206" y="103"/>
                </a:lnTo>
                <a:lnTo>
                  <a:pt x="205" y="105"/>
                </a:lnTo>
                <a:lnTo>
                  <a:pt x="203" y="105"/>
                </a:lnTo>
                <a:lnTo>
                  <a:pt x="201" y="105"/>
                </a:lnTo>
                <a:lnTo>
                  <a:pt x="198" y="103"/>
                </a:lnTo>
                <a:lnTo>
                  <a:pt x="198" y="102"/>
                </a:lnTo>
                <a:lnTo>
                  <a:pt x="194" y="84"/>
                </a:lnTo>
                <a:lnTo>
                  <a:pt x="193" y="82"/>
                </a:lnTo>
                <a:lnTo>
                  <a:pt x="192" y="82"/>
                </a:lnTo>
                <a:lnTo>
                  <a:pt x="191" y="82"/>
                </a:lnTo>
                <a:lnTo>
                  <a:pt x="173" y="84"/>
                </a:lnTo>
                <a:lnTo>
                  <a:pt x="171" y="84"/>
                </a:lnTo>
                <a:lnTo>
                  <a:pt x="170" y="83"/>
                </a:lnTo>
                <a:lnTo>
                  <a:pt x="169" y="82"/>
                </a:lnTo>
                <a:lnTo>
                  <a:pt x="169" y="79"/>
                </a:lnTo>
                <a:lnTo>
                  <a:pt x="169" y="78"/>
                </a:lnTo>
                <a:lnTo>
                  <a:pt x="170" y="75"/>
                </a:lnTo>
                <a:lnTo>
                  <a:pt x="171" y="74"/>
                </a:lnTo>
                <a:lnTo>
                  <a:pt x="187" y="71"/>
                </a:lnTo>
                <a:lnTo>
                  <a:pt x="189" y="71"/>
                </a:lnTo>
                <a:lnTo>
                  <a:pt x="189" y="69"/>
                </a:lnTo>
                <a:lnTo>
                  <a:pt x="189" y="66"/>
                </a:lnTo>
                <a:lnTo>
                  <a:pt x="184" y="53"/>
                </a:lnTo>
                <a:lnTo>
                  <a:pt x="178" y="41"/>
                </a:lnTo>
                <a:lnTo>
                  <a:pt x="169" y="28"/>
                </a:lnTo>
                <a:lnTo>
                  <a:pt x="159" y="18"/>
                </a:lnTo>
                <a:lnTo>
                  <a:pt x="147" y="11"/>
                </a:lnTo>
                <a:lnTo>
                  <a:pt x="145" y="11"/>
                </a:lnTo>
                <a:lnTo>
                  <a:pt x="142" y="13"/>
                </a:lnTo>
                <a:lnTo>
                  <a:pt x="142" y="15"/>
                </a:lnTo>
                <a:lnTo>
                  <a:pt x="142" y="46"/>
                </a:lnTo>
                <a:lnTo>
                  <a:pt x="142" y="47"/>
                </a:lnTo>
                <a:lnTo>
                  <a:pt x="141" y="48"/>
                </a:lnTo>
                <a:lnTo>
                  <a:pt x="140" y="50"/>
                </a:lnTo>
                <a:lnTo>
                  <a:pt x="137" y="50"/>
                </a:lnTo>
                <a:lnTo>
                  <a:pt x="136" y="50"/>
                </a:lnTo>
                <a:lnTo>
                  <a:pt x="133" y="48"/>
                </a:lnTo>
                <a:lnTo>
                  <a:pt x="133" y="47"/>
                </a:lnTo>
                <a:lnTo>
                  <a:pt x="132" y="46"/>
                </a:lnTo>
                <a:lnTo>
                  <a:pt x="132" y="15"/>
                </a:lnTo>
                <a:lnTo>
                  <a:pt x="132" y="13"/>
                </a:lnTo>
                <a:lnTo>
                  <a:pt x="129" y="11"/>
                </a:lnTo>
                <a:lnTo>
                  <a:pt x="127" y="11"/>
                </a:lnTo>
                <a:lnTo>
                  <a:pt x="115" y="18"/>
                </a:lnTo>
                <a:lnTo>
                  <a:pt x="105" y="28"/>
                </a:lnTo>
                <a:lnTo>
                  <a:pt x="96" y="41"/>
                </a:lnTo>
                <a:lnTo>
                  <a:pt x="90" y="53"/>
                </a:lnTo>
                <a:lnTo>
                  <a:pt x="85" y="66"/>
                </a:lnTo>
                <a:lnTo>
                  <a:pt x="85" y="69"/>
                </a:lnTo>
                <a:lnTo>
                  <a:pt x="86" y="71"/>
                </a:lnTo>
                <a:lnTo>
                  <a:pt x="87" y="71"/>
                </a:lnTo>
                <a:lnTo>
                  <a:pt x="101" y="74"/>
                </a:lnTo>
                <a:lnTo>
                  <a:pt x="104" y="75"/>
                </a:lnTo>
                <a:lnTo>
                  <a:pt x="104" y="78"/>
                </a:lnTo>
                <a:lnTo>
                  <a:pt x="105" y="79"/>
                </a:lnTo>
                <a:lnTo>
                  <a:pt x="104" y="82"/>
                </a:lnTo>
                <a:lnTo>
                  <a:pt x="104" y="83"/>
                </a:lnTo>
                <a:lnTo>
                  <a:pt x="101" y="84"/>
                </a:lnTo>
                <a:lnTo>
                  <a:pt x="100" y="84"/>
                </a:lnTo>
                <a:lnTo>
                  <a:pt x="85" y="82"/>
                </a:lnTo>
                <a:lnTo>
                  <a:pt x="82" y="82"/>
                </a:lnTo>
                <a:lnTo>
                  <a:pt x="81" y="82"/>
                </a:lnTo>
                <a:lnTo>
                  <a:pt x="80" y="84"/>
                </a:lnTo>
                <a:lnTo>
                  <a:pt x="76" y="105"/>
                </a:lnTo>
                <a:lnTo>
                  <a:pt x="74" y="127"/>
                </a:lnTo>
                <a:lnTo>
                  <a:pt x="74" y="130"/>
                </a:lnTo>
                <a:lnTo>
                  <a:pt x="76" y="131"/>
                </a:lnTo>
                <a:lnTo>
                  <a:pt x="78" y="131"/>
                </a:lnTo>
                <a:lnTo>
                  <a:pt x="128" y="131"/>
                </a:lnTo>
                <a:lnTo>
                  <a:pt x="131" y="131"/>
                </a:lnTo>
                <a:lnTo>
                  <a:pt x="132" y="130"/>
                </a:lnTo>
                <a:lnTo>
                  <a:pt x="132" y="127"/>
                </a:lnTo>
                <a:lnTo>
                  <a:pt x="132" y="117"/>
                </a:lnTo>
                <a:lnTo>
                  <a:pt x="133" y="116"/>
                </a:lnTo>
                <a:lnTo>
                  <a:pt x="133" y="115"/>
                </a:lnTo>
                <a:lnTo>
                  <a:pt x="136" y="113"/>
                </a:lnTo>
                <a:lnTo>
                  <a:pt x="137" y="113"/>
                </a:lnTo>
                <a:lnTo>
                  <a:pt x="140" y="113"/>
                </a:lnTo>
                <a:lnTo>
                  <a:pt x="141" y="115"/>
                </a:lnTo>
                <a:lnTo>
                  <a:pt x="142" y="116"/>
                </a:lnTo>
                <a:lnTo>
                  <a:pt x="142" y="117"/>
                </a:lnTo>
                <a:lnTo>
                  <a:pt x="142" y="127"/>
                </a:lnTo>
                <a:lnTo>
                  <a:pt x="142" y="130"/>
                </a:lnTo>
                <a:lnTo>
                  <a:pt x="143" y="131"/>
                </a:lnTo>
                <a:lnTo>
                  <a:pt x="146" y="131"/>
                </a:lnTo>
                <a:lnTo>
                  <a:pt x="169" y="131"/>
                </a:lnTo>
                <a:lnTo>
                  <a:pt x="170" y="133"/>
                </a:lnTo>
                <a:lnTo>
                  <a:pt x="171" y="133"/>
                </a:lnTo>
                <a:lnTo>
                  <a:pt x="173" y="135"/>
                </a:lnTo>
                <a:lnTo>
                  <a:pt x="173" y="136"/>
                </a:lnTo>
                <a:lnTo>
                  <a:pt x="173" y="139"/>
                </a:lnTo>
                <a:lnTo>
                  <a:pt x="171" y="140"/>
                </a:lnTo>
                <a:lnTo>
                  <a:pt x="170" y="142"/>
                </a:lnTo>
                <a:lnTo>
                  <a:pt x="169" y="142"/>
                </a:lnTo>
                <a:lnTo>
                  <a:pt x="146" y="142"/>
                </a:lnTo>
                <a:lnTo>
                  <a:pt x="143" y="142"/>
                </a:lnTo>
                <a:lnTo>
                  <a:pt x="142" y="143"/>
                </a:lnTo>
                <a:lnTo>
                  <a:pt x="142" y="145"/>
                </a:lnTo>
                <a:lnTo>
                  <a:pt x="142" y="182"/>
                </a:lnTo>
                <a:lnTo>
                  <a:pt x="142" y="185"/>
                </a:lnTo>
                <a:lnTo>
                  <a:pt x="143" y="186"/>
                </a:lnTo>
                <a:lnTo>
                  <a:pt x="146" y="186"/>
                </a:lnTo>
                <a:lnTo>
                  <a:pt x="169" y="189"/>
                </a:lnTo>
                <a:lnTo>
                  <a:pt x="191" y="193"/>
                </a:lnTo>
                <a:lnTo>
                  <a:pt x="192" y="193"/>
                </a:lnTo>
                <a:lnTo>
                  <a:pt x="193" y="191"/>
                </a:lnTo>
                <a:lnTo>
                  <a:pt x="194" y="189"/>
                </a:lnTo>
                <a:lnTo>
                  <a:pt x="198" y="172"/>
                </a:lnTo>
                <a:lnTo>
                  <a:pt x="198" y="170"/>
                </a:lnTo>
                <a:lnTo>
                  <a:pt x="201" y="170"/>
                </a:lnTo>
                <a:lnTo>
                  <a:pt x="202" y="168"/>
                </a:lnTo>
                <a:lnTo>
                  <a:pt x="205" y="170"/>
                </a:lnTo>
                <a:lnTo>
                  <a:pt x="206" y="170"/>
                </a:lnTo>
                <a:lnTo>
                  <a:pt x="207" y="172"/>
                </a:lnTo>
                <a:lnTo>
                  <a:pt x="207" y="173"/>
                </a:lnTo>
                <a:lnTo>
                  <a:pt x="206" y="182"/>
                </a:lnTo>
                <a:lnTo>
                  <a:pt x="203" y="191"/>
                </a:lnTo>
                <a:lnTo>
                  <a:pt x="203" y="194"/>
                </a:lnTo>
                <a:lnTo>
                  <a:pt x="205" y="195"/>
                </a:lnTo>
                <a:lnTo>
                  <a:pt x="206" y="196"/>
                </a:lnTo>
                <a:lnTo>
                  <a:pt x="209" y="198"/>
                </a:lnTo>
                <a:lnTo>
                  <a:pt x="211" y="198"/>
                </a:lnTo>
                <a:lnTo>
                  <a:pt x="212" y="200"/>
                </a:lnTo>
                <a:lnTo>
                  <a:pt x="212" y="202"/>
                </a:lnTo>
                <a:lnTo>
                  <a:pt x="212" y="204"/>
                </a:lnTo>
                <a:lnTo>
                  <a:pt x="211" y="205"/>
                </a:lnTo>
                <a:lnTo>
                  <a:pt x="209" y="207"/>
                </a:lnTo>
                <a:lnTo>
                  <a:pt x="207" y="207"/>
                </a:lnTo>
                <a:lnTo>
                  <a:pt x="205" y="205"/>
                </a:lnTo>
                <a:lnTo>
                  <a:pt x="202" y="205"/>
                </a:lnTo>
                <a:lnTo>
                  <a:pt x="201" y="207"/>
                </a:lnTo>
                <a:lnTo>
                  <a:pt x="200" y="208"/>
                </a:lnTo>
                <a:lnTo>
                  <a:pt x="191" y="230"/>
                </a:lnTo>
                <a:lnTo>
                  <a:pt x="179" y="249"/>
                </a:lnTo>
                <a:lnTo>
                  <a:pt x="178" y="251"/>
                </a:lnTo>
                <a:lnTo>
                  <a:pt x="178" y="253"/>
                </a:lnTo>
                <a:lnTo>
                  <a:pt x="179" y="254"/>
                </a:lnTo>
                <a:lnTo>
                  <a:pt x="182" y="255"/>
                </a:lnTo>
                <a:lnTo>
                  <a:pt x="183" y="255"/>
                </a:lnTo>
                <a:lnTo>
                  <a:pt x="198" y="248"/>
                </a:lnTo>
                <a:lnTo>
                  <a:pt x="212" y="239"/>
                </a:lnTo>
                <a:lnTo>
                  <a:pt x="215" y="237"/>
                </a:lnTo>
                <a:lnTo>
                  <a:pt x="217" y="239"/>
                </a:lnTo>
                <a:lnTo>
                  <a:pt x="219" y="240"/>
                </a:lnTo>
                <a:lnTo>
                  <a:pt x="220" y="241"/>
                </a:lnTo>
                <a:lnTo>
                  <a:pt x="220" y="244"/>
                </a:lnTo>
                <a:lnTo>
                  <a:pt x="220" y="245"/>
                </a:lnTo>
                <a:lnTo>
                  <a:pt x="219" y="246"/>
                </a:lnTo>
                <a:lnTo>
                  <a:pt x="194" y="260"/>
                </a:lnTo>
                <a:lnTo>
                  <a:pt x="166" y="271"/>
                </a:lnTo>
                <a:lnTo>
                  <a:pt x="137" y="273"/>
                </a:lnTo>
                <a:lnTo>
                  <a:pt x="106" y="269"/>
                </a:lnTo>
                <a:lnTo>
                  <a:pt x="77" y="259"/>
                </a:lnTo>
                <a:lnTo>
                  <a:pt x="51" y="244"/>
                </a:lnTo>
                <a:lnTo>
                  <a:pt x="31" y="222"/>
                </a:lnTo>
                <a:lnTo>
                  <a:pt x="14" y="196"/>
                </a:lnTo>
                <a:lnTo>
                  <a:pt x="4" y="168"/>
                </a:lnTo>
                <a:lnTo>
                  <a:pt x="0" y="136"/>
                </a:lnTo>
                <a:lnTo>
                  <a:pt x="3" y="108"/>
                </a:lnTo>
                <a:lnTo>
                  <a:pt x="12" y="83"/>
                </a:lnTo>
                <a:lnTo>
                  <a:pt x="12" y="82"/>
                </a:lnTo>
                <a:lnTo>
                  <a:pt x="14" y="82"/>
                </a:lnTo>
                <a:lnTo>
                  <a:pt x="16" y="82"/>
                </a:lnTo>
                <a:lnTo>
                  <a:pt x="18" y="83"/>
                </a:lnTo>
                <a:lnTo>
                  <a:pt x="21" y="84"/>
                </a:lnTo>
                <a:lnTo>
                  <a:pt x="19" y="88"/>
                </a:lnTo>
                <a:lnTo>
                  <a:pt x="13" y="107"/>
                </a:lnTo>
                <a:lnTo>
                  <a:pt x="11" y="127"/>
                </a:lnTo>
                <a:lnTo>
                  <a:pt x="11" y="130"/>
                </a:lnTo>
                <a:lnTo>
                  <a:pt x="12" y="131"/>
                </a:lnTo>
                <a:lnTo>
                  <a:pt x="14" y="131"/>
                </a:lnTo>
                <a:lnTo>
                  <a:pt x="60" y="131"/>
                </a:lnTo>
                <a:lnTo>
                  <a:pt x="63" y="131"/>
                </a:lnTo>
                <a:lnTo>
                  <a:pt x="64" y="130"/>
                </a:lnTo>
                <a:lnTo>
                  <a:pt x="64" y="127"/>
                </a:lnTo>
                <a:lnTo>
                  <a:pt x="67" y="103"/>
                </a:lnTo>
                <a:lnTo>
                  <a:pt x="71" y="82"/>
                </a:lnTo>
                <a:lnTo>
                  <a:pt x="71" y="79"/>
                </a:lnTo>
                <a:lnTo>
                  <a:pt x="69" y="78"/>
                </a:lnTo>
                <a:lnTo>
                  <a:pt x="68" y="76"/>
                </a:lnTo>
                <a:lnTo>
                  <a:pt x="65" y="76"/>
                </a:lnTo>
                <a:lnTo>
                  <a:pt x="64" y="75"/>
                </a:lnTo>
                <a:lnTo>
                  <a:pt x="63" y="74"/>
                </a:lnTo>
                <a:lnTo>
                  <a:pt x="63" y="71"/>
                </a:lnTo>
                <a:lnTo>
                  <a:pt x="63" y="70"/>
                </a:lnTo>
                <a:lnTo>
                  <a:pt x="64" y="67"/>
                </a:lnTo>
                <a:lnTo>
                  <a:pt x="67" y="66"/>
                </a:lnTo>
                <a:lnTo>
                  <a:pt x="68" y="66"/>
                </a:lnTo>
                <a:lnTo>
                  <a:pt x="71" y="67"/>
                </a:lnTo>
                <a:lnTo>
                  <a:pt x="72" y="67"/>
                </a:lnTo>
                <a:lnTo>
                  <a:pt x="74" y="66"/>
                </a:lnTo>
                <a:lnTo>
                  <a:pt x="76" y="65"/>
                </a:lnTo>
                <a:lnTo>
                  <a:pt x="83" y="43"/>
                </a:lnTo>
                <a:lnTo>
                  <a:pt x="95" y="24"/>
                </a:lnTo>
                <a:lnTo>
                  <a:pt x="96" y="23"/>
                </a:lnTo>
                <a:lnTo>
                  <a:pt x="96" y="20"/>
                </a:lnTo>
                <a:lnTo>
                  <a:pt x="95" y="19"/>
                </a:lnTo>
                <a:lnTo>
                  <a:pt x="94" y="18"/>
                </a:lnTo>
                <a:lnTo>
                  <a:pt x="91" y="18"/>
                </a:lnTo>
                <a:lnTo>
                  <a:pt x="77" y="25"/>
                </a:lnTo>
                <a:lnTo>
                  <a:pt x="63" y="33"/>
                </a:lnTo>
                <a:lnTo>
                  <a:pt x="62" y="34"/>
                </a:lnTo>
                <a:lnTo>
                  <a:pt x="60" y="34"/>
                </a:lnTo>
                <a:lnTo>
                  <a:pt x="58" y="33"/>
                </a:lnTo>
                <a:lnTo>
                  <a:pt x="58" y="32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8" y="25"/>
                </a:lnTo>
                <a:lnTo>
                  <a:pt x="82" y="11"/>
                </a:lnTo>
                <a:lnTo>
                  <a:pt x="109" y="4"/>
                </a:lnTo>
                <a:lnTo>
                  <a:pt x="13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463"/>
          <p:cNvSpPr>
            <a:spLocks noEditPoints="1"/>
          </p:cNvSpPr>
          <p:nvPr userDrawn="1"/>
        </p:nvSpPr>
        <p:spPr bwMode="auto">
          <a:xfrm rot="19468345">
            <a:off x="4877976" y="513678"/>
            <a:ext cx="1364153" cy="774137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Freeform 345"/>
          <p:cNvSpPr>
            <a:spLocks noEditPoints="1"/>
          </p:cNvSpPr>
          <p:nvPr userDrawn="1"/>
        </p:nvSpPr>
        <p:spPr bwMode="auto">
          <a:xfrm rot="19951744">
            <a:off x="485337" y="1535222"/>
            <a:ext cx="2166226" cy="3066048"/>
          </a:xfrm>
          <a:custGeom>
            <a:avLst/>
            <a:gdLst>
              <a:gd name="T0" fmla="*/ 190 w 195"/>
              <a:gd name="T1" fmla="*/ 163 h 276"/>
              <a:gd name="T2" fmla="*/ 195 w 195"/>
              <a:gd name="T3" fmla="*/ 174 h 276"/>
              <a:gd name="T4" fmla="*/ 192 w 195"/>
              <a:gd name="T5" fmla="*/ 180 h 276"/>
              <a:gd name="T6" fmla="*/ 105 w 195"/>
              <a:gd name="T7" fmla="*/ 212 h 276"/>
              <a:gd name="T8" fmla="*/ 98 w 195"/>
              <a:gd name="T9" fmla="*/ 202 h 276"/>
              <a:gd name="T10" fmla="*/ 101 w 195"/>
              <a:gd name="T11" fmla="*/ 195 h 276"/>
              <a:gd name="T12" fmla="*/ 187 w 195"/>
              <a:gd name="T13" fmla="*/ 160 h 276"/>
              <a:gd name="T14" fmla="*/ 20 w 195"/>
              <a:gd name="T15" fmla="*/ 147 h 276"/>
              <a:gd name="T16" fmla="*/ 15 w 195"/>
              <a:gd name="T17" fmla="*/ 157 h 276"/>
              <a:gd name="T18" fmla="*/ 20 w 195"/>
              <a:gd name="T19" fmla="*/ 168 h 276"/>
              <a:gd name="T20" fmla="*/ 32 w 195"/>
              <a:gd name="T21" fmla="*/ 169 h 276"/>
              <a:gd name="T22" fmla="*/ 40 w 195"/>
              <a:gd name="T23" fmla="*/ 161 h 276"/>
              <a:gd name="T24" fmla="*/ 37 w 195"/>
              <a:gd name="T25" fmla="*/ 150 h 276"/>
              <a:gd name="T26" fmla="*/ 27 w 195"/>
              <a:gd name="T27" fmla="*/ 145 h 276"/>
              <a:gd name="T28" fmla="*/ 102 w 195"/>
              <a:gd name="T29" fmla="*/ 2 h 276"/>
              <a:gd name="T30" fmla="*/ 105 w 195"/>
              <a:gd name="T31" fmla="*/ 12 h 276"/>
              <a:gd name="T32" fmla="*/ 100 w 195"/>
              <a:gd name="T33" fmla="*/ 14 h 276"/>
              <a:gd name="T34" fmla="*/ 151 w 195"/>
              <a:gd name="T35" fmla="*/ 146 h 276"/>
              <a:gd name="T36" fmla="*/ 148 w 195"/>
              <a:gd name="T37" fmla="*/ 149 h 276"/>
              <a:gd name="T38" fmla="*/ 147 w 195"/>
              <a:gd name="T39" fmla="*/ 151 h 276"/>
              <a:gd name="T40" fmla="*/ 148 w 195"/>
              <a:gd name="T41" fmla="*/ 160 h 276"/>
              <a:gd name="T42" fmla="*/ 144 w 195"/>
              <a:gd name="T43" fmla="*/ 166 h 276"/>
              <a:gd name="T44" fmla="*/ 129 w 195"/>
              <a:gd name="T45" fmla="*/ 169 h 276"/>
              <a:gd name="T46" fmla="*/ 124 w 195"/>
              <a:gd name="T47" fmla="*/ 161 h 276"/>
              <a:gd name="T48" fmla="*/ 120 w 195"/>
              <a:gd name="T49" fmla="*/ 160 h 276"/>
              <a:gd name="T50" fmla="*/ 118 w 195"/>
              <a:gd name="T51" fmla="*/ 160 h 276"/>
              <a:gd name="T52" fmla="*/ 91 w 195"/>
              <a:gd name="T53" fmla="*/ 97 h 276"/>
              <a:gd name="T54" fmla="*/ 84 w 195"/>
              <a:gd name="T55" fmla="*/ 97 h 276"/>
              <a:gd name="T56" fmla="*/ 52 w 195"/>
              <a:gd name="T57" fmla="*/ 136 h 276"/>
              <a:gd name="T58" fmla="*/ 55 w 195"/>
              <a:gd name="T59" fmla="*/ 151 h 276"/>
              <a:gd name="T60" fmla="*/ 52 w 195"/>
              <a:gd name="T61" fmla="*/ 170 h 276"/>
              <a:gd name="T62" fmla="*/ 46 w 195"/>
              <a:gd name="T63" fmla="*/ 180 h 276"/>
              <a:gd name="T64" fmla="*/ 59 w 195"/>
              <a:gd name="T65" fmla="*/ 216 h 276"/>
              <a:gd name="T66" fmla="*/ 87 w 195"/>
              <a:gd name="T67" fmla="*/ 243 h 276"/>
              <a:gd name="T68" fmla="*/ 185 w 195"/>
              <a:gd name="T69" fmla="*/ 244 h 276"/>
              <a:gd name="T70" fmla="*/ 193 w 195"/>
              <a:gd name="T71" fmla="*/ 256 h 276"/>
              <a:gd name="T72" fmla="*/ 189 w 195"/>
              <a:gd name="T73" fmla="*/ 274 h 276"/>
              <a:gd name="T74" fmla="*/ 22 w 195"/>
              <a:gd name="T75" fmla="*/ 276 h 276"/>
              <a:gd name="T76" fmla="*/ 12 w 195"/>
              <a:gd name="T77" fmla="*/ 270 h 276"/>
              <a:gd name="T78" fmla="*/ 12 w 195"/>
              <a:gd name="T79" fmla="*/ 251 h 276"/>
              <a:gd name="T80" fmla="*/ 22 w 195"/>
              <a:gd name="T81" fmla="*/ 244 h 276"/>
              <a:gd name="T82" fmla="*/ 29 w 195"/>
              <a:gd name="T83" fmla="*/ 241 h 276"/>
              <a:gd name="T84" fmla="*/ 17 w 195"/>
              <a:gd name="T85" fmla="*/ 210 h 276"/>
              <a:gd name="T86" fmla="*/ 8 w 195"/>
              <a:gd name="T87" fmla="*/ 177 h 276"/>
              <a:gd name="T88" fmla="*/ 0 w 195"/>
              <a:gd name="T89" fmla="*/ 157 h 276"/>
              <a:gd name="T90" fmla="*/ 15 w 195"/>
              <a:gd name="T91" fmla="*/ 131 h 276"/>
              <a:gd name="T92" fmla="*/ 38 w 195"/>
              <a:gd name="T93" fmla="*/ 91 h 276"/>
              <a:gd name="T94" fmla="*/ 75 w 195"/>
              <a:gd name="T95" fmla="*/ 62 h 276"/>
              <a:gd name="T96" fmla="*/ 65 w 195"/>
              <a:gd name="T97" fmla="*/ 31 h 276"/>
              <a:gd name="T98" fmla="*/ 61 w 195"/>
              <a:gd name="T99" fmla="*/ 30 h 276"/>
              <a:gd name="T100" fmla="*/ 56 w 195"/>
              <a:gd name="T101" fmla="*/ 31 h 276"/>
              <a:gd name="T102" fmla="*/ 52 w 195"/>
              <a:gd name="T103" fmla="*/ 20 h 276"/>
              <a:gd name="T104" fmla="*/ 59 w 195"/>
              <a:gd name="T105" fmla="*/ 16 h 276"/>
              <a:gd name="T106" fmla="*/ 101 w 195"/>
              <a:gd name="T107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5" h="276">
                <a:moveTo>
                  <a:pt x="187" y="160"/>
                </a:moveTo>
                <a:lnTo>
                  <a:pt x="189" y="161"/>
                </a:lnTo>
                <a:lnTo>
                  <a:pt x="190" y="163"/>
                </a:lnTo>
                <a:lnTo>
                  <a:pt x="193" y="165"/>
                </a:lnTo>
                <a:lnTo>
                  <a:pt x="195" y="172"/>
                </a:lnTo>
                <a:lnTo>
                  <a:pt x="195" y="174"/>
                </a:lnTo>
                <a:lnTo>
                  <a:pt x="195" y="177"/>
                </a:lnTo>
                <a:lnTo>
                  <a:pt x="193" y="178"/>
                </a:lnTo>
                <a:lnTo>
                  <a:pt x="192" y="180"/>
                </a:lnTo>
                <a:lnTo>
                  <a:pt x="110" y="212"/>
                </a:lnTo>
                <a:lnTo>
                  <a:pt x="107" y="212"/>
                </a:lnTo>
                <a:lnTo>
                  <a:pt x="105" y="212"/>
                </a:lnTo>
                <a:lnTo>
                  <a:pt x="103" y="211"/>
                </a:lnTo>
                <a:lnTo>
                  <a:pt x="101" y="209"/>
                </a:lnTo>
                <a:lnTo>
                  <a:pt x="98" y="202"/>
                </a:lnTo>
                <a:lnTo>
                  <a:pt x="98" y="200"/>
                </a:lnTo>
                <a:lnTo>
                  <a:pt x="98" y="197"/>
                </a:lnTo>
                <a:lnTo>
                  <a:pt x="101" y="195"/>
                </a:lnTo>
                <a:lnTo>
                  <a:pt x="102" y="193"/>
                </a:lnTo>
                <a:lnTo>
                  <a:pt x="184" y="161"/>
                </a:lnTo>
                <a:lnTo>
                  <a:pt x="187" y="160"/>
                </a:lnTo>
                <a:close/>
                <a:moveTo>
                  <a:pt x="27" y="145"/>
                </a:moveTo>
                <a:lnTo>
                  <a:pt x="23" y="145"/>
                </a:lnTo>
                <a:lnTo>
                  <a:pt x="20" y="147"/>
                </a:lnTo>
                <a:lnTo>
                  <a:pt x="17" y="150"/>
                </a:lnTo>
                <a:lnTo>
                  <a:pt x="15" y="154"/>
                </a:lnTo>
                <a:lnTo>
                  <a:pt x="15" y="157"/>
                </a:lnTo>
                <a:lnTo>
                  <a:pt x="15" y="161"/>
                </a:lnTo>
                <a:lnTo>
                  <a:pt x="17" y="165"/>
                </a:lnTo>
                <a:lnTo>
                  <a:pt x="20" y="168"/>
                </a:lnTo>
                <a:lnTo>
                  <a:pt x="23" y="169"/>
                </a:lnTo>
                <a:lnTo>
                  <a:pt x="27" y="170"/>
                </a:lnTo>
                <a:lnTo>
                  <a:pt x="32" y="169"/>
                </a:lnTo>
                <a:lnTo>
                  <a:pt x="35" y="168"/>
                </a:lnTo>
                <a:lnTo>
                  <a:pt x="37" y="165"/>
                </a:lnTo>
                <a:lnTo>
                  <a:pt x="40" y="161"/>
                </a:lnTo>
                <a:lnTo>
                  <a:pt x="40" y="157"/>
                </a:lnTo>
                <a:lnTo>
                  <a:pt x="40" y="154"/>
                </a:lnTo>
                <a:lnTo>
                  <a:pt x="37" y="150"/>
                </a:lnTo>
                <a:lnTo>
                  <a:pt x="35" y="147"/>
                </a:lnTo>
                <a:lnTo>
                  <a:pt x="32" y="145"/>
                </a:lnTo>
                <a:lnTo>
                  <a:pt x="27" y="145"/>
                </a:lnTo>
                <a:close/>
                <a:moveTo>
                  <a:pt x="101" y="0"/>
                </a:moveTo>
                <a:lnTo>
                  <a:pt x="102" y="0"/>
                </a:lnTo>
                <a:lnTo>
                  <a:pt x="102" y="2"/>
                </a:lnTo>
                <a:lnTo>
                  <a:pt x="106" y="9"/>
                </a:lnTo>
                <a:lnTo>
                  <a:pt x="106" y="11"/>
                </a:lnTo>
                <a:lnTo>
                  <a:pt x="105" y="12"/>
                </a:lnTo>
                <a:lnTo>
                  <a:pt x="103" y="13"/>
                </a:lnTo>
                <a:lnTo>
                  <a:pt x="101" y="14"/>
                </a:lnTo>
                <a:lnTo>
                  <a:pt x="100" y="14"/>
                </a:lnTo>
                <a:lnTo>
                  <a:pt x="100" y="16"/>
                </a:lnTo>
                <a:lnTo>
                  <a:pt x="100" y="18"/>
                </a:lnTo>
                <a:lnTo>
                  <a:pt x="151" y="146"/>
                </a:lnTo>
                <a:lnTo>
                  <a:pt x="151" y="147"/>
                </a:lnTo>
                <a:lnTo>
                  <a:pt x="149" y="149"/>
                </a:lnTo>
                <a:lnTo>
                  <a:pt x="148" y="149"/>
                </a:lnTo>
                <a:lnTo>
                  <a:pt x="148" y="150"/>
                </a:lnTo>
                <a:lnTo>
                  <a:pt x="147" y="150"/>
                </a:lnTo>
                <a:lnTo>
                  <a:pt x="147" y="151"/>
                </a:lnTo>
                <a:lnTo>
                  <a:pt x="147" y="152"/>
                </a:lnTo>
                <a:lnTo>
                  <a:pt x="148" y="157"/>
                </a:lnTo>
                <a:lnTo>
                  <a:pt x="148" y="160"/>
                </a:lnTo>
                <a:lnTo>
                  <a:pt x="148" y="163"/>
                </a:lnTo>
                <a:lnTo>
                  <a:pt x="147" y="164"/>
                </a:lnTo>
                <a:lnTo>
                  <a:pt x="144" y="166"/>
                </a:lnTo>
                <a:lnTo>
                  <a:pt x="134" y="169"/>
                </a:lnTo>
                <a:lnTo>
                  <a:pt x="132" y="170"/>
                </a:lnTo>
                <a:lnTo>
                  <a:pt x="129" y="169"/>
                </a:lnTo>
                <a:lnTo>
                  <a:pt x="128" y="168"/>
                </a:lnTo>
                <a:lnTo>
                  <a:pt x="125" y="165"/>
                </a:lnTo>
                <a:lnTo>
                  <a:pt x="124" y="161"/>
                </a:lnTo>
                <a:lnTo>
                  <a:pt x="124" y="161"/>
                </a:lnTo>
                <a:lnTo>
                  <a:pt x="123" y="160"/>
                </a:lnTo>
                <a:lnTo>
                  <a:pt x="120" y="160"/>
                </a:lnTo>
                <a:lnTo>
                  <a:pt x="120" y="160"/>
                </a:lnTo>
                <a:lnTo>
                  <a:pt x="119" y="161"/>
                </a:lnTo>
                <a:lnTo>
                  <a:pt x="118" y="160"/>
                </a:lnTo>
                <a:lnTo>
                  <a:pt x="116" y="159"/>
                </a:lnTo>
                <a:lnTo>
                  <a:pt x="93" y="100"/>
                </a:lnTo>
                <a:lnTo>
                  <a:pt x="91" y="97"/>
                </a:lnTo>
                <a:lnTo>
                  <a:pt x="89" y="96"/>
                </a:lnTo>
                <a:lnTo>
                  <a:pt x="87" y="96"/>
                </a:lnTo>
                <a:lnTo>
                  <a:pt x="84" y="97"/>
                </a:lnTo>
                <a:lnTo>
                  <a:pt x="70" y="108"/>
                </a:lnTo>
                <a:lnTo>
                  <a:pt x="60" y="120"/>
                </a:lnTo>
                <a:lnTo>
                  <a:pt x="52" y="136"/>
                </a:lnTo>
                <a:lnTo>
                  <a:pt x="51" y="140"/>
                </a:lnTo>
                <a:lnTo>
                  <a:pt x="52" y="145"/>
                </a:lnTo>
                <a:lnTo>
                  <a:pt x="55" y="151"/>
                </a:lnTo>
                <a:lnTo>
                  <a:pt x="55" y="157"/>
                </a:lnTo>
                <a:lnTo>
                  <a:pt x="55" y="164"/>
                </a:lnTo>
                <a:lnTo>
                  <a:pt x="52" y="170"/>
                </a:lnTo>
                <a:lnTo>
                  <a:pt x="49" y="175"/>
                </a:lnTo>
                <a:lnTo>
                  <a:pt x="47" y="178"/>
                </a:lnTo>
                <a:lnTo>
                  <a:pt x="46" y="180"/>
                </a:lnTo>
                <a:lnTo>
                  <a:pt x="46" y="184"/>
                </a:lnTo>
                <a:lnTo>
                  <a:pt x="51" y="201"/>
                </a:lnTo>
                <a:lnTo>
                  <a:pt x="59" y="216"/>
                </a:lnTo>
                <a:lnTo>
                  <a:pt x="69" y="230"/>
                </a:lnTo>
                <a:lnTo>
                  <a:pt x="83" y="242"/>
                </a:lnTo>
                <a:lnTo>
                  <a:pt x="87" y="243"/>
                </a:lnTo>
                <a:lnTo>
                  <a:pt x="89" y="244"/>
                </a:lnTo>
                <a:lnTo>
                  <a:pt x="181" y="244"/>
                </a:lnTo>
                <a:lnTo>
                  <a:pt x="185" y="244"/>
                </a:lnTo>
                <a:lnTo>
                  <a:pt x="189" y="247"/>
                </a:lnTo>
                <a:lnTo>
                  <a:pt x="192" y="251"/>
                </a:lnTo>
                <a:lnTo>
                  <a:pt x="193" y="256"/>
                </a:lnTo>
                <a:lnTo>
                  <a:pt x="193" y="265"/>
                </a:lnTo>
                <a:lnTo>
                  <a:pt x="192" y="270"/>
                </a:lnTo>
                <a:lnTo>
                  <a:pt x="189" y="274"/>
                </a:lnTo>
                <a:lnTo>
                  <a:pt x="185" y="276"/>
                </a:lnTo>
                <a:lnTo>
                  <a:pt x="181" y="276"/>
                </a:lnTo>
                <a:lnTo>
                  <a:pt x="22" y="276"/>
                </a:lnTo>
                <a:lnTo>
                  <a:pt x="18" y="276"/>
                </a:lnTo>
                <a:lnTo>
                  <a:pt x="14" y="274"/>
                </a:lnTo>
                <a:lnTo>
                  <a:pt x="12" y="270"/>
                </a:lnTo>
                <a:lnTo>
                  <a:pt x="10" y="265"/>
                </a:lnTo>
                <a:lnTo>
                  <a:pt x="10" y="256"/>
                </a:lnTo>
                <a:lnTo>
                  <a:pt x="12" y="251"/>
                </a:lnTo>
                <a:lnTo>
                  <a:pt x="14" y="247"/>
                </a:lnTo>
                <a:lnTo>
                  <a:pt x="18" y="244"/>
                </a:lnTo>
                <a:lnTo>
                  <a:pt x="22" y="244"/>
                </a:lnTo>
                <a:lnTo>
                  <a:pt x="24" y="244"/>
                </a:lnTo>
                <a:lnTo>
                  <a:pt x="27" y="243"/>
                </a:lnTo>
                <a:lnTo>
                  <a:pt x="29" y="241"/>
                </a:lnTo>
                <a:lnTo>
                  <a:pt x="29" y="238"/>
                </a:lnTo>
                <a:lnTo>
                  <a:pt x="28" y="235"/>
                </a:lnTo>
                <a:lnTo>
                  <a:pt x="17" y="210"/>
                </a:lnTo>
                <a:lnTo>
                  <a:pt x="10" y="183"/>
                </a:lnTo>
                <a:lnTo>
                  <a:pt x="9" y="179"/>
                </a:lnTo>
                <a:lnTo>
                  <a:pt x="8" y="177"/>
                </a:lnTo>
                <a:lnTo>
                  <a:pt x="4" y="170"/>
                </a:lnTo>
                <a:lnTo>
                  <a:pt x="0" y="164"/>
                </a:lnTo>
                <a:lnTo>
                  <a:pt x="0" y="157"/>
                </a:lnTo>
                <a:lnTo>
                  <a:pt x="3" y="143"/>
                </a:lnTo>
                <a:lnTo>
                  <a:pt x="13" y="133"/>
                </a:lnTo>
                <a:lnTo>
                  <a:pt x="15" y="131"/>
                </a:lnTo>
                <a:lnTo>
                  <a:pt x="17" y="128"/>
                </a:lnTo>
                <a:lnTo>
                  <a:pt x="27" y="109"/>
                </a:lnTo>
                <a:lnTo>
                  <a:pt x="38" y="91"/>
                </a:lnTo>
                <a:lnTo>
                  <a:pt x="54" y="76"/>
                </a:lnTo>
                <a:lnTo>
                  <a:pt x="73" y="63"/>
                </a:lnTo>
                <a:lnTo>
                  <a:pt x="75" y="62"/>
                </a:lnTo>
                <a:lnTo>
                  <a:pt x="75" y="59"/>
                </a:lnTo>
                <a:lnTo>
                  <a:pt x="75" y="57"/>
                </a:lnTo>
                <a:lnTo>
                  <a:pt x="65" y="31"/>
                </a:lnTo>
                <a:lnTo>
                  <a:pt x="65" y="30"/>
                </a:lnTo>
                <a:lnTo>
                  <a:pt x="64" y="30"/>
                </a:lnTo>
                <a:lnTo>
                  <a:pt x="61" y="30"/>
                </a:lnTo>
                <a:lnTo>
                  <a:pt x="59" y="31"/>
                </a:lnTo>
                <a:lnTo>
                  <a:pt x="58" y="31"/>
                </a:lnTo>
                <a:lnTo>
                  <a:pt x="56" y="31"/>
                </a:lnTo>
                <a:lnTo>
                  <a:pt x="55" y="30"/>
                </a:lnTo>
                <a:lnTo>
                  <a:pt x="52" y="22"/>
                </a:lnTo>
                <a:lnTo>
                  <a:pt x="52" y="20"/>
                </a:lnTo>
                <a:lnTo>
                  <a:pt x="52" y="18"/>
                </a:lnTo>
                <a:lnTo>
                  <a:pt x="54" y="18"/>
                </a:lnTo>
                <a:lnTo>
                  <a:pt x="59" y="16"/>
                </a:lnTo>
                <a:lnTo>
                  <a:pt x="93" y="2"/>
                </a:lnTo>
                <a:lnTo>
                  <a:pt x="98" y="0"/>
                </a:lnTo>
                <a:lnTo>
                  <a:pt x="101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Freeform 387"/>
          <p:cNvSpPr>
            <a:spLocks noEditPoints="1"/>
          </p:cNvSpPr>
          <p:nvPr userDrawn="1"/>
        </p:nvSpPr>
        <p:spPr bwMode="auto">
          <a:xfrm rot="1888595">
            <a:off x="2442159" y="392103"/>
            <a:ext cx="1572202" cy="2081915"/>
          </a:xfrm>
          <a:custGeom>
            <a:avLst/>
            <a:gdLst>
              <a:gd name="T0" fmla="*/ 68 w 219"/>
              <a:gd name="T1" fmla="*/ 188 h 290"/>
              <a:gd name="T2" fmla="*/ 108 w 219"/>
              <a:gd name="T3" fmla="*/ 177 h 290"/>
              <a:gd name="T4" fmla="*/ 114 w 219"/>
              <a:gd name="T5" fmla="*/ 174 h 290"/>
              <a:gd name="T6" fmla="*/ 168 w 219"/>
              <a:gd name="T7" fmla="*/ 174 h 290"/>
              <a:gd name="T8" fmla="*/ 52 w 219"/>
              <a:gd name="T9" fmla="*/ 172 h 290"/>
              <a:gd name="T10" fmla="*/ 100 w 219"/>
              <a:gd name="T11" fmla="*/ 170 h 290"/>
              <a:gd name="T12" fmla="*/ 52 w 219"/>
              <a:gd name="T13" fmla="*/ 117 h 290"/>
              <a:gd name="T14" fmla="*/ 44 w 219"/>
              <a:gd name="T15" fmla="*/ 168 h 290"/>
              <a:gd name="T16" fmla="*/ 53 w 219"/>
              <a:gd name="T17" fmla="*/ 118 h 290"/>
              <a:gd name="T18" fmla="*/ 89 w 219"/>
              <a:gd name="T19" fmla="*/ 138 h 290"/>
              <a:gd name="T20" fmla="*/ 137 w 219"/>
              <a:gd name="T21" fmla="*/ 145 h 290"/>
              <a:gd name="T22" fmla="*/ 150 w 219"/>
              <a:gd name="T23" fmla="*/ 141 h 290"/>
              <a:gd name="T24" fmla="*/ 175 w 219"/>
              <a:gd name="T25" fmla="*/ 169 h 290"/>
              <a:gd name="T26" fmla="*/ 172 w 219"/>
              <a:gd name="T27" fmla="*/ 114 h 290"/>
              <a:gd name="T28" fmla="*/ 31 w 219"/>
              <a:gd name="T29" fmla="*/ 152 h 290"/>
              <a:gd name="T30" fmla="*/ 43 w 219"/>
              <a:gd name="T31" fmla="*/ 112 h 290"/>
              <a:gd name="T32" fmla="*/ 115 w 219"/>
              <a:gd name="T33" fmla="*/ 109 h 290"/>
              <a:gd name="T34" fmla="*/ 164 w 219"/>
              <a:gd name="T35" fmla="*/ 112 h 290"/>
              <a:gd name="T36" fmla="*/ 73 w 219"/>
              <a:gd name="T37" fmla="*/ 83 h 290"/>
              <a:gd name="T38" fmla="*/ 83 w 219"/>
              <a:gd name="T39" fmla="*/ 131 h 290"/>
              <a:gd name="T40" fmla="*/ 77 w 219"/>
              <a:gd name="T41" fmla="*/ 82 h 290"/>
              <a:gd name="T42" fmla="*/ 175 w 219"/>
              <a:gd name="T43" fmla="*/ 108 h 290"/>
              <a:gd name="T44" fmla="*/ 196 w 219"/>
              <a:gd name="T45" fmla="*/ 90 h 290"/>
              <a:gd name="T46" fmla="*/ 82 w 219"/>
              <a:gd name="T47" fmla="*/ 77 h 290"/>
              <a:gd name="T48" fmla="*/ 129 w 219"/>
              <a:gd name="T49" fmla="*/ 85 h 290"/>
              <a:gd name="T50" fmla="*/ 174 w 219"/>
              <a:gd name="T51" fmla="*/ 51 h 290"/>
              <a:gd name="T52" fmla="*/ 156 w 219"/>
              <a:gd name="T53" fmla="*/ 96 h 290"/>
              <a:gd name="T54" fmla="*/ 178 w 219"/>
              <a:gd name="T55" fmla="*/ 77 h 290"/>
              <a:gd name="T56" fmla="*/ 43 w 219"/>
              <a:gd name="T57" fmla="*/ 51 h 290"/>
              <a:gd name="T58" fmla="*/ 49 w 219"/>
              <a:gd name="T59" fmla="*/ 104 h 290"/>
              <a:gd name="T60" fmla="*/ 184 w 219"/>
              <a:gd name="T61" fmla="*/ 41 h 290"/>
              <a:gd name="T62" fmla="*/ 202 w 219"/>
              <a:gd name="T63" fmla="*/ 89 h 290"/>
              <a:gd name="T64" fmla="*/ 112 w 219"/>
              <a:gd name="T65" fmla="*/ 205 h 290"/>
              <a:gd name="T66" fmla="*/ 41 w 219"/>
              <a:gd name="T67" fmla="*/ 183 h 290"/>
              <a:gd name="T68" fmla="*/ 137 w 219"/>
              <a:gd name="T69" fmla="*/ 209 h 290"/>
              <a:gd name="T70" fmla="*/ 201 w 219"/>
              <a:gd name="T71" fmla="*/ 64 h 290"/>
              <a:gd name="T72" fmla="*/ 118 w 219"/>
              <a:gd name="T73" fmla="*/ 49 h 290"/>
              <a:gd name="T74" fmla="*/ 138 w 219"/>
              <a:gd name="T75" fmla="*/ 76 h 290"/>
              <a:gd name="T76" fmla="*/ 92 w 219"/>
              <a:gd name="T77" fmla="*/ 23 h 290"/>
              <a:gd name="T78" fmla="*/ 75 w 219"/>
              <a:gd name="T79" fmla="*/ 71 h 290"/>
              <a:gd name="T80" fmla="*/ 95 w 219"/>
              <a:gd name="T81" fmla="*/ 23 h 290"/>
              <a:gd name="T82" fmla="*/ 110 w 219"/>
              <a:gd name="T83" fmla="*/ 43 h 290"/>
              <a:gd name="T84" fmla="*/ 151 w 219"/>
              <a:gd name="T85" fmla="*/ 32 h 290"/>
              <a:gd name="T86" fmla="*/ 219 w 219"/>
              <a:gd name="T87" fmla="*/ 12 h 290"/>
              <a:gd name="T88" fmla="*/ 195 w 219"/>
              <a:gd name="T89" fmla="*/ 30 h 290"/>
              <a:gd name="T90" fmla="*/ 219 w 219"/>
              <a:gd name="T91" fmla="*/ 101 h 290"/>
              <a:gd name="T92" fmla="*/ 118 w 219"/>
              <a:gd name="T93" fmla="*/ 219 h 290"/>
              <a:gd name="T94" fmla="*/ 126 w 219"/>
              <a:gd name="T95" fmla="*/ 243 h 290"/>
              <a:gd name="T96" fmla="*/ 118 w 219"/>
              <a:gd name="T97" fmla="*/ 266 h 290"/>
              <a:gd name="T98" fmla="*/ 183 w 219"/>
              <a:gd name="T99" fmla="*/ 290 h 290"/>
              <a:gd name="T100" fmla="*/ 77 w 219"/>
              <a:gd name="T101" fmla="*/ 269 h 290"/>
              <a:gd name="T102" fmla="*/ 95 w 219"/>
              <a:gd name="T103" fmla="*/ 251 h 290"/>
              <a:gd name="T104" fmla="*/ 103 w 219"/>
              <a:gd name="T105" fmla="*/ 220 h 290"/>
              <a:gd name="T106" fmla="*/ 30 w 219"/>
              <a:gd name="T107" fmla="*/ 193 h 290"/>
              <a:gd name="T108" fmla="*/ 20 w 219"/>
              <a:gd name="T109" fmla="*/ 219 h 290"/>
              <a:gd name="T110" fmla="*/ 13 w 219"/>
              <a:gd name="T111" fmla="*/ 188 h 290"/>
              <a:gd name="T112" fmla="*/ 37 w 219"/>
              <a:gd name="T113" fmla="*/ 173 h 290"/>
              <a:gd name="T114" fmla="*/ 62 w 219"/>
              <a:gd name="T115" fmla="*/ 27 h 290"/>
              <a:gd name="T116" fmla="*/ 177 w 219"/>
              <a:gd name="T117" fmla="*/ 39 h 290"/>
              <a:gd name="T118" fmla="*/ 192 w 219"/>
              <a:gd name="T119" fmla="*/ 6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9" h="290">
                <a:moveTo>
                  <a:pt x="106" y="175"/>
                </a:moveTo>
                <a:lnTo>
                  <a:pt x="104" y="175"/>
                </a:lnTo>
                <a:lnTo>
                  <a:pt x="87" y="183"/>
                </a:lnTo>
                <a:lnTo>
                  <a:pt x="68" y="187"/>
                </a:lnTo>
                <a:lnTo>
                  <a:pt x="68" y="187"/>
                </a:lnTo>
                <a:lnTo>
                  <a:pt x="67" y="188"/>
                </a:lnTo>
                <a:lnTo>
                  <a:pt x="68" y="188"/>
                </a:lnTo>
                <a:lnTo>
                  <a:pt x="90" y="196"/>
                </a:lnTo>
                <a:lnTo>
                  <a:pt x="113" y="198"/>
                </a:lnTo>
                <a:lnTo>
                  <a:pt x="114" y="198"/>
                </a:lnTo>
                <a:lnTo>
                  <a:pt x="115" y="196"/>
                </a:lnTo>
                <a:lnTo>
                  <a:pt x="115" y="195"/>
                </a:lnTo>
                <a:lnTo>
                  <a:pt x="113" y="186"/>
                </a:lnTo>
                <a:lnTo>
                  <a:pt x="108" y="177"/>
                </a:lnTo>
                <a:lnTo>
                  <a:pt x="108" y="177"/>
                </a:lnTo>
                <a:lnTo>
                  <a:pt x="106" y="175"/>
                </a:lnTo>
                <a:close/>
                <a:moveTo>
                  <a:pt x="142" y="150"/>
                </a:moveTo>
                <a:lnTo>
                  <a:pt x="141" y="150"/>
                </a:lnTo>
                <a:lnTo>
                  <a:pt x="115" y="170"/>
                </a:lnTo>
                <a:lnTo>
                  <a:pt x="114" y="172"/>
                </a:lnTo>
                <a:lnTo>
                  <a:pt x="114" y="174"/>
                </a:lnTo>
                <a:lnTo>
                  <a:pt x="123" y="195"/>
                </a:lnTo>
                <a:lnTo>
                  <a:pt x="124" y="197"/>
                </a:lnTo>
                <a:lnTo>
                  <a:pt x="126" y="197"/>
                </a:lnTo>
                <a:lnTo>
                  <a:pt x="147" y="189"/>
                </a:lnTo>
                <a:lnTo>
                  <a:pt x="168" y="177"/>
                </a:lnTo>
                <a:lnTo>
                  <a:pt x="168" y="175"/>
                </a:lnTo>
                <a:lnTo>
                  <a:pt x="168" y="174"/>
                </a:lnTo>
                <a:lnTo>
                  <a:pt x="168" y="173"/>
                </a:lnTo>
                <a:lnTo>
                  <a:pt x="145" y="150"/>
                </a:lnTo>
                <a:lnTo>
                  <a:pt x="143" y="150"/>
                </a:lnTo>
                <a:lnTo>
                  <a:pt x="142" y="150"/>
                </a:lnTo>
                <a:close/>
                <a:moveTo>
                  <a:pt x="81" y="143"/>
                </a:moveTo>
                <a:lnTo>
                  <a:pt x="80" y="143"/>
                </a:lnTo>
                <a:lnTo>
                  <a:pt x="52" y="172"/>
                </a:lnTo>
                <a:lnTo>
                  <a:pt x="52" y="174"/>
                </a:lnTo>
                <a:lnTo>
                  <a:pt x="52" y="175"/>
                </a:lnTo>
                <a:lnTo>
                  <a:pt x="53" y="177"/>
                </a:lnTo>
                <a:lnTo>
                  <a:pt x="64" y="179"/>
                </a:lnTo>
                <a:lnTo>
                  <a:pt x="77" y="179"/>
                </a:lnTo>
                <a:lnTo>
                  <a:pt x="90" y="175"/>
                </a:lnTo>
                <a:lnTo>
                  <a:pt x="100" y="170"/>
                </a:lnTo>
                <a:lnTo>
                  <a:pt x="101" y="169"/>
                </a:lnTo>
                <a:lnTo>
                  <a:pt x="103" y="168"/>
                </a:lnTo>
                <a:lnTo>
                  <a:pt x="101" y="166"/>
                </a:lnTo>
                <a:lnTo>
                  <a:pt x="85" y="143"/>
                </a:lnTo>
                <a:lnTo>
                  <a:pt x="83" y="143"/>
                </a:lnTo>
                <a:lnTo>
                  <a:pt x="81" y="143"/>
                </a:lnTo>
                <a:close/>
                <a:moveTo>
                  <a:pt x="52" y="117"/>
                </a:moveTo>
                <a:lnTo>
                  <a:pt x="50" y="118"/>
                </a:lnTo>
                <a:lnTo>
                  <a:pt x="49" y="119"/>
                </a:lnTo>
                <a:lnTo>
                  <a:pt x="44" y="129"/>
                </a:lnTo>
                <a:lnTo>
                  <a:pt x="40" y="142"/>
                </a:lnTo>
                <a:lnTo>
                  <a:pt x="40" y="155"/>
                </a:lnTo>
                <a:lnTo>
                  <a:pt x="43" y="166"/>
                </a:lnTo>
                <a:lnTo>
                  <a:pt x="44" y="168"/>
                </a:lnTo>
                <a:lnTo>
                  <a:pt x="45" y="168"/>
                </a:lnTo>
                <a:lnTo>
                  <a:pt x="48" y="168"/>
                </a:lnTo>
                <a:lnTo>
                  <a:pt x="76" y="140"/>
                </a:lnTo>
                <a:lnTo>
                  <a:pt x="76" y="138"/>
                </a:lnTo>
                <a:lnTo>
                  <a:pt x="76" y="136"/>
                </a:lnTo>
                <a:lnTo>
                  <a:pt x="76" y="135"/>
                </a:lnTo>
                <a:lnTo>
                  <a:pt x="53" y="118"/>
                </a:lnTo>
                <a:lnTo>
                  <a:pt x="52" y="117"/>
                </a:lnTo>
                <a:close/>
                <a:moveTo>
                  <a:pt x="110" y="115"/>
                </a:moveTo>
                <a:lnTo>
                  <a:pt x="109" y="115"/>
                </a:lnTo>
                <a:lnTo>
                  <a:pt x="108" y="117"/>
                </a:lnTo>
                <a:lnTo>
                  <a:pt x="89" y="135"/>
                </a:lnTo>
                <a:lnTo>
                  <a:pt x="89" y="136"/>
                </a:lnTo>
                <a:lnTo>
                  <a:pt x="89" y="138"/>
                </a:lnTo>
                <a:lnTo>
                  <a:pt x="89" y="140"/>
                </a:lnTo>
                <a:lnTo>
                  <a:pt x="108" y="164"/>
                </a:lnTo>
                <a:lnTo>
                  <a:pt x="109" y="164"/>
                </a:lnTo>
                <a:lnTo>
                  <a:pt x="110" y="165"/>
                </a:lnTo>
                <a:lnTo>
                  <a:pt x="112" y="164"/>
                </a:lnTo>
                <a:lnTo>
                  <a:pt x="136" y="146"/>
                </a:lnTo>
                <a:lnTo>
                  <a:pt x="137" y="145"/>
                </a:lnTo>
                <a:lnTo>
                  <a:pt x="137" y="142"/>
                </a:lnTo>
                <a:lnTo>
                  <a:pt x="136" y="141"/>
                </a:lnTo>
                <a:lnTo>
                  <a:pt x="112" y="117"/>
                </a:lnTo>
                <a:lnTo>
                  <a:pt x="110" y="115"/>
                </a:lnTo>
                <a:close/>
                <a:moveTo>
                  <a:pt x="172" y="114"/>
                </a:moveTo>
                <a:lnTo>
                  <a:pt x="169" y="115"/>
                </a:lnTo>
                <a:lnTo>
                  <a:pt x="150" y="141"/>
                </a:lnTo>
                <a:lnTo>
                  <a:pt x="149" y="142"/>
                </a:lnTo>
                <a:lnTo>
                  <a:pt x="149" y="145"/>
                </a:lnTo>
                <a:lnTo>
                  <a:pt x="150" y="146"/>
                </a:lnTo>
                <a:lnTo>
                  <a:pt x="172" y="168"/>
                </a:lnTo>
                <a:lnTo>
                  <a:pt x="173" y="169"/>
                </a:lnTo>
                <a:lnTo>
                  <a:pt x="174" y="169"/>
                </a:lnTo>
                <a:lnTo>
                  <a:pt x="175" y="169"/>
                </a:lnTo>
                <a:lnTo>
                  <a:pt x="177" y="168"/>
                </a:lnTo>
                <a:lnTo>
                  <a:pt x="189" y="149"/>
                </a:lnTo>
                <a:lnTo>
                  <a:pt x="196" y="127"/>
                </a:lnTo>
                <a:lnTo>
                  <a:pt x="196" y="124"/>
                </a:lnTo>
                <a:lnTo>
                  <a:pt x="195" y="123"/>
                </a:lnTo>
                <a:lnTo>
                  <a:pt x="173" y="114"/>
                </a:lnTo>
                <a:lnTo>
                  <a:pt x="172" y="114"/>
                </a:lnTo>
                <a:close/>
                <a:moveTo>
                  <a:pt x="25" y="104"/>
                </a:moveTo>
                <a:lnTo>
                  <a:pt x="23" y="104"/>
                </a:lnTo>
                <a:lnTo>
                  <a:pt x="21" y="105"/>
                </a:lnTo>
                <a:lnTo>
                  <a:pt x="21" y="106"/>
                </a:lnTo>
                <a:lnTo>
                  <a:pt x="23" y="129"/>
                </a:lnTo>
                <a:lnTo>
                  <a:pt x="31" y="151"/>
                </a:lnTo>
                <a:lnTo>
                  <a:pt x="31" y="152"/>
                </a:lnTo>
                <a:lnTo>
                  <a:pt x="32" y="151"/>
                </a:lnTo>
                <a:lnTo>
                  <a:pt x="32" y="151"/>
                </a:lnTo>
                <a:lnTo>
                  <a:pt x="36" y="132"/>
                </a:lnTo>
                <a:lnTo>
                  <a:pt x="44" y="115"/>
                </a:lnTo>
                <a:lnTo>
                  <a:pt x="44" y="113"/>
                </a:lnTo>
                <a:lnTo>
                  <a:pt x="43" y="112"/>
                </a:lnTo>
                <a:lnTo>
                  <a:pt x="43" y="112"/>
                </a:lnTo>
                <a:lnTo>
                  <a:pt x="34" y="106"/>
                </a:lnTo>
                <a:lnTo>
                  <a:pt x="25" y="104"/>
                </a:lnTo>
                <a:close/>
                <a:moveTo>
                  <a:pt x="137" y="89"/>
                </a:moveTo>
                <a:lnTo>
                  <a:pt x="136" y="89"/>
                </a:lnTo>
                <a:lnTo>
                  <a:pt x="135" y="90"/>
                </a:lnTo>
                <a:lnTo>
                  <a:pt x="117" y="108"/>
                </a:lnTo>
                <a:lnTo>
                  <a:pt x="115" y="109"/>
                </a:lnTo>
                <a:lnTo>
                  <a:pt x="115" y="110"/>
                </a:lnTo>
                <a:lnTo>
                  <a:pt x="117" y="112"/>
                </a:lnTo>
                <a:lnTo>
                  <a:pt x="141" y="137"/>
                </a:lnTo>
                <a:lnTo>
                  <a:pt x="142" y="137"/>
                </a:lnTo>
                <a:lnTo>
                  <a:pt x="145" y="137"/>
                </a:lnTo>
                <a:lnTo>
                  <a:pt x="164" y="113"/>
                </a:lnTo>
                <a:lnTo>
                  <a:pt x="164" y="112"/>
                </a:lnTo>
                <a:lnTo>
                  <a:pt x="164" y="109"/>
                </a:lnTo>
                <a:lnTo>
                  <a:pt x="163" y="109"/>
                </a:lnTo>
                <a:lnTo>
                  <a:pt x="138" y="90"/>
                </a:lnTo>
                <a:lnTo>
                  <a:pt x="137" y="89"/>
                </a:lnTo>
                <a:close/>
                <a:moveTo>
                  <a:pt x="77" y="82"/>
                </a:moveTo>
                <a:lnTo>
                  <a:pt x="75" y="82"/>
                </a:lnTo>
                <a:lnTo>
                  <a:pt x="73" y="83"/>
                </a:lnTo>
                <a:lnTo>
                  <a:pt x="55" y="108"/>
                </a:lnTo>
                <a:lnTo>
                  <a:pt x="54" y="109"/>
                </a:lnTo>
                <a:lnTo>
                  <a:pt x="55" y="110"/>
                </a:lnTo>
                <a:lnTo>
                  <a:pt x="55" y="112"/>
                </a:lnTo>
                <a:lnTo>
                  <a:pt x="80" y="131"/>
                </a:lnTo>
                <a:lnTo>
                  <a:pt x="81" y="131"/>
                </a:lnTo>
                <a:lnTo>
                  <a:pt x="83" y="131"/>
                </a:lnTo>
                <a:lnTo>
                  <a:pt x="85" y="131"/>
                </a:lnTo>
                <a:lnTo>
                  <a:pt x="103" y="112"/>
                </a:lnTo>
                <a:lnTo>
                  <a:pt x="104" y="110"/>
                </a:lnTo>
                <a:lnTo>
                  <a:pt x="104" y="109"/>
                </a:lnTo>
                <a:lnTo>
                  <a:pt x="103" y="108"/>
                </a:lnTo>
                <a:lnTo>
                  <a:pt x="78" y="83"/>
                </a:lnTo>
                <a:lnTo>
                  <a:pt x="77" y="82"/>
                </a:lnTo>
                <a:close/>
                <a:moveTo>
                  <a:pt x="187" y="68"/>
                </a:moveTo>
                <a:lnTo>
                  <a:pt x="186" y="68"/>
                </a:lnTo>
                <a:lnTo>
                  <a:pt x="186" y="69"/>
                </a:lnTo>
                <a:lnTo>
                  <a:pt x="183" y="87"/>
                </a:lnTo>
                <a:lnTo>
                  <a:pt x="175" y="105"/>
                </a:lnTo>
                <a:lnTo>
                  <a:pt x="175" y="106"/>
                </a:lnTo>
                <a:lnTo>
                  <a:pt x="175" y="108"/>
                </a:lnTo>
                <a:lnTo>
                  <a:pt x="177" y="109"/>
                </a:lnTo>
                <a:lnTo>
                  <a:pt x="186" y="113"/>
                </a:lnTo>
                <a:lnTo>
                  <a:pt x="195" y="117"/>
                </a:lnTo>
                <a:lnTo>
                  <a:pt x="196" y="117"/>
                </a:lnTo>
                <a:lnTo>
                  <a:pt x="197" y="115"/>
                </a:lnTo>
                <a:lnTo>
                  <a:pt x="197" y="114"/>
                </a:lnTo>
                <a:lnTo>
                  <a:pt x="196" y="90"/>
                </a:lnTo>
                <a:lnTo>
                  <a:pt x="187" y="68"/>
                </a:lnTo>
                <a:lnTo>
                  <a:pt x="187" y="68"/>
                </a:lnTo>
                <a:close/>
                <a:moveTo>
                  <a:pt x="108" y="55"/>
                </a:moveTo>
                <a:lnTo>
                  <a:pt x="106" y="55"/>
                </a:lnTo>
                <a:lnTo>
                  <a:pt x="82" y="74"/>
                </a:lnTo>
                <a:lnTo>
                  <a:pt x="82" y="76"/>
                </a:lnTo>
                <a:lnTo>
                  <a:pt x="82" y="77"/>
                </a:lnTo>
                <a:lnTo>
                  <a:pt x="82" y="77"/>
                </a:lnTo>
                <a:lnTo>
                  <a:pt x="82" y="78"/>
                </a:lnTo>
                <a:lnTo>
                  <a:pt x="108" y="103"/>
                </a:lnTo>
                <a:lnTo>
                  <a:pt x="109" y="104"/>
                </a:lnTo>
                <a:lnTo>
                  <a:pt x="110" y="104"/>
                </a:lnTo>
                <a:lnTo>
                  <a:pt x="112" y="103"/>
                </a:lnTo>
                <a:lnTo>
                  <a:pt x="129" y="85"/>
                </a:lnTo>
                <a:lnTo>
                  <a:pt x="131" y="83"/>
                </a:lnTo>
                <a:lnTo>
                  <a:pt x="131" y="82"/>
                </a:lnTo>
                <a:lnTo>
                  <a:pt x="129" y="81"/>
                </a:lnTo>
                <a:lnTo>
                  <a:pt x="110" y="57"/>
                </a:lnTo>
                <a:lnTo>
                  <a:pt x="109" y="55"/>
                </a:lnTo>
                <a:lnTo>
                  <a:pt x="108" y="55"/>
                </a:lnTo>
                <a:close/>
                <a:moveTo>
                  <a:pt x="174" y="51"/>
                </a:moveTo>
                <a:lnTo>
                  <a:pt x="173" y="51"/>
                </a:lnTo>
                <a:lnTo>
                  <a:pt x="172" y="53"/>
                </a:lnTo>
                <a:lnTo>
                  <a:pt x="143" y="81"/>
                </a:lnTo>
                <a:lnTo>
                  <a:pt x="142" y="83"/>
                </a:lnTo>
                <a:lnTo>
                  <a:pt x="145" y="86"/>
                </a:lnTo>
                <a:lnTo>
                  <a:pt x="150" y="91"/>
                </a:lnTo>
                <a:lnTo>
                  <a:pt x="156" y="96"/>
                </a:lnTo>
                <a:lnTo>
                  <a:pt x="161" y="100"/>
                </a:lnTo>
                <a:lnTo>
                  <a:pt x="165" y="103"/>
                </a:lnTo>
                <a:lnTo>
                  <a:pt x="166" y="103"/>
                </a:lnTo>
                <a:lnTo>
                  <a:pt x="169" y="103"/>
                </a:lnTo>
                <a:lnTo>
                  <a:pt x="170" y="101"/>
                </a:lnTo>
                <a:lnTo>
                  <a:pt x="174" y="90"/>
                </a:lnTo>
                <a:lnTo>
                  <a:pt x="178" y="77"/>
                </a:lnTo>
                <a:lnTo>
                  <a:pt x="179" y="64"/>
                </a:lnTo>
                <a:lnTo>
                  <a:pt x="177" y="53"/>
                </a:lnTo>
                <a:lnTo>
                  <a:pt x="175" y="53"/>
                </a:lnTo>
                <a:lnTo>
                  <a:pt x="174" y="51"/>
                </a:lnTo>
                <a:close/>
                <a:moveTo>
                  <a:pt x="45" y="51"/>
                </a:moveTo>
                <a:lnTo>
                  <a:pt x="44" y="51"/>
                </a:lnTo>
                <a:lnTo>
                  <a:pt x="43" y="51"/>
                </a:lnTo>
                <a:lnTo>
                  <a:pt x="30" y="72"/>
                </a:lnTo>
                <a:lnTo>
                  <a:pt x="22" y="94"/>
                </a:lnTo>
                <a:lnTo>
                  <a:pt x="22" y="95"/>
                </a:lnTo>
                <a:lnTo>
                  <a:pt x="25" y="96"/>
                </a:lnTo>
                <a:lnTo>
                  <a:pt x="45" y="105"/>
                </a:lnTo>
                <a:lnTo>
                  <a:pt x="48" y="105"/>
                </a:lnTo>
                <a:lnTo>
                  <a:pt x="49" y="104"/>
                </a:lnTo>
                <a:lnTo>
                  <a:pt x="69" y="78"/>
                </a:lnTo>
                <a:lnTo>
                  <a:pt x="69" y="77"/>
                </a:lnTo>
                <a:lnTo>
                  <a:pt x="69" y="76"/>
                </a:lnTo>
                <a:lnTo>
                  <a:pt x="69" y="74"/>
                </a:lnTo>
                <a:lnTo>
                  <a:pt x="46" y="51"/>
                </a:lnTo>
                <a:lnTo>
                  <a:pt x="45" y="51"/>
                </a:lnTo>
                <a:close/>
                <a:moveTo>
                  <a:pt x="184" y="41"/>
                </a:moveTo>
                <a:lnTo>
                  <a:pt x="183" y="41"/>
                </a:lnTo>
                <a:lnTo>
                  <a:pt x="182" y="43"/>
                </a:lnTo>
                <a:lnTo>
                  <a:pt x="181" y="43"/>
                </a:lnTo>
                <a:lnTo>
                  <a:pt x="181" y="45"/>
                </a:lnTo>
                <a:lnTo>
                  <a:pt x="181" y="48"/>
                </a:lnTo>
                <a:lnTo>
                  <a:pt x="195" y="67"/>
                </a:lnTo>
                <a:lnTo>
                  <a:pt x="202" y="89"/>
                </a:lnTo>
                <a:lnTo>
                  <a:pt x="205" y="112"/>
                </a:lnTo>
                <a:lnTo>
                  <a:pt x="201" y="135"/>
                </a:lnTo>
                <a:lnTo>
                  <a:pt x="192" y="158"/>
                </a:lnTo>
                <a:lnTo>
                  <a:pt x="177" y="177"/>
                </a:lnTo>
                <a:lnTo>
                  <a:pt x="158" y="192"/>
                </a:lnTo>
                <a:lnTo>
                  <a:pt x="136" y="201"/>
                </a:lnTo>
                <a:lnTo>
                  <a:pt x="112" y="205"/>
                </a:lnTo>
                <a:lnTo>
                  <a:pt x="89" y="203"/>
                </a:lnTo>
                <a:lnTo>
                  <a:pt x="67" y="195"/>
                </a:lnTo>
                <a:lnTo>
                  <a:pt x="46" y="182"/>
                </a:lnTo>
                <a:lnTo>
                  <a:pt x="44" y="181"/>
                </a:lnTo>
                <a:lnTo>
                  <a:pt x="43" y="182"/>
                </a:lnTo>
                <a:lnTo>
                  <a:pt x="41" y="183"/>
                </a:lnTo>
                <a:lnTo>
                  <a:pt x="41" y="183"/>
                </a:lnTo>
                <a:lnTo>
                  <a:pt x="40" y="184"/>
                </a:lnTo>
                <a:lnTo>
                  <a:pt x="41" y="186"/>
                </a:lnTo>
                <a:lnTo>
                  <a:pt x="41" y="187"/>
                </a:lnTo>
                <a:lnTo>
                  <a:pt x="63" y="201"/>
                </a:lnTo>
                <a:lnTo>
                  <a:pt x="87" y="210"/>
                </a:lnTo>
                <a:lnTo>
                  <a:pt x="113" y="212"/>
                </a:lnTo>
                <a:lnTo>
                  <a:pt x="137" y="209"/>
                </a:lnTo>
                <a:lnTo>
                  <a:pt x="160" y="198"/>
                </a:lnTo>
                <a:lnTo>
                  <a:pt x="182" y="182"/>
                </a:lnTo>
                <a:lnTo>
                  <a:pt x="198" y="161"/>
                </a:lnTo>
                <a:lnTo>
                  <a:pt x="207" y="138"/>
                </a:lnTo>
                <a:lnTo>
                  <a:pt x="211" y="113"/>
                </a:lnTo>
                <a:lnTo>
                  <a:pt x="209" y="89"/>
                </a:lnTo>
                <a:lnTo>
                  <a:pt x="201" y="64"/>
                </a:lnTo>
                <a:lnTo>
                  <a:pt x="186" y="43"/>
                </a:lnTo>
                <a:lnTo>
                  <a:pt x="186" y="41"/>
                </a:lnTo>
                <a:lnTo>
                  <a:pt x="184" y="41"/>
                </a:lnTo>
                <a:close/>
                <a:moveTo>
                  <a:pt x="155" y="40"/>
                </a:moveTo>
                <a:lnTo>
                  <a:pt x="142" y="41"/>
                </a:lnTo>
                <a:lnTo>
                  <a:pt x="129" y="45"/>
                </a:lnTo>
                <a:lnTo>
                  <a:pt x="118" y="49"/>
                </a:lnTo>
                <a:lnTo>
                  <a:pt x="117" y="50"/>
                </a:lnTo>
                <a:lnTo>
                  <a:pt x="117" y="53"/>
                </a:lnTo>
                <a:lnTo>
                  <a:pt x="117" y="54"/>
                </a:lnTo>
                <a:lnTo>
                  <a:pt x="135" y="76"/>
                </a:lnTo>
                <a:lnTo>
                  <a:pt x="136" y="77"/>
                </a:lnTo>
                <a:lnTo>
                  <a:pt x="137" y="77"/>
                </a:lnTo>
                <a:lnTo>
                  <a:pt x="138" y="76"/>
                </a:lnTo>
                <a:lnTo>
                  <a:pt x="166" y="48"/>
                </a:lnTo>
                <a:lnTo>
                  <a:pt x="168" y="46"/>
                </a:lnTo>
                <a:lnTo>
                  <a:pt x="168" y="45"/>
                </a:lnTo>
                <a:lnTo>
                  <a:pt x="166" y="44"/>
                </a:lnTo>
                <a:lnTo>
                  <a:pt x="166" y="43"/>
                </a:lnTo>
                <a:lnTo>
                  <a:pt x="155" y="40"/>
                </a:lnTo>
                <a:close/>
                <a:moveTo>
                  <a:pt x="92" y="23"/>
                </a:moveTo>
                <a:lnTo>
                  <a:pt x="71" y="30"/>
                </a:lnTo>
                <a:lnTo>
                  <a:pt x="52" y="43"/>
                </a:lnTo>
                <a:lnTo>
                  <a:pt x="50" y="44"/>
                </a:lnTo>
                <a:lnTo>
                  <a:pt x="50" y="46"/>
                </a:lnTo>
                <a:lnTo>
                  <a:pt x="52" y="48"/>
                </a:lnTo>
                <a:lnTo>
                  <a:pt x="73" y="69"/>
                </a:lnTo>
                <a:lnTo>
                  <a:pt x="75" y="71"/>
                </a:lnTo>
                <a:lnTo>
                  <a:pt x="77" y="71"/>
                </a:lnTo>
                <a:lnTo>
                  <a:pt x="78" y="69"/>
                </a:lnTo>
                <a:lnTo>
                  <a:pt x="104" y="50"/>
                </a:lnTo>
                <a:lnTo>
                  <a:pt x="105" y="48"/>
                </a:lnTo>
                <a:lnTo>
                  <a:pt x="105" y="46"/>
                </a:lnTo>
                <a:lnTo>
                  <a:pt x="96" y="25"/>
                </a:lnTo>
                <a:lnTo>
                  <a:pt x="95" y="23"/>
                </a:lnTo>
                <a:lnTo>
                  <a:pt x="92" y="23"/>
                </a:lnTo>
                <a:close/>
                <a:moveTo>
                  <a:pt x="105" y="22"/>
                </a:moveTo>
                <a:lnTo>
                  <a:pt x="104" y="22"/>
                </a:lnTo>
                <a:lnTo>
                  <a:pt x="103" y="23"/>
                </a:lnTo>
                <a:lnTo>
                  <a:pt x="103" y="25"/>
                </a:lnTo>
                <a:lnTo>
                  <a:pt x="106" y="34"/>
                </a:lnTo>
                <a:lnTo>
                  <a:pt x="110" y="43"/>
                </a:lnTo>
                <a:lnTo>
                  <a:pt x="112" y="44"/>
                </a:lnTo>
                <a:lnTo>
                  <a:pt x="113" y="44"/>
                </a:lnTo>
                <a:lnTo>
                  <a:pt x="114" y="44"/>
                </a:lnTo>
                <a:lnTo>
                  <a:pt x="132" y="36"/>
                </a:lnTo>
                <a:lnTo>
                  <a:pt x="150" y="34"/>
                </a:lnTo>
                <a:lnTo>
                  <a:pt x="151" y="34"/>
                </a:lnTo>
                <a:lnTo>
                  <a:pt x="151" y="32"/>
                </a:lnTo>
                <a:lnTo>
                  <a:pt x="151" y="32"/>
                </a:lnTo>
                <a:lnTo>
                  <a:pt x="129" y="23"/>
                </a:lnTo>
                <a:lnTo>
                  <a:pt x="105" y="22"/>
                </a:lnTo>
                <a:close/>
                <a:moveTo>
                  <a:pt x="198" y="0"/>
                </a:moveTo>
                <a:lnTo>
                  <a:pt x="207" y="0"/>
                </a:lnTo>
                <a:lnTo>
                  <a:pt x="214" y="6"/>
                </a:lnTo>
                <a:lnTo>
                  <a:pt x="219" y="12"/>
                </a:lnTo>
                <a:lnTo>
                  <a:pt x="219" y="21"/>
                </a:lnTo>
                <a:lnTo>
                  <a:pt x="214" y="27"/>
                </a:lnTo>
                <a:lnTo>
                  <a:pt x="210" y="31"/>
                </a:lnTo>
                <a:lnTo>
                  <a:pt x="206" y="32"/>
                </a:lnTo>
                <a:lnTo>
                  <a:pt x="201" y="32"/>
                </a:lnTo>
                <a:lnTo>
                  <a:pt x="196" y="31"/>
                </a:lnTo>
                <a:lnTo>
                  <a:pt x="195" y="30"/>
                </a:lnTo>
                <a:lnTo>
                  <a:pt x="193" y="31"/>
                </a:lnTo>
                <a:lnTo>
                  <a:pt x="191" y="34"/>
                </a:lnTo>
                <a:lnTo>
                  <a:pt x="189" y="35"/>
                </a:lnTo>
                <a:lnTo>
                  <a:pt x="191" y="37"/>
                </a:lnTo>
                <a:lnTo>
                  <a:pt x="205" y="57"/>
                </a:lnTo>
                <a:lnTo>
                  <a:pt x="214" y="78"/>
                </a:lnTo>
                <a:lnTo>
                  <a:pt x="219" y="101"/>
                </a:lnTo>
                <a:lnTo>
                  <a:pt x="218" y="124"/>
                </a:lnTo>
                <a:lnTo>
                  <a:pt x="212" y="147"/>
                </a:lnTo>
                <a:lnTo>
                  <a:pt x="202" y="168"/>
                </a:lnTo>
                <a:lnTo>
                  <a:pt x="187" y="187"/>
                </a:lnTo>
                <a:lnTo>
                  <a:pt x="165" y="203"/>
                </a:lnTo>
                <a:lnTo>
                  <a:pt x="142" y="214"/>
                </a:lnTo>
                <a:lnTo>
                  <a:pt x="118" y="219"/>
                </a:lnTo>
                <a:lnTo>
                  <a:pt x="115" y="220"/>
                </a:lnTo>
                <a:lnTo>
                  <a:pt x="115" y="221"/>
                </a:lnTo>
                <a:lnTo>
                  <a:pt x="115" y="225"/>
                </a:lnTo>
                <a:lnTo>
                  <a:pt x="115" y="228"/>
                </a:lnTo>
                <a:lnTo>
                  <a:pt x="117" y="228"/>
                </a:lnTo>
                <a:lnTo>
                  <a:pt x="123" y="234"/>
                </a:lnTo>
                <a:lnTo>
                  <a:pt x="126" y="243"/>
                </a:lnTo>
                <a:lnTo>
                  <a:pt x="123" y="251"/>
                </a:lnTo>
                <a:lnTo>
                  <a:pt x="117" y="257"/>
                </a:lnTo>
                <a:lnTo>
                  <a:pt x="115" y="257"/>
                </a:lnTo>
                <a:lnTo>
                  <a:pt x="115" y="260"/>
                </a:lnTo>
                <a:lnTo>
                  <a:pt x="115" y="264"/>
                </a:lnTo>
                <a:lnTo>
                  <a:pt x="115" y="265"/>
                </a:lnTo>
                <a:lnTo>
                  <a:pt x="118" y="266"/>
                </a:lnTo>
                <a:lnTo>
                  <a:pt x="141" y="269"/>
                </a:lnTo>
                <a:lnTo>
                  <a:pt x="164" y="275"/>
                </a:lnTo>
                <a:lnTo>
                  <a:pt x="184" y="285"/>
                </a:lnTo>
                <a:lnTo>
                  <a:pt x="186" y="287"/>
                </a:lnTo>
                <a:lnTo>
                  <a:pt x="186" y="288"/>
                </a:lnTo>
                <a:lnTo>
                  <a:pt x="184" y="290"/>
                </a:lnTo>
                <a:lnTo>
                  <a:pt x="183" y="290"/>
                </a:lnTo>
                <a:lnTo>
                  <a:pt x="35" y="290"/>
                </a:lnTo>
                <a:lnTo>
                  <a:pt x="34" y="290"/>
                </a:lnTo>
                <a:lnTo>
                  <a:pt x="32" y="288"/>
                </a:lnTo>
                <a:lnTo>
                  <a:pt x="32" y="287"/>
                </a:lnTo>
                <a:lnTo>
                  <a:pt x="34" y="285"/>
                </a:lnTo>
                <a:lnTo>
                  <a:pt x="55" y="275"/>
                </a:lnTo>
                <a:lnTo>
                  <a:pt x="77" y="269"/>
                </a:lnTo>
                <a:lnTo>
                  <a:pt x="100" y="266"/>
                </a:lnTo>
                <a:lnTo>
                  <a:pt x="103" y="265"/>
                </a:lnTo>
                <a:lnTo>
                  <a:pt x="104" y="264"/>
                </a:lnTo>
                <a:lnTo>
                  <a:pt x="104" y="260"/>
                </a:lnTo>
                <a:lnTo>
                  <a:pt x="103" y="257"/>
                </a:lnTo>
                <a:lnTo>
                  <a:pt x="101" y="257"/>
                </a:lnTo>
                <a:lnTo>
                  <a:pt x="95" y="251"/>
                </a:lnTo>
                <a:lnTo>
                  <a:pt x="94" y="243"/>
                </a:lnTo>
                <a:lnTo>
                  <a:pt x="95" y="234"/>
                </a:lnTo>
                <a:lnTo>
                  <a:pt x="101" y="228"/>
                </a:lnTo>
                <a:lnTo>
                  <a:pt x="103" y="228"/>
                </a:lnTo>
                <a:lnTo>
                  <a:pt x="104" y="225"/>
                </a:lnTo>
                <a:lnTo>
                  <a:pt x="104" y="221"/>
                </a:lnTo>
                <a:lnTo>
                  <a:pt x="103" y="220"/>
                </a:lnTo>
                <a:lnTo>
                  <a:pt x="101" y="219"/>
                </a:lnTo>
                <a:lnTo>
                  <a:pt x="78" y="215"/>
                </a:lnTo>
                <a:lnTo>
                  <a:pt x="57" y="206"/>
                </a:lnTo>
                <a:lnTo>
                  <a:pt x="36" y="192"/>
                </a:lnTo>
                <a:lnTo>
                  <a:pt x="35" y="191"/>
                </a:lnTo>
                <a:lnTo>
                  <a:pt x="32" y="192"/>
                </a:lnTo>
                <a:lnTo>
                  <a:pt x="30" y="193"/>
                </a:lnTo>
                <a:lnTo>
                  <a:pt x="30" y="196"/>
                </a:lnTo>
                <a:lnTo>
                  <a:pt x="30" y="197"/>
                </a:lnTo>
                <a:lnTo>
                  <a:pt x="31" y="202"/>
                </a:lnTo>
                <a:lnTo>
                  <a:pt x="31" y="206"/>
                </a:lnTo>
                <a:lnTo>
                  <a:pt x="30" y="211"/>
                </a:lnTo>
                <a:lnTo>
                  <a:pt x="27" y="215"/>
                </a:lnTo>
                <a:lnTo>
                  <a:pt x="20" y="219"/>
                </a:lnTo>
                <a:lnTo>
                  <a:pt x="12" y="219"/>
                </a:lnTo>
                <a:lnTo>
                  <a:pt x="4" y="215"/>
                </a:lnTo>
                <a:lnTo>
                  <a:pt x="0" y="207"/>
                </a:lnTo>
                <a:lnTo>
                  <a:pt x="0" y="200"/>
                </a:lnTo>
                <a:lnTo>
                  <a:pt x="4" y="192"/>
                </a:lnTo>
                <a:lnTo>
                  <a:pt x="8" y="189"/>
                </a:lnTo>
                <a:lnTo>
                  <a:pt x="13" y="188"/>
                </a:lnTo>
                <a:lnTo>
                  <a:pt x="17" y="188"/>
                </a:lnTo>
                <a:lnTo>
                  <a:pt x="22" y="189"/>
                </a:lnTo>
                <a:lnTo>
                  <a:pt x="23" y="189"/>
                </a:lnTo>
                <a:lnTo>
                  <a:pt x="26" y="189"/>
                </a:lnTo>
                <a:lnTo>
                  <a:pt x="37" y="177"/>
                </a:lnTo>
                <a:lnTo>
                  <a:pt x="39" y="175"/>
                </a:lnTo>
                <a:lnTo>
                  <a:pt x="37" y="173"/>
                </a:lnTo>
                <a:lnTo>
                  <a:pt x="25" y="152"/>
                </a:lnTo>
                <a:lnTo>
                  <a:pt x="16" y="131"/>
                </a:lnTo>
                <a:lnTo>
                  <a:pt x="14" y="108"/>
                </a:lnTo>
                <a:lnTo>
                  <a:pt x="18" y="83"/>
                </a:lnTo>
                <a:lnTo>
                  <a:pt x="27" y="62"/>
                </a:lnTo>
                <a:lnTo>
                  <a:pt x="43" y="43"/>
                </a:lnTo>
                <a:lnTo>
                  <a:pt x="62" y="27"/>
                </a:lnTo>
                <a:lnTo>
                  <a:pt x="85" y="18"/>
                </a:lnTo>
                <a:lnTo>
                  <a:pt x="108" y="14"/>
                </a:lnTo>
                <a:lnTo>
                  <a:pt x="131" y="17"/>
                </a:lnTo>
                <a:lnTo>
                  <a:pt x="152" y="25"/>
                </a:lnTo>
                <a:lnTo>
                  <a:pt x="172" y="39"/>
                </a:lnTo>
                <a:lnTo>
                  <a:pt x="174" y="39"/>
                </a:lnTo>
                <a:lnTo>
                  <a:pt x="177" y="39"/>
                </a:lnTo>
                <a:lnTo>
                  <a:pt x="188" y="26"/>
                </a:lnTo>
                <a:lnTo>
                  <a:pt x="189" y="25"/>
                </a:lnTo>
                <a:lnTo>
                  <a:pt x="188" y="23"/>
                </a:lnTo>
                <a:lnTo>
                  <a:pt x="187" y="18"/>
                </a:lnTo>
                <a:lnTo>
                  <a:pt x="187" y="13"/>
                </a:lnTo>
                <a:lnTo>
                  <a:pt x="188" y="9"/>
                </a:lnTo>
                <a:lnTo>
                  <a:pt x="192" y="6"/>
                </a:lnTo>
                <a:lnTo>
                  <a:pt x="198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4400">
              <a:defRPr/>
            </a:pP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 descr="傲梦LOGO蓝蓝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966960" y="189230"/>
            <a:ext cx="1746885" cy="49339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351809" y="2890839"/>
            <a:ext cx="7893050" cy="893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广度优先搜索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33106" y="2870791"/>
            <a:ext cx="8654903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什么是广度优先搜索？</a:t>
            </a:r>
            <a:endParaRPr lang="en-US" altLang="zh-CN" sz="4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829339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定义</a:t>
            </a:r>
            <a:endParaRPr lang="zh-CN" altLang="en-US" sz="28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广度优先搜索（也称宽度优先搜索，缩写</a:t>
            </a:r>
            <a:r>
              <a:rPr lang="zh-CN" altLang="en-US" b="1" dirty="0">
                <a:solidFill>
                  <a:srgbClr val="FF0000"/>
                </a:solidFill>
              </a:rPr>
              <a:t>BFS</a:t>
            </a:r>
            <a:r>
              <a:rPr lang="zh-CN" altLang="en-US" dirty="0"/>
              <a:t>，以下采用广度来描述）是</a:t>
            </a:r>
            <a:r>
              <a:rPr lang="zh-CN" altLang="en-US" b="1" dirty="0">
                <a:solidFill>
                  <a:srgbClr val="FF0000"/>
                </a:solidFill>
              </a:rPr>
              <a:t>连通图</a:t>
            </a:r>
            <a:r>
              <a:rPr lang="zh-CN" altLang="en-US" dirty="0"/>
              <a:t>的一种遍历策略。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因为它的思想是从一个顶点V0开始，辐射状地优先遍历其周围较广的区域，故而得名 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思考：</a:t>
            </a:r>
            <a:r>
              <a:rPr lang="zh-CN" altLang="en-US" dirty="0">
                <a:sym typeface="+mn-ea"/>
              </a:rPr>
              <a:t>广度优先搜索</a:t>
            </a:r>
            <a:r>
              <a:rPr lang="zh-CN" altLang="en-US" dirty="0"/>
              <a:t>可以用它做什么呢？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一个最直观经典的例子就是走迷宫，我们从起点开始，找出到终点的最短路程，很多最短路径算法就是基于广度优先的思想成立的。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6425" y="3343910"/>
            <a:ext cx="6805930" cy="2431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  <a:p>
            <a:r>
              <a:rPr lang="zh-CN" altLang="en-US" b="1" dirty="0"/>
              <a:t>要求找到V0到V6的一条最短路（假设走一个节点按一步来算）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明显看出这条路径就是V0-&gt;V2-&gt;V6，而不是V0-&gt;V3-&gt;V5-&gt;V6。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0480" y="3572510"/>
            <a:ext cx="7655560" cy="2734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284118"/>
            <a:ext cx="10632557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采用示例图来说明这个过程，在搜索的过程中，初始所有节点是白色（代表了所有点都还没开始搜索），把起点V0标志成灰色（表示即将辐射V0），下一步搜索的时候，我们把所有的灰色节点访问一次，然后将其变成黑色（表示已经被辐射过了），进而再将他们所能到达的节点标志成灰色（因为那些节点是下一步搜索的目标点了），但是这里有个判断，就像刚刚的例子，当访问到V1节点的时候，它的下一个节点应该是V0和V4，但是V0已经在前面被染成黑色了，所以不会将它染灰色。这样持续下去，直到目标节点V6被染灰色，说明了下一步就到终点了，没必要再搜索（染色）其他节点了，此时可以结束搜索了，整个搜索就结束了。然后根据搜索过程，反过来把最短路径找出来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0" y="4813300"/>
            <a:ext cx="4828540" cy="1725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6220" y="2135505"/>
            <a:ext cx="6717665" cy="2738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90365" y="4873625"/>
            <a:ext cx="6281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初始全部都是白色（未访问）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90365" y="4873625"/>
            <a:ext cx="6281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即将搜索起点V0（灰色）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75" y="2117725"/>
            <a:ext cx="6856095" cy="2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90365" y="4873625"/>
            <a:ext cx="6281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已搜索V0，即将搜索V1、V2、V3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2105" y="2233295"/>
            <a:ext cx="7383780" cy="2329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90365" y="4873625"/>
            <a:ext cx="6281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终点V6被染灰色，终止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0" y="2233295"/>
            <a:ext cx="8013700" cy="2080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用以下连通图为例来讲解广度优先搜索的基本思路：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201160" y="4591050"/>
            <a:ext cx="6281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找到最短路径</a:t>
            </a:r>
            <a:r>
              <a:rPr lang="en-US" altLang="zh-CN"/>
              <a:t>V0--V2--V6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5790" y="2124710"/>
            <a:ext cx="8499475" cy="2174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核心思想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03498"/>
            <a:ext cx="10632557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广度优先算法的核心思想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：从初始节点开始，应用算符生成第一层节点，检查目标节点是否在这些后继节点中，若没有，再用产生式规则将所有第一层的节点逐一扩展，得到第二层节点，并逐一检查第二层节点中是否包含目标节点。若没有，再用算符逐一扩展第二层的所有节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……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，如此依次扩展，检查下去，直到发现目标节点为止。即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⒈从图中的某一顶点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开始，先访问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⒉访问所有与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相邻接的顶点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......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⒊依次访问与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......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相邻接的所有未曾访问过的顶点；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⒋循此以往，直至所有的顶点都被访问过为止。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这种搜索的次序体现沿层次向横向扩展的趋势，所以称之为广度优先搜索。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广度优先搜索算法描述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533673"/>
            <a:ext cx="10632557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bfs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{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初始化，初始状态存入队列；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队列首指针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head=0;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尾指针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tail=1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do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{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指针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head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后移一位，指向待扩展结点；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for (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int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i=1;i&lt;=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max;++i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                  //max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为产生子结点的规则数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{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if 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子结点符合条件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{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tail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指针增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，把新结点存入列尾；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广度优先搜索算法描述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936263"/>
            <a:ext cx="10632557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if 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新结点与原已产生结点重复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删去该结点（取消入队，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tail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减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）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else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  if (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新结点是目标结点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输出并退出；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}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}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}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while(head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&lt;tail);                       //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队列为空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广度优先搜索注意事项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9973" y="1500653"/>
            <a:ext cx="10632557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、每生成一个子结点，就要提供指向它们父亲结点的指针。当解出现时候，通过逆向跟踪，找到从根结点到目标结点的一条路径。当然不要求输出路径，就没必要记父亲。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、生成的结点要与前面所有已经产生结点比较，以免出现重复结点，浪费时间和空间，还有可能陷入死循环。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广度优先搜索注意事项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9973" y="1479063"/>
            <a:ext cx="10632557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如果目标结点的深度与“费用”（如：路径长度）成正比，那么，找到的第一个解即为最优解，这时，搜索速度比深度搜索要快些，在求最优解时往往采用广度优先搜索；如果结点的“费用”不与深度成正比时，第一次找到的解不一定是最优解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、广度优先搜索的效率还有赖于目标结点所在位置情况，如果目标结点深度处于较深层时，需搜索的结点数基本上以指数增长。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solidFill>
                  <a:srgbClr val="FF0000"/>
                </a:solidFill>
                <a:sym typeface="+mn-ea"/>
              </a:rPr>
              <a:t>例题精讲：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79063"/>
            <a:ext cx="1063255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下图表示的是从城市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到城市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的交通图。从图中可以看出，从城市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到城市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要经过若干个城市。现要找出一条经过城市最少的一条路线。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0" y="2677795"/>
            <a:ext cx="7421880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8708" y="762029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算法分析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：</a:t>
            </a:r>
            <a:endParaRPr lang="zh-CN" altLang="en-US" sz="28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708" y="1479063"/>
            <a:ext cx="1063255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看到这图很容易想到用邻接距阵来表示，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表示能走，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表示不能走。如图：</a:t>
            </a:r>
            <a:endParaRPr lang="zh-CN" altLang="en-US" dirty="0"/>
          </a:p>
        </p:txBody>
      </p:sp>
      <p:pic>
        <p:nvPicPr>
          <p:cNvPr id="921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510" y="2032000"/>
            <a:ext cx="7444105" cy="46018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93360" y="1343025"/>
            <a:ext cx="670941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首先想到的是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用队列的思想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数组是存储扩展结点的队列，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a[i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记录经过的城市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b[i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记录前趋城市，这样就可以倒推出最短线路。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具体过程如下：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） 将城市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入队，队首为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、队尾为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）将队首所指的城市所有可直通的城市入队（如果这个城市在队列中出现过就不入队，可用一布尔数组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s[i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来判断），将入队城市的前趋城市保存在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b[i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中。然后将队首加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，得到新的队首城市。重复以上步骤，直到搜到城市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时，搜索结束。利用</a:t>
            </a:r>
            <a:r>
              <a:rPr lang="en-US" altLang="zh-CN" err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b[i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]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可倒推出最少城市线路。</a:t>
            </a:r>
            <a:endParaRPr lang="zh-CN" altLang="en-US" b="1"/>
          </a:p>
        </p:txBody>
      </p:sp>
      <p:pic>
        <p:nvPicPr>
          <p:cNvPr id="921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" y="1343025"/>
            <a:ext cx="5076190" cy="31381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47395" y="664210"/>
            <a:ext cx="1789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算法分析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：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84113" y="40325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参考代码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endParaRPr lang="zh-CN" altLang="en-US" sz="2800" b="1" dirty="0" smtClean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4570" y="782955"/>
            <a:ext cx="502094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#include&lt;</a:t>
            </a:r>
            <a:r>
              <a:rPr lang="en-US" altLang="zh-CN" sz="2000" err="1">
                <a:sym typeface="+mn-ea"/>
              </a:rPr>
              <a:t>iostream</a:t>
            </a:r>
            <a:r>
              <a:rPr lang="en-US" altLang="zh-CN" sz="2000">
                <a:sym typeface="+mn-ea"/>
              </a:rPr>
              <a:t>&gt;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#include&lt;</a:t>
            </a:r>
            <a:r>
              <a:rPr lang="en-US" altLang="zh-CN" sz="2000" err="1">
                <a:sym typeface="+mn-ea"/>
              </a:rPr>
              <a:t>cstring</a:t>
            </a:r>
            <a:r>
              <a:rPr lang="en-US" altLang="zh-CN" sz="2000">
                <a:sym typeface="+mn-ea"/>
              </a:rPr>
              <a:t>&gt;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using namespace std;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 err="1">
                <a:sym typeface="+mn-ea"/>
              </a:rPr>
              <a:t>int</a:t>
            </a:r>
            <a:r>
              <a:rPr lang="en-US" altLang="zh-CN" sz="2000">
                <a:sym typeface="+mn-ea"/>
              </a:rPr>
              <a:t>  ju[9][9]={{0,0,0,0,0,0,0,0,0},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{0,1,0,0,0,1,0,1,1},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{0,0,1,1,1,1,0,1,1},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{0,0,1,1,0,0,1,1,1},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{0,0,1,0,1,1,1,0,1},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{0,1,1,0,1,1,1,0,0},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{0,0,0,1,1,1,1,1,0},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{0,1,1,1,0,0,1,1,0},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       {0,1,1,1,1,0,0,0,1}};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 err="1">
                <a:sym typeface="+mn-ea"/>
              </a:rPr>
              <a:t>int</a:t>
            </a:r>
            <a:r>
              <a:rPr lang="en-US" altLang="zh-CN" sz="2000">
                <a:sym typeface="+mn-ea"/>
              </a:rPr>
              <a:t> a[101],b[101];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 err="1">
                <a:sym typeface="+mn-ea"/>
              </a:rPr>
              <a:t>bool</a:t>
            </a:r>
            <a:r>
              <a:rPr lang="en-US" altLang="zh-CN" sz="2000">
                <a:sym typeface="+mn-ea"/>
              </a:rPr>
              <a:t> s[9];                              //</a:t>
            </a:r>
            <a:r>
              <a:rPr lang="zh-CN" altLang="en-US" sz="2000" dirty="0">
                <a:sym typeface="+mn-ea"/>
              </a:rPr>
              <a:t>初始化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000" err="1">
                <a:sym typeface="+mn-ea"/>
              </a:rPr>
              <a:t>int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 err="1">
                <a:sym typeface="+mn-ea"/>
              </a:rPr>
              <a:t>out(int</a:t>
            </a:r>
            <a:r>
              <a:rPr lang="en-US" altLang="zh-CN" sz="2000">
                <a:sym typeface="+mn-ea"/>
              </a:rPr>
              <a:t> d)                          //</a:t>
            </a:r>
            <a:r>
              <a:rPr lang="zh-CN" altLang="en-US" sz="2000" dirty="0">
                <a:sym typeface="+mn-ea"/>
              </a:rPr>
              <a:t>输出过程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{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</a:t>
            </a:r>
            <a:r>
              <a:rPr lang="en-US" altLang="zh-CN" sz="2000" err="1">
                <a:sym typeface="+mn-ea"/>
              </a:rPr>
              <a:t>cout</a:t>
            </a:r>
            <a:r>
              <a:rPr lang="en-US" altLang="zh-CN" sz="2000">
                <a:sym typeface="+mn-ea"/>
              </a:rPr>
              <a:t>&lt;&lt;char(a[d]+64);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while (</a:t>
            </a:r>
            <a:r>
              <a:rPr lang="en-US" altLang="zh-CN" sz="2000" err="1">
                <a:sym typeface="+mn-ea"/>
              </a:rPr>
              <a:t>b[d</a:t>
            </a:r>
            <a:r>
              <a:rPr lang="en-US" altLang="zh-CN" sz="2000">
                <a:sym typeface="+mn-ea"/>
              </a:rPr>
              <a:t>])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{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d=</a:t>
            </a:r>
            <a:r>
              <a:rPr lang="en-US" altLang="zh-CN" sz="2000" err="1">
                <a:sym typeface="+mn-ea"/>
              </a:rPr>
              <a:t>b[d</a:t>
            </a:r>
            <a:r>
              <a:rPr lang="en-US" altLang="zh-CN" sz="2000">
                <a:sym typeface="+mn-ea"/>
              </a:rPr>
              <a:t>];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</a:t>
            </a:r>
            <a:r>
              <a:rPr lang="en-US" altLang="zh-CN" sz="2000" err="1">
                <a:sym typeface="+mn-ea"/>
              </a:rPr>
              <a:t>cout</a:t>
            </a:r>
            <a:r>
              <a:rPr lang="en-US" altLang="zh-CN" sz="2000">
                <a:sym typeface="+mn-ea"/>
              </a:rPr>
              <a:t>&lt;&lt;"--"&lt;&lt;char(a[d]+64);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}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</a:t>
            </a:r>
            <a:r>
              <a:rPr lang="en-US" altLang="zh-CN" sz="2000" err="1">
                <a:sym typeface="+mn-ea"/>
              </a:rPr>
              <a:t>cout</a:t>
            </a:r>
            <a:r>
              <a:rPr lang="en-US" altLang="zh-CN" sz="2000">
                <a:sym typeface="+mn-ea"/>
              </a:rPr>
              <a:t>&lt;&lt;</a:t>
            </a:r>
            <a:r>
              <a:rPr lang="en-US" altLang="zh-CN" sz="2000" err="1">
                <a:sym typeface="+mn-ea"/>
              </a:rPr>
              <a:t>endl</a:t>
            </a:r>
            <a:r>
              <a:rPr lang="en-US" altLang="zh-CN" sz="2000">
                <a:sym typeface="+mn-ea"/>
              </a:rPr>
              <a:t>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}</a:t>
            </a:r>
            <a:endParaRPr lang="en-US" altLang="zh-CN" sz="2000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6455" y="305435"/>
            <a:ext cx="7782560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void</a:t>
            </a:r>
            <a:r>
              <a:rPr lang="fr-FR" altLang="zh-CN" sz="2000" dirty="0">
                <a:sym typeface="+mn-ea"/>
              </a:rPr>
              <a:t> doit()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{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int head,tail,i; 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head=0;tail=1;                        //</a:t>
            </a:r>
            <a:r>
              <a:rPr lang="zh-CN" altLang="fr-FR" sz="2000" dirty="0">
                <a:sym typeface="+mn-ea"/>
              </a:rPr>
              <a:t>队首为</a:t>
            </a:r>
            <a:r>
              <a:rPr lang="fr-FR" altLang="zh-CN" sz="2000" dirty="0">
                <a:sym typeface="+mn-ea"/>
              </a:rPr>
              <a:t>0</a:t>
            </a:r>
            <a:r>
              <a:rPr lang="zh-CN" altLang="fr-FR" sz="2000" dirty="0">
                <a:sym typeface="+mn-ea"/>
              </a:rPr>
              <a:t>、队尾为</a:t>
            </a:r>
            <a:r>
              <a:rPr lang="fr-FR" altLang="zh-CN" sz="2000" dirty="0">
                <a:sym typeface="+mn-ea"/>
              </a:rPr>
              <a:t>1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a[1]=1;                                   //</a:t>
            </a:r>
            <a:r>
              <a:rPr lang="zh-CN" altLang="fr-FR" sz="2000" dirty="0">
                <a:sym typeface="+mn-ea"/>
              </a:rPr>
              <a:t>记录经过的城市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</a:t>
            </a:r>
            <a:r>
              <a:rPr lang="fr-FR" altLang="zh-CN" sz="2000" dirty="0">
                <a:sym typeface="+mn-ea"/>
              </a:rPr>
              <a:t>b[1]=0;                                   //</a:t>
            </a:r>
            <a:r>
              <a:rPr lang="zh-CN" altLang="fr-FR" sz="2000" dirty="0">
                <a:sym typeface="+mn-ea"/>
              </a:rPr>
              <a:t>记录前趋城市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</a:t>
            </a:r>
            <a:r>
              <a:rPr lang="fr-FR" altLang="zh-CN" sz="2000" dirty="0">
                <a:sym typeface="+mn-ea"/>
              </a:rPr>
              <a:t>s[1]=1;                                   //</a:t>
            </a:r>
            <a:r>
              <a:rPr lang="zh-CN" altLang="fr-FR" sz="2000" dirty="0">
                <a:sym typeface="+mn-ea"/>
              </a:rPr>
              <a:t>表示该城市已经到过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</a:t>
            </a:r>
            <a:r>
              <a:rPr lang="fr-FR" altLang="zh-CN" sz="2000" dirty="0">
                <a:sym typeface="+mn-ea"/>
              </a:rPr>
              <a:t>do                                          //</a:t>
            </a:r>
            <a:r>
              <a:rPr lang="zh-CN" altLang="fr-FR" sz="2000" dirty="0">
                <a:sym typeface="+mn-ea"/>
              </a:rPr>
              <a:t>步骤</a:t>
            </a:r>
            <a:r>
              <a:rPr lang="fr-FR" altLang="zh-CN" sz="2000" dirty="0">
                <a:sym typeface="+mn-ea"/>
              </a:rPr>
              <a:t>2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 {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  head++;                               //</a:t>
            </a:r>
            <a:r>
              <a:rPr lang="zh-CN" altLang="fr-FR" sz="2000" dirty="0">
                <a:sym typeface="+mn-ea"/>
              </a:rPr>
              <a:t>队首加一，出队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  </a:t>
            </a:r>
            <a:r>
              <a:rPr lang="fr-FR" altLang="zh-CN" sz="2000" dirty="0">
                <a:sym typeface="+mn-ea"/>
              </a:rPr>
              <a:t>for (i=1;i&lt;=8;i++)                 //</a:t>
            </a:r>
            <a:r>
              <a:rPr lang="zh-CN" altLang="fr-FR" sz="2000" dirty="0">
                <a:sym typeface="+mn-ea"/>
              </a:rPr>
              <a:t>搜索可直通的城市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   </a:t>
            </a:r>
            <a:r>
              <a:rPr lang="fr-FR" altLang="zh-CN" sz="2000" dirty="0">
                <a:sym typeface="+mn-ea"/>
              </a:rPr>
              <a:t>if ((ju[a[head]][i]==0)&amp;&amp;(s[i]==0))  //</a:t>
            </a:r>
            <a:r>
              <a:rPr lang="zh-CN" altLang="fr-FR" sz="2000" dirty="0">
                <a:sym typeface="+mn-ea"/>
              </a:rPr>
              <a:t>判断城市是否走过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    </a:t>
            </a:r>
            <a:r>
              <a:rPr lang="fr-FR" altLang="zh-CN" sz="2000" dirty="0">
                <a:sym typeface="+mn-ea"/>
              </a:rPr>
              <a:t>{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      tail++;                              //</a:t>
            </a:r>
            <a:r>
              <a:rPr lang="zh-CN" altLang="fr-FR" sz="2000" dirty="0">
                <a:sym typeface="+mn-ea"/>
              </a:rPr>
              <a:t>队尾加一，入队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zh-CN" altLang="fr-FR" sz="2000" dirty="0">
                <a:sym typeface="+mn-ea"/>
              </a:rPr>
              <a:t>         </a:t>
            </a:r>
            <a:r>
              <a:rPr lang="fr-FR" altLang="zh-CN" sz="2000" dirty="0">
                <a:sym typeface="+mn-ea"/>
              </a:rPr>
              <a:t>a[tail]=i;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       </a:t>
            </a:r>
            <a:r>
              <a:rPr lang="en-US" altLang="zh-CN" sz="2000" err="1">
                <a:sym typeface="+mn-ea"/>
              </a:rPr>
              <a:t>b[tail</a:t>
            </a:r>
            <a:r>
              <a:rPr lang="en-US" altLang="zh-CN" sz="2000">
                <a:sym typeface="+mn-ea"/>
              </a:rPr>
              <a:t>]=head;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</a:t>
            </a:r>
            <a:r>
              <a:rPr lang="en-US" altLang="zh-CN" sz="2000" err="1">
                <a:sym typeface="+mn-ea"/>
              </a:rPr>
              <a:t>s[i</a:t>
            </a:r>
            <a:r>
              <a:rPr lang="en-US" altLang="zh-CN" sz="2000">
                <a:sym typeface="+mn-ea"/>
              </a:rPr>
              <a:t>]=1;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if (i==8) 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{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      </a:t>
            </a:r>
            <a:r>
              <a:rPr lang="en-US" altLang="zh-CN" sz="2000" err="1">
                <a:sym typeface="+mn-ea"/>
              </a:rPr>
              <a:t>out(tail);head</a:t>
            </a:r>
            <a:r>
              <a:rPr lang="en-US" altLang="zh-CN" sz="2000">
                <a:sym typeface="+mn-ea"/>
              </a:rPr>
              <a:t>=</a:t>
            </a:r>
            <a:r>
              <a:rPr lang="en-US" altLang="zh-CN" sz="2000" err="1">
                <a:sym typeface="+mn-ea"/>
              </a:rPr>
              <a:t>tail;break</a:t>
            </a:r>
            <a:r>
              <a:rPr lang="en-US" altLang="zh-CN" sz="2000">
                <a:sym typeface="+mn-ea"/>
              </a:rPr>
              <a:t>; //</a:t>
            </a:r>
            <a:r>
              <a:rPr lang="zh-CN" altLang="en-US" sz="2000" dirty="0">
                <a:sym typeface="+mn-ea"/>
              </a:rPr>
              <a:t>第一次搜到</a:t>
            </a:r>
            <a:r>
              <a:rPr lang="en-US" altLang="zh-CN" sz="2000">
                <a:sym typeface="+mn-ea"/>
              </a:rPr>
              <a:t>H</a:t>
            </a:r>
            <a:r>
              <a:rPr lang="zh-CN" altLang="en-US" sz="2000" dirty="0">
                <a:sym typeface="+mn-ea"/>
              </a:rPr>
              <a:t>城市时路线最短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          </a:t>
            </a:r>
            <a:r>
              <a:rPr lang="en-US" altLang="zh-CN" sz="2000">
                <a:sym typeface="+mn-ea"/>
              </a:rPr>
              <a:t>}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   }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  }while (head&lt;tail);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}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endParaRPr lang="fr-FR" altLang="zh-CN" sz="20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29015" y="1376680"/>
            <a:ext cx="385572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80000"/>
              </a:lnSpc>
            </a:pPr>
            <a:r>
              <a:rPr lang="en-US" altLang="zh-CN" sz="2000" err="1">
                <a:sym typeface="+mn-ea"/>
              </a:rPr>
              <a:t>int</a:t>
            </a:r>
            <a:r>
              <a:rPr lang="en-US" altLang="zh-CN" sz="2000">
                <a:sym typeface="+mn-ea"/>
              </a:rPr>
              <a:t> main()                                   //</a:t>
            </a:r>
            <a:r>
              <a:rPr lang="zh-CN" altLang="en-US" sz="2000" dirty="0">
                <a:sym typeface="+mn-ea"/>
              </a:rPr>
              <a:t>主程序</a:t>
            </a:r>
            <a:endParaRPr lang="zh-CN" altLang="fr-FR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{</a:t>
            </a:r>
            <a:endParaRPr lang="en-US" altLang="zh-CN" sz="2000"/>
          </a:p>
          <a:p>
            <a:pPr eaLnBrk="1" hangingPunct="1">
              <a:lnSpc>
                <a:spcPct val="80000"/>
              </a:lnSpc>
            </a:pPr>
            <a:r>
              <a:rPr lang="en-US" altLang="zh-CN" sz="2000">
                <a:sym typeface="+mn-ea"/>
              </a:rPr>
              <a:t>  </a:t>
            </a:r>
            <a:r>
              <a:rPr lang="en-US" altLang="zh-CN" sz="2000" err="1">
                <a:sym typeface="+mn-ea"/>
              </a:rPr>
              <a:t>memset(s,false,sizeof(s</a:t>
            </a:r>
            <a:r>
              <a:rPr lang="en-US" altLang="zh-CN" sz="2000">
                <a:sym typeface="+mn-ea"/>
              </a:rPr>
              <a:t>));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  doit();</a:t>
            </a:r>
            <a:r>
              <a:rPr lang="en-US" altLang="zh-CN" sz="2000">
                <a:sym typeface="+mn-ea"/>
              </a:rPr>
              <a:t>                                       //</a:t>
            </a:r>
            <a:r>
              <a:rPr lang="zh-CN" altLang="en-US" sz="2000" dirty="0">
                <a:sym typeface="+mn-ea"/>
              </a:rPr>
              <a:t>进行</a:t>
            </a:r>
            <a:r>
              <a:rPr lang="en-US" altLang="zh-CN" sz="2000" err="1">
                <a:sym typeface="+mn-ea"/>
              </a:rPr>
              <a:t>Bfs</a:t>
            </a:r>
            <a:r>
              <a:rPr lang="zh-CN" altLang="en-US" sz="2000" dirty="0">
                <a:sym typeface="+mn-ea"/>
              </a:rPr>
              <a:t>操作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  </a:t>
            </a:r>
            <a:r>
              <a:rPr lang="en-US" altLang="zh-CN" sz="2000">
                <a:sym typeface="+mn-ea"/>
              </a:rPr>
              <a:t>return 0;</a:t>
            </a:r>
            <a:endParaRPr lang="fr-FR" altLang="zh-CN" sz="2000" dirty="0"/>
          </a:p>
          <a:p>
            <a:pPr eaLnBrk="1" hangingPunct="1">
              <a:lnSpc>
                <a:spcPct val="80000"/>
              </a:lnSpc>
            </a:pPr>
            <a:r>
              <a:rPr lang="fr-FR" altLang="zh-CN" sz="2000" dirty="0">
                <a:sym typeface="+mn-ea"/>
              </a:rPr>
              <a:t>}</a:t>
            </a:r>
            <a:endParaRPr lang="fr-FR" altLang="zh-CN" sz="2000" dirty="0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7335" y="334010"/>
            <a:ext cx="19297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课后作业：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625" name="Text Box 2"/>
          <p:cNvSpPr txBox="1"/>
          <p:nvPr/>
        </p:nvSpPr>
        <p:spPr>
          <a:xfrm>
            <a:off x="1304925" y="794385"/>
            <a:ext cx="9144000" cy="59391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营救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问题描述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铁塔尼号遇险了！他发出了求救信号。距离最近的哥伦比亚号收到了讯息，时间就是生命，必须尽快赶到那里。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    通过侦测，哥伦比亚号获取了一张海洋图。这张图将海洋部分分化成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n*n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个比较小的单位，其中用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标明的是陆地，用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标明是海洋。船只能从一个格子，移到相邻的四个格子。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   为了尽快赶到出事地点，哥伦比亚号最少需要走多远的距离。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输入格式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第一行为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n,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下面是一个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n*n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矩阵，表示海洋地图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最后一行为四个小于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的整数，分别表示哥伦比亚号和铁塔尼号的位置。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输出格式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哥伦比亚号到铁塔尼号的最短距离，答案精确到整数。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输入样例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r>
              <a:rPr lang="en-US" altLang="zh-CN" sz="2000" b="1" err="1">
                <a:latin typeface="Arial" panose="020B0604020202020204" pitchFamily="34" charset="0"/>
                <a:ea typeface="宋体" panose="02010600030101010101" pitchFamily="2" charset="-122"/>
              </a:rPr>
              <a:t>                        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输出样例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】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3			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001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100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1 1 3 3			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数据范围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N&lt;=1000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1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.xml><?xml version="1.0" encoding="utf-8"?>
<p:tagLst xmlns:p="http://schemas.openxmlformats.org/presentationml/2006/main">
  <p:tag name="KSO_WM_TEMPLATE_THUMBS_INDEX" val="1、4、5、9、12、15、20、25、26、28、29"/>
  <p:tag name="KSO_WM_TEMPLATE_CATEGORY" val="custom"/>
  <p:tag name="KSO_WM_TEMPLATE_INDEX" val="160337"/>
  <p:tag name="KSO_WM_TAG_VERSION" val="1.0"/>
  <p:tag name="KSO_WM_SLIDE_ID" val="custom16033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33">
      <a:dk1>
        <a:srgbClr val="000000"/>
      </a:dk1>
      <a:lt1>
        <a:srgbClr val="FFFFFF"/>
      </a:lt1>
      <a:dk2>
        <a:srgbClr val="000000"/>
      </a:dk2>
      <a:lt2>
        <a:srgbClr val="FEFEFE"/>
      </a:lt2>
      <a:accent1>
        <a:srgbClr val="F17700"/>
      </a:accent1>
      <a:accent2>
        <a:srgbClr val="DC2144"/>
      </a:accent2>
      <a:accent3>
        <a:srgbClr val="71CAE0"/>
      </a:accent3>
      <a:accent4>
        <a:srgbClr val="112D43"/>
      </a:accent4>
      <a:accent5>
        <a:srgbClr val="050F25"/>
      </a:accent5>
      <a:accent6>
        <a:srgbClr val="162D4E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3">
    <a:dk1>
      <a:srgbClr val="000000"/>
    </a:dk1>
    <a:lt1>
      <a:srgbClr val="FFFFFF"/>
    </a:lt1>
    <a:dk2>
      <a:srgbClr val="000000"/>
    </a:dk2>
    <a:lt2>
      <a:srgbClr val="FEFEFE"/>
    </a:lt2>
    <a:accent1>
      <a:srgbClr val="F17700"/>
    </a:accent1>
    <a:accent2>
      <a:srgbClr val="DC2144"/>
    </a:accent2>
    <a:accent3>
      <a:srgbClr val="71CAE0"/>
    </a:accent3>
    <a:accent4>
      <a:srgbClr val="112D43"/>
    </a:accent4>
    <a:accent5>
      <a:srgbClr val="050F25"/>
    </a:accent5>
    <a:accent6>
      <a:srgbClr val="162D4E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A000120141114A22KPBG</Template>
  <TotalTime>0</TotalTime>
  <Words>4035</Words>
  <Application>WPS 演示</Application>
  <PresentationFormat>Widescreen</PresentationFormat>
  <Paragraphs>222</Paragraphs>
  <Slides>22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Century Gothic</vt:lpstr>
      <vt:lpstr>1_Office 主题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fdsa</dc:title>
  <dc:creator>admin</dc:creator>
  <cp:lastModifiedBy>see you again</cp:lastModifiedBy>
  <cp:revision>1341</cp:revision>
  <dcterms:created xsi:type="dcterms:W3CDTF">2014-06-03T02:52:00Z</dcterms:created>
  <dcterms:modified xsi:type="dcterms:W3CDTF">2018-08-15T11:53:05Z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模板文件">
    <vt:lpwstr>A000120141114A22KPBG.pptx</vt:lpwstr>
  </property>
  <property fmtid="{D5CDD505-2E9C-101B-9397-08002B2CF9AE}" pid="3" name="标题">
    <vt:lpwstr>蓝色风格_A000120141114A22KPBG</vt:lpwstr>
  </property>
  <property fmtid="{D5CDD505-2E9C-101B-9397-08002B2CF9AE}" pid="4" name="关键字">
    <vt:lpwstr>PPT背景模板 商业科技 蓝 蓝色 宽屏 星光 闪烁 宽屏 V2007</vt:lpwstr>
  </property>
  <property fmtid="{D5CDD505-2E9C-101B-9397-08002B2CF9AE}" pid="5" name="KSOProductBuildVer">
    <vt:lpwstr>2052-10.1.0.7468</vt:lpwstr>
  </property>
  <property fmtid="{D5CDD505-2E9C-101B-9397-08002B2CF9AE}" pid="6" name="name">
    <vt:lpwstr>蓝色简约.pptx</vt:lpwstr>
  </property>
  <property fmtid="{D5CDD505-2E9C-101B-9397-08002B2CF9AE}" pid="7" name="fileid">
    <vt:lpwstr>861037</vt:lpwstr>
  </property>
  <property fmtid="{D5CDD505-2E9C-101B-9397-08002B2CF9AE}" pid="8" name="search_tags">
    <vt:lpwstr>PPT模板</vt:lpwstr>
  </property>
</Properties>
</file>