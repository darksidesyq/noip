
<file path=[Content_Types].xml><?xml version="1.0" encoding="utf-8"?>
<Types xmlns="http://schemas.openxmlformats.org/package/2006/content-types">
  <Default Extension="xml" ContentType="application/xml"/>
  <Default Extension="png" ContentType="image/png"/>
  <Default Extension="gif" ContentType="image/gif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9" r:id="rId1"/>
    <p:sldMasterId id="2147483661" r:id="rId2"/>
    <p:sldMasterId id="2147483690" r:id="rId3"/>
  </p:sldMasterIdLst>
  <p:notesMasterIdLst>
    <p:notesMasterId r:id="rId24"/>
  </p:notesMasterIdLst>
  <p:handoutMasterIdLst>
    <p:handoutMasterId r:id="rId25"/>
  </p:handoutMasterIdLst>
  <p:sldIdLst>
    <p:sldId id="320" r:id="rId4"/>
    <p:sldId id="330" r:id="rId5"/>
    <p:sldId id="347" r:id="rId6"/>
    <p:sldId id="348" r:id="rId7"/>
    <p:sldId id="349" r:id="rId8"/>
    <p:sldId id="350" r:id="rId9"/>
    <p:sldId id="351" r:id="rId10"/>
    <p:sldId id="342" r:id="rId11"/>
    <p:sldId id="352" r:id="rId12"/>
    <p:sldId id="353" r:id="rId13"/>
    <p:sldId id="354" r:id="rId14"/>
    <p:sldId id="355" r:id="rId15"/>
    <p:sldId id="356" r:id="rId16"/>
    <p:sldId id="358" r:id="rId17"/>
    <p:sldId id="357" r:id="rId18"/>
    <p:sldId id="359" r:id="rId19"/>
    <p:sldId id="360" r:id="rId20"/>
    <p:sldId id="361" r:id="rId21"/>
    <p:sldId id="362" r:id="rId22"/>
    <p:sldId id="363" r:id="rId23"/>
  </p:sldIdLst>
  <p:sldSz cx="12192000" cy="6858000"/>
  <p:notesSz cx="6858000" cy="9144000"/>
  <p:defaultTextStyle>
    <a:defPPr>
      <a:defRPr lang="zh-CN"/>
    </a:defPPr>
    <a:lvl1pPr marL="0" algn="l" defTabSz="121856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856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856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856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856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856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856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856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856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6B34"/>
    <a:srgbClr val="F57D4D"/>
    <a:srgbClr val="2DAFCF"/>
    <a:srgbClr val="76CBE0"/>
    <a:srgbClr val="EE122C"/>
    <a:srgbClr val="FF40FF"/>
    <a:srgbClr val="FF7E79"/>
    <a:srgbClr val="ED939C"/>
    <a:srgbClr val="F6CACE"/>
    <a:srgbClr val="449E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799B23B-EC83-4686-B30A-512413B5E67A}" styleName="浅色样式 3 - 强调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9C7853C-536D-4A76-A0AE-DD22124D55A5}" styleName="主题样式 1 - 强调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C083E6E3-FA7D-4D7B-A595-EF9225AFEA82}" styleName="浅色样式 1 - 强调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06799F8-075E-4A3A-A7F6-7FBC6576F1A4}" styleName="主题样式 2 - 强调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505E3EF-67EA-436B-97B2-0124C06EBD24}" styleName="中度样式 4 - 强调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1FECB4D8-DB02-4DC6-A0A2-4F2EBAE1DC90}" styleName="中度样式 1 - 强调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2DE63D5-997A-4646-A377-4702673A728D}" styleName="浅色样式 2 - 强调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145" autoAdjust="0"/>
    <p:restoredTop sz="96838" autoAdjust="0"/>
  </p:normalViewPr>
  <p:slideViewPr>
    <p:cSldViewPr snapToGrid="0">
      <p:cViewPr varScale="1">
        <p:scale>
          <a:sx n="124" d="100"/>
          <a:sy n="124" d="100"/>
        </p:scale>
        <p:origin x="384" y="16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6" d="100"/>
          <a:sy n="86" d="100"/>
        </p:scale>
        <p:origin x="3012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notesMaster" Target="notesMasters/notesMaster1.xml"/><Relationship Id="rId25" Type="http://schemas.openxmlformats.org/officeDocument/2006/relationships/handoutMaster" Target="handoutMasters/handout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46A36E-8CE9-4233-9D17-03EBF3D3C3EA}" type="datetimeFigureOut">
              <a:rPr lang="zh-CN" altLang="en-US" smtClean="0"/>
              <a:pPr/>
              <a:t>2018/11/17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ED53AB-73E4-496E-889A-60B59C3079A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856647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BAF574-9E5E-4479-A694-7B0504769AE1}" type="datetimeFigureOut">
              <a:rPr lang="zh-CN" altLang="en-US" smtClean="0"/>
              <a:pPr/>
              <a:t>2018/11/17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模板来自于 </a:t>
            </a:r>
            <a:r>
              <a:rPr lang="en-US" altLang="zh-CN" dirty="0"/>
              <a:t>http://docer.mysoeasy.com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38F04A-84B0-4E5D-A1A7-EE43D6EF2A6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12660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indent="0" algn="l" defTabSz="1218565" rtl="0" eaLnBrk="1" latinLnBrk="0" hangingPunct="1">
      <a:buFont typeface="Arial" panose="020B0604020202020204" pitchFamily="34" charset="0"/>
      <a:buNone/>
      <a:defRPr sz="1865" kern="1200" baseline="0">
        <a:solidFill>
          <a:srgbClr val="FF0000"/>
        </a:solidFill>
        <a:latin typeface="+mn-lt"/>
        <a:ea typeface="+mn-ea"/>
        <a:cs typeface="+mn-cs"/>
      </a:defRPr>
    </a:lvl1pPr>
    <a:lvl2pPr marL="609600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38F04A-84B0-4E5D-A1A7-EE43D6EF2A66}" type="slidenum">
              <a:rPr lang="zh-CN" altLang="en-US" smtClean="0">
                <a:solidFill>
                  <a:prstClr val="black"/>
                </a:solidFill>
              </a:rPr>
              <a:pPr/>
              <a:t>1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589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12185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CN" altLang="en-US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全国青少年信息学奥林匹克（</a:t>
            </a:r>
            <a:r>
              <a:rPr lang="en-US" altLang="zh-CN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NOI</a:t>
            </a:r>
            <a:r>
              <a:rPr lang="zh-CN" altLang="en-US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）是国内包括港澳在内的省级代表队最高水平的大赛，自</a:t>
            </a:r>
            <a:r>
              <a:rPr lang="en-US" altLang="zh-CN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1984</a:t>
            </a:r>
            <a:r>
              <a:rPr lang="zh-CN" altLang="en-US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年至今，在国内包括香港、澳门组织竞赛活动。每年经各省选拔产生</a:t>
            </a:r>
            <a:r>
              <a:rPr lang="en-US" altLang="zh-CN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5</a:t>
            </a:r>
            <a:r>
              <a:rPr lang="zh-CN" altLang="en-US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名选手（其中一名是女选手），由中国计算机学会在计算机普及较好的城市组织进行比赛。这一竞赛记个人成绩，同时记团体总分。</a:t>
            </a:r>
            <a:endParaRPr lang="en-US" altLang="zh-CN" sz="18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r>
              <a:rPr lang="en-US" altLang="zh-CN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NOIP</a:t>
            </a:r>
            <a:r>
              <a:rPr lang="zh-CN" altLang="en-US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是全国青少年信息学奥林匹克联赛。每年由中国计算机学会统一组织比赛。</a:t>
            </a:r>
            <a:endParaRPr lang="en-US" altLang="zh-CN" sz="20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endParaRPr lang="en-US" altLang="zh-CN" sz="20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r>
              <a:rPr lang="en-US" altLang="zh-CN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NOIP</a:t>
            </a:r>
            <a:r>
              <a:rPr lang="zh-CN" altLang="en-US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。全国统一大纲、统一试卷。初、高中或其他中等专业学校的学生可报名参加联赛。</a:t>
            </a:r>
            <a:endParaRPr lang="en-US" altLang="zh-CN" sz="20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endParaRPr lang="en-US" altLang="zh-CN" sz="20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r>
              <a:rPr lang="zh-CN" altLang="en-US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联赛分初赛和复赛两个阶段。初赛考察计算机科学基础知识，以笔试形式（做试卷）进行。复赛为编程，须在计算机上编程完成。参加初赛者须达到一定分数线后才有资格参加复赛。联赛分普及组和提高组两个组别，难度不同，分别面向初中和高中阶段的学生，也就是一般初中生参加普及组，高中生参加提高组。有些省市小学生也可以向特派员报名参赛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38F04A-84B0-4E5D-A1A7-EE43D6EF2A66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76271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12185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CN" altLang="en-US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全国青少年信息学奥林匹克（</a:t>
            </a:r>
            <a:r>
              <a:rPr lang="en-US" altLang="zh-CN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NOI</a:t>
            </a:r>
            <a:r>
              <a:rPr lang="zh-CN" altLang="en-US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）是国内包括港澳在内的省级代表队最高水平的大赛，自</a:t>
            </a:r>
            <a:r>
              <a:rPr lang="en-US" altLang="zh-CN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1984</a:t>
            </a:r>
            <a:r>
              <a:rPr lang="zh-CN" altLang="en-US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年至今，在国内包括香港、澳门组织竞赛活动。每年经各省选拔产生</a:t>
            </a:r>
            <a:r>
              <a:rPr lang="en-US" altLang="zh-CN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5</a:t>
            </a:r>
            <a:r>
              <a:rPr lang="zh-CN" altLang="en-US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名选手（其中一名是女选手），由中国计算机学会在计算机普及较好的城市组织进行比赛。这一竞赛记个人成绩，同时记团体总分。</a:t>
            </a:r>
            <a:endParaRPr lang="en-US" altLang="zh-CN" sz="18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r>
              <a:rPr lang="en-US" altLang="zh-CN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NOIP</a:t>
            </a:r>
            <a:r>
              <a:rPr lang="zh-CN" altLang="en-US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是全国青少年信息学奥林匹克联赛。每年由中国计算机学会统一组织比赛。</a:t>
            </a:r>
            <a:endParaRPr lang="en-US" altLang="zh-CN" sz="20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endParaRPr lang="en-US" altLang="zh-CN" sz="20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r>
              <a:rPr lang="en-US" altLang="zh-CN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NOIP</a:t>
            </a:r>
            <a:r>
              <a:rPr lang="zh-CN" altLang="en-US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。全国统一大纲、统一试卷。初、高中或其他中等专业学校的学生可报名参加联赛。</a:t>
            </a:r>
            <a:endParaRPr lang="en-US" altLang="zh-CN" sz="20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endParaRPr lang="en-US" altLang="zh-CN" sz="20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r>
              <a:rPr lang="zh-CN" altLang="en-US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联赛分初赛和复赛两个阶段。初赛考察计算机科学基础知识，以笔试形式（做试卷）进行。复赛为编程，须在计算机上编程完成。参加初赛者须达到一定分数线后才有资格参加复赛。联赛分普及组和提高组两个组别，难度不同，分别面向初中和高中阶段的学生，也就是一般初中生参加普及组，高中生参加提高组。有些省市小学生也可以向特派员报名参赛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38F04A-84B0-4E5D-A1A7-EE43D6EF2A66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82848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12185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CN" altLang="en-US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全国青少年信息学奥林匹克（</a:t>
            </a:r>
            <a:r>
              <a:rPr lang="en-US" altLang="zh-CN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NOI</a:t>
            </a:r>
            <a:r>
              <a:rPr lang="zh-CN" altLang="en-US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）是国内包括港澳在内的省级代表队最高水平的大赛，自</a:t>
            </a:r>
            <a:r>
              <a:rPr lang="en-US" altLang="zh-CN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1984</a:t>
            </a:r>
            <a:r>
              <a:rPr lang="zh-CN" altLang="en-US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年至今，在国内包括香港、澳门组织竞赛活动。每年经各省选拔产生</a:t>
            </a:r>
            <a:r>
              <a:rPr lang="en-US" altLang="zh-CN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5</a:t>
            </a:r>
            <a:r>
              <a:rPr lang="zh-CN" altLang="en-US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名选手（其中一名是女选手），由中国计算机学会在计算机普及较好的城市组织进行比赛。这一竞赛记个人成绩，同时记团体总分。</a:t>
            </a:r>
            <a:endParaRPr lang="en-US" altLang="zh-CN" sz="18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r>
              <a:rPr lang="en-US" altLang="zh-CN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NOIP</a:t>
            </a:r>
            <a:r>
              <a:rPr lang="zh-CN" altLang="en-US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是全国青少年信息学奥林匹克联赛。每年由中国计算机学会统一组织比赛。</a:t>
            </a:r>
            <a:endParaRPr lang="en-US" altLang="zh-CN" sz="20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endParaRPr lang="en-US" altLang="zh-CN" sz="20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r>
              <a:rPr lang="en-US" altLang="zh-CN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NOIP</a:t>
            </a:r>
            <a:r>
              <a:rPr lang="zh-CN" altLang="en-US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。全国统一大纲、统一试卷。初、高中或其他中等专业学校的学生可报名参加联赛。</a:t>
            </a:r>
            <a:endParaRPr lang="en-US" altLang="zh-CN" sz="20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endParaRPr lang="en-US" altLang="zh-CN" sz="20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r>
              <a:rPr lang="zh-CN" altLang="en-US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联赛分初赛和复赛两个阶段。初赛考察计算机科学基础知识，以笔试形式（做试卷）进行。复赛为编程，须在计算机上编程完成。参加初赛者须达到一定分数线后才有资格参加复赛。联赛分普及组和提高组两个组别，难度不同，分别面向初中和高中阶段的学生，也就是一般初中生参加普及组，高中生参加提高组。有些省市小学生也可以向特派员报名参赛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38F04A-84B0-4E5D-A1A7-EE43D6EF2A66}" type="slidenum">
              <a:rPr lang="zh-CN" altLang="en-US" smtClean="0"/>
              <a:pPr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96083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12185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CN" altLang="en-US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全国青少年信息学奥林匹克（</a:t>
            </a:r>
            <a:r>
              <a:rPr lang="en-US" altLang="zh-CN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NOI</a:t>
            </a:r>
            <a:r>
              <a:rPr lang="zh-CN" altLang="en-US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）是国内包括港澳在内的省级代表队最高水平的大赛，自</a:t>
            </a:r>
            <a:r>
              <a:rPr lang="en-US" altLang="zh-CN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1984</a:t>
            </a:r>
            <a:r>
              <a:rPr lang="zh-CN" altLang="en-US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年至今，在国内包括香港、澳门组织竞赛活动。每年经各省选拔产生</a:t>
            </a:r>
            <a:r>
              <a:rPr lang="en-US" altLang="zh-CN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5</a:t>
            </a:r>
            <a:r>
              <a:rPr lang="zh-CN" altLang="en-US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名选手（其中一名是女选手），由中国计算机学会在计算机普及较好的城市组织进行比赛。这一竞赛记个人成绩，同时记团体总分。</a:t>
            </a:r>
            <a:endParaRPr lang="en-US" altLang="zh-CN" sz="18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r>
              <a:rPr lang="en-US" altLang="zh-CN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NOIP</a:t>
            </a:r>
            <a:r>
              <a:rPr lang="zh-CN" altLang="en-US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是全国青少年信息学奥林匹克联赛。每年由中国计算机学会统一组织比赛。</a:t>
            </a:r>
            <a:endParaRPr lang="en-US" altLang="zh-CN" sz="20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endParaRPr lang="en-US" altLang="zh-CN" sz="20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r>
              <a:rPr lang="en-US" altLang="zh-CN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NOIP</a:t>
            </a:r>
            <a:r>
              <a:rPr lang="zh-CN" altLang="en-US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。全国统一大纲、统一试卷。初、高中或其他中等专业学校的学生可报名参加联赛。</a:t>
            </a:r>
            <a:endParaRPr lang="en-US" altLang="zh-CN" sz="20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endParaRPr lang="en-US" altLang="zh-CN" sz="20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r>
              <a:rPr lang="zh-CN" altLang="en-US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联赛分初赛和复赛两个阶段。初赛考察计算机科学基础知识，以笔试形式（做试卷）进行。复赛为编程，须在计算机上编程完成。参加初赛者须达到一定分数线后才有资格参加复赛。联赛分普及组和提高组两个组别，难度不同，分别面向初中和高中阶段的学生，也就是一般初中生参加普及组，高中生参加提高组。有些省市小学生也可以向特派员报名参赛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38F04A-84B0-4E5D-A1A7-EE43D6EF2A66}" type="slidenum">
              <a:rPr lang="zh-CN" altLang="en-US" smtClean="0"/>
              <a:pPr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12946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12185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CN" altLang="en-US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全国青少年信息学奥林匹克（</a:t>
            </a:r>
            <a:r>
              <a:rPr lang="en-US" altLang="zh-CN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NOI</a:t>
            </a:r>
            <a:r>
              <a:rPr lang="zh-CN" altLang="en-US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）是国内包括港澳在内的省级代表队最高水平的大赛，自</a:t>
            </a:r>
            <a:r>
              <a:rPr lang="en-US" altLang="zh-CN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1984</a:t>
            </a:r>
            <a:r>
              <a:rPr lang="zh-CN" altLang="en-US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年至今，在国内包括香港、澳门组织竞赛活动。每年经各省选拔产生</a:t>
            </a:r>
            <a:r>
              <a:rPr lang="en-US" altLang="zh-CN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5</a:t>
            </a:r>
            <a:r>
              <a:rPr lang="zh-CN" altLang="en-US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名选手（其中一名是女选手），由中国计算机学会在计算机普及较好的城市组织进行比赛。这一竞赛记个人成绩，同时记团体总分。</a:t>
            </a:r>
            <a:endParaRPr lang="en-US" altLang="zh-CN" sz="18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r>
              <a:rPr lang="en-US" altLang="zh-CN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NOIP</a:t>
            </a:r>
            <a:r>
              <a:rPr lang="zh-CN" altLang="en-US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是全国青少年信息学奥林匹克联赛。每年由中国计算机学会统一组织比赛。</a:t>
            </a:r>
            <a:endParaRPr lang="en-US" altLang="zh-CN" sz="20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endParaRPr lang="en-US" altLang="zh-CN" sz="20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r>
              <a:rPr lang="en-US" altLang="zh-CN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NOIP</a:t>
            </a:r>
            <a:r>
              <a:rPr lang="zh-CN" altLang="en-US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。全国统一大纲、统一试卷。初、高中或其他中等专业学校的学生可报名参加联赛。</a:t>
            </a:r>
            <a:endParaRPr lang="en-US" altLang="zh-CN" sz="20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endParaRPr lang="en-US" altLang="zh-CN" sz="20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r>
              <a:rPr lang="zh-CN" altLang="en-US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联赛分初赛和复赛两个阶段。初赛考察计算机科学基础知识，以笔试形式（做试卷）进行。复赛为编程，须在计算机上编程完成。参加初赛者须达到一定分数线后才有资格参加复赛。联赛分普及组和提高组两个组别，难度不同，分别面向初中和高中阶段的学生，也就是一般初中生参加普及组，高中生参加提高组。有些省市小学生也可以向特派员报名参赛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38F04A-84B0-4E5D-A1A7-EE43D6EF2A66}" type="slidenum">
              <a:rPr lang="zh-CN" altLang="en-US" smtClean="0"/>
              <a:pPr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09391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12185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CN" altLang="en-US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全国青少年信息学奥林匹克（</a:t>
            </a:r>
            <a:r>
              <a:rPr lang="en-US" altLang="zh-CN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NOI</a:t>
            </a:r>
            <a:r>
              <a:rPr lang="zh-CN" altLang="en-US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）是国内包括港澳在内的省级代表队最高水平的大赛，自</a:t>
            </a:r>
            <a:r>
              <a:rPr lang="en-US" altLang="zh-CN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1984</a:t>
            </a:r>
            <a:r>
              <a:rPr lang="zh-CN" altLang="en-US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年至今，在国内包括香港、澳门组织竞赛活动。每年经各省选拔产生</a:t>
            </a:r>
            <a:r>
              <a:rPr lang="en-US" altLang="zh-CN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5</a:t>
            </a:r>
            <a:r>
              <a:rPr lang="zh-CN" altLang="en-US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名选手（其中一名是女选手），由中国计算机学会在计算机普及较好的城市组织进行比赛。这一竞赛记个人成绩，同时记团体总分。</a:t>
            </a:r>
            <a:endParaRPr lang="en-US" altLang="zh-CN" sz="18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r>
              <a:rPr lang="en-US" altLang="zh-CN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NOIP</a:t>
            </a:r>
            <a:r>
              <a:rPr lang="zh-CN" altLang="en-US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是全国青少年信息学奥林匹克联赛。每年由中国计算机学会统一组织比赛。</a:t>
            </a:r>
            <a:endParaRPr lang="en-US" altLang="zh-CN" sz="20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endParaRPr lang="en-US" altLang="zh-CN" sz="20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r>
              <a:rPr lang="en-US" altLang="zh-CN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NOIP</a:t>
            </a:r>
            <a:r>
              <a:rPr lang="zh-CN" altLang="en-US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。全国统一大纲、统一试卷。初、高中或其他中等专业学校的学生可报名参加联赛。</a:t>
            </a:r>
            <a:endParaRPr lang="en-US" altLang="zh-CN" sz="20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endParaRPr lang="en-US" altLang="zh-CN" sz="20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r>
              <a:rPr lang="zh-CN" altLang="en-US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联赛分初赛和复赛两个阶段。初赛考察计算机科学基础知识，以笔试形式（做试卷）进行。复赛为编程，须在计算机上编程完成。参加初赛者须达到一定分数线后才有资格参加复赛。联赛分普及组和提高组两个组别，难度不同，分别面向初中和高中阶段的学生，也就是一般初中生参加普及组，高中生参加提高组。有些省市小学生也可以向特派员报名参赛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38F04A-84B0-4E5D-A1A7-EE43D6EF2A66}" type="slidenum">
              <a:rPr lang="zh-CN" altLang="en-US" smtClean="0"/>
              <a:pPr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86639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12185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CN" altLang="en-US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全国青少年信息学奥林匹克（</a:t>
            </a:r>
            <a:r>
              <a:rPr lang="en-US" altLang="zh-CN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NOI</a:t>
            </a:r>
            <a:r>
              <a:rPr lang="zh-CN" altLang="en-US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）是国内包括港澳在内的省级代表队最高水平的大赛，自</a:t>
            </a:r>
            <a:r>
              <a:rPr lang="en-US" altLang="zh-CN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1984</a:t>
            </a:r>
            <a:r>
              <a:rPr lang="zh-CN" altLang="en-US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年至今，在国内包括香港、澳门组织竞赛活动。每年经各省选拔产生</a:t>
            </a:r>
            <a:r>
              <a:rPr lang="en-US" altLang="zh-CN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5</a:t>
            </a:r>
            <a:r>
              <a:rPr lang="zh-CN" altLang="en-US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名选手（其中一名是女选手），由中国计算机学会在计算机普及较好的城市组织进行比赛。这一竞赛记个人成绩，同时记团体总分。</a:t>
            </a:r>
            <a:endParaRPr lang="en-US" altLang="zh-CN" sz="18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r>
              <a:rPr lang="en-US" altLang="zh-CN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NOIP</a:t>
            </a:r>
            <a:r>
              <a:rPr lang="zh-CN" altLang="en-US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是全国青少年信息学奥林匹克联赛。每年由中国计算机学会统一组织比赛。</a:t>
            </a:r>
            <a:endParaRPr lang="en-US" altLang="zh-CN" sz="20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endParaRPr lang="en-US" altLang="zh-CN" sz="20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r>
              <a:rPr lang="en-US" altLang="zh-CN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NOIP</a:t>
            </a:r>
            <a:r>
              <a:rPr lang="zh-CN" altLang="en-US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。全国统一大纲、统一试卷。初、高中或其他中等专业学校的学生可报名参加联赛。</a:t>
            </a:r>
            <a:endParaRPr lang="en-US" altLang="zh-CN" sz="20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endParaRPr lang="en-US" altLang="zh-CN" sz="20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r>
              <a:rPr lang="zh-CN" altLang="en-US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联赛分初赛和复赛两个阶段。初赛考察计算机科学基础知识，以笔试形式（做试卷）进行。复赛为编程，须在计算机上编程完成。参加初赛者须达到一定分数线后才有资格参加复赛。联赛分普及组和提高组两个组别，难度不同，分别面向初中和高中阶段的学生，也就是一般初中生参加普及组，高中生参加提高组。有些省市小学生也可以向特派员报名参赛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38F04A-84B0-4E5D-A1A7-EE43D6EF2A66}" type="slidenum">
              <a:rPr lang="zh-CN" altLang="en-US" smtClean="0"/>
              <a:pPr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72758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12185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CN" altLang="en-US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全国青少年信息学奥林匹克（</a:t>
            </a:r>
            <a:r>
              <a:rPr lang="en-US" altLang="zh-CN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NOI</a:t>
            </a:r>
            <a:r>
              <a:rPr lang="zh-CN" altLang="en-US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）是国内包括港澳在内的省级代表队最高水平的大赛，自</a:t>
            </a:r>
            <a:r>
              <a:rPr lang="en-US" altLang="zh-CN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1984</a:t>
            </a:r>
            <a:r>
              <a:rPr lang="zh-CN" altLang="en-US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年至今，在国内包括香港、澳门组织竞赛活动。每年经各省选拔产生</a:t>
            </a:r>
            <a:r>
              <a:rPr lang="en-US" altLang="zh-CN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5</a:t>
            </a:r>
            <a:r>
              <a:rPr lang="zh-CN" altLang="en-US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名选手（其中一名是女选手），由中国计算机学会在计算机普及较好的城市组织进行比赛。这一竞赛记个人成绩，同时记团体总分。</a:t>
            </a:r>
            <a:endParaRPr lang="en-US" altLang="zh-CN" sz="18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r>
              <a:rPr lang="en-US" altLang="zh-CN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NOIP</a:t>
            </a:r>
            <a:r>
              <a:rPr lang="zh-CN" altLang="en-US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是全国青少年信息学奥林匹克联赛。每年由中国计算机学会统一组织比赛。</a:t>
            </a:r>
            <a:endParaRPr lang="en-US" altLang="zh-CN" sz="20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endParaRPr lang="en-US" altLang="zh-CN" sz="20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r>
              <a:rPr lang="en-US" altLang="zh-CN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NOIP</a:t>
            </a:r>
            <a:r>
              <a:rPr lang="zh-CN" altLang="en-US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。全国统一大纲、统一试卷。初、高中或其他中等专业学校的学生可报名参加联赛。</a:t>
            </a:r>
            <a:endParaRPr lang="en-US" altLang="zh-CN" sz="20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endParaRPr lang="en-US" altLang="zh-CN" sz="20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r>
              <a:rPr lang="zh-CN" altLang="en-US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联赛分初赛和复赛两个阶段。初赛考察计算机科学基础知识，以笔试形式（做试卷）进行。复赛为编程，须在计算机上编程完成。参加初赛者须达到一定分数线后才有资格参加复赛。联赛分普及组和提高组两个组别，难度不同，分别面向初中和高中阶段的学生，也就是一般初中生参加普及组，高中生参加提高组。有些省市小学生也可以向特派员报名参赛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38F04A-84B0-4E5D-A1A7-EE43D6EF2A66}" type="slidenum">
              <a:rPr lang="zh-CN" altLang="en-US" smtClean="0"/>
              <a:pPr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025759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12185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CN" altLang="en-US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全国青少年信息学奥林匹克（</a:t>
            </a:r>
            <a:r>
              <a:rPr lang="en-US" altLang="zh-CN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NOI</a:t>
            </a:r>
            <a:r>
              <a:rPr lang="zh-CN" altLang="en-US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）是国内包括港澳在内的省级代表队最高水平的大赛，自</a:t>
            </a:r>
            <a:r>
              <a:rPr lang="en-US" altLang="zh-CN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1984</a:t>
            </a:r>
            <a:r>
              <a:rPr lang="zh-CN" altLang="en-US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年至今，在国内包括香港、澳门组织竞赛活动。每年经各省选拔产生</a:t>
            </a:r>
            <a:r>
              <a:rPr lang="en-US" altLang="zh-CN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5</a:t>
            </a:r>
            <a:r>
              <a:rPr lang="zh-CN" altLang="en-US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名选手（其中一名是女选手），由中国计算机学会在计算机普及较好的城市组织进行比赛。这一竞赛记个人成绩，同时记团体总分。</a:t>
            </a:r>
            <a:endParaRPr lang="en-US" altLang="zh-CN" sz="18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r>
              <a:rPr lang="en-US" altLang="zh-CN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NOIP</a:t>
            </a:r>
            <a:r>
              <a:rPr lang="zh-CN" altLang="en-US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是全国青少年信息学奥林匹克联赛。每年由中国计算机学会统一组织比赛。</a:t>
            </a:r>
            <a:endParaRPr lang="en-US" altLang="zh-CN" sz="20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endParaRPr lang="en-US" altLang="zh-CN" sz="20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r>
              <a:rPr lang="en-US" altLang="zh-CN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NOIP</a:t>
            </a:r>
            <a:r>
              <a:rPr lang="zh-CN" altLang="en-US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。全国统一大纲、统一试卷。初、高中或其他中等专业学校的学生可报名参加联赛。</a:t>
            </a:r>
            <a:endParaRPr lang="en-US" altLang="zh-CN" sz="20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endParaRPr lang="en-US" altLang="zh-CN" sz="20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r>
              <a:rPr lang="zh-CN" altLang="en-US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联赛分初赛和复赛两个阶段。初赛考察计算机科学基础知识，以笔试形式（做试卷）进行。复赛为编程，须在计算机上编程完成。参加初赛者须达到一定分数线后才有资格参加复赛。联赛分普及组和提高组两个组别，难度不同，分别面向初中和高中阶段的学生，也就是一般初中生参加普及组，高中生参加提高组。有些省市小学生也可以向特派员报名参赛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38F04A-84B0-4E5D-A1A7-EE43D6EF2A66}" type="slidenum">
              <a:rPr lang="zh-CN" altLang="en-US" smtClean="0"/>
              <a:pPr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02499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12185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CN" altLang="en-US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全国青少年信息学奥林匹克（</a:t>
            </a:r>
            <a:r>
              <a:rPr lang="en-US" altLang="zh-CN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NOI</a:t>
            </a:r>
            <a:r>
              <a:rPr lang="zh-CN" altLang="en-US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）是国内包括港澳在内的省级代表队最高水平的大赛，自</a:t>
            </a:r>
            <a:r>
              <a:rPr lang="en-US" altLang="zh-CN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1984</a:t>
            </a:r>
            <a:r>
              <a:rPr lang="zh-CN" altLang="en-US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年至今，在国内包括香港、澳门组织竞赛活动。每年经各省选拔产生</a:t>
            </a:r>
            <a:r>
              <a:rPr lang="en-US" altLang="zh-CN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5</a:t>
            </a:r>
            <a:r>
              <a:rPr lang="zh-CN" altLang="en-US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名选手（其中一名是女选手），由中国计算机学会在计算机普及较好的城市组织进行比赛。这一竞赛记个人成绩，同时记团体总分。</a:t>
            </a:r>
            <a:endParaRPr lang="en-US" altLang="zh-CN" sz="18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r>
              <a:rPr lang="en-US" altLang="zh-CN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NOIP</a:t>
            </a:r>
            <a:r>
              <a:rPr lang="zh-CN" altLang="en-US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是全国青少年信息学奥林匹克联赛。每年由中国计算机学会统一组织比赛。</a:t>
            </a:r>
            <a:endParaRPr lang="en-US" altLang="zh-CN" sz="20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endParaRPr lang="en-US" altLang="zh-CN" sz="20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r>
              <a:rPr lang="en-US" altLang="zh-CN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NOIP</a:t>
            </a:r>
            <a:r>
              <a:rPr lang="zh-CN" altLang="en-US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。全国统一大纲、统一试卷。初、高中或其他中等专业学校的学生可报名参加联赛。</a:t>
            </a:r>
            <a:endParaRPr lang="en-US" altLang="zh-CN" sz="20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endParaRPr lang="en-US" altLang="zh-CN" sz="20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r>
              <a:rPr lang="zh-CN" altLang="en-US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联赛分初赛和复赛两个阶段。初赛考察计算机科学基础知识，以笔试形式（做试卷）进行。复赛为编程，须在计算机上编程完成。参加初赛者须达到一定分数线后才有资格参加复赛。联赛分普及组和提高组两个组别，难度不同，分别面向初中和高中阶段的学生，也就是一般初中生参加普及组，高中生参加提高组。有些省市小学生也可以向特派员报名参赛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38F04A-84B0-4E5D-A1A7-EE43D6EF2A66}" type="slidenum">
              <a:rPr lang="zh-CN" altLang="en-US" smtClean="0"/>
              <a:pPr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90518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12185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CN" altLang="en-US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全国青少年信息学奥林匹克（</a:t>
            </a:r>
            <a:r>
              <a:rPr lang="en-US" altLang="zh-CN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NOI</a:t>
            </a:r>
            <a:r>
              <a:rPr lang="zh-CN" altLang="en-US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）是国内包括港澳在内的省级代表队最高水平的大赛，自</a:t>
            </a:r>
            <a:r>
              <a:rPr lang="en-US" altLang="zh-CN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1984</a:t>
            </a:r>
            <a:r>
              <a:rPr lang="zh-CN" altLang="en-US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年至今，在国内包括香港、澳门组织竞赛活动。每年经各省选拔产生</a:t>
            </a:r>
            <a:r>
              <a:rPr lang="en-US" altLang="zh-CN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5</a:t>
            </a:r>
            <a:r>
              <a:rPr lang="zh-CN" altLang="en-US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名选手（其中一名是女选手），由中国计算机学会在计算机普及较好的城市组织进行比赛。这一竞赛记个人成绩，同时记团体总分。</a:t>
            </a:r>
            <a:endParaRPr lang="en-US" altLang="zh-CN" sz="18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r>
              <a:rPr lang="en-US" altLang="zh-CN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NOIP</a:t>
            </a:r>
            <a:r>
              <a:rPr lang="zh-CN" altLang="en-US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是全国青少年信息学奥林匹克联赛。每年由中国计算机学会统一组织比赛。</a:t>
            </a:r>
            <a:endParaRPr lang="en-US" altLang="zh-CN" sz="20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endParaRPr lang="en-US" altLang="zh-CN" sz="20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r>
              <a:rPr lang="en-US" altLang="zh-CN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NOIP</a:t>
            </a:r>
            <a:r>
              <a:rPr lang="zh-CN" altLang="en-US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。全国统一大纲、统一试卷。初、高中或其他中等专业学校的学生可报名参加联赛。</a:t>
            </a:r>
            <a:endParaRPr lang="en-US" altLang="zh-CN" sz="20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endParaRPr lang="en-US" altLang="zh-CN" sz="20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r>
              <a:rPr lang="zh-CN" altLang="en-US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联赛分初赛和复赛两个阶段。初赛考察计算机科学基础知识，以笔试形式（做试卷）进行。复赛为编程，须在计算机上编程完成。参加初赛者须达到一定分数线后才有资格参加复赛。联赛分普及组和提高组两个组别，难度不同，分别面向初中和高中阶段的学生，也就是一般初中生参加普及组，高中生参加提高组。有些省市小学生也可以向特派员报名参赛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38F04A-84B0-4E5D-A1A7-EE43D6EF2A66}" type="slidenum">
              <a:rPr lang="zh-CN" altLang="en-US" smtClean="0"/>
              <a:pPr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91331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12185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CN" altLang="en-US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全国青少年信息学奥林匹克（</a:t>
            </a:r>
            <a:r>
              <a:rPr lang="en-US" altLang="zh-CN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NOI</a:t>
            </a:r>
            <a:r>
              <a:rPr lang="zh-CN" altLang="en-US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）是国内包括港澳在内的省级代表队最高水平的大赛，自</a:t>
            </a:r>
            <a:r>
              <a:rPr lang="en-US" altLang="zh-CN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1984</a:t>
            </a:r>
            <a:r>
              <a:rPr lang="zh-CN" altLang="en-US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年至今，在国内包括香港、澳门组织竞赛活动。每年经各省选拔产生</a:t>
            </a:r>
            <a:r>
              <a:rPr lang="en-US" altLang="zh-CN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5</a:t>
            </a:r>
            <a:r>
              <a:rPr lang="zh-CN" altLang="en-US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名选手（其中一名是女选手），由中国计算机学会在计算机普及较好的城市组织进行比赛。这一竞赛记个人成绩，同时记团体总分。</a:t>
            </a:r>
            <a:endParaRPr lang="en-US" altLang="zh-CN" sz="18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r>
              <a:rPr lang="en-US" altLang="zh-CN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NOIP</a:t>
            </a:r>
            <a:r>
              <a:rPr lang="zh-CN" altLang="en-US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是全国青少年信息学奥林匹克联赛。每年由中国计算机学会统一组织比赛。</a:t>
            </a:r>
            <a:endParaRPr lang="en-US" altLang="zh-CN" sz="20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endParaRPr lang="en-US" altLang="zh-CN" sz="20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r>
              <a:rPr lang="en-US" altLang="zh-CN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NOIP</a:t>
            </a:r>
            <a:r>
              <a:rPr lang="zh-CN" altLang="en-US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。全国统一大纲、统一试卷。初、高中或其他中等专业学校的学生可报名参加联赛。</a:t>
            </a:r>
            <a:endParaRPr lang="en-US" altLang="zh-CN" sz="20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endParaRPr lang="en-US" altLang="zh-CN" sz="20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r>
              <a:rPr lang="zh-CN" altLang="en-US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联赛分初赛和复赛两个阶段。初赛考察计算机科学基础知识，以笔试形式（做试卷）进行。复赛为编程，须在计算机上编程完成。参加初赛者须达到一定分数线后才有资格参加复赛。联赛分普及组和提高组两个组别，难度不同，分别面向初中和高中阶段的学生，也就是一般初中生参加普及组，高中生参加提高组。有些省市小学生也可以向特派员报名参赛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38F04A-84B0-4E5D-A1A7-EE43D6EF2A66}" type="slidenum">
              <a:rPr lang="zh-CN" altLang="en-US" smtClean="0"/>
              <a:pPr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874839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12185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CN" altLang="en-US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全国青少年信息学奥林匹克（</a:t>
            </a:r>
            <a:r>
              <a:rPr lang="en-US" altLang="zh-CN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NOI</a:t>
            </a:r>
            <a:r>
              <a:rPr lang="zh-CN" altLang="en-US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）是国内包括港澳在内的省级代表队最高水平的大赛，自</a:t>
            </a:r>
            <a:r>
              <a:rPr lang="en-US" altLang="zh-CN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1984</a:t>
            </a:r>
            <a:r>
              <a:rPr lang="zh-CN" altLang="en-US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年至今，在国内包括香港、澳门组织竞赛活动。每年经各省选拔产生</a:t>
            </a:r>
            <a:r>
              <a:rPr lang="en-US" altLang="zh-CN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5</a:t>
            </a:r>
            <a:r>
              <a:rPr lang="zh-CN" altLang="en-US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名选手（其中一名是女选手），由中国计算机学会在计算机普及较好的城市组织进行比赛。这一竞赛记个人成绩，同时记团体总分。</a:t>
            </a:r>
            <a:endParaRPr lang="en-US" altLang="zh-CN" sz="18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r>
              <a:rPr lang="en-US" altLang="zh-CN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NOIP</a:t>
            </a:r>
            <a:r>
              <a:rPr lang="zh-CN" altLang="en-US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是全国青少年信息学奥林匹克联赛。每年由中国计算机学会统一组织比赛。</a:t>
            </a:r>
            <a:endParaRPr lang="en-US" altLang="zh-CN" sz="20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endParaRPr lang="en-US" altLang="zh-CN" sz="20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r>
              <a:rPr lang="en-US" altLang="zh-CN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NOIP</a:t>
            </a:r>
            <a:r>
              <a:rPr lang="zh-CN" altLang="en-US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。全国统一大纲、统一试卷。初、高中或其他中等专业学校的学生可报名参加联赛。</a:t>
            </a:r>
            <a:endParaRPr lang="en-US" altLang="zh-CN" sz="20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endParaRPr lang="en-US" altLang="zh-CN" sz="20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r>
              <a:rPr lang="zh-CN" altLang="en-US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联赛分初赛和复赛两个阶段。初赛考察计算机科学基础知识，以笔试形式（做试卷）进行。复赛为编程，须在计算机上编程完成。参加初赛者须达到一定分数线后才有资格参加复赛。联赛分普及组和提高组两个组别，难度不同，分别面向初中和高中阶段的学生，也就是一般初中生参加普及组，高中生参加提高组。有些省市小学生也可以向特派员报名参赛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38F04A-84B0-4E5D-A1A7-EE43D6EF2A66}" type="slidenum">
              <a:rPr lang="zh-CN" altLang="en-US" smtClean="0"/>
              <a:pPr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917987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12185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CN" altLang="en-US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全国青少年信息学奥林匹克（</a:t>
            </a:r>
            <a:r>
              <a:rPr lang="en-US" altLang="zh-CN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NOI</a:t>
            </a:r>
            <a:r>
              <a:rPr lang="zh-CN" altLang="en-US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）是国内包括港澳在内的省级代表队最高水平的大赛，自</a:t>
            </a:r>
            <a:r>
              <a:rPr lang="en-US" altLang="zh-CN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1984</a:t>
            </a:r>
            <a:r>
              <a:rPr lang="zh-CN" altLang="en-US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年至今，在国内包括香港、澳门组织竞赛活动。每年经各省选拔产生</a:t>
            </a:r>
            <a:r>
              <a:rPr lang="en-US" altLang="zh-CN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5</a:t>
            </a:r>
            <a:r>
              <a:rPr lang="zh-CN" altLang="en-US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名选手（其中一名是女选手），由中国计算机学会在计算机普及较好的城市组织进行比赛。这一竞赛记个人成绩，同时记团体总分。</a:t>
            </a:r>
            <a:endParaRPr lang="en-US" altLang="zh-CN" sz="18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r>
              <a:rPr lang="en-US" altLang="zh-CN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NOIP</a:t>
            </a:r>
            <a:r>
              <a:rPr lang="zh-CN" altLang="en-US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是全国青少年信息学奥林匹克联赛。每年由中国计算机学会统一组织比赛。</a:t>
            </a:r>
            <a:endParaRPr lang="en-US" altLang="zh-CN" sz="20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endParaRPr lang="en-US" altLang="zh-CN" sz="20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r>
              <a:rPr lang="en-US" altLang="zh-CN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NOIP</a:t>
            </a:r>
            <a:r>
              <a:rPr lang="zh-CN" altLang="en-US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。全国统一大纲、统一试卷。初、高中或其他中等专业学校的学生可报名参加联赛。</a:t>
            </a:r>
            <a:endParaRPr lang="en-US" altLang="zh-CN" sz="20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endParaRPr lang="en-US" altLang="zh-CN" sz="20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r>
              <a:rPr lang="zh-CN" altLang="en-US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联赛分初赛和复赛两个阶段。初赛考察计算机科学基础知识，以笔试形式（做试卷）进行。复赛为编程，须在计算机上编程完成。参加初赛者须达到一定分数线后才有资格参加复赛。联赛分普及组和提高组两个组别，难度不同，分别面向初中和高中阶段的学生，也就是一般初中生参加普及组，高中生参加提高组。有些省市小学生也可以向特派员报名参赛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38F04A-84B0-4E5D-A1A7-EE43D6EF2A66}" type="slidenum">
              <a:rPr lang="zh-CN" altLang="en-US" smtClean="0"/>
              <a:pPr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221873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12185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CN" altLang="en-US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全国青少年信息学奥林匹克（</a:t>
            </a:r>
            <a:r>
              <a:rPr lang="en-US" altLang="zh-CN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NOI</a:t>
            </a:r>
            <a:r>
              <a:rPr lang="zh-CN" altLang="en-US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）是国内包括港澳在内的省级代表队最高水平的大赛，自</a:t>
            </a:r>
            <a:r>
              <a:rPr lang="en-US" altLang="zh-CN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1984</a:t>
            </a:r>
            <a:r>
              <a:rPr lang="zh-CN" altLang="en-US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年至今，在国内包括香港、澳门组织竞赛活动。每年经各省选拔产生</a:t>
            </a:r>
            <a:r>
              <a:rPr lang="en-US" altLang="zh-CN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5</a:t>
            </a:r>
            <a:r>
              <a:rPr lang="zh-CN" altLang="en-US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名选手（其中一名是女选手），由中国计算机学会在计算机普及较好的城市组织进行比赛。这一竞赛记个人成绩，同时记团体总分。</a:t>
            </a:r>
            <a:endParaRPr lang="en-US" altLang="zh-CN" sz="18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r>
              <a:rPr lang="en-US" altLang="zh-CN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NOIP</a:t>
            </a:r>
            <a:r>
              <a:rPr lang="zh-CN" altLang="en-US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是全国青少年信息学奥林匹克联赛。每年由中国计算机学会统一组织比赛。</a:t>
            </a:r>
            <a:endParaRPr lang="en-US" altLang="zh-CN" sz="20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endParaRPr lang="en-US" altLang="zh-CN" sz="20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r>
              <a:rPr lang="en-US" altLang="zh-CN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NOIP</a:t>
            </a:r>
            <a:r>
              <a:rPr lang="zh-CN" altLang="en-US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。全国统一大纲、统一试卷。初、高中或其他中等专业学校的学生可报名参加联赛。</a:t>
            </a:r>
            <a:endParaRPr lang="en-US" altLang="zh-CN" sz="20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endParaRPr lang="en-US" altLang="zh-CN" sz="20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r>
              <a:rPr lang="zh-CN" altLang="en-US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联赛分初赛和复赛两个阶段。初赛考察计算机科学基础知识，以笔试形式（做试卷）进行。复赛为编程，须在计算机上编程完成。参加初赛者须达到一定分数线后才有资格参加复赛。联赛分普及组和提高组两个组别，难度不同，分别面向初中和高中阶段的学生，也就是一般初中生参加普及组，高中生参加提高组。有些省市小学生也可以向特派员报名参赛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38F04A-84B0-4E5D-A1A7-EE43D6EF2A66}" type="slidenum">
              <a:rPr lang="zh-CN" altLang="en-US" smtClean="0"/>
              <a:pPr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427694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12185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CN" altLang="en-US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全国青少年信息学奥林匹克（</a:t>
            </a:r>
            <a:r>
              <a:rPr lang="en-US" altLang="zh-CN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NOI</a:t>
            </a:r>
            <a:r>
              <a:rPr lang="zh-CN" altLang="en-US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）是国内包括港澳在内的省级代表队最高水平的大赛，自</a:t>
            </a:r>
            <a:r>
              <a:rPr lang="en-US" altLang="zh-CN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1984</a:t>
            </a:r>
            <a:r>
              <a:rPr lang="zh-CN" altLang="en-US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年至今，在国内包括香港、澳门组织竞赛活动。每年经各省选拔产生</a:t>
            </a:r>
            <a:r>
              <a:rPr lang="en-US" altLang="zh-CN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5</a:t>
            </a:r>
            <a:r>
              <a:rPr lang="zh-CN" altLang="en-US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名选手（其中一名是女选手），由中国计算机学会在计算机普及较好的城市组织进行比赛。这一竞赛记个人成绩，同时记团体总分。</a:t>
            </a:r>
            <a:endParaRPr lang="en-US" altLang="zh-CN" sz="18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r>
              <a:rPr lang="en-US" altLang="zh-CN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NOIP</a:t>
            </a:r>
            <a:r>
              <a:rPr lang="zh-CN" altLang="en-US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是全国青少年信息学奥林匹克联赛。每年由中国计算机学会统一组织比赛。</a:t>
            </a:r>
            <a:endParaRPr lang="en-US" altLang="zh-CN" sz="20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endParaRPr lang="en-US" altLang="zh-CN" sz="20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r>
              <a:rPr lang="en-US" altLang="zh-CN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NOIP</a:t>
            </a:r>
            <a:r>
              <a:rPr lang="zh-CN" altLang="en-US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。全国统一大纲、统一试卷。初、高中或其他中等专业学校的学生可报名参加联赛。</a:t>
            </a:r>
            <a:endParaRPr lang="en-US" altLang="zh-CN" sz="20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endParaRPr lang="en-US" altLang="zh-CN" sz="20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r>
              <a:rPr lang="zh-CN" altLang="en-US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联赛分初赛和复赛两个阶段。初赛考察计算机科学基础知识，以笔试形式（做试卷）进行。复赛为编程，须在计算机上编程完成。参加初赛者须达到一定分数线后才有资格参加复赛。联赛分普及组和提高组两个组别，难度不同，分别面向初中和高中阶段的学生，也就是一般初中生参加普及组，高中生参加提高组。有些省市小学生也可以向特派员报名参赛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38F04A-84B0-4E5D-A1A7-EE43D6EF2A66}" type="slidenum">
              <a:rPr lang="zh-CN" altLang="en-US" smtClean="0"/>
              <a:pPr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615518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12185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CN" altLang="en-US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全国青少年信息学奥林匹克（</a:t>
            </a:r>
            <a:r>
              <a:rPr lang="en-US" altLang="zh-CN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NOI</a:t>
            </a:r>
            <a:r>
              <a:rPr lang="zh-CN" altLang="en-US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）是国内包括港澳在内的省级代表队最高水平的大赛，自</a:t>
            </a:r>
            <a:r>
              <a:rPr lang="en-US" altLang="zh-CN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1984</a:t>
            </a:r>
            <a:r>
              <a:rPr lang="zh-CN" altLang="en-US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年至今，在国内包括香港、澳门组织竞赛活动。每年经各省选拔产生</a:t>
            </a:r>
            <a:r>
              <a:rPr lang="en-US" altLang="zh-CN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5</a:t>
            </a:r>
            <a:r>
              <a:rPr lang="zh-CN" altLang="en-US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名选手（其中一名是女选手），由中国计算机学会在计算机普及较好的城市组织进行比赛。这一竞赛记个人成绩，同时记团体总分。</a:t>
            </a:r>
            <a:endParaRPr lang="en-US" altLang="zh-CN" sz="18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r>
              <a:rPr lang="en-US" altLang="zh-CN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NOIP</a:t>
            </a:r>
            <a:r>
              <a:rPr lang="zh-CN" altLang="en-US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是全国青少年信息学奥林匹克联赛。每年由中国计算机学会统一组织比赛。</a:t>
            </a:r>
            <a:endParaRPr lang="en-US" altLang="zh-CN" sz="20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endParaRPr lang="en-US" altLang="zh-CN" sz="20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r>
              <a:rPr lang="en-US" altLang="zh-CN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NOIP</a:t>
            </a:r>
            <a:r>
              <a:rPr lang="zh-CN" altLang="en-US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。全国统一大纲、统一试卷。初、高中或其他中等专业学校的学生可报名参加联赛。</a:t>
            </a:r>
            <a:endParaRPr lang="en-US" altLang="zh-CN" sz="20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endParaRPr lang="en-US" altLang="zh-CN" sz="20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r>
              <a:rPr lang="zh-CN" altLang="en-US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联赛分初赛和复赛两个阶段。初赛考察计算机科学基础知识，以笔试形式（做试卷）进行。复赛为编程，须在计算机上编程完成。参加初赛者须达到一定分数线后才有资格参加复赛。联赛分普及组和提高组两个组别，难度不同，分别面向初中和高中阶段的学生，也就是一般初中生参加普及组，高中生参加提高组。有些省市小学生也可以向特派员报名参赛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38F04A-84B0-4E5D-A1A7-EE43D6EF2A66}" type="slidenum">
              <a:rPr lang="zh-CN" altLang="en-US" smtClean="0"/>
              <a:pPr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390120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12185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CN" altLang="en-US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全国青少年信息学奥林匹克（</a:t>
            </a:r>
            <a:r>
              <a:rPr lang="en-US" altLang="zh-CN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NOI</a:t>
            </a:r>
            <a:r>
              <a:rPr lang="zh-CN" altLang="en-US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）是国内包括港澳在内的省级代表队最高水平的大赛，自</a:t>
            </a:r>
            <a:r>
              <a:rPr lang="en-US" altLang="zh-CN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1984</a:t>
            </a:r>
            <a:r>
              <a:rPr lang="zh-CN" altLang="en-US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年至今，在国内包括香港、澳门组织竞赛活动。每年经各省选拔产生</a:t>
            </a:r>
            <a:r>
              <a:rPr lang="en-US" altLang="zh-CN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5</a:t>
            </a:r>
            <a:r>
              <a:rPr lang="zh-CN" altLang="en-US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名选手（其中一名是女选手），由中国计算机学会在计算机普及较好的城市组织进行比赛。这一竞赛记个人成绩，同时记团体总分。</a:t>
            </a:r>
            <a:endParaRPr lang="en-US" altLang="zh-CN" sz="18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r>
              <a:rPr lang="en-US" altLang="zh-CN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NOIP</a:t>
            </a:r>
            <a:r>
              <a:rPr lang="zh-CN" altLang="en-US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是全国青少年信息学奥林匹克联赛。每年由中国计算机学会统一组织比赛。</a:t>
            </a:r>
            <a:endParaRPr lang="en-US" altLang="zh-CN" sz="20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endParaRPr lang="en-US" altLang="zh-CN" sz="20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r>
              <a:rPr lang="en-US" altLang="zh-CN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NOIP</a:t>
            </a:r>
            <a:r>
              <a:rPr lang="zh-CN" altLang="en-US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。全国统一大纲、统一试卷。初、高中或其他中等专业学校的学生可报名参加联赛。</a:t>
            </a:r>
            <a:endParaRPr lang="en-US" altLang="zh-CN" sz="20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endParaRPr lang="en-US" altLang="zh-CN" sz="20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r>
              <a:rPr lang="zh-CN" altLang="en-US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联赛分初赛和复赛两个阶段。初赛考察计算机科学基础知识，以笔试形式（做试卷）进行。复赛为编程，须在计算机上编程完成。参加初赛者须达到一定分数线后才有资格参加复赛。联赛分普及组和提高组两个组别，难度不同，分别面向初中和高中阶段的学生，也就是一般初中生参加普及组，高中生参加提高组。有些省市小学生也可以向特派员报名参赛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38F04A-84B0-4E5D-A1A7-EE43D6EF2A66}" type="slidenum">
              <a:rPr lang="zh-CN" altLang="en-US" smtClean="0"/>
              <a:pPr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863305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12185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CN" altLang="en-US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全国青少年信息学奥林匹克（</a:t>
            </a:r>
            <a:r>
              <a:rPr lang="en-US" altLang="zh-CN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NOI</a:t>
            </a:r>
            <a:r>
              <a:rPr lang="zh-CN" altLang="en-US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）是国内包括港澳在内的省级代表队最高水平的大赛，自</a:t>
            </a:r>
            <a:r>
              <a:rPr lang="en-US" altLang="zh-CN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1984</a:t>
            </a:r>
            <a:r>
              <a:rPr lang="zh-CN" altLang="en-US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年至今，在国内包括香港、澳门组织竞赛活动。每年经各省选拔产生</a:t>
            </a:r>
            <a:r>
              <a:rPr lang="en-US" altLang="zh-CN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5</a:t>
            </a:r>
            <a:r>
              <a:rPr lang="zh-CN" altLang="en-US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名选手（其中一名是女选手），由中国计算机学会在计算机普及较好的城市组织进行比赛。这一竞赛记个人成绩，同时记团体总分。</a:t>
            </a:r>
            <a:endParaRPr lang="en-US" altLang="zh-CN" sz="18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r>
              <a:rPr lang="en-US" altLang="zh-CN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NOIP</a:t>
            </a:r>
            <a:r>
              <a:rPr lang="zh-CN" altLang="en-US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是全国青少年信息学奥林匹克联赛。每年由中国计算机学会统一组织比赛。</a:t>
            </a:r>
            <a:endParaRPr lang="en-US" altLang="zh-CN" sz="20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endParaRPr lang="en-US" altLang="zh-CN" sz="20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r>
              <a:rPr lang="en-US" altLang="zh-CN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NOIP</a:t>
            </a:r>
            <a:r>
              <a:rPr lang="zh-CN" altLang="en-US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。全国统一大纲、统一试卷。初、高中或其他中等专业学校的学生可报名参加联赛。</a:t>
            </a:r>
            <a:endParaRPr lang="en-US" altLang="zh-CN" sz="20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endParaRPr lang="en-US" altLang="zh-CN" sz="20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r>
              <a:rPr lang="zh-CN" altLang="en-US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联赛分初赛和复赛两个阶段。初赛考察计算机科学基础知识，以笔试形式（做试卷）进行。复赛为编程，须在计算机上编程完成。参加初赛者须达到一定分数线后才有资格参加复赛。联赛分普及组和提高组两个组别，难度不同，分别面向初中和高中阶段的学生，也就是一般初中生参加普及组，高中生参加提高组。有些省市小学生也可以向特派员报名参赛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38F04A-84B0-4E5D-A1A7-EE43D6EF2A66}" type="slidenum">
              <a:rPr lang="zh-CN" altLang="en-US" smtClean="0"/>
              <a:pPr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8331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gif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gif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gif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gif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gi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 77"/>
          <p:cNvSpPr>
            <a:spLocks noEditPoints="1"/>
          </p:cNvSpPr>
          <p:nvPr userDrawn="1"/>
        </p:nvSpPr>
        <p:spPr bwMode="auto">
          <a:xfrm rot="20644514">
            <a:off x="1047441" y="681857"/>
            <a:ext cx="1042017" cy="802702"/>
          </a:xfrm>
          <a:custGeom>
            <a:avLst/>
            <a:gdLst/>
            <a:ahLst/>
            <a:cxnLst>
              <a:cxn ang="0">
                <a:pos x="402" y="8"/>
              </a:cxn>
              <a:cxn ang="0">
                <a:pos x="402" y="6"/>
              </a:cxn>
              <a:cxn ang="0">
                <a:pos x="398" y="2"/>
              </a:cxn>
              <a:cxn ang="0">
                <a:pos x="242" y="0"/>
              </a:cxn>
              <a:cxn ang="0">
                <a:pos x="232" y="2"/>
              </a:cxn>
              <a:cxn ang="0">
                <a:pos x="216" y="10"/>
              </a:cxn>
              <a:cxn ang="0">
                <a:pos x="210" y="18"/>
              </a:cxn>
              <a:cxn ang="0">
                <a:pos x="210" y="18"/>
              </a:cxn>
              <a:cxn ang="0">
                <a:pos x="196" y="6"/>
              </a:cxn>
              <a:cxn ang="0">
                <a:pos x="178" y="0"/>
              </a:cxn>
              <a:cxn ang="0">
                <a:pos x="26" y="0"/>
              </a:cxn>
              <a:cxn ang="0">
                <a:pos x="20" y="4"/>
              </a:cxn>
              <a:cxn ang="0">
                <a:pos x="16" y="8"/>
              </a:cxn>
              <a:cxn ang="0">
                <a:pos x="0" y="34"/>
              </a:cxn>
              <a:cxn ang="0">
                <a:pos x="174" y="306"/>
              </a:cxn>
              <a:cxn ang="0">
                <a:pos x="182" y="314"/>
              </a:cxn>
              <a:cxn ang="0">
                <a:pos x="200" y="322"/>
              </a:cxn>
              <a:cxn ang="0">
                <a:pos x="210" y="322"/>
              </a:cxn>
              <a:cxn ang="0">
                <a:pos x="230" y="318"/>
              </a:cxn>
              <a:cxn ang="0">
                <a:pos x="246" y="306"/>
              </a:cxn>
              <a:cxn ang="0">
                <a:pos x="418" y="34"/>
              </a:cxn>
              <a:cxn ang="0">
                <a:pos x="34" y="18"/>
              </a:cxn>
              <a:cxn ang="0">
                <a:pos x="178" y="18"/>
              </a:cxn>
              <a:cxn ang="0">
                <a:pos x="194" y="24"/>
              </a:cxn>
              <a:cxn ang="0">
                <a:pos x="202" y="42"/>
              </a:cxn>
              <a:cxn ang="0">
                <a:pos x="202" y="194"/>
              </a:cxn>
              <a:cxn ang="0">
                <a:pos x="204" y="200"/>
              </a:cxn>
              <a:cxn ang="0">
                <a:pos x="210" y="202"/>
              </a:cxn>
              <a:cxn ang="0">
                <a:pos x="212" y="202"/>
              </a:cxn>
              <a:cxn ang="0">
                <a:pos x="218" y="198"/>
              </a:cxn>
              <a:cxn ang="0">
                <a:pos x="218" y="42"/>
              </a:cxn>
              <a:cxn ang="0">
                <a:pos x="220" y="32"/>
              </a:cxn>
              <a:cxn ang="0">
                <a:pos x="232" y="18"/>
              </a:cxn>
              <a:cxn ang="0">
                <a:pos x="386" y="18"/>
              </a:cxn>
              <a:cxn ang="0">
                <a:pos x="242" y="274"/>
              </a:cxn>
              <a:cxn ang="0">
                <a:pos x="232" y="276"/>
              </a:cxn>
              <a:cxn ang="0">
                <a:pos x="216" y="284"/>
              </a:cxn>
              <a:cxn ang="0">
                <a:pos x="210" y="290"/>
              </a:cxn>
              <a:cxn ang="0">
                <a:pos x="210" y="290"/>
              </a:cxn>
              <a:cxn ang="0">
                <a:pos x="196" y="278"/>
              </a:cxn>
              <a:cxn ang="0">
                <a:pos x="178" y="274"/>
              </a:cxn>
              <a:cxn ang="0">
                <a:pos x="34" y="18"/>
              </a:cxn>
            </a:cxnLst>
            <a:rect l="0" t="0" r="r" b="b"/>
            <a:pathLst>
              <a:path w="418" h="322">
                <a:moveTo>
                  <a:pt x="402" y="34"/>
                </a:moveTo>
                <a:lnTo>
                  <a:pt x="402" y="8"/>
                </a:lnTo>
                <a:lnTo>
                  <a:pt x="402" y="8"/>
                </a:lnTo>
                <a:lnTo>
                  <a:pt x="402" y="6"/>
                </a:lnTo>
                <a:lnTo>
                  <a:pt x="400" y="4"/>
                </a:lnTo>
                <a:lnTo>
                  <a:pt x="398" y="2"/>
                </a:lnTo>
                <a:lnTo>
                  <a:pt x="394" y="0"/>
                </a:lnTo>
                <a:lnTo>
                  <a:pt x="242" y="0"/>
                </a:lnTo>
                <a:lnTo>
                  <a:pt x="242" y="0"/>
                </a:lnTo>
                <a:lnTo>
                  <a:pt x="232" y="2"/>
                </a:lnTo>
                <a:lnTo>
                  <a:pt x="224" y="6"/>
                </a:lnTo>
                <a:lnTo>
                  <a:pt x="216" y="10"/>
                </a:lnTo>
                <a:lnTo>
                  <a:pt x="210" y="18"/>
                </a:lnTo>
                <a:lnTo>
                  <a:pt x="210" y="18"/>
                </a:lnTo>
                <a:lnTo>
                  <a:pt x="210" y="18"/>
                </a:lnTo>
                <a:lnTo>
                  <a:pt x="210" y="18"/>
                </a:lnTo>
                <a:lnTo>
                  <a:pt x="204" y="10"/>
                </a:lnTo>
                <a:lnTo>
                  <a:pt x="196" y="6"/>
                </a:lnTo>
                <a:lnTo>
                  <a:pt x="188" y="2"/>
                </a:lnTo>
                <a:lnTo>
                  <a:pt x="178" y="0"/>
                </a:lnTo>
                <a:lnTo>
                  <a:pt x="26" y="0"/>
                </a:lnTo>
                <a:lnTo>
                  <a:pt x="26" y="0"/>
                </a:lnTo>
                <a:lnTo>
                  <a:pt x="22" y="2"/>
                </a:lnTo>
                <a:lnTo>
                  <a:pt x="20" y="4"/>
                </a:lnTo>
                <a:lnTo>
                  <a:pt x="18" y="6"/>
                </a:lnTo>
                <a:lnTo>
                  <a:pt x="16" y="8"/>
                </a:lnTo>
                <a:lnTo>
                  <a:pt x="16" y="34"/>
                </a:lnTo>
                <a:lnTo>
                  <a:pt x="0" y="34"/>
                </a:lnTo>
                <a:lnTo>
                  <a:pt x="0" y="306"/>
                </a:lnTo>
                <a:lnTo>
                  <a:pt x="174" y="306"/>
                </a:lnTo>
                <a:lnTo>
                  <a:pt x="174" y="306"/>
                </a:lnTo>
                <a:lnTo>
                  <a:pt x="182" y="314"/>
                </a:lnTo>
                <a:lnTo>
                  <a:pt x="190" y="318"/>
                </a:lnTo>
                <a:lnTo>
                  <a:pt x="200" y="322"/>
                </a:lnTo>
                <a:lnTo>
                  <a:pt x="210" y="322"/>
                </a:lnTo>
                <a:lnTo>
                  <a:pt x="210" y="322"/>
                </a:lnTo>
                <a:lnTo>
                  <a:pt x="220" y="322"/>
                </a:lnTo>
                <a:lnTo>
                  <a:pt x="230" y="318"/>
                </a:lnTo>
                <a:lnTo>
                  <a:pt x="238" y="314"/>
                </a:lnTo>
                <a:lnTo>
                  <a:pt x="246" y="306"/>
                </a:lnTo>
                <a:lnTo>
                  <a:pt x="418" y="306"/>
                </a:lnTo>
                <a:lnTo>
                  <a:pt x="418" y="34"/>
                </a:lnTo>
                <a:lnTo>
                  <a:pt x="402" y="34"/>
                </a:lnTo>
                <a:close/>
                <a:moveTo>
                  <a:pt x="34" y="18"/>
                </a:moveTo>
                <a:lnTo>
                  <a:pt x="178" y="18"/>
                </a:lnTo>
                <a:lnTo>
                  <a:pt x="178" y="18"/>
                </a:lnTo>
                <a:lnTo>
                  <a:pt x="188" y="18"/>
                </a:lnTo>
                <a:lnTo>
                  <a:pt x="194" y="24"/>
                </a:lnTo>
                <a:lnTo>
                  <a:pt x="200" y="32"/>
                </a:lnTo>
                <a:lnTo>
                  <a:pt x="202" y="42"/>
                </a:lnTo>
                <a:lnTo>
                  <a:pt x="202" y="194"/>
                </a:lnTo>
                <a:lnTo>
                  <a:pt x="202" y="194"/>
                </a:lnTo>
                <a:lnTo>
                  <a:pt x="202" y="198"/>
                </a:lnTo>
                <a:lnTo>
                  <a:pt x="204" y="200"/>
                </a:lnTo>
                <a:lnTo>
                  <a:pt x="206" y="202"/>
                </a:lnTo>
                <a:lnTo>
                  <a:pt x="210" y="202"/>
                </a:lnTo>
                <a:lnTo>
                  <a:pt x="210" y="202"/>
                </a:lnTo>
                <a:lnTo>
                  <a:pt x="212" y="202"/>
                </a:lnTo>
                <a:lnTo>
                  <a:pt x="216" y="200"/>
                </a:lnTo>
                <a:lnTo>
                  <a:pt x="218" y="198"/>
                </a:lnTo>
                <a:lnTo>
                  <a:pt x="218" y="194"/>
                </a:lnTo>
                <a:lnTo>
                  <a:pt x="218" y="42"/>
                </a:lnTo>
                <a:lnTo>
                  <a:pt x="218" y="42"/>
                </a:lnTo>
                <a:lnTo>
                  <a:pt x="220" y="32"/>
                </a:lnTo>
                <a:lnTo>
                  <a:pt x="224" y="24"/>
                </a:lnTo>
                <a:lnTo>
                  <a:pt x="232" y="18"/>
                </a:lnTo>
                <a:lnTo>
                  <a:pt x="242" y="18"/>
                </a:lnTo>
                <a:lnTo>
                  <a:pt x="386" y="18"/>
                </a:lnTo>
                <a:lnTo>
                  <a:pt x="386" y="274"/>
                </a:lnTo>
                <a:lnTo>
                  <a:pt x="242" y="274"/>
                </a:lnTo>
                <a:lnTo>
                  <a:pt x="242" y="274"/>
                </a:lnTo>
                <a:lnTo>
                  <a:pt x="232" y="276"/>
                </a:lnTo>
                <a:lnTo>
                  <a:pt x="224" y="278"/>
                </a:lnTo>
                <a:lnTo>
                  <a:pt x="216" y="284"/>
                </a:lnTo>
                <a:lnTo>
                  <a:pt x="210" y="290"/>
                </a:lnTo>
                <a:lnTo>
                  <a:pt x="210" y="290"/>
                </a:lnTo>
                <a:lnTo>
                  <a:pt x="210" y="290"/>
                </a:lnTo>
                <a:lnTo>
                  <a:pt x="210" y="290"/>
                </a:lnTo>
                <a:lnTo>
                  <a:pt x="204" y="284"/>
                </a:lnTo>
                <a:lnTo>
                  <a:pt x="196" y="278"/>
                </a:lnTo>
                <a:lnTo>
                  <a:pt x="188" y="276"/>
                </a:lnTo>
                <a:lnTo>
                  <a:pt x="178" y="274"/>
                </a:lnTo>
                <a:lnTo>
                  <a:pt x="34" y="274"/>
                </a:lnTo>
                <a:lnTo>
                  <a:pt x="34" y="18"/>
                </a:lnTo>
                <a:close/>
              </a:path>
            </a:pathLst>
          </a:custGeom>
          <a:solidFill>
            <a:schemeClr val="bg1">
              <a:alpha val="10000"/>
            </a:schemeClr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Freeform 363"/>
          <p:cNvSpPr>
            <a:spLocks noEditPoints="1"/>
          </p:cNvSpPr>
          <p:nvPr userDrawn="1"/>
        </p:nvSpPr>
        <p:spPr bwMode="auto">
          <a:xfrm rot="1658487">
            <a:off x="6583748" y="312642"/>
            <a:ext cx="773335" cy="770514"/>
          </a:xfrm>
          <a:custGeom>
            <a:avLst/>
            <a:gdLst>
              <a:gd name="T0" fmla="*/ 145 w 274"/>
              <a:gd name="T1" fmla="*/ 262 h 273"/>
              <a:gd name="T2" fmla="*/ 189 w 274"/>
              <a:gd name="T3" fmla="*/ 204 h 273"/>
              <a:gd name="T4" fmla="*/ 263 w 274"/>
              <a:gd name="T5" fmla="*/ 204 h 273"/>
              <a:gd name="T6" fmla="*/ 216 w 274"/>
              <a:gd name="T7" fmla="*/ 217 h 273"/>
              <a:gd name="T8" fmla="*/ 104 w 274"/>
              <a:gd name="T9" fmla="*/ 199 h 273"/>
              <a:gd name="T10" fmla="*/ 55 w 274"/>
              <a:gd name="T11" fmla="*/ 186 h 273"/>
              <a:gd name="T12" fmla="*/ 14 w 274"/>
              <a:gd name="T13" fmla="*/ 168 h 273"/>
              <a:gd name="T14" fmla="*/ 44 w 274"/>
              <a:gd name="T15" fmla="*/ 207 h 273"/>
              <a:gd name="T16" fmla="*/ 45 w 274"/>
              <a:gd name="T17" fmla="*/ 217 h 273"/>
              <a:gd name="T18" fmla="*/ 95 w 274"/>
              <a:gd name="T19" fmla="*/ 254 h 273"/>
              <a:gd name="T20" fmla="*/ 86 w 274"/>
              <a:gd name="T21" fmla="*/ 232 h 273"/>
              <a:gd name="T22" fmla="*/ 114 w 274"/>
              <a:gd name="T23" fmla="*/ 255 h 273"/>
              <a:gd name="T24" fmla="*/ 131 w 274"/>
              <a:gd name="T25" fmla="*/ 196 h 273"/>
              <a:gd name="T26" fmla="*/ 110 w 274"/>
              <a:gd name="T27" fmla="*/ 189 h 273"/>
              <a:gd name="T28" fmla="*/ 132 w 274"/>
              <a:gd name="T29" fmla="*/ 145 h 273"/>
              <a:gd name="T30" fmla="*/ 74 w 274"/>
              <a:gd name="T31" fmla="*/ 145 h 273"/>
              <a:gd name="T32" fmla="*/ 67 w 274"/>
              <a:gd name="T33" fmla="*/ 166 h 273"/>
              <a:gd name="T34" fmla="*/ 205 w 274"/>
              <a:gd name="T35" fmla="*/ 111 h 273"/>
              <a:gd name="T36" fmla="*/ 192 w 274"/>
              <a:gd name="T37" fmla="*/ 159 h 273"/>
              <a:gd name="T38" fmla="*/ 150 w 274"/>
              <a:gd name="T39" fmla="*/ 59 h 273"/>
              <a:gd name="T40" fmla="*/ 114 w 274"/>
              <a:gd name="T41" fmla="*/ 94 h 273"/>
              <a:gd name="T42" fmla="*/ 57 w 274"/>
              <a:gd name="T43" fmla="*/ 42 h 273"/>
              <a:gd name="T44" fmla="*/ 9 w 274"/>
              <a:gd name="T45" fmla="*/ 55 h 273"/>
              <a:gd name="T46" fmla="*/ 178 w 274"/>
              <a:gd name="T47" fmla="*/ 23 h 273"/>
              <a:gd name="T48" fmla="*/ 230 w 274"/>
              <a:gd name="T49" fmla="*/ 57 h 273"/>
              <a:gd name="T50" fmla="*/ 137 w 274"/>
              <a:gd name="T51" fmla="*/ 0 h 273"/>
              <a:gd name="T52" fmla="*/ 271 w 274"/>
              <a:gd name="T53" fmla="*/ 108 h 273"/>
              <a:gd name="T54" fmla="*/ 257 w 274"/>
              <a:gd name="T55" fmla="*/ 189 h 273"/>
              <a:gd name="T56" fmla="*/ 260 w 274"/>
              <a:gd name="T57" fmla="*/ 142 h 273"/>
              <a:gd name="T58" fmla="*/ 238 w 274"/>
              <a:gd name="T59" fmla="*/ 133 h 273"/>
              <a:gd name="T60" fmla="*/ 261 w 274"/>
              <a:gd name="T61" fmla="*/ 105 h 273"/>
              <a:gd name="T62" fmla="*/ 206 w 274"/>
              <a:gd name="T63" fmla="*/ 76 h 273"/>
              <a:gd name="T64" fmla="*/ 206 w 274"/>
              <a:gd name="T65" fmla="*/ 103 h 273"/>
              <a:gd name="T66" fmla="*/ 193 w 274"/>
              <a:gd name="T67" fmla="*/ 82 h 273"/>
              <a:gd name="T68" fmla="*/ 169 w 274"/>
              <a:gd name="T69" fmla="*/ 79 h 273"/>
              <a:gd name="T70" fmla="*/ 189 w 274"/>
              <a:gd name="T71" fmla="*/ 66 h 273"/>
              <a:gd name="T72" fmla="*/ 142 w 274"/>
              <a:gd name="T73" fmla="*/ 13 h 273"/>
              <a:gd name="T74" fmla="*/ 136 w 274"/>
              <a:gd name="T75" fmla="*/ 50 h 273"/>
              <a:gd name="T76" fmla="*/ 127 w 274"/>
              <a:gd name="T77" fmla="*/ 11 h 273"/>
              <a:gd name="T78" fmla="*/ 86 w 274"/>
              <a:gd name="T79" fmla="*/ 71 h 273"/>
              <a:gd name="T80" fmla="*/ 104 w 274"/>
              <a:gd name="T81" fmla="*/ 83 h 273"/>
              <a:gd name="T82" fmla="*/ 76 w 274"/>
              <a:gd name="T83" fmla="*/ 105 h 273"/>
              <a:gd name="T84" fmla="*/ 132 w 274"/>
              <a:gd name="T85" fmla="*/ 130 h 273"/>
              <a:gd name="T86" fmla="*/ 140 w 274"/>
              <a:gd name="T87" fmla="*/ 113 h 273"/>
              <a:gd name="T88" fmla="*/ 146 w 274"/>
              <a:gd name="T89" fmla="*/ 131 h 273"/>
              <a:gd name="T90" fmla="*/ 171 w 274"/>
              <a:gd name="T91" fmla="*/ 140 h 273"/>
              <a:gd name="T92" fmla="*/ 142 w 274"/>
              <a:gd name="T93" fmla="*/ 182 h 273"/>
              <a:gd name="T94" fmla="*/ 193 w 274"/>
              <a:gd name="T95" fmla="*/ 191 h 273"/>
              <a:gd name="T96" fmla="*/ 206 w 274"/>
              <a:gd name="T97" fmla="*/ 170 h 273"/>
              <a:gd name="T98" fmla="*/ 206 w 274"/>
              <a:gd name="T99" fmla="*/ 196 h 273"/>
              <a:gd name="T100" fmla="*/ 209 w 274"/>
              <a:gd name="T101" fmla="*/ 207 h 273"/>
              <a:gd name="T102" fmla="*/ 179 w 274"/>
              <a:gd name="T103" fmla="*/ 249 h 273"/>
              <a:gd name="T104" fmla="*/ 212 w 274"/>
              <a:gd name="T105" fmla="*/ 239 h 273"/>
              <a:gd name="T106" fmla="*/ 219 w 274"/>
              <a:gd name="T107" fmla="*/ 246 h 273"/>
              <a:gd name="T108" fmla="*/ 31 w 274"/>
              <a:gd name="T109" fmla="*/ 222 h 273"/>
              <a:gd name="T110" fmla="*/ 14 w 274"/>
              <a:gd name="T111" fmla="*/ 82 h 273"/>
              <a:gd name="T112" fmla="*/ 11 w 274"/>
              <a:gd name="T113" fmla="*/ 130 h 273"/>
              <a:gd name="T114" fmla="*/ 67 w 274"/>
              <a:gd name="T115" fmla="*/ 103 h 273"/>
              <a:gd name="T116" fmla="*/ 63 w 274"/>
              <a:gd name="T117" fmla="*/ 74 h 273"/>
              <a:gd name="T118" fmla="*/ 72 w 274"/>
              <a:gd name="T119" fmla="*/ 67 h 273"/>
              <a:gd name="T120" fmla="*/ 95 w 274"/>
              <a:gd name="T121" fmla="*/ 19 h 273"/>
              <a:gd name="T122" fmla="*/ 58 w 274"/>
              <a:gd name="T123" fmla="*/ 33 h 273"/>
              <a:gd name="T124" fmla="*/ 109 w 274"/>
              <a:gd name="T125" fmla="*/ 4 h 2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274" h="273">
                <a:moveTo>
                  <a:pt x="146" y="196"/>
                </a:moveTo>
                <a:lnTo>
                  <a:pt x="143" y="196"/>
                </a:lnTo>
                <a:lnTo>
                  <a:pt x="142" y="198"/>
                </a:lnTo>
                <a:lnTo>
                  <a:pt x="142" y="200"/>
                </a:lnTo>
                <a:lnTo>
                  <a:pt x="142" y="258"/>
                </a:lnTo>
                <a:lnTo>
                  <a:pt x="142" y="260"/>
                </a:lnTo>
                <a:lnTo>
                  <a:pt x="145" y="262"/>
                </a:lnTo>
                <a:lnTo>
                  <a:pt x="147" y="262"/>
                </a:lnTo>
                <a:lnTo>
                  <a:pt x="159" y="255"/>
                </a:lnTo>
                <a:lnTo>
                  <a:pt x="169" y="245"/>
                </a:lnTo>
                <a:lnTo>
                  <a:pt x="178" y="234"/>
                </a:lnTo>
                <a:lnTo>
                  <a:pt x="184" y="219"/>
                </a:lnTo>
                <a:lnTo>
                  <a:pt x="189" y="207"/>
                </a:lnTo>
                <a:lnTo>
                  <a:pt x="189" y="204"/>
                </a:lnTo>
                <a:lnTo>
                  <a:pt x="189" y="203"/>
                </a:lnTo>
                <a:lnTo>
                  <a:pt x="187" y="202"/>
                </a:lnTo>
                <a:lnTo>
                  <a:pt x="168" y="198"/>
                </a:lnTo>
                <a:lnTo>
                  <a:pt x="146" y="196"/>
                </a:lnTo>
                <a:close/>
                <a:moveTo>
                  <a:pt x="242" y="191"/>
                </a:moveTo>
                <a:lnTo>
                  <a:pt x="254" y="195"/>
                </a:lnTo>
                <a:lnTo>
                  <a:pt x="263" y="204"/>
                </a:lnTo>
                <a:lnTo>
                  <a:pt x="267" y="217"/>
                </a:lnTo>
                <a:lnTo>
                  <a:pt x="263" y="230"/>
                </a:lnTo>
                <a:lnTo>
                  <a:pt x="254" y="239"/>
                </a:lnTo>
                <a:lnTo>
                  <a:pt x="242" y="242"/>
                </a:lnTo>
                <a:lnTo>
                  <a:pt x="229" y="239"/>
                </a:lnTo>
                <a:lnTo>
                  <a:pt x="219" y="230"/>
                </a:lnTo>
                <a:lnTo>
                  <a:pt x="216" y="217"/>
                </a:lnTo>
                <a:lnTo>
                  <a:pt x="219" y="204"/>
                </a:lnTo>
                <a:lnTo>
                  <a:pt x="229" y="195"/>
                </a:lnTo>
                <a:lnTo>
                  <a:pt x="242" y="191"/>
                </a:lnTo>
                <a:close/>
                <a:moveTo>
                  <a:pt x="78" y="173"/>
                </a:moveTo>
                <a:lnTo>
                  <a:pt x="91" y="177"/>
                </a:lnTo>
                <a:lnTo>
                  <a:pt x="100" y="186"/>
                </a:lnTo>
                <a:lnTo>
                  <a:pt x="104" y="199"/>
                </a:lnTo>
                <a:lnTo>
                  <a:pt x="100" y="212"/>
                </a:lnTo>
                <a:lnTo>
                  <a:pt x="91" y="222"/>
                </a:lnTo>
                <a:lnTo>
                  <a:pt x="78" y="225"/>
                </a:lnTo>
                <a:lnTo>
                  <a:pt x="65" y="222"/>
                </a:lnTo>
                <a:lnTo>
                  <a:pt x="55" y="212"/>
                </a:lnTo>
                <a:lnTo>
                  <a:pt x="53" y="199"/>
                </a:lnTo>
                <a:lnTo>
                  <a:pt x="55" y="186"/>
                </a:lnTo>
                <a:lnTo>
                  <a:pt x="65" y="177"/>
                </a:lnTo>
                <a:lnTo>
                  <a:pt x="78" y="173"/>
                </a:lnTo>
                <a:close/>
                <a:moveTo>
                  <a:pt x="14" y="142"/>
                </a:moveTo>
                <a:lnTo>
                  <a:pt x="12" y="142"/>
                </a:lnTo>
                <a:lnTo>
                  <a:pt x="11" y="144"/>
                </a:lnTo>
                <a:lnTo>
                  <a:pt x="11" y="145"/>
                </a:lnTo>
                <a:lnTo>
                  <a:pt x="14" y="168"/>
                </a:lnTo>
                <a:lnTo>
                  <a:pt x="22" y="189"/>
                </a:lnTo>
                <a:lnTo>
                  <a:pt x="32" y="208"/>
                </a:lnTo>
                <a:lnTo>
                  <a:pt x="34" y="209"/>
                </a:lnTo>
                <a:lnTo>
                  <a:pt x="36" y="211"/>
                </a:lnTo>
                <a:lnTo>
                  <a:pt x="37" y="209"/>
                </a:lnTo>
                <a:lnTo>
                  <a:pt x="42" y="207"/>
                </a:lnTo>
                <a:lnTo>
                  <a:pt x="44" y="207"/>
                </a:lnTo>
                <a:lnTo>
                  <a:pt x="45" y="207"/>
                </a:lnTo>
                <a:lnTo>
                  <a:pt x="46" y="208"/>
                </a:lnTo>
                <a:lnTo>
                  <a:pt x="48" y="211"/>
                </a:lnTo>
                <a:lnTo>
                  <a:pt x="48" y="212"/>
                </a:lnTo>
                <a:lnTo>
                  <a:pt x="48" y="214"/>
                </a:lnTo>
                <a:lnTo>
                  <a:pt x="46" y="216"/>
                </a:lnTo>
                <a:lnTo>
                  <a:pt x="45" y="217"/>
                </a:lnTo>
                <a:lnTo>
                  <a:pt x="42" y="218"/>
                </a:lnTo>
                <a:lnTo>
                  <a:pt x="42" y="221"/>
                </a:lnTo>
                <a:lnTo>
                  <a:pt x="44" y="222"/>
                </a:lnTo>
                <a:lnTo>
                  <a:pt x="65" y="241"/>
                </a:lnTo>
                <a:lnTo>
                  <a:pt x="91" y="255"/>
                </a:lnTo>
                <a:lnTo>
                  <a:pt x="94" y="255"/>
                </a:lnTo>
                <a:lnTo>
                  <a:pt x="95" y="254"/>
                </a:lnTo>
                <a:lnTo>
                  <a:pt x="96" y="253"/>
                </a:lnTo>
                <a:lnTo>
                  <a:pt x="96" y="251"/>
                </a:lnTo>
                <a:lnTo>
                  <a:pt x="95" y="249"/>
                </a:lnTo>
                <a:lnTo>
                  <a:pt x="91" y="242"/>
                </a:lnTo>
                <a:lnTo>
                  <a:pt x="86" y="235"/>
                </a:lnTo>
                <a:lnTo>
                  <a:pt x="86" y="234"/>
                </a:lnTo>
                <a:lnTo>
                  <a:pt x="86" y="232"/>
                </a:lnTo>
                <a:lnTo>
                  <a:pt x="87" y="231"/>
                </a:lnTo>
                <a:lnTo>
                  <a:pt x="90" y="230"/>
                </a:lnTo>
                <a:lnTo>
                  <a:pt x="91" y="228"/>
                </a:lnTo>
                <a:lnTo>
                  <a:pt x="94" y="230"/>
                </a:lnTo>
                <a:lnTo>
                  <a:pt x="95" y="231"/>
                </a:lnTo>
                <a:lnTo>
                  <a:pt x="104" y="244"/>
                </a:lnTo>
                <a:lnTo>
                  <a:pt x="114" y="255"/>
                </a:lnTo>
                <a:lnTo>
                  <a:pt x="127" y="262"/>
                </a:lnTo>
                <a:lnTo>
                  <a:pt x="129" y="262"/>
                </a:lnTo>
                <a:lnTo>
                  <a:pt x="132" y="260"/>
                </a:lnTo>
                <a:lnTo>
                  <a:pt x="132" y="258"/>
                </a:lnTo>
                <a:lnTo>
                  <a:pt x="132" y="200"/>
                </a:lnTo>
                <a:lnTo>
                  <a:pt x="132" y="198"/>
                </a:lnTo>
                <a:lnTo>
                  <a:pt x="131" y="196"/>
                </a:lnTo>
                <a:lnTo>
                  <a:pt x="128" y="196"/>
                </a:lnTo>
                <a:lnTo>
                  <a:pt x="114" y="198"/>
                </a:lnTo>
                <a:lnTo>
                  <a:pt x="111" y="196"/>
                </a:lnTo>
                <a:lnTo>
                  <a:pt x="110" y="195"/>
                </a:lnTo>
                <a:lnTo>
                  <a:pt x="109" y="194"/>
                </a:lnTo>
                <a:lnTo>
                  <a:pt x="109" y="191"/>
                </a:lnTo>
                <a:lnTo>
                  <a:pt x="110" y="189"/>
                </a:lnTo>
                <a:lnTo>
                  <a:pt x="111" y="189"/>
                </a:lnTo>
                <a:lnTo>
                  <a:pt x="113" y="188"/>
                </a:lnTo>
                <a:lnTo>
                  <a:pt x="128" y="186"/>
                </a:lnTo>
                <a:lnTo>
                  <a:pt x="131" y="186"/>
                </a:lnTo>
                <a:lnTo>
                  <a:pt x="132" y="185"/>
                </a:lnTo>
                <a:lnTo>
                  <a:pt x="132" y="182"/>
                </a:lnTo>
                <a:lnTo>
                  <a:pt x="132" y="145"/>
                </a:lnTo>
                <a:lnTo>
                  <a:pt x="132" y="143"/>
                </a:lnTo>
                <a:lnTo>
                  <a:pt x="131" y="142"/>
                </a:lnTo>
                <a:lnTo>
                  <a:pt x="128" y="142"/>
                </a:lnTo>
                <a:lnTo>
                  <a:pt x="78" y="142"/>
                </a:lnTo>
                <a:lnTo>
                  <a:pt x="76" y="142"/>
                </a:lnTo>
                <a:lnTo>
                  <a:pt x="74" y="143"/>
                </a:lnTo>
                <a:lnTo>
                  <a:pt x="74" y="145"/>
                </a:lnTo>
                <a:lnTo>
                  <a:pt x="76" y="163"/>
                </a:lnTo>
                <a:lnTo>
                  <a:pt x="74" y="166"/>
                </a:lnTo>
                <a:lnTo>
                  <a:pt x="73" y="167"/>
                </a:lnTo>
                <a:lnTo>
                  <a:pt x="72" y="168"/>
                </a:lnTo>
                <a:lnTo>
                  <a:pt x="69" y="168"/>
                </a:lnTo>
                <a:lnTo>
                  <a:pt x="68" y="167"/>
                </a:lnTo>
                <a:lnTo>
                  <a:pt x="67" y="166"/>
                </a:lnTo>
                <a:lnTo>
                  <a:pt x="65" y="165"/>
                </a:lnTo>
                <a:lnTo>
                  <a:pt x="64" y="145"/>
                </a:lnTo>
                <a:lnTo>
                  <a:pt x="64" y="143"/>
                </a:lnTo>
                <a:lnTo>
                  <a:pt x="63" y="142"/>
                </a:lnTo>
                <a:lnTo>
                  <a:pt x="60" y="142"/>
                </a:lnTo>
                <a:lnTo>
                  <a:pt x="14" y="142"/>
                </a:lnTo>
                <a:close/>
                <a:moveTo>
                  <a:pt x="205" y="111"/>
                </a:moveTo>
                <a:lnTo>
                  <a:pt x="217" y="115"/>
                </a:lnTo>
                <a:lnTo>
                  <a:pt x="226" y="124"/>
                </a:lnTo>
                <a:lnTo>
                  <a:pt x="230" y="136"/>
                </a:lnTo>
                <a:lnTo>
                  <a:pt x="226" y="149"/>
                </a:lnTo>
                <a:lnTo>
                  <a:pt x="217" y="159"/>
                </a:lnTo>
                <a:lnTo>
                  <a:pt x="205" y="162"/>
                </a:lnTo>
                <a:lnTo>
                  <a:pt x="192" y="159"/>
                </a:lnTo>
                <a:lnTo>
                  <a:pt x="183" y="149"/>
                </a:lnTo>
                <a:lnTo>
                  <a:pt x="179" y="136"/>
                </a:lnTo>
                <a:lnTo>
                  <a:pt x="183" y="124"/>
                </a:lnTo>
                <a:lnTo>
                  <a:pt x="192" y="115"/>
                </a:lnTo>
                <a:lnTo>
                  <a:pt x="205" y="111"/>
                </a:lnTo>
                <a:close/>
                <a:moveTo>
                  <a:pt x="137" y="56"/>
                </a:moveTo>
                <a:lnTo>
                  <a:pt x="150" y="59"/>
                </a:lnTo>
                <a:lnTo>
                  <a:pt x="159" y="69"/>
                </a:lnTo>
                <a:lnTo>
                  <a:pt x="163" y="82"/>
                </a:lnTo>
                <a:lnTo>
                  <a:pt x="159" y="94"/>
                </a:lnTo>
                <a:lnTo>
                  <a:pt x="150" y="103"/>
                </a:lnTo>
                <a:lnTo>
                  <a:pt x="137" y="107"/>
                </a:lnTo>
                <a:lnTo>
                  <a:pt x="124" y="103"/>
                </a:lnTo>
                <a:lnTo>
                  <a:pt x="114" y="94"/>
                </a:lnTo>
                <a:lnTo>
                  <a:pt x="111" y="82"/>
                </a:lnTo>
                <a:lnTo>
                  <a:pt x="114" y="69"/>
                </a:lnTo>
                <a:lnTo>
                  <a:pt x="124" y="59"/>
                </a:lnTo>
                <a:lnTo>
                  <a:pt x="137" y="56"/>
                </a:lnTo>
                <a:close/>
                <a:moveTo>
                  <a:pt x="35" y="29"/>
                </a:moveTo>
                <a:lnTo>
                  <a:pt x="48" y="33"/>
                </a:lnTo>
                <a:lnTo>
                  <a:pt x="57" y="42"/>
                </a:lnTo>
                <a:lnTo>
                  <a:pt x="60" y="55"/>
                </a:lnTo>
                <a:lnTo>
                  <a:pt x="57" y="67"/>
                </a:lnTo>
                <a:lnTo>
                  <a:pt x="48" y="76"/>
                </a:lnTo>
                <a:lnTo>
                  <a:pt x="35" y="80"/>
                </a:lnTo>
                <a:lnTo>
                  <a:pt x="22" y="76"/>
                </a:lnTo>
                <a:lnTo>
                  <a:pt x="13" y="67"/>
                </a:lnTo>
                <a:lnTo>
                  <a:pt x="9" y="55"/>
                </a:lnTo>
                <a:lnTo>
                  <a:pt x="13" y="42"/>
                </a:lnTo>
                <a:lnTo>
                  <a:pt x="22" y="33"/>
                </a:lnTo>
                <a:lnTo>
                  <a:pt x="35" y="29"/>
                </a:lnTo>
                <a:close/>
                <a:moveTo>
                  <a:pt x="182" y="18"/>
                </a:moveTo>
                <a:lnTo>
                  <a:pt x="179" y="19"/>
                </a:lnTo>
                <a:lnTo>
                  <a:pt x="178" y="20"/>
                </a:lnTo>
                <a:lnTo>
                  <a:pt x="178" y="23"/>
                </a:lnTo>
                <a:lnTo>
                  <a:pt x="179" y="24"/>
                </a:lnTo>
                <a:lnTo>
                  <a:pt x="191" y="43"/>
                </a:lnTo>
                <a:lnTo>
                  <a:pt x="200" y="65"/>
                </a:lnTo>
                <a:lnTo>
                  <a:pt x="201" y="66"/>
                </a:lnTo>
                <a:lnTo>
                  <a:pt x="202" y="67"/>
                </a:lnTo>
                <a:lnTo>
                  <a:pt x="205" y="67"/>
                </a:lnTo>
                <a:lnTo>
                  <a:pt x="230" y="57"/>
                </a:lnTo>
                <a:lnTo>
                  <a:pt x="232" y="55"/>
                </a:lnTo>
                <a:lnTo>
                  <a:pt x="232" y="53"/>
                </a:lnTo>
                <a:lnTo>
                  <a:pt x="230" y="51"/>
                </a:lnTo>
                <a:lnTo>
                  <a:pt x="209" y="32"/>
                </a:lnTo>
                <a:lnTo>
                  <a:pt x="183" y="18"/>
                </a:lnTo>
                <a:lnTo>
                  <a:pt x="182" y="18"/>
                </a:lnTo>
                <a:close/>
                <a:moveTo>
                  <a:pt x="137" y="0"/>
                </a:moveTo>
                <a:lnTo>
                  <a:pt x="164" y="2"/>
                </a:lnTo>
                <a:lnTo>
                  <a:pt x="189" y="10"/>
                </a:lnTo>
                <a:lnTo>
                  <a:pt x="212" y="23"/>
                </a:lnTo>
                <a:lnTo>
                  <a:pt x="233" y="39"/>
                </a:lnTo>
                <a:lnTo>
                  <a:pt x="249" y="59"/>
                </a:lnTo>
                <a:lnTo>
                  <a:pt x="262" y="83"/>
                </a:lnTo>
                <a:lnTo>
                  <a:pt x="271" y="108"/>
                </a:lnTo>
                <a:lnTo>
                  <a:pt x="274" y="136"/>
                </a:lnTo>
                <a:lnTo>
                  <a:pt x="271" y="163"/>
                </a:lnTo>
                <a:lnTo>
                  <a:pt x="263" y="188"/>
                </a:lnTo>
                <a:lnTo>
                  <a:pt x="263" y="189"/>
                </a:lnTo>
                <a:lnTo>
                  <a:pt x="262" y="190"/>
                </a:lnTo>
                <a:lnTo>
                  <a:pt x="260" y="190"/>
                </a:lnTo>
                <a:lnTo>
                  <a:pt x="257" y="189"/>
                </a:lnTo>
                <a:lnTo>
                  <a:pt x="254" y="186"/>
                </a:lnTo>
                <a:lnTo>
                  <a:pt x="254" y="184"/>
                </a:lnTo>
                <a:lnTo>
                  <a:pt x="261" y="166"/>
                </a:lnTo>
                <a:lnTo>
                  <a:pt x="263" y="145"/>
                </a:lnTo>
                <a:lnTo>
                  <a:pt x="263" y="144"/>
                </a:lnTo>
                <a:lnTo>
                  <a:pt x="262" y="142"/>
                </a:lnTo>
                <a:lnTo>
                  <a:pt x="260" y="142"/>
                </a:lnTo>
                <a:lnTo>
                  <a:pt x="240" y="142"/>
                </a:lnTo>
                <a:lnTo>
                  <a:pt x="239" y="142"/>
                </a:lnTo>
                <a:lnTo>
                  <a:pt x="238" y="140"/>
                </a:lnTo>
                <a:lnTo>
                  <a:pt x="237" y="139"/>
                </a:lnTo>
                <a:lnTo>
                  <a:pt x="237" y="136"/>
                </a:lnTo>
                <a:lnTo>
                  <a:pt x="237" y="135"/>
                </a:lnTo>
                <a:lnTo>
                  <a:pt x="238" y="133"/>
                </a:lnTo>
                <a:lnTo>
                  <a:pt x="239" y="133"/>
                </a:lnTo>
                <a:lnTo>
                  <a:pt x="240" y="131"/>
                </a:lnTo>
                <a:lnTo>
                  <a:pt x="260" y="131"/>
                </a:lnTo>
                <a:lnTo>
                  <a:pt x="262" y="131"/>
                </a:lnTo>
                <a:lnTo>
                  <a:pt x="263" y="130"/>
                </a:lnTo>
                <a:lnTo>
                  <a:pt x="263" y="127"/>
                </a:lnTo>
                <a:lnTo>
                  <a:pt x="261" y="105"/>
                </a:lnTo>
                <a:lnTo>
                  <a:pt x="253" y="84"/>
                </a:lnTo>
                <a:lnTo>
                  <a:pt x="242" y="65"/>
                </a:lnTo>
                <a:lnTo>
                  <a:pt x="240" y="64"/>
                </a:lnTo>
                <a:lnTo>
                  <a:pt x="239" y="64"/>
                </a:lnTo>
                <a:lnTo>
                  <a:pt x="237" y="64"/>
                </a:lnTo>
                <a:lnTo>
                  <a:pt x="223" y="71"/>
                </a:lnTo>
                <a:lnTo>
                  <a:pt x="206" y="76"/>
                </a:lnTo>
                <a:lnTo>
                  <a:pt x="205" y="78"/>
                </a:lnTo>
                <a:lnTo>
                  <a:pt x="203" y="79"/>
                </a:lnTo>
                <a:lnTo>
                  <a:pt x="203" y="82"/>
                </a:lnTo>
                <a:lnTo>
                  <a:pt x="206" y="90"/>
                </a:lnTo>
                <a:lnTo>
                  <a:pt x="207" y="101"/>
                </a:lnTo>
                <a:lnTo>
                  <a:pt x="207" y="102"/>
                </a:lnTo>
                <a:lnTo>
                  <a:pt x="206" y="103"/>
                </a:lnTo>
                <a:lnTo>
                  <a:pt x="205" y="105"/>
                </a:lnTo>
                <a:lnTo>
                  <a:pt x="203" y="105"/>
                </a:lnTo>
                <a:lnTo>
                  <a:pt x="201" y="105"/>
                </a:lnTo>
                <a:lnTo>
                  <a:pt x="198" y="103"/>
                </a:lnTo>
                <a:lnTo>
                  <a:pt x="198" y="102"/>
                </a:lnTo>
                <a:lnTo>
                  <a:pt x="194" y="84"/>
                </a:lnTo>
                <a:lnTo>
                  <a:pt x="193" y="82"/>
                </a:lnTo>
                <a:lnTo>
                  <a:pt x="192" y="82"/>
                </a:lnTo>
                <a:lnTo>
                  <a:pt x="191" y="82"/>
                </a:lnTo>
                <a:lnTo>
                  <a:pt x="173" y="84"/>
                </a:lnTo>
                <a:lnTo>
                  <a:pt x="171" y="84"/>
                </a:lnTo>
                <a:lnTo>
                  <a:pt x="170" y="83"/>
                </a:lnTo>
                <a:lnTo>
                  <a:pt x="169" y="82"/>
                </a:lnTo>
                <a:lnTo>
                  <a:pt x="169" y="79"/>
                </a:lnTo>
                <a:lnTo>
                  <a:pt x="169" y="78"/>
                </a:lnTo>
                <a:lnTo>
                  <a:pt x="170" y="75"/>
                </a:lnTo>
                <a:lnTo>
                  <a:pt x="171" y="74"/>
                </a:lnTo>
                <a:lnTo>
                  <a:pt x="187" y="71"/>
                </a:lnTo>
                <a:lnTo>
                  <a:pt x="189" y="71"/>
                </a:lnTo>
                <a:lnTo>
                  <a:pt x="189" y="69"/>
                </a:lnTo>
                <a:lnTo>
                  <a:pt x="189" y="66"/>
                </a:lnTo>
                <a:lnTo>
                  <a:pt x="184" y="53"/>
                </a:lnTo>
                <a:lnTo>
                  <a:pt x="178" y="41"/>
                </a:lnTo>
                <a:lnTo>
                  <a:pt x="169" y="28"/>
                </a:lnTo>
                <a:lnTo>
                  <a:pt x="159" y="18"/>
                </a:lnTo>
                <a:lnTo>
                  <a:pt x="147" y="11"/>
                </a:lnTo>
                <a:lnTo>
                  <a:pt x="145" y="11"/>
                </a:lnTo>
                <a:lnTo>
                  <a:pt x="142" y="13"/>
                </a:lnTo>
                <a:lnTo>
                  <a:pt x="142" y="15"/>
                </a:lnTo>
                <a:lnTo>
                  <a:pt x="142" y="46"/>
                </a:lnTo>
                <a:lnTo>
                  <a:pt x="142" y="47"/>
                </a:lnTo>
                <a:lnTo>
                  <a:pt x="141" y="48"/>
                </a:lnTo>
                <a:lnTo>
                  <a:pt x="140" y="50"/>
                </a:lnTo>
                <a:lnTo>
                  <a:pt x="137" y="50"/>
                </a:lnTo>
                <a:lnTo>
                  <a:pt x="136" y="50"/>
                </a:lnTo>
                <a:lnTo>
                  <a:pt x="133" y="48"/>
                </a:lnTo>
                <a:lnTo>
                  <a:pt x="133" y="47"/>
                </a:lnTo>
                <a:lnTo>
                  <a:pt x="132" y="46"/>
                </a:lnTo>
                <a:lnTo>
                  <a:pt x="132" y="15"/>
                </a:lnTo>
                <a:lnTo>
                  <a:pt x="132" y="13"/>
                </a:lnTo>
                <a:lnTo>
                  <a:pt x="129" y="11"/>
                </a:lnTo>
                <a:lnTo>
                  <a:pt x="127" y="11"/>
                </a:lnTo>
                <a:lnTo>
                  <a:pt x="115" y="18"/>
                </a:lnTo>
                <a:lnTo>
                  <a:pt x="105" y="28"/>
                </a:lnTo>
                <a:lnTo>
                  <a:pt x="96" y="41"/>
                </a:lnTo>
                <a:lnTo>
                  <a:pt x="90" y="53"/>
                </a:lnTo>
                <a:lnTo>
                  <a:pt x="85" y="66"/>
                </a:lnTo>
                <a:lnTo>
                  <a:pt x="85" y="69"/>
                </a:lnTo>
                <a:lnTo>
                  <a:pt x="86" y="71"/>
                </a:lnTo>
                <a:lnTo>
                  <a:pt x="87" y="71"/>
                </a:lnTo>
                <a:lnTo>
                  <a:pt x="101" y="74"/>
                </a:lnTo>
                <a:lnTo>
                  <a:pt x="104" y="75"/>
                </a:lnTo>
                <a:lnTo>
                  <a:pt x="104" y="78"/>
                </a:lnTo>
                <a:lnTo>
                  <a:pt x="105" y="79"/>
                </a:lnTo>
                <a:lnTo>
                  <a:pt x="104" y="82"/>
                </a:lnTo>
                <a:lnTo>
                  <a:pt x="104" y="83"/>
                </a:lnTo>
                <a:lnTo>
                  <a:pt x="101" y="84"/>
                </a:lnTo>
                <a:lnTo>
                  <a:pt x="100" y="84"/>
                </a:lnTo>
                <a:lnTo>
                  <a:pt x="85" y="82"/>
                </a:lnTo>
                <a:lnTo>
                  <a:pt x="82" y="82"/>
                </a:lnTo>
                <a:lnTo>
                  <a:pt x="81" y="82"/>
                </a:lnTo>
                <a:lnTo>
                  <a:pt x="80" y="84"/>
                </a:lnTo>
                <a:lnTo>
                  <a:pt x="76" y="105"/>
                </a:lnTo>
                <a:lnTo>
                  <a:pt x="74" y="127"/>
                </a:lnTo>
                <a:lnTo>
                  <a:pt x="74" y="130"/>
                </a:lnTo>
                <a:lnTo>
                  <a:pt x="76" y="131"/>
                </a:lnTo>
                <a:lnTo>
                  <a:pt x="78" y="131"/>
                </a:lnTo>
                <a:lnTo>
                  <a:pt x="128" y="131"/>
                </a:lnTo>
                <a:lnTo>
                  <a:pt x="131" y="131"/>
                </a:lnTo>
                <a:lnTo>
                  <a:pt x="132" y="130"/>
                </a:lnTo>
                <a:lnTo>
                  <a:pt x="132" y="127"/>
                </a:lnTo>
                <a:lnTo>
                  <a:pt x="132" y="117"/>
                </a:lnTo>
                <a:lnTo>
                  <a:pt x="133" y="116"/>
                </a:lnTo>
                <a:lnTo>
                  <a:pt x="133" y="115"/>
                </a:lnTo>
                <a:lnTo>
                  <a:pt x="136" y="113"/>
                </a:lnTo>
                <a:lnTo>
                  <a:pt x="137" y="113"/>
                </a:lnTo>
                <a:lnTo>
                  <a:pt x="140" y="113"/>
                </a:lnTo>
                <a:lnTo>
                  <a:pt x="141" y="115"/>
                </a:lnTo>
                <a:lnTo>
                  <a:pt x="142" y="116"/>
                </a:lnTo>
                <a:lnTo>
                  <a:pt x="142" y="117"/>
                </a:lnTo>
                <a:lnTo>
                  <a:pt x="142" y="127"/>
                </a:lnTo>
                <a:lnTo>
                  <a:pt x="142" y="130"/>
                </a:lnTo>
                <a:lnTo>
                  <a:pt x="143" y="131"/>
                </a:lnTo>
                <a:lnTo>
                  <a:pt x="146" y="131"/>
                </a:lnTo>
                <a:lnTo>
                  <a:pt x="169" y="131"/>
                </a:lnTo>
                <a:lnTo>
                  <a:pt x="170" y="133"/>
                </a:lnTo>
                <a:lnTo>
                  <a:pt x="171" y="133"/>
                </a:lnTo>
                <a:lnTo>
                  <a:pt x="173" y="135"/>
                </a:lnTo>
                <a:lnTo>
                  <a:pt x="173" y="136"/>
                </a:lnTo>
                <a:lnTo>
                  <a:pt x="173" y="139"/>
                </a:lnTo>
                <a:lnTo>
                  <a:pt x="171" y="140"/>
                </a:lnTo>
                <a:lnTo>
                  <a:pt x="170" y="142"/>
                </a:lnTo>
                <a:lnTo>
                  <a:pt x="169" y="142"/>
                </a:lnTo>
                <a:lnTo>
                  <a:pt x="146" y="142"/>
                </a:lnTo>
                <a:lnTo>
                  <a:pt x="143" y="142"/>
                </a:lnTo>
                <a:lnTo>
                  <a:pt x="142" y="143"/>
                </a:lnTo>
                <a:lnTo>
                  <a:pt x="142" y="145"/>
                </a:lnTo>
                <a:lnTo>
                  <a:pt x="142" y="182"/>
                </a:lnTo>
                <a:lnTo>
                  <a:pt x="142" y="185"/>
                </a:lnTo>
                <a:lnTo>
                  <a:pt x="143" y="186"/>
                </a:lnTo>
                <a:lnTo>
                  <a:pt x="146" y="186"/>
                </a:lnTo>
                <a:lnTo>
                  <a:pt x="169" y="189"/>
                </a:lnTo>
                <a:lnTo>
                  <a:pt x="191" y="193"/>
                </a:lnTo>
                <a:lnTo>
                  <a:pt x="192" y="193"/>
                </a:lnTo>
                <a:lnTo>
                  <a:pt x="193" y="191"/>
                </a:lnTo>
                <a:lnTo>
                  <a:pt x="194" y="189"/>
                </a:lnTo>
                <a:lnTo>
                  <a:pt x="198" y="172"/>
                </a:lnTo>
                <a:lnTo>
                  <a:pt x="198" y="170"/>
                </a:lnTo>
                <a:lnTo>
                  <a:pt x="201" y="170"/>
                </a:lnTo>
                <a:lnTo>
                  <a:pt x="202" y="168"/>
                </a:lnTo>
                <a:lnTo>
                  <a:pt x="205" y="170"/>
                </a:lnTo>
                <a:lnTo>
                  <a:pt x="206" y="170"/>
                </a:lnTo>
                <a:lnTo>
                  <a:pt x="207" y="172"/>
                </a:lnTo>
                <a:lnTo>
                  <a:pt x="207" y="173"/>
                </a:lnTo>
                <a:lnTo>
                  <a:pt x="206" y="182"/>
                </a:lnTo>
                <a:lnTo>
                  <a:pt x="203" y="191"/>
                </a:lnTo>
                <a:lnTo>
                  <a:pt x="203" y="194"/>
                </a:lnTo>
                <a:lnTo>
                  <a:pt x="205" y="195"/>
                </a:lnTo>
                <a:lnTo>
                  <a:pt x="206" y="196"/>
                </a:lnTo>
                <a:lnTo>
                  <a:pt x="209" y="198"/>
                </a:lnTo>
                <a:lnTo>
                  <a:pt x="211" y="198"/>
                </a:lnTo>
                <a:lnTo>
                  <a:pt x="212" y="200"/>
                </a:lnTo>
                <a:lnTo>
                  <a:pt x="212" y="202"/>
                </a:lnTo>
                <a:lnTo>
                  <a:pt x="212" y="204"/>
                </a:lnTo>
                <a:lnTo>
                  <a:pt x="211" y="205"/>
                </a:lnTo>
                <a:lnTo>
                  <a:pt x="209" y="207"/>
                </a:lnTo>
                <a:lnTo>
                  <a:pt x="207" y="207"/>
                </a:lnTo>
                <a:lnTo>
                  <a:pt x="205" y="205"/>
                </a:lnTo>
                <a:lnTo>
                  <a:pt x="202" y="205"/>
                </a:lnTo>
                <a:lnTo>
                  <a:pt x="201" y="207"/>
                </a:lnTo>
                <a:lnTo>
                  <a:pt x="200" y="208"/>
                </a:lnTo>
                <a:lnTo>
                  <a:pt x="191" y="230"/>
                </a:lnTo>
                <a:lnTo>
                  <a:pt x="179" y="249"/>
                </a:lnTo>
                <a:lnTo>
                  <a:pt x="178" y="251"/>
                </a:lnTo>
                <a:lnTo>
                  <a:pt x="178" y="253"/>
                </a:lnTo>
                <a:lnTo>
                  <a:pt x="179" y="254"/>
                </a:lnTo>
                <a:lnTo>
                  <a:pt x="182" y="255"/>
                </a:lnTo>
                <a:lnTo>
                  <a:pt x="183" y="255"/>
                </a:lnTo>
                <a:lnTo>
                  <a:pt x="198" y="248"/>
                </a:lnTo>
                <a:lnTo>
                  <a:pt x="212" y="239"/>
                </a:lnTo>
                <a:lnTo>
                  <a:pt x="215" y="237"/>
                </a:lnTo>
                <a:lnTo>
                  <a:pt x="217" y="239"/>
                </a:lnTo>
                <a:lnTo>
                  <a:pt x="219" y="240"/>
                </a:lnTo>
                <a:lnTo>
                  <a:pt x="220" y="241"/>
                </a:lnTo>
                <a:lnTo>
                  <a:pt x="220" y="244"/>
                </a:lnTo>
                <a:lnTo>
                  <a:pt x="220" y="245"/>
                </a:lnTo>
                <a:lnTo>
                  <a:pt x="219" y="246"/>
                </a:lnTo>
                <a:lnTo>
                  <a:pt x="194" y="260"/>
                </a:lnTo>
                <a:lnTo>
                  <a:pt x="166" y="271"/>
                </a:lnTo>
                <a:lnTo>
                  <a:pt x="137" y="273"/>
                </a:lnTo>
                <a:lnTo>
                  <a:pt x="106" y="269"/>
                </a:lnTo>
                <a:lnTo>
                  <a:pt x="77" y="259"/>
                </a:lnTo>
                <a:lnTo>
                  <a:pt x="51" y="244"/>
                </a:lnTo>
                <a:lnTo>
                  <a:pt x="31" y="222"/>
                </a:lnTo>
                <a:lnTo>
                  <a:pt x="14" y="196"/>
                </a:lnTo>
                <a:lnTo>
                  <a:pt x="4" y="168"/>
                </a:lnTo>
                <a:lnTo>
                  <a:pt x="0" y="136"/>
                </a:lnTo>
                <a:lnTo>
                  <a:pt x="3" y="108"/>
                </a:lnTo>
                <a:lnTo>
                  <a:pt x="12" y="83"/>
                </a:lnTo>
                <a:lnTo>
                  <a:pt x="12" y="82"/>
                </a:lnTo>
                <a:lnTo>
                  <a:pt x="14" y="82"/>
                </a:lnTo>
                <a:lnTo>
                  <a:pt x="16" y="82"/>
                </a:lnTo>
                <a:lnTo>
                  <a:pt x="18" y="83"/>
                </a:lnTo>
                <a:lnTo>
                  <a:pt x="21" y="84"/>
                </a:lnTo>
                <a:lnTo>
                  <a:pt x="19" y="88"/>
                </a:lnTo>
                <a:lnTo>
                  <a:pt x="13" y="107"/>
                </a:lnTo>
                <a:lnTo>
                  <a:pt x="11" y="127"/>
                </a:lnTo>
                <a:lnTo>
                  <a:pt x="11" y="130"/>
                </a:lnTo>
                <a:lnTo>
                  <a:pt x="12" y="131"/>
                </a:lnTo>
                <a:lnTo>
                  <a:pt x="14" y="131"/>
                </a:lnTo>
                <a:lnTo>
                  <a:pt x="60" y="131"/>
                </a:lnTo>
                <a:lnTo>
                  <a:pt x="63" y="131"/>
                </a:lnTo>
                <a:lnTo>
                  <a:pt x="64" y="130"/>
                </a:lnTo>
                <a:lnTo>
                  <a:pt x="64" y="127"/>
                </a:lnTo>
                <a:lnTo>
                  <a:pt x="67" y="103"/>
                </a:lnTo>
                <a:lnTo>
                  <a:pt x="71" y="82"/>
                </a:lnTo>
                <a:lnTo>
                  <a:pt x="71" y="79"/>
                </a:lnTo>
                <a:lnTo>
                  <a:pt x="69" y="78"/>
                </a:lnTo>
                <a:lnTo>
                  <a:pt x="68" y="76"/>
                </a:lnTo>
                <a:lnTo>
                  <a:pt x="65" y="76"/>
                </a:lnTo>
                <a:lnTo>
                  <a:pt x="64" y="75"/>
                </a:lnTo>
                <a:lnTo>
                  <a:pt x="63" y="74"/>
                </a:lnTo>
                <a:lnTo>
                  <a:pt x="63" y="71"/>
                </a:lnTo>
                <a:lnTo>
                  <a:pt x="63" y="70"/>
                </a:lnTo>
                <a:lnTo>
                  <a:pt x="64" y="67"/>
                </a:lnTo>
                <a:lnTo>
                  <a:pt x="67" y="66"/>
                </a:lnTo>
                <a:lnTo>
                  <a:pt x="68" y="66"/>
                </a:lnTo>
                <a:lnTo>
                  <a:pt x="71" y="67"/>
                </a:lnTo>
                <a:lnTo>
                  <a:pt x="72" y="67"/>
                </a:lnTo>
                <a:lnTo>
                  <a:pt x="74" y="66"/>
                </a:lnTo>
                <a:lnTo>
                  <a:pt x="76" y="65"/>
                </a:lnTo>
                <a:lnTo>
                  <a:pt x="83" y="43"/>
                </a:lnTo>
                <a:lnTo>
                  <a:pt x="95" y="24"/>
                </a:lnTo>
                <a:lnTo>
                  <a:pt x="96" y="23"/>
                </a:lnTo>
                <a:lnTo>
                  <a:pt x="96" y="20"/>
                </a:lnTo>
                <a:lnTo>
                  <a:pt x="95" y="19"/>
                </a:lnTo>
                <a:lnTo>
                  <a:pt x="94" y="18"/>
                </a:lnTo>
                <a:lnTo>
                  <a:pt x="91" y="18"/>
                </a:lnTo>
                <a:lnTo>
                  <a:pt x="77" y="25"/>
                </a:lnTo>
                <a:lnTo>
                  <a:pt x="63" y="33"/>
                </a:lnTo>
                <a:lnTo>
                  <a:pt x="62" y="34"/>
                </a:lnTo>
                <a:lnTo>
                  <a:pt x="60" y="34"/>
                </a:lnTo>
                <a:lnTo>
                  <a:pt x="58" y="33"/>
                </a:lnTo>
                <a:lnTo>
                  <a:pt x="58" y="32"/>
                </a:lnTo>
                <a:lnTo>
                  <a:pt x="57" y="30"/>
                </a:lnTo>
                <a:lnTo>
                  <a:pt x="57" y="28"/>
                </a:lnTo>
                <a:lnTo>
                  <a:pt x="57" y="27"/>
                </a:lnTo>
                <a:lnTo>
                  <a:pt x="58" y="25"/>
                </a:lnTo>
                <a:lnTo>
                  <a:pt x="82" y="11"/>
                </a:lnTo>
                <a:lnTo>
                  <a:pt x="109" y="4"/>
                </a:lnTo>
                <a:lnTo>
                  <a:pt x="137" y="0"/>
                </a:lnTo>
                <a:close/>
              </a:path>
            </a:pathLst>
          </a:custGeom>
          <a:solidFill>
            <a:schemeClr val="bg1">
              <a:alpha val="10000"/>
            </a:schemeClr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Freeform 463"/>
          <p:cNvSpPr>
            <a:spLocks noEditPoints="1"/>
          </p:cNvSpPr>
          <p:nvPr userDrawn="1"/>
        </p:nvSpPr>
        <p:spPr bwMode="auto">
          <a:xfrm rot="19468345">
            <a:off x="4877976" y="513678"/>
            <a:ext cx="1364153" cy="774137"/>
          </a:xfrm>
          <a:custGeom>
            <a:avLst/>
            <a:gdLst>
              <a:gd name="T0" fmla="*/ 250 w 326"/>
              <a:gd name="T1" fmla="*/ 94 h 185"/>
              <a:gd name="T2" fmla="*/ 253 w 326"/>
              <a:gd name="T3" fmla="*/ 98 h 185"/>
              <a:gd name="T4" fmla="*/ 249 w 326"/>
              <a:gd name="T5" fmla="*/ 148 h 185"/>
              <a:gd name="T6" fmla="*/ 225 w 326"/>
              <a:gd name="T7" fmla="*/ 163 h 185"/>
              <a:gd name="T8" fmla="*/ 185 w 326"/>
              <a:gd name="T9" fmla="*/ 171 h 185"/>
              <a:gd name="T10" fmla="*/ 142 w 326"/>
              <a:gd name="T11" fmla="*/ 171 h 185"/>
              <a:gd name="T12" fmla="*/ 102 w 326"/>
              <a:gd name="T13" fmla="*/ 163 h 185"/>
              <a:gd name="T14" fmla="*/ 78 w 326"/>
              <a:gd name="T15" fmla="*/ 148 h 185"/>
              <a:gd name="T16" fmla="*/ 74 w 326"/>
              <a:gd name="T17" fmla="*/ 99 h 185"/>
              <a:gd name="T18" fmla="*/ 76 w 326"/>
              <a:gd name="T19" fmla="*/ 94 h 185"/>
              <a:gd name="T20" fmla="*/ 82 w 326"/>
              <a:gd name="T21" fmla="*/ 94 h 185"/>
              <a:gd name="T22" fmla="*/ 163 w 326"/>
              <a:gd name="T23" fmla="*/ 126 h 185"/>
              <a:gd name="T24" fmla="*/ 245 w 326"/>
              <a:gd name="T25" fmla="*/ 93 h 185"/>
              <a:gd name="T26" fmla="*/ 163 w 326"/>
              <a:gd name="T27" fmla="*/ 0 h 185"/>
              <a:gd name="T28" fmla="*/ 322 w 326"/>
              <a:gd name="T29" fmla="*/ 46 h 185"/>
              <a:gd name="T30" fmla="*/ 326 w 326"/>
              <a:gd name="T31" fmla="*/ 50 h 185"/>
              <a:gd name="T32" fmla="*/ 324 w 326"/>
              <a:gd name="T33" fmla="*/ 53 h 185"/>
              <a:gd name="T34" fmla="*/ 168 w 326"/>
              <a:gd name="T35" fmla="*/ 120 h 185"/>
              <a:gd name="T36" fmla="*/ 157 w 326"/>
              <a:gd name="T37" fmla="*/ 120 h 185"/>
              <a:gd name="T38" fmla="*/ 42 w 326"/>
              <a:gd name="T39" fmla="*/ 72 h 185"/>
              <a:gd name="T40" fmla="*/ 39 w 326"/>
              <a:gd name="T41" fmla="*/ 75 h 185"/>
              <a:gd name="T42" fmla="*/ 39 w 326"/>
              <a:gd name="T43" fmla="*/ 110 h 185"/>
              <a:gd name="T44" fmla="*/ 42 w 326"/>
              <a:gd name="T45" fmla="*/ 110 h 185"/>
              <a:gd name="T46" fmla="*/ 45 w 326"/>
              <a:gd name="T47" fmla="*/ 110 h 185"/>
              <a:gd name="T48" fmla="*/ 46 w 326"/>
              <a:gd name="T49" fmla="*/ 112 h 185"/>
              <a:gd name="T50" fmla="*/ 46 w 326"/>
              <a:gd name="T51" fmla="*/ 116 h 185"/>
              <a:gd name="T52" fmla="*/ 45 w 326"/>
              <a:gd name="T53" fmla="*/ 122 h 185"/>
              <a:gd name="T54" fmla="*/ 46 w 326"/>
              <a:gd name="T55" fmla="*/ 124 h 185"/>
              <a:gd name="T56" fmla="*/ 46 w 326"/>
              <a:gd name="T57" fmla="*/ 126 h 185"/>
              <a:gd name="T58" fmla="*/ 45 w 326"/>
              <a:gd name="T59" fmla="*/ 127 h 185"/>
              <a:gd name="T60" fmla="*/ 52 w 326"/>
              <a:gd name="T61" fmla="*/ 149 h 185"/>
              <a:gd name="T62" fmla="*/ 50 w 326"/>
              <a:gd name="T63" fmla="*/ 171 h 185"/>
              <a:gd name="T64" fmla="*/ 42 w 326"/>
              <a:gd name="T65" fmla="*/ 181 h 185"/>
              <a:gd name="T66" fmla="*/ 42 w 326"/>
              <a:gd name="T67" fmla="*/ 175 h 185"/>
              <a:gd name="T68" fmla="*/ 42 w 326"/>
              <a:gd name="T69" fmla="*/ 171 h 185"/>
              <a:gd name="T70" fmla="*/ 41 w 326"/>
              <a:gd name="T71" fmla="*/ 172 h 185"/>
              <a:gd name="T72" fmla="*/ 39 w 326"/>
              <a:gd name="T73" fmla="*/ 179 h 185"/>
              <a:gd name="T74" fmla="*/ 36 w 326"/>
              <a:gd name="T75" fmla="*/ 185 h 185"/>
              <a:gd name="T76" fmla="*/ 34 w 326"/>
              <a:gd name="T77" fmla="*/ 185 h 185"/>
              <a:gd name="T78" fmla="*/ 33 w 326"/>
              <a:gd name="T79" fmla="*/ 170 h 185"/>
              <a:gd name="T80" fmla="*/ 32 w 326"/>
              <a:gd name="T81" fmla="*/ 167 h 185"/>
              <a:gd name="T82" fmla="*/ 32 w 326"/>
              <a:gd name="T83" fmla="*/ 171 h 185"/>
              <a:gd name="T84" fmla="*/ 30 w 326"/>
              <a:gd name="T85" fmla="*/ 179 h 185"/>
              <a:gd name="T86" fmla="*/ 30 w 326"/>
              <a:gd name="T87" fmla="*/ 179 h 185"/>
              <a:gd name="T88" fmla="*/ 29 w 326"/>
              <a:gd name="T89" fmla="*/ 172 h 185"/>
              <a:gd name="T90" fmla="*/ 28 w 326"/>
              <a:gd name="T91" fmla="*/ 172 h 185"/>
              <a:gd name="T92" fmla="*/ 28 w 326"/>
              <a:gd name="T93" fmla="*/ 180 h 185"/>
              <a:gd name="T94" fmla="*/ 28 w 326"/>
              <a:gd name="T95" fmla="*/ 181 h 185"/>
              <a:gd name="T96" fmla="*/ 16 w 326"/>
              <a:gd name="T97" fmla="*/ 157 h 185"/>
              <a:gd name="T98" fmla="*/ 25 w 326"/>
              <a:gd name="T99" fmla="*/ 127 h 185"/>
              <a:gd name="T100" fmla="*/ 24 w 326"/>
              <a:gd name="T101" fmla="*/ 126 h 185"/>
              <a:gd name="T102" fmla="*/ 24 w 326"/>
              <a:gd name="T103" fmla="*/ 122 h 185"/>
              <a:gd name="T104" fmla="*/ 27 w 326"/>
              <a:gd name="T105" fmla="*/ 121 h 185"/>
              <a:gd name="T106" fmla="*/ 25 w 326"/>
              <a:gd name="T107" fmla="*/ 116 h 185"/>
              <a:gd name="T108" fmla="*/ 25 w 326"/>
              <a:gd name="T109" fmla="*/ 112 h 185"/>
              <a:gd name="T110" fmla="*/ 28 w 326"/>
              <a:gd name="T111" fmla="*/ 108 h 185"/>
              <a:gd name="T112" fmla="*/ 30 w 326"/>
              <a:gd name="T113" fmla="*/ 110 h 185"/>
              <a:gd name="T114" fmla="*/ 33 w 326"/>
              <a:gd name="T115" fmla="*/ 108 h 185"/>
              <a:gd name="T116" fmla="*/ 32 w 326"/>
              <a:gd name="T117" fmla="*/ 67 h 185"/>
              <a:gd name="T118" fmla="*/ 2 w 326"/>
              <a:gd name="T119" fmla="*/ 55 h 185"/>
              <a:gd name="T120" fmla="*/ 0 w 326"/>
              <a:gd name="T121" fmla="*/ 52 h 185"/>
              <a:gd name="T122" fmla="*/ 1 w 326"/>
              <a:gd name="T123" fmla="*/ 47 h 185"/>
              <a:gd name="T124" fmla="*/ 159 w 326"/>
              <a:gd name="T125" fmla="*/ 0 h 1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326" h="185">
                <a:moveTo>
                  <a:pt x="248" y="93"/>
                </a:moveTo>
                <a:lnTo>
                  <a:pt x="250" y="94"/>
                </a:lnTo>
                <a:lnTo>
                  <a:pt x="251" y="95"/>
                </a:lnTo>
                <a:lnTo>
                  <a:pt x="253" y="98"/>
                </a:lnTo>
                <a:lnTo>
                  <a:pt x="253" y="138"/>
                </a:lnTo>
                <a:lnTo>
                  <a:pt x="249" y="148"/>
                </a:lnTo>
                <a:lnTo>
                  <a:pt x="239" y="157"/>
                </a:lnTo>
                <a:lnTo>
                  <a:pt x="225" y="163"/>
                </a:lnTo>
                <a:lnTo>
                  <a:pt x="207" y="168"/>
                </a:lnTo>
                <a:lnTo>
                  <a:pt x="185" y="171"/>
                </a:lnTo>
                <a:lnTo>
                  <a:pt x="163" y="172"/>
                </a:lnTo>
                <a:lnTo>
                  <a:pt x="142" y="171"/>
                </a:lnTo>
                <a:lnTo>
                  <a:pt x="120" y="168"/>
                </a:lnTo>
                <a:lnTo>
                  <a:pt x="102" y="163"/>
                </a:lnTo>
                <a:lnTo>
                  <a:pt x="87" y="157"/>
                </a:lnTo>
                <a:lnTo>
                  <a:pt x="78" y="148"/>
                </a:lnTo>
                <a:lnTo>
                  <a:pt x="74" y="138"/>
                </a:lnTo>
                <a:lnTo>
                  <a:pt x="74" y="99"/>
                </a:lnTo>
                <a:lnTo>
                  <a:pt x="75" y="97"/>
                </a:lnTo>
                <a:lnTo>
                  <a:pt x="76" y="94"/>
                </a:lnTo>
                <a:lnTo>
                  <a:pt x="79" y="93"/>
                </a:lnTo>
                <a:lnTo>
                  <a:pt x="82" y="94"/>
                </a:lnTo>
                <a:lnTo>
                  <a:pt x="158" y="125"/>
                </a:lnTo>
                <a:lnTo>
                  <a:pt x="163" y="126"/>
                </a:lnTo>
                <a:lnTo>
                  <a:pt x="168" y="125"/>
                </a:lnTo>
                <a:lnTo>
                  <a:pt x="245" y="93"/>
                </a:lnTo>
                <a:lnTo>
                  <a:pt x="248" y="93"/>
                </a:lnTo>
                <a:close/>
                <a:moveTo>
                  <a:pt x="163" y="0"/>
                </a:moveTo>
                <a:lnTo>
                  <a:pt x="167" y="0"/>
                </a:lnTo>
                <a:lnTo>
                  <a:pt x="322" y="46"/>
                </a:lnTo>
                <a:lnTo>
                  <a:pt x="324" y="47"/>
                </a:lnTo>
                <a:lnTo>
                  <a:pt x="326" y="50"/>
                </a:lnTo>
                <a:lnTo>
                  <a:pt x="326" y="52"/>
                </a:lnTo>
                <a:lnTo>
                  <a:pt x="324" y="53"/>
                </a:lnTo>
                <a:lnTo>
                  <a:pt x="323" y="55"/>
                </a:lnTo>
                <a:lnTo>
                  <a:pt x="168" y="120"/>
                </a:lnTo>
                <a:lnTo>
                  <a:pt x="163" y="121"/>
                </a:lnTo>
                <a:lnTo>
                  <a:pt x="157" y="120"/>
                </a:lnTo>
                <a:lnTo>
                  <a:pt x="43" y="72"/>
                </a:lnTo>
                <a:lnTo>
                  <a:pt x="42" y="72"/>
                </a:lnTo>
                <a:lnTo>
                  <a:pt x="39" y="74"/>
                </a:lnTo>
                <a:lnTo>
                  <a:pt x="39" y="75"/>
                </a:lnTo>
                <a:lnTo>
                  <a:pt x="39" y="110"/>
                </a:lnTo>
                <a:lnTo>
                  <a:pt x="39" y="110"/>
                </a:lnTo>
                <a:lnTo>
                  <a:pt x="41" y="111"/>
                </a:lnTo>
                <a:lnTo>
                  <a:pt x="42" y="110"/>
                </a:lnTo>
                <a:lnTo>
                  <a:pt x="43" y="110"/>
                </a:lnTo>
                <a:lnTo>
                  <a:pt x="45" y="110"/>
                </a:lnTo>
                <a:lnTo>
                  <a:pt x="45" y="111"/>
                </a:lnTo>
                <a:lnTo>
                  <a:pt x="46" y="112"/>
                </a:lnTo>
                <a:lnTo>
                  <a:pt x="46" y="115"/>
                </a:lnTo>
                <a:lnTo>
                  <a:pt x="46" y="116"/>
                </a:lnTo>
                <a:lnTo>
                  <a:pt x="46" y="120"/>
                </a:lnTo>
                <a:lnTo>
                  <a:pt x="45" y="122"/>
                </a:lnTo>
                <a:lnTo>
                  <a:pt x="45" y="124"/>
                </a:lnTo>
                <a:lnTo>
                  <a:pt x="46" y="124"/>
                </a:lnTo>
                <a:lnTo>
                  <a:pt x="47" y="125"/>
                </a:lnTo>
                <a:lnTo>
                  <a:pt x="46" y="126"/>
                </a:lnTo>
                <a:lnTo>
                  <a:pt x="45" y="127"/>
                </a:lnTo>
                <a:lnTo>
                  <a:pt x="45" y="127"/>
                </a:lnTo>
                <a:lnTo>
                  <a:pt x="50" y="138"/>
                </a:lnTo>
                <a:lnTo>
                  <a:pt x="52" y="149"/>
                </a:lnTo>
                <a:lnTo>
                  <a:pt x="52" y="161"/>
                </a:lnTo>
                <a:lnTo>
                  <a:pt x="50" y="171"/>
                </a:lnTo>
                <a:lnTo>
                  <a:pt x="42" y="180"/>
                </a:lnTo>
                <a:lnTo>
                  <a:pt x="42" y="181"/>
                </a:lnTo>
                <a:lnTo>
                  <a:pt x="42" y="180"/>
                </a:lnTo>
                <a:lnTo>
                  <a:pt x="42" y="175"/>
                </a:lnTo>
                <a:lnTo>
                  <a:pt x="42" y="172"/>
                </a:lnTo>
                <a:lnTo>
                  <a:pt x="42" y="171"/>
                </a:lnTo>
                <a:lnTo>
                  <a:pt x="42" y="171"/>
                </a:lnTo>
                <a:lnTo>
                  <a:pt x="41" y="172"/>
                </a:lnTo>
                <a:lnTo>
                  <a:pt x="41" y="175"/>
                </a:lnTo>
                <a:lnTo>
                  <a:pt x="39" y="179"/>
                </a:lnTo>
                <a:lnTo>
                  <a:pt x="37" y="182"/>
                </a:lnTo>
                <a:lnTo>
                  <a:pt x="36" y="185"/>
                </a:lnTo>
                <a:lnTo>
                  <a:pt x="34" y="185"/>
                </a:lnTo>
                <a:lnTo>
                  <a:pt x="34" y="185"/>
                </a:lnTo>
                <a:lnTo>
                  <a:pt x="33" y="173"/>
                </a:lnTo>
                <a:lnTo>
                  <a:pt x="33" y="170"/>
                </a:lnTo>
                <a:lnTo>
                  <a:pt x="33" y="168"/>
                </a:lnTo>
                <a:lnTo>
                  <a:pt x="32" y="167"/>
                </a:lnTo>
                <a:lnTo>
                  <a:pt x="32" y="168"/>
                </a:lnTo>
                <a:lnTo>
                  <a:pt x="32" y="171"/>
                </a:lnTo>
                <a:lnTo>
                  <a:pt x="32" y="179"/>
                </a:lnTo>
                <a:lnTo>
                  <a:pt x="30" y="179"/>
                </a:lnTo>
                <a:lnTo>
                  <a:pt x="30" y="180"/>
                </a:lnTo>
                <a:lnTo>
                  <a:pt x="30" y="179"/>
                </a:lnTo>
                <a:lnTo>
                  <a:pt x="29" y="175"/>
                </a:lnTo>
                <a:lnTo>
                  <a:pt x="29" y="172"/>
                </a:lnTo>
                <a:lnTo>
                  <a:pt x="28" y="172"/>
                </a:lnTo>
                <a:lnTo>
                  <a:pt x="28" y="172"/>
                </a:lnTo>
                <a:lnTo>
                  <a:pt x="28" y="175"/>
                </a:lnTo>
                <a:lnTo>
                  <a:pt x="28" y="180"/>
                </a:lnTo>
                <a:lnTo>
                  <a:pt x="28" y="181"/>
                </a:lnTo>
                <a:lnTo>
                  <a:pt x="28" y="181"/>
                </a:lnTo>
                <a:lnTo>
                  <a:pt x="19" y="170"/>
                </a:lnTo>
                <a:lnTo>
                  <a:pt x="16" y="157"/>
                </a:lnTo>
                <a:lnTo>
                  <a:pt x="19" y="141"/>
                </a:lnTo>
                <a:lnTo>
                  <a:pt x="25" y="127"/>
                </a:lnTo>
                <a:lnTo>
                  <a:pt x="25" y="126"/>
                </a:lnTo>
                <a:lnTo>
                  <a:pt x="24" y="126"/>
                </a:lnTo>
                <a:lnTo>
                  <a:pt x="24" y="124"/>
                </a:lnTo>
                <a:lnTo>
                  <a:pt x="24" y="122"/>
                </a:lnTo>
                <a:lnTo>
                  <a:pt x="25" y="122"/>
                </a:lnTo>
                <a:lnTo>
                  <a:pt x="27" y="121"/>
                </a:lnTo>
                <a:lnTo>
                  <a:pt x="25" y="118"/>
                </a:lnTo>
                <a:lnTo>
                  <a:pt x="25" y="116"/>
                </a:lnTo>
                <a:lnTo>
                  <a:pt x="25" y="113"/>
                </a:lnTo>
                <a:lnTo>
                  <a:pt x="25" y="112"/>
                </a:lnTo>
                <a:lnTo>
                  <a:pt x="27" y="110"/>
                </a:lnTo>
                <a:lnTo>
                  <a:pt x="28" y="108"/>
                </a:lnTo>
                <a:lnTo>
                  <a:pt x="30" y="108"/>
                </a:lnTo>
                <a:lnTo>
                  <a:pt x="30" y="110"/>
                </a:lnTo>
                <a:lnTo>
                  <a:pt x="32" y="108"/>
                </a:lnTo>
                <a:lnTo>
                  <a:pt x="33" y="108"/>
                </a:lnTo>
                <a:lnTo>
                  <a:pt x="33" y="70"/>
                </a:lnTo>
                <a:lnTo>
                  <a:pt x="32" y="67"/>
                </a:lnTo>
                <a:lnTo>
                  <a:pt x="30" y="66"/>
                </a:lnTo>
                <a:lnTo>
                  <a:pt x="2" y="55"/>
                </a:lnTo>
                <a:lnTo>
                  <a:pt x="1" y="53"/>
                </a:lnTo>
                <a:lnTo>
                  <a:pt x="0" y="52"/>
                </a:lnTo>
                <a:lnTo>
                  <a:pt x="0" y="50"/>
                </a:lnTo>
                <a:lnTo>
                  <a:pt x="1" y="47"/>
                </a:lnTo>
                <a:lnTo>
                  <a:pt x="4" y="46"/>
                </a:lnTo>
                <a:lnTo>
                  <a:pt x="159" y="0"/>
                </a:lnTo>
                <a:lnTo>
                  <a:pt x="163" y="0"/>
                </a:lnTo>
                <a:close/>
              </a:path>
            </a:pathLst>
          </a:custGeom>
          <a:solidFill>
            <a:schemeClr val="bg1">
              <a:alpha val="10000"/>
            </a:schemeClr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" name="Freeform 345"/>
          <p:cNvSpPr>
            <a:spLocks noEditPoints="1"/>
          </p:cNvSpPr>
          <p:nvPr userDrawn="1"/>
        </p:nvSpPr>
        <p:spPr bwMode="auto">
          <a:xfrm rot="19951744">
            <a:off x="485337" y="1535222"/>
            <a:ext cx="2166226" cy="3066048"/>
          </a:xfrm>
          <a:custGeom>
            <a:avLst/>
            <a:gdLst>
              <a:gd name="T0" fmla="*/ 190 w 195"/>
              <a:gd name="T1" fmla="*/ 163 h 276"/>
              <a:gd name="T2" fmla="*/ 195 w 195"/>
              <a:gd name="T3" fmla="*/ 174 h 276"/>
              <a:gd name="T4" fmla="*/ 192 w 195"/>
              <a:gd name="T5" fmla="*/ 180 h 276"/>
              <a:gd name="T6" fmla="*/ 105 w 195"/>
              <a:gd name="T7" fmla="*/ 212 h 276"/>
              <a:gd name="T8" fmla="*/ 98 w 195"/>
              <a:gd name="T9" fmla="*/ 202 h 276"/>
              <a:gd name="T10" fmla="*/ 101 w 195"/>
              <a:gd name="T11" fmla="*/ 195 h 276"/>
              <a:gd name="T12" fmla="*/ 187 w 195"/>
              <a:gd name="T13" fmla="*/ 160 h 276"/>
              <a:gd name="T14" fmla="*/ 20 w 195"/>
              <a:gd name="T15" fmla="*/ 147 h 276"/>
              <a:gd name="T16" fmla="*/ 15 w 195"/>
              <a:gd name="T17" fmla="*/ 157 h 276"/>
              <a:gd name="T18" fmla="*/ 20 w 195"/>
              <a:gd name="T19" fmla="*/ 168 h 276"/>
              <a:gd name="T20" fmla="*/ 32 w 195"/>
              <a:gd name="T21" fmla="*/ 169 h 276"/>
              <a:gd name="T22" fmla="*/ 40 w 195"/>
              <a:gd name="T23" fmla="*/ 161 h 276"/>
              <a:gd name="T24" fmla="*/ 37 w 195"/>
              <a:gd name="T25" fmla="*/ 150 h 276"/>
              <a:gd name="T26" fmla="*/ 27 w 195"/>
              <a:gd name="T27" fmla="*/ 145 h 276"/>
              <a:gd name="T28" fmla="*/ 102 w 195"/>
              <a:gd name="T29" fmla="*/ 2 h 276"/>
              <a:gd name="T30" fmla="*/ 105 w 195"/>
              <a:gd name="T31" fmla="*/ 12 h 276"/>
              <a:gd name="T32" fmla="*/ 100 w 195"/>
              <a:gd name="T33" fmla="*/ 14 h 276"/>
              <a:gd name="T34" fmla="*/ 151 w 195"/>
              <a:gd name="T35" fmla="*/ 146 h 276"/>
              <a:gd name="T36" fmla="*/ 148 w 195"/>
              <a:gd name="T37" fmla="*/ 149 h 276"/>
              <a:gd name="T38" fmla="*/ 147 w 195"/>
              <a:gd name="T39" fmla="*/ 151 h 276"/>
              <a:gd name="T40" fmla="*/ 148 w 195"/>
              <a:gd name="T41" fmla="*/ 160 h 276"/>
              <a:gd name="T42" fmla="*/ 144 w 195"/>
              <a:gd name="T43" fmla="*/ 166 h 276"/>
              <a:gd name="T44" fmla="*/ 129 w 195"/>
              <a:gd name="T45" fmla="*/ 169 h 276"/>
              <a:gd name="T46" fmla="*/ 124 w 195"/>
              <a:gd name="T47" fmla="*/ 161 h 276"/>
              <a:gd name="T48" fmla="*/ 120 w 195"/>
              <a:gd name="T49" fmla="*/ 160 h 276"/>
              <a:gd name="T50" fmla="*/ 118 w 195"/>
              <a:gd name="T51" fmla="*/ 160 h 276"/>
              <a:gd name="T52" fmla="*/ 91 w 195"/>
              <a:gd name="T53" fmla="*/ 97 h 276"/>
              <a:gd name="T54" fmla="*/ 84 w 195"/>
              <a:gd name="T55" fmla="*/ 97 h 276"/>
              <a:gd name="T56" fmla="*/ 52 w 195"/>
              <a:gd name="T57" fmla="*/ 136 h 276"/>
              <a:gd name="T58" fmla="*/ 55 w 195"/>
              <a:gd name="T59" fmla="*/ 151 h 276"/>
              <a:gd name="T60" fmla="*/ 52 w 195"/>
              <a:gd name="T61" fmla="*/ 170 h 276"/>
              <a:gd name="T62" fmla="*/ 46 w 195"/>
              <a:gd name="T63" fmla="*/ 180 h 276"/>
              <a:gd name="T64" fmla="*/ 59 w 195"/>
              <a:gd name="T65" fmla="*/ 216 h 276"/>
              <a:gd name="T66" fmla="*/ 87 w 195"/>
              <a:gd name="T67" fmla="*/ 243 h 276"/>
              <a:gd name="T68" fmla="*/ 185 w 195"/>
              <a:gd name="T69" fmla="*/ 244 h 276"/>
              <a:gd name="T70" fmla="*/ 193 w 195"/>
              <a:gd name="T71" fmla="*/ 256 h 276"/>
              <a:gd name="T72" fmla="*/ 189 w 195"/>
              <a:gd name="T73" fmla="*/ 274 h 276"/>
              <a:gd name="T74" fmla="*/ 22 w 195"/>
              <a:gd name="T75" fmla="*/ 276 h 276"/>
              <a:gd name="T76" fmla="*/ 12 w 195"/>
              <a:gd name="T77" fmla="*/ 270 h 276"/>
              <a:gd name="T78" fmla="*/ 12 w 195"/>
              <a:gd name="T79" fmla="*/ 251 h 276"/>
              <a:gd name="T80" fmla="*/ 22 w 195"/>
              <a:gd name="T81" fmla="*/ 244 h 276"/>
              <a:gd name="T82" fmla="*/ 29 w 195"/>
              <a:gd name="T83" fmla="*/ 241 h 276"/>
              <a:gd name="T84" fmla="*/ 17 w 195"/>
              <a:gd name="T85" fmla="*/ 210 h 276"/>
              <a:gd name="T86" fmla="*/ 8 w 195"/>
              <a:gd name="T87" fmla="*/ 177 h 276"/>
              <a:gd name="T88" fmla="*/ 0 w 195"/>
              <a:gd name="T89" fmla="*/ 157 h 276"/>
              <a:gd name="T90" fmla="*/ 15 w 195"/>
              <a:gd name="T91" fmla="*/ 131 h 276"/>
              <a:gd name="T92" fmla="*/ 38 w 195"/>
              <a:gd name="T93" fmla="*/ 91 h 276"/>
              <a:gd name="T94" fmla="*/ 75 w 195"/>
              <a:gd name="T95" fmla="*/ 62 h 276"/>
              <a:gd name="T96" fmla="*/ 65 w 195"/>
              <a:gd name="T97" fmla="*/ 31 h 276"/>
              <a:gd name="T98" fmla="*/ 61 w 195"/>
              <a:gd name="T99" fmla="*/ 30 h 276"/>
              <a:gd name="T100" fmla="*/ 56 w 195"/>
              <a:gd name="T101" fmla="*/ 31 h 276"/>
              <a:gd name="T102" fmla="*/ 52 w 195"/>
              <a:gd name="T103" fmla="*/ 20 h 276"/>
              <a:gd name="T104" fmla="*/ 59 w 195"/>
              <a:gd name="T105" fmla="*/ 16 h 276"/>
              <a:gd name="T106" fmla="*/ 101 w 195"/>
              <a:gd name="T107" fmla="*/ 0 h 2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195" h="276">
                <a:moveTo>
                  <a:pt x="187" y="160"/>
                </a:moveTo>
                <a:lnTo>
                  <a:pt x="189" y="161"/>
                </a:lnTo>
                <a:lnTo>
                  <a:pt x="190" y="163"/>
                </a:lnTo>
                <a:lnTo>
                  <a:pt x="193" y="165"/>
                </a:lnTo>
                <a:lnTo>
                  <a:pt x="195" y="172"/>
                </a:lnTo>
                <a:lnTo>
                  <a:pt x="195" y="174"/>
                </a:lnTo>
                <a:lnTo>
                  <a:pt x="195" y="177"/>
                </a:lnTo>
                <a:lnTo>
                  <a:pt x="193" y="178"/>
                </a:lnTo>
                <a:lnTo>
                  <a:pt x="192" y="180"/>
                </a:lnTo>
                <a:lnTo>
                  <a:pt x="110" y="212"/>
                </a:lnTo>
                <a:lnTo>
                  <a:pt x="107" y="212"/>
                </a:lnTo>
                <a:lnTo>
                  <a:pt x="105" y="212"/>
                </a:lnTo>
                <a:lnTo>
                  <a:pt x="103" y="211"/>
                </a:lnTo>
                <a:lnTo>
                  <a:pt x="101" y="209"/>
                </a:lnTo>
                <a:lnTo>
                  <a:pt x="98" y="202"/>
                </a:lnTo>
                <a:lnTo>
                  <a:pt x="98" y="200"/>
                </a:lnTo>
                <a:lnTo>
                  <a:pt x="98" y="197"/>
                </a:lnTo>
                <a:lnTo>
                  <a:pt x="101" y="195"/>
                </a:lnTo>
                <a:lnTo>
                  <a:pt x="102" y="193"/>
                </a:lnTo>
                <a:lnTo>
                  <a:pt x="184" y="161"/>
                </a:lnTo>
                <a:lnTo>
                  <a:pt x="187" y="160"/>
                </a:lnTo>
                <a:close/>
                <a:moveTo>
                  <a:pt x="27" y="145"/>
                </a:moveTo>
                <a:lnTo>
                  <a:pt x="23" y="145"/>
                </a:lnTo>
                <a:lnTo>
                  <a:pt x="20" y="147"/>
                </a:lnTo>
                <a:lnTo>
                  <a:pt x="17" y="150"/>
                </a:lnTo>
                <a:lnTo>
                  <a:pt x="15" y="154"/>
                </a:lnTo>
                <a:lnTo>
                  <a:pt x="15" y="157"/>
                </a:lnTo>
                <a:lnTo>
                  <a:pt x="15" y="161"/>
                </a:lnTo>
                <a:lnTo>
                  <a:pt x="17" y="165"/>
                </a:lnTo>
                <a:lnTo>
                  <a:pt x="20" y="168"/>
                </a:lnTo>
                <a:lnTo>
                  <a:pt x="23" y="169"/>
                </a:lnTo>
                <a:lnTo>
                  <a:pt x="27" y="170"/>
                </a:lnTo>
                <a:lnTo>
                  <a:pt x="32" y="169"/>
                </a:lnTo>
                <a:lnTo>
                  <a:pt x="35" y="168"/>
                </a:lnTo>
                <a:lnTo>
                  <a:pt x="37" y="165"/>
                </a:lnTo>
                <a:lnTo>
                  <a:pt x="40" y="161"/>
                </a:lnTo>
                <a:lnTo>
                  <a:pt x="40" y="157"/>
                </a:lnTo>
                <a:lnTo>
                  <a:pt x="40" y="154"/>
                </a:lnTo>
                <a:lnTo>
                  <a:pt x="37" y="150"/>
                </a:lnTo>
                <a:lnTo>
                  <a:pt x="35" y="147"/>
                </a:lnTo>
                <a:lnTo>
                  <a:pt x="32" y="145"/>
                </a:lnTo>
                <a:lnTo>
                  <a:pt x="27" y="145"/>
                </a:lnTo>
                <a:close/>
                <a:moveTo>
                  <a:pt x="101" y="0"/>
                </a:moveTo>
                <a:lnTo>
                  <a:pt x="102" y="0"/>
                </a:lnTo>
                <a:lnTo>
                  <a:pt x="102" y="2"/>
                </a:lnTo>
                <a:lnTo>
                  <a:pt x="106" y="9"/>
                </a:lnTo>
                <a:lnTo>
                  <a:pt x="106" y="11"/>
                </a:lnTo>
                <a:lnTo>
                  <a:pt x="105" y="12"/>
                </a:lnTo>
                <a:lnTo>
                  <a:pt x="103" y="13"/>
                </a:lnTo>
                <a:lnTo>
                  <a:pt x="101" y="14"/>
                </a:lnTo>
                <a:lnTo>
                  <a:pt x="100" y="14"/>
                </a:lnTo>
                <a:lnTo>
                  <a:pt x="100" y="16"/>
                </a:lnTo>
                <a:lnTo>
                  <a:pt x="100" y="18"/>
                </a:lnTo>
                <a:lnTo>
                  <a:pt x="151" y="146"/>
                </a:lnTo>
                <a:lnTo>
                  <a:pt x="151" y="147"/>
                </a:lnTo>
                <a:lnTo>
                  <a:pt x="149" y="149"/>
                </a:lnTo>
                <a:lnTo>
                  <a:pt x="148" y="149"/>
                </a:lnTo>
                <a:lnTo>
                  <a:pt x="148" y="150"/>
                </a:lnTo>
                <a:lnTo>
                  <a:pt x="147" y="150"/>
                </a:lnTo>
                <a:lnTo>
                  <a:pt x="147" y="151"/>
                </a:lnTo>
                <a:lnTo>
                  <a:pt x="147" y="152"/>
                </a:lnTo>
                <a:lnTo>
                  <a:pt x="148" y="157"/>
                </a:lnTo>
                <a:lnTo>
                  <a:pt x="148" y="160"/>
                </a:lnTo>
                <a:lnTo>
                  <a:pt x="148" y="163"/>
                </a:lnTo>
                <a:lnTo>
                  <a:pt x="147" y="164"/>
                </a:lnTo>
                <a:lnTo>
                  <a:pt x="144" y="166"/>
                </a:lnTo>
                <a:lnTo>
                  <a:pt x="134" y="169"/>
                </a:lnTo>
                <a:lnTo>
                  <a:pt x="132" y="170"/>
                </a:lnTo>
                <a:lnTo>
                  <a:pt x="129" y="169"/>
                </a:lnTo>
                <a:lnTo>
                  <a:pt x="128" y="168"/>
                </a:lnTo>
                <a:lnTo>
                  <a:pt x="125" y="165"/>
                </a:lnTo>
                <a:lnTo>
                  <a:pt x="124" y="161"/>
                </a:lnTo>
                <a:lnTo>
                  <a:pt x="124" y="161"/>
                </a:lnTo>
                <a:lnTo>
                  <a:pt x="123" y="160"/>
                </a:lnTo>
                <a:lnTo>
                  <a:pt x="120" y="160"/>
                </a:lnTo>
                <a:lnTo>
                  <a:pt x="120" y="160"/>
                </a:lnTo>
                <a:lnTo>
                  <a:pt x="119" y="161"/>
                </a:lnTo>
                <a:lnTo>
                  <a:pt x="118" y="160"/>
                </a:lnTo>
                <a:lnTo>
                  <a:pt x="116" y="159"/>
                </a:lnTo>
                <a:lnTo>
                  <a:pt x="93" y="100"/>
                </a:lnTo>
                <a:lnTo>
                  <a:pt x="91" y="97"/>
                </a:lnTo>
                <a:lnTo>
                  <a:pt x="89" y="96"/>
                </a:lnTo>
                <a:lnTo>
                  <a:pt x="87" y="96"/>
                </a:lnTo>
                <a:lnTo>
                  <a:pt x="84" y="97"/>
                </a:lnTo>
                <a:lnTo>
                  <a:pt x="70" y="108"/>
                </a:lnTo>
                <a:lnTo>
                  <a:pt x="60" y="120"/>
                </a:lnTo>
                <a:lnTo>
                  <a:pt x="52" y="136"/>
                </a:lnTo>
                <a:lnTo>
                  <a:pt x="51" y="140"/>
                </a:lnTo>
                <a:lnTo>
                  <a:pt x="52" y="145"/>
                </a:lnTo>
                <a:lnTo>
                  <a:pt x="55" y="151"/>
                </a:lnTo>
                <a:lnTo>
                  <a:pt x="55" y="157"/>
                </a:lnTo>
                <a:lnTo>
                  <a:pt x="55" y="164"/>
                </a:lnTo>
                <a:lnTo>
                  <a:pt x="52" y="170"/>
                </a:lnTo>
                <a:lnTo>
                  <a:pt x="49" y="175"/>
                </a:lnTo>
                <a:lnTo>
                  <a:pt x="47" y="178"/>
                </a:lnTo>
                <a:lnTo>
                  <a:pt x="46" y="180"/>
                </a:lnTo>
                <a:lnTo>
                  <a:pt x="46" y="184"/>
                </a:lnTo>
                <a:lnTo>
                  <a:pt x="51" y="201"/>
                </a:lnTo>
                <a:lnTo>
                  <a:pt x="59" y="216"/>
                </a:lnTo>
                <a:lnTo>
                  <a:pt x="69" y="230"/>
                </a:lnTo>
                <a:lnTo>
                  <a:pt x="83" y="242"/>
                </a:lnTo>
                <a:lnTo>
                  <a:pt x="87" y="243"/>
                </a:lnTo>
                <a:lnTo>
                  <a:pt x="89" y="244"/>
                </a:lnTo>
                <a:lnTo>
                  <a:pt x="181" y="244"/>
                </a:lnTo>
                <a:lnTo>
                  <a:pt x="185" y="244"/>
                </a:lnTo>
                <a:lnTo>
                  <a:pt x="189" y="247"/>
                </a:lnTo>
                <a:lnTo>
                  <a:pt x="192" y="251"/>
                </a:lnTo>
                <a:lnTo>
                  <a:pt x="193" y="256"/>
                </a:lnTo>
                <a:lnTo>
                  <a:pt x="193" y="265"/>
                </a:lnTo>
                <a:lnTo>
                  <a:pt x="192" y="270"/>
                </a:lnTo>
                <a:lnTo>
                  <a:pt x="189" y="274"/>
                </a:lnTo>
                <a:lnTo>
                  <a:pt x="185" y="276"/>
                </a:lnTo>
                <a:lnTo>
                  <a:pt x="181" y="276"/>
                </a:lnTo>
                <a:lnTo>
                  <a:pt x="22" y="276"/>
                </a:lnTo>
                <a:lnTo>
                  <a:pt x="18" y="276"/>
                </a:lnTo>
                <a:lnTo>
                  <a:pt x="14" y="274"/>
                </a:lnTo>
                <a:lnTo>
                  <a:pt x="12" y="270"/>
                </a:lnTo>
                <a:lnTo>
                  <a:pt x="10" y="265"/>
                </a:lnTo>
                <a:lnTo>
                  <a:pt x="10" y="256"/>
                </a:lnTo>
                <a:lnTo>
                  <a:pt x="12" y="251"/>
                </a:lnTo>
                <a:lnTo>
                  <a:pt x="14" y="247"/>
                </a:lnTo>
                <a:lnTo>
                  <a:pt x="18" y="244"/>
                </a:lnTo>
                <a:lnTo>
                  <a:pt x="22" y="244"/>
                </a:lnTo>
                <a:lnTo>
                  <a:pt x="24" y="244"/>
                </a:lnTo>
                <a:lnTo>
                  <a:pt x="27" y="243"/>
                </a:lnTo>
                <a:lnTo>
                  <a:pt x="29" y="241"/>
                </a:lnTo>
                <a:lnTo>
                  <a:pt x="29" y="238"/>
                </a:lnTo>
                <a:lnTo>
                  <a:pt x="28" y="235"/>
                </a:lnTo>
                <a:lnTo>
                  <a:pt x="17" y="210"/>
                </a:lnTo>
                <a:lnTo>
                  <a:pt x="10" y="183"/>
                </a:lnTo>
                <a:lnTo>
                  <a:pt x="9" y="179"/>
                </a:lnTo>
                <a:lnTo>
                  <a:pt x="8" y="177"/>
                </a:lnTo>
                <a:lnTo>
                  <a:pt x="4" y="170"/>
                </a:lnTo>
                <a:lnTo>
                  <a:pt x="0" y="164"/>
                </a:lnTo>
                <a:lnTo>
                  <a:pt x="0" y="157"/>
                </a:lnTo>
                <a:lnTo>
                  <a:pt x="3" y="143"/>
                </a:lnTo>
                <a:lnTo>
                  <a:pt x="13" y="133"/>
                </a:lnTo>
                <a:lnTo>
                  <a:pt x="15" y="131"/>
                </a:lnTo>
                <a:lnTo>
                  <a:pt x="17" y="128"/>
                </a:lnTo>
                <a:lnTo>
                  <a:pt x="27" y="109"/>
                </a:lnTo>
                <a:lnTo>
                  <a:pt x="38" y="91"/>
                </a:lnTo>
                <a:lnTo>
                  <a:pt x="54" y="76"/>
                </a:lnTo>
                <a:lnTo>
                  <a:pt x="73" y="63"/>
                </a:lnTo>
                <a:lnTo>
                  <a:pt x="75" y="62"/>
                </a:lnTo>
                <a:lnTo>
                  <a:pt x="75" y="59"/>
                </a:lnTo>
                <a:lnTo>
                  <a:pt x="75" y="57"/>
                </a:lnTo>
                <a:lnTo>
                  <a:pt x="65" y="31"/>
                </a:lnTo>
                <a:lnTo>
                  <a:pt x="65" y="30"/>
                </a:lnTo>
                <a:lnTo>
                  <a:pt x="64" y="30"/>
                </a:lnTo>
                <a:lnTo>
                  <a:pt x="61" y="30"/>
                </a:lnTo>
                <a:lnTo>
                  <a:pt x="59" y="31"/>
                </a:lnTo>
                <a:lnTo>
                  <a:pt x="58" y="31"/>
                </a:lnTo>
                <a:lnTo>
                  <a:pt x="56" y="31"/>
                </a:lnTo>
                <a:lnTo>
                  <a:pt x="55" y="30"/>
                </a:lnTo>
                <a:lnTo>
                  <a:pt x="52" y="22"/>
                </a:lnTo>
                <a:lnTo>
                  <a:pt x="52" y="20"/>
                </a:lnTo>
                <a:lnTo>
                  <a:pt x="52" y="18"/>
                </a:lnTo>
                <a:lnTo>
                  <a:pt x="54" y="18"/>
                </a:lnTo>
                <a:lnTo>
                  <a:pt x="59" y="16"/>
                </a:lnTo>
                <a:lnTo>
                  <a:pt x="93" y="2"/>
                </a:lnTo>
                <a:lnTo>
                  <a:pt x="98" y="0"/>
                </a:lnTo>
                <a:lnTo>
                  <a:pt x="101" y="0"/>
                </a:lnTo>
                <a:close/>
              </a:path>
            </a:pathLst>
          </a:custGeom>
          <a:solidFill>
            <a:schemeClr val="bg1">
              <a:alpha val="10000"/>
            </a:schemeClr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" name="Freeform 387"/>
          <p:cNvSpPr>
            <a:spLocks noEditPoints="1"/>
          </p:cNvSpPr>
          <p:nvPr userDrawn="1"/>
        </p:nvSpPr>
        <p:spPr bwMode="auto">
          <a:xfrm rot="1888595">
            <a:off x="2442159" y="392103"/>
            <a:ext cx="1572202" cy="2081915"/>
          </a:xfrm>
          <a:custGeom>
            <a:avLst/>
            <a:gdLst>
              <a:gd name="T0" fmla="*/ 68 w 219"/>
              <a:gd name="T1" fmla="*/ 188 h 290"/>
              <a:gd name="T2" fmla="*/ 108 w 219"/>
              <a:gd name="T3" fmla="*/ 177 h 290"/>
              <a:gd name="T4" fmla="*/ 114 w 219"/>
              <a:gd name="T5" fmla="*/ 174 h 290"/>
              <a:gd name="T6" fmla="*/ 168 w 219"/>
              <a:gd name="T7" fmla="*/ 174 h 290"/>
              <a:gd name="T8" fmla="*/ 52 w 219"/>
              <a:gd name="T9" fmla="*/ 172 h 290"/>
              <a:gd name="T10" fmla="*/ 100 w 219"/>
              <a:gd name="T11" fmla="*/ 170 h 290"/>
              <a:gd name="T12" fmla="*/ 52 w 219"/>
              <a:gd name="T13" fmla="*/ 117 h 290"/>
              <a:gd name="T14" fmla="*/ 44 w 219"/>
              <a:gd name="T15" fmla="*/ 168 h 290"/>
              <a:gd name="T16" fmla="*/ 53 w 219"/>
              <a:gd name="T17" fmla="*/ 118 h 290"/>
              <a:gd name="T18" fmla="*/ 89 w 219"/>
              <a:gd name="T19" fmla="*/ 138 h 290"/>
              <a:gd name="T20" fmla="*/ 137 w 219"/>
              <a:gd name="T21" fmla="*/ 145 h 290"/>
              <a:gd name="T22" fmla="*/ 150 w 219"/>
              <a:gd name="T23" fmla="*/ 141 h 290"/>
              <a:gd name="T24" fmla="*/ 175 w 219"/>
              <a:gd name="T25" fmla="*/ 169 h 290"/>
              <a:gd name="T26" fmla="*/ 172 w 219"/>
              <a:gd name="T27" fmla="*/ 114 h 290"/>
              <a:gd name="T28" fmla="*/ 31 w 219"/>
              <a:gd name="T29" fmla="*/ 152 h 290"/>
              <a:gd name="T30" fmla="*/ 43 w 219"/>
              <a:gd name="T31" fmla="*/ 112 h 290"/>
              <a:gd name="T32" fmla="*/ 115 w 219"/>
              <a:gd name="T33" fmla="*/ 109 h 290"/>
              <a:gd name="T34" fmla="*/ 164 w 219"/>
              <a:gd name="T35" fmla="*/ 112 h 290"/>
              <a:gd name="T36" fmla="*/ 73 w 219"/>
              <a:gd name="T37" fmla="*/ 83 h 290"/>
              <a:gd name="T38" fmla="*/ 83 w 219"/>
              <a:gd name="T39" fmla="*/ 131 h 290"/>
              <a:gd name="T40" fmla="*/ 77 w 219"/>
              <a:gd name="T41" fmla="*/ 82 h 290"/>
              <a:gd name="T42" fmla="*/ 175 w 219"/>
              <a:gd name="T43" fmla="*/ 108 h 290"/>
              <a:gd name="T44" fmla="*/ 196 w 219"/>
              <a:gd name="T45" fmla="*/ 90 h 290"/>
              <a:gd name="T46" fmla="*/ 82 w 219"/>
              <a:gd name="T47" fmla="*/ 77 h 290"/>
              <a:gd name="T48" fmla="*/ 129 w 219"/>
              <a:gd name="T49" fmla="*/ 85 h 290"/>
              <a:gd name="T50" fmla="*/ 174 w 219"/>
              <a:gd name="T51" fmla="*/ 51 h 290"/>
              <a:gd name="T52" fmla="*/ 156 w 219"/>
              <a:gd name="T53" fmla="*/ 96 h 290"/>
              <a:gd name="T54" fmla="*/ 178 w 219"/>
              <a:gd name="T55" fmla="*/ 77 h 290"/>
              <a:gd name="T56" fmla="*/ 43 w 219"/>
              <a:gd name="T57" fmla="*/ 51 h 290"/>
              <a:gd name="T58" fmla="*/ 49 w 219"/>
              <a:gd name="T59" fmla="*/ 104 h 290"/>
              <a:gd name="T60" fmla="*/ 184 w 219"/>
              <a:gd name="T61" fmla="*/ 41 h 290"/>
              <a:gd name="T62" fmla="*/ 202 w 219"/>
              <a:gd name="T63" fmla="*/ 89 h 290"/>
              <a:gd name="T64" fmla="*/ 112 w 219"/>
              <a:gd name="T65" fmla="*/ 205 h 290"/>
              <a:gd name="T66" fmla="*/ 41 w 219"/>
              <a:gd name="T67" fmla="*/ 183 h 290"/>
              <a:gd name="T68" fmla="*/ 137 w 219"/>
              <a:gd name="T69" fmla="*/ 209 h 290"/>
              <a:gd name="T70" fmla="*/ 201 w 219"/>
              <a:gd name="T71" fmla="*/ 64 h 290"/>
              <a:gd name="T72" fmla="*/ 118 w 219"/>
              <a:gd name="T73" fmla="*/ 49 h 290"/>
              <a:gd name="T74" fmla="*/ 138 w 219"/>
              <a:gd name="T75" fmla="*/ 76 h 290"/>
              <a:gd name="T76" fmla="*/ 92 w 219"/>
              <a:gd name="T77" fmla="*/ 23 h 290"/>
              <a:gd name="T78" fmla="*/ 75 w 219"/>
              <a:gd name="T79" fmla="*/ 71 h 290"/>
              <a:gd name="T80" fmla="*/ 95 w 219"/>
              <a:gd name="T81" fmla="*/ 23 h 290"/>
              <a:gd name="T82" fmla="*/ 110 w 219"/>
              <a:gd name="T83" fmla="*/ 43 h 290"/>
              <a:gd name="T84" fmla="*/ 151 w 219"/>
              <a:gd name="T85" fmla="*/ 32 h 290"/>
              <a:gd name="T86" fmla="*/ 219 w 219"/>
              <a:gd name="T87" fmla="*/ 12 h 290"/>
              <a:gd name="T88" fmla="*/ 195 w 219"/>
              <a:gd name="T89" fmla="*/ 30 h 290"/>
              <a:gd name="T90" fmla="*/ 219 w 219"/>
              <a:gd name="T91" fmla="*/ 101 h 290"/>
              <a:gd name="T92" fmla="*/ 118 w 219"/>
              <a:gd name="T93" fmla="*/ 219 h 290"/>
              <a:gd name="T94" fmla="*/ 126 w 219"/>
              <a:gd name="T95" fmla="*/ 243 h 290"/>
              <a:gd name="T96" fmla="*/ 118 w 219"/>
              <a:gd name="T97" fmla="*/ 266 h 290"/>
              <a:gd name="T98" fmla="*/ 183 w 219"/>
              <a:gd name="T99" fmla="*/ 290 h 290"/>
              <a:gd name="T100" fmla="*/ 77 w 219"/>
              <a:gd name="T101" fmla="*/ 269 h 290"/>
              <a:gd name="T102" fmla="*/ 95 w 219"/>
              <a:gd name="T103" fmla="*/ 251 h 290"/>
              <a:gd name="T104" fmla="*/ 103 w 219"/>
              <a:gd name="T105" fmla="*/ 220 h 290"/>
              <a:gd name="T106" fmla="*/ 30 w 219"/>
              <a:gd name="T107" fmla="*/ 193 h 290"/>
              <a:gd name="T108" fmla="*/ 20 w 219"/>
              <a:gd name="T109" fmla="*/ 219 h 290"/>
              <a:gd name="T110" fmla="*/ 13 w 219"/>
              <a:gd name="T111" fmla="*/ 188 h 290"/>
              <a:gd name="T112" fmla="*/ 37 w 219"/>
              <a:gd name="T113" fmla="*/ 173 h 290"/>
              <a:gd name="T114" fmla="*/ 62 w 219"/>
              <a:gd name="T115" fmla="*/ 27 h 290"/>
              <a:gd name="T116" fmla="*/ 177 w 219"/>
              <a:gd name="T117" fmla="*/ 39 h 290"/>
              <a:gd name="T118" fmla="*/ 192 w 219"/>
              <a:gd name="T119" fmla="*/ 6 h 2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219" h="290">
                <a:moveTo>
                  <a:pt x="106" y="175"/>
                </a:moveTo>
                <a:lnTo>
                  <a:pt x="104" y="175"/>
                </a:lnTo>
                <a:lnTo>
                  <a:pt x="87" y="183"/>
                </a:lnTo>
                <a:lnTo>
                  <a:pt x="68" y="187"/>
                </a:lnTo>
                <a:lnTo>
                  <a:pt x="68" y="187"/>
                </a:lnTo>
                <a:lnTo>
                  <a:pt x="67" y="188"/>
                </a:lnTo>
                <a:lnTo>
                  <a:pt x="68" y="188"/>
                </a:lnTo>
                <a:lnTo>
                  <a:pt x="90" y="196"/>
                </a:lnTo>
                <a:lnTo>
                  <a:pt x="113" y="198"/>
                </a:lnTo>
                <a:lnTo>
                  <a:pt x="114" y="198"/>
                </a:lnTo>
                <a:lnTo>
                  <a:pt x="115" y="196"/>
                </a:lnTo>
                <a:lnTo>
                  <a:pt x="115" y="195"/>
                </a:lnTo>
                <a:lnTo>
                  <a:pt x="113" y="186"/>
                </a:lnTo>
                <a:lnTo>
                  <a:pt x="108" y="177"/>
                </a:lnTo>
                <a:lnTo>
                  <a:pt x="108" y="177"/>
                </a:lnTo>
                <a:lnTo>
                  <a:pt x="106" y="175"/>
                </a:lnTo>
                <a:close/>
                <a:moveTo>
                  <a:pt x="142" y="150"/>
                </a:moveTo>
                <a:lnTo>
                  <a:pt x="141" y="150"/>
                </a:lnTo>
                <a:lnTo>
                  <a:pt x="115" y="170"/>
                </a:lnTo>
                <a:lnTo>
                  <a:pt x="114" y="172"/>
                </a:lnTo>
                <a:lnTo>
                  <a:pt x="114" y="174"/>
                </a:lnTo>
                <a:lnTo>
                  <a:pt x="123" y="195"/>
                </a:lnTo>
                <a:lnTo>
                  <a:pt x="124" y="197"/>
                </a:lnTo>
                <a:lnTo>
                  <a:pt x="126" y="197"/>
                </a:lnTo>
                <a:lnTo>
                  <a:pt x="147" y="189"/>
                </a:lnTo>
                <a:lnTo>
                  <a:pt x="168" y="177"/>
                </a:lnTo>
                <a:lnTo>
                  <a:pt x="168" y="175"/>
                </a:lnTo>
                <a:lnTo>
                  <a:pt x="168" y="174"/>
                </a:lnTo>
                <a:lnTo>
                  <a:pt x="168" y="173"/>
                </a:lnTo>
                <a:lnTo>
                  <a:pt x="145" y="150"/>
                </a:lnTo>
                <a:lnTo>
                  <a:pt x="143" y="150"/>
                </a:lnTo>
                <a:lnTo>
                  <a:pt x="142" y="150"/>
                </a:lnTo>
                <a:close/>
                <a:moveTo>
                  <a:pt x="81" y="143"/>
                </a:moveTo>
                <a:lnTo>
                  <a:pt x="80" y="143"/>
                </a:lnTo>
                <a:lnTo>
                  <a:pt x="52" y="172"/>
                </a:lnTo>
                <a:lnTo>
                  <a:pt x="52" y="174"/>
                </a:lnTo>
                <a:lnTo>
                  <a:pt x="52" y="175"/>
                </a:lnTo>
                <a:lnTo>
                  <a:pt x="53" y="177"/>
                </a:lnTo>
                <a:lnTo>
                  <a:pt x="64" y="179"/>
                </a:lnTo>
                <a:lnTo>
                  <a:pt x="77" y="179"/>
                </a:lnTo>
                <a:lnTo>
                  <a:pt x="90" y="175"/>
                </a:lnTo>
                <a:lnTo>
                  <a:pt x="100" y="170"/>
                </a:lnTo>
                <a:lnTo>
                  <a:pt x="101" y="169"/>
                </a:lnTo>
                <a:lnTo>
                  <a:pt x="103" y="168"/>
                </a:lnTo>
                <a:lnTo>
                  <a:pt x="101" y="166"/>
                </a:lnTo>
                <a:lnTo>
                  <a:pt x="85" y="143"/>
                </a:lnTo>
                <a:lnTo>
                  <a:pt x="83" y="143"/>
                </a:lnTo>
                <a:lnTo>
                  <a:pt x="81" y="143"/>
                </a:lnTo>
                <a:close/>
                <a:moveTo>
                  <a:pt x="52" y="117"/>
                </a:moveTo>
                <a:lnTo>
                  <a:pt x="50" y="118"/>
                </a:lnTo>
                <a:lnTo>
                  <a:pt x="49" y="119"/>
                </a:lnTo>
                <a:lnTo>
                  <a:pt x="44" y="129"/>
                </a:lnTo>
                <a:lnTo>
                  <a:pt x="40" y="142"/>
                </a:lnTo>
                <a:lnTo>
                  <a:pt x="40" y="155"/>
                </a:lnTo>
                <a:lnTo>
                  <a:pt x="43" y="166"/>
                </a:lnTo>
                <a:lnTo>
                  <a:pt x="44" y="168"/>
                </a:lnTo>
                <a:lnTo>
                  <a:pt x="45" y="168"/>
                </a:lnTo>
                <a:lnTo>
                  <a:pt x="48" y="168"/>
                </a:lnTo>
                <a:lnTo>
                  <a:pt x="76" y="140"/>
                </a:lnTo>
                <a:lnTo>
                  <a:pt x="76" y="138"/>
                </a:lnTo>
                <a:lnTo>
                  <a:pt x="76" y="136"/>
                </a:lnTo>
                <a:lnTo>
                  <a:pt x="76" y="135"/>
                </a:lnTo>
                <a:lnTo>
                  <a:pt x="53" y="118"/>
                </a:lnTo>
                <a:lnTo>
                  <a:pt x="52" y="117"/>
                </a:lnTo>
                <a:close/>
                <a:moveTo>
                  <a:pt x="110" y="115"/>
                </a:moveTo>
                <a:lnTo>
                  <a:pt x="109" y="115"/>
                </a:lnTo>
                <a:lnTo>
                  <a:pt x="108" y="117"/>
                </a:lnTo>
                <a:lnTo>
                  <a:pt x="89" y="135"/>
                </a:lnTo>
                <a:lnTo>
                  <a:pt x="89" y="136"/>
                </a:lnTo>
                <a:lnTo>
                  <a:pt x="89" y="138"/>
                </a:lnTo>
                <a:lnTo>
                  <a:pt x="89" y="140"/>
                </a:lnTo>
                <a:lnTo>
                  <a:pt x="108" y="164"/>
                </a:lnTo>
                <a:lnTo>
                  <a:pt x="109" y="164"/>
                </a:lnTo>
                <a:lnTo>
                  <a:pt x="110" y="165"/>
                </a:lnTo>
                <a:lnTo>
                  <a:pt x="112" y="164"/>
                </a:lnTo>
                <a:lnTo>
                  <a:pt x="136" y="146"/>
                </a:lnTo>
                <a:lnTo>
                  <a:pt x="137" y="145"/>
                </a:lnTo>
                <a:lnTo>
                  <a:pt x="137" y="142"/>
                </a:lnTo>
                <a:lnTo>
                  <a:pt x="136" y="141"/>
                </a:lnTo>
                <a:lnTo>
                  <a:pt x="112" y="117"/>
                </a:lnTo>
                <a:lnTo>
                  <a:pt x="110" y="115"/>
                </a:lnTo>
                <a:close/>
                <a:moveTo>
                  <a:pt x="172" y="114"/>
                </a:moveTo>
                <a:lnTo>
                  <a:pt x="169" y="115"/>
                </a:lnTo>
                <a:lnTo>
                  <a:pt x="150" y="141"/>
                </a:lnTo>
                <a:lnTo>
                  <a:pt x="149" y="142"/>
                </a:lnTo>
                <a:lnTo>
                  <a:pt x="149" y="145"/>
                </a:lnTo>
                <a:lnTo>
                  <a:pt x="150" y="146"/>
                </a:lnTo>
                <a:lnTo>
                  <a:pt x="172" y="168"/>
                </a:lnTo>
                <a:lnTo>
                  <a:pt x="173" y="169"/>
                </a:lnTo>
                <a:lnTo>
                  <a:pt x="174" y="169"/>
                </a:lnTo>
                <a:lnTo>
                  <a:pt x="175" y="169"/>
                </a:lnTo>
                <a:lnTo>
                  <a:pt x="177" y="168"/>
                </a:lnTo>
                <a:lnTo>
                  <a:pt x="189" y="149"/>
                </a:lnTo>
                <a:lnTo>
                  <a:pt x="196" y="127"/>
                </a:lnTo>
                <a:lnTo>
                  <a:pt x="196" y="124"/>
                </a:lnTo>
                <a:lnTo>
                  <a:pt x="195" y="123"/>
                </a:lnTo>
                <a:lnTo>
                  <a:pt x="173" y="114"/>
                </a:lnTo>
                <a:lnTo>
                  <a:pt x="172" y="114"/>
                </a:lnTo>
                <a:close/>
                <a:moveTo>
                  <a:pt x="25" y="104"/>
                </a:moveTo>
                <a:lnTo>
                  <a:pt x="23" y="104"/>
                </a:lnTo>
                <a:lnTo>
                  <a:pt x="21" y="105"/>
                </a:lnTo>
                <a:lnTo>
                  <a:pt x="21" y="106"/>
                </a:lnTo>
                <a:lnTo>
                  <a:pt x="23" y="129"/>
                </a:lnTo>
                <a:lnTo>
                  <a:pt x="31" y="151"/>
                </a:lnTo>
                <a:lnTo>
                  <a:pt x="31" y="152"/>
                </a:lnTo>
                <a:lnTo>
                  <a:pt x="32" y="151"/>
                </a:lnTo>
                <a:lnTo>
                  <a:pt x="32" y="151"/>
                </a:lnTo>
                <a:lnTo>
                  <a:pt x="36" y="132"/>
                </a:lnTo>
                <a:lnTo>
                  <a:pt x="44" y="115"/>
                </a:lnTo>
                <a:lnTo>
                  <a:pt x="44" y="113"/>
                </a:lnTo>
                <a:lnTo>
                  <a:pt x="43" y="112"/>
                </a:lnTo>
                <a:lnTo>
                  <a:pt x="43" y="112"/>
                </a:lnTo>
                <a:lnTo>
                  <a:pt x="34" y="106"/>
                </a:lnTo>
                <a:lnTo>
                  <a:pt x="25" y="104"/>
                </a:lnTo>
                <a:close/>
                <a:moveTo>
                  <a:pt x="137" y="89"/>
                </a:moveTo>
                <a:lnTo>
                  <a:pt x="136" y="89"/>
                </a:lnTo>
                <a:lnTo>
                  <a:pt x="135" y="90"/>
                </a:lnTo>
                <a:lnTo>
                  <a:pt x="117" y="108"/>
                </a:lnTo>
                <a:lnTo>
                  <a:pt x="115" y="109"/>
                </a:lnTo>
                <a:lnTo>
                  <a:pt x="115" y="110"/>
                </a:lnTo>
                <a:lnTo>
                  <a:pt x="117" y="112"/>
                </a:lnTo>
                <a:lnTo>
                  <a:pt x="141" y="137"/>
                </a:lnTo>
                <a:lnTo>
                  <a:pt x="142" y="137"/>
                </a:lnTo>
                <a:lnTo>
                  <a:pt x="145" y="137"/>
                </a:lnTo>
                <a:lnTo>
                  <a:pt x="164" y="113"/>
                </a:lnTo>
                <a:lnTo>
                  <a:pt x="164" y="112"/>
                </a:lnTo>
                <a:lnTo>
                  <a:pt x="164" y="109"/>
                </a:lnTo>
                <a:lnTo>
                  <a:pt x="163" y="109"/>
                </a:lnTo>
                <a:lnTo>
                  <a:pt x="138" y="90"/>
                </a:lnTo>
                <a:lnTo>
                  <a:pt x="137" y="89"/>
                </a:lnTo>
                <a:close/>
                <a:moveTo>
                  <a:pt x="77" y="82"/>
                </a:moveTo>
                <a:lnTo>
                  <a:pt x="75" y="82"/>
                </a:lnTo>
                <a:lnTo>
                  <a:pt x="73" y="83"/>
                </a:lnTo>
                <a:lnTo>
                  <a:pt x="55" y="108"/>
                </a:lnTo>
                <a:lnTo>
                  <a:pt x="54" y="109"/>
                </a:lnTo>
                <a:lnTo>
                  <a:pt x="55" y="110"/>
                </a:lnTo>
                <a:lnTo>
                  <a:pt x="55" y="112"/>
                </a:lnTo>
                <a:lnTo>
                  <a:pt x="80" y="131"/>
                </a:lnTo>
                <a:lnTo>
                  <a:pt x="81" y="131"/>
                </a:lnTo>
                <a:lnTo>
                  <a:pt x="83" y="131"/>
                </a:lnTo>
                <a:lnTo>
                  <a:pt x="85" y="131"/>
                </a:lnTo>
                <a:lnTo>
                  <a:pt x="103" y="112"/>
                </a:lnTo>
                <a:lnTo>
                  <a:pt x="104" y="110"/>
                </a:lnTo>
                <a:lnTo>
                  <a:pt x="104" y="109"/>
                </a:lnTo>
                <a:lnTo>
                  <a:pt x="103" y="108"/>
                </a:lnTo>
                <a:lnTo>
                  <a:pt x="78" y="83"/>
                </a:lnTo>
                <a:lnTo>
                  <a:pt x="77" y="82"/>
                </a:lnTo>
                <a:close/>
                <a:moveTo>
                  <a:pt x="187" y="68"/>
                </a:moveTo>
                <a:lnTo>
                  <a:pt x="186" y="68"/>
                </a:lnTo>
                <a:lnTo>
                  <a:pt x="186" y="69"/>
                </a:lnTo>
                <a:lnTo>
                  <a:pt x="183" y="87"/>
                </a:lnTo>
                <a:lnTo>
                  <a:pt x="175" y="105"/>
                </a:lnTo>
                <a:lnTo>
                  <a:pt x="175" y="106"/>
                </a:lnTo>
                <a:lnTo>
                  <a:pt x="175" y="108"/>
                </a:lnTo>
                <a:lnTo>
                  <a:pt x="177" y="109"/>
                </a:lnTo>
                <a:lnTo>
                  <a:pt x="186" y="113"/>
                </a:lnTo>
                <a:lnTo>
                  <a:pt x="195" y="117"/>
                </a:lnTo>
                <a:lnTo>
                  <a:pt x="196" y="117"/>
                </a:lnTo>
                <a:lnTo>
                  <a:pt x="197" y="115"/>
                </a:lnTo>
                <a:lnTo>
                  <a:pt x="197" y="114"/>
                </a:lnTo>
                <a:lnTo>
                  <a:pt x="196" y="90"/>
                </a:lnTo>
                <a:lnTo>
                  <a:pt x="187" y="68"/>
                </a:lnTo>
                <a:lnTo>
                  <a:pt x="187" y="68"/>
                </a:lnTo>
                <a:close/>
                <a:moveTo>
                  <a:pt x="108" y="55"/>
                </a:moveTo>
                <a:lnTo>
                  <a:pt x="106" y="55"/>
                </a:lnTo>
                <a:lnTo>
                  <a:pt x="82" y="74"/>
                </a:lnTo>
                <a:lnTo>
                  <a:pt x="82" y="76"/>
                </a:lnTo>
                <a:lnTo>
                  <a:pt x="82" y="77"/>
                </a:lnTo>
                <a:lnTo>
                  <a:pt x="82" y="77"/>
                </a:lnTo>
                <a:lnTo>
                  <a:pt x="82" y="78"/>
                </a:lnTo>
                <a:lnTo>
                  <a:pt x="108" y="103"/>
                </a:lnTo>
                <a:lnTo>
                  <a:pt x="109" y="104"/>
                </a:lnTo>
                <a:lnTo>
                  <a:pt x="110" y="104"/>
                </a:lnTo>
                <a:lnTo>
                  <a:pt x="112" y="103"/>
                </a:lnTo>
                <a:lnTo>
                  <a:pt x="129" y="85"/>
                </a:lnTo>
                <a:lnTo>
                  <a:pt x="131" y="83"/>
                </a:lnTo>
                <a:lnTo>
                  <a:pt x="131" y="82"/>
                </a:lnTo>
                <a:lnTo>
                  <a:pt x="129" y="81"/>
                </a:lnTo>
                <a:lnTo>
                  <a:pt x="110" y="57"/>
                </a:lnTo>
                <a:lnTo>
                  <a:pt x="109" y="55"/>
                </a:lnTo>
                <a:lnTo>
                  <a:pt x="108" y="55"/>
                </a:lnTo>
                <a:close/>
                <a:moveTo>
                  <a:pt x="174" y="51"/>
                </a:moveTo>
                <a:lnTo>
                  <a:pt x="173" y="51"/>
                </a:lnTo>
                <a:lnTo>
                  <a:pt x="172" y="53"/>
                </a:lnTo>
                <a:lnTo>
                  <a:pt x="143" y="81"/>
                </a:lnTo>
                <a:lnTo>
                  <a:pt x="142" y="83"/>
                </a:lnTo>
                <a:lnTo>
                  <a:pt x="145" y="86"/>
                </a:lnTo>
                <a:lnTo>
                  <a:pt x="150" y="91"/>
                </a:lnTo>
                <a:lnTo>
                  <a:pt x="156" y="96"/>
                </a:lnTo>
                <a:lnTo>
                  <a:pt x="161" y="100"/>
                </a:lnTo>
                <a:lnTo>
                  <a:pt x="165" y="103"/>
                </a:lnTo>
                <a:lnTo>
                  <a:pt x="166" y="103"/>
                </a:lnTo>
                <a:lnTo>
                  <a:pt x="169" y="103"/>
                </a:lnTo>
                <a:lnTo>
                  <a:pt x="170" y="101"/>
                </a:lnTo>
                <a:lnTo>
                  <a:pt x="174" y="90"/>
                </a:lnTo>
                <a:lnTo>
                  <a:pt x="178" y="77"/>
                </a:lnTo>
                <a:lnTo>
                  <a:pt x="179" y="64"/>
                </a:lnTo>
                <a:lnTo>
                  <a:pt x="177" y="53"/>
                </a:lnTo>
                <a:lnTo>
                  <a:pt x="175" y="53"/>
                </a:lnTo>
                <a:lnTo>
                  <a:pt x="174" y="51"/>
                </a:lnTo>
                <a:close/>
                <a:moveTo>
                  <a:pt x="45" y="51"/>
                </a:moveTo>
                <a:lnTo>
                  <a:pt x="44" y="51"/>
                </a:lnTo>
                <a:lnTo>
                  <a:pt x="43" y="51"/>
                </a:lnTo>
                <a:lnTo>
                  <a:pt x="30" y="72"/>
                </a:lnTo>
                <a:lnTo>
                  <a:pt x="22" y="94"/>
                </a:lnTo>
                <a:lnTo>
                  <a:pt x="22" y="95"/>
                </a:lnTo>
                <a:lnTo>
                  <a:pt x="25" y="96"/>
                </a:lnTo>
                <a:lnTo>
                  <a:pt x="45" y="105"/>
                </a:lnTo>
                <a:lnTo>
                  <a:pt x="48" y="105"/>
                </a:lnTo>
                <a:lnTo>
                  <a:pt x="49" y="104"/>
                </a:lnTo>
                <a:lnTo>
                  <a:pt x="69" y="78"/>
                </a:lnTo>
                <a:lnTo>
                  <a:pt x="69" y="77"/>
                </a:lnTo>
                <a:lnTo>
                  <a:pt x="69" y="76"/>
                </a:lnTo>
                <a:lnTo>
                  <a:pt x="69" y="74"/>
                </a:lnTo>
                <a:lnTo>
                  <a:pt x="46" y="51"/>
                </a:lnTo>
                <a:lnTo>
                  <a:pt x="45" y="51"/>
                </a:lnTo>
                <a:close/>
                <a:moveTo>
                  <a:pt x="184" y="41"/>
                </a:moveTo>
                <a:lnTo>
                  <a:pt x="183" y="41"/>
                </a:lnTo>
                <a:lnTo>
                  <a:pt x="182" y="43"/>
                </a:lnTo>
                <a:lnTo>
                  <a:pt x="181" y="43"/>
                </a:lnTo>
                <a:lnTo>
                  <a:pt x="181" y="45"/>
                </a:lnTo>
                <a:lnTo>
                  <a:pt x="181" y="48"/>
                </a:lnTo>
                <a:lnTo>
                  <a:pt x="195" y="67"/>
                </a:lnTo>
                <a:lnTo>
                  <a:pt x="202" y="89"/>
                </a:lnTo>
                <a:lnTo>
                  <a:pt x="205" y="112"/>
                </a:lnTo>
                <a:lnTo>
                  <a:pt x="201" y="135"/>
                </a:lnTo>
                <a:lnTo>
                  <a:pt x="192" y="158"/>
                </a:lnTo>
                <a:lnTo>
                  <a:pt x="177" y="177"/>
                </a:lnTo>
                <a:lnTo>
                  <a:pt x="158" y="192"/>
                </a:lnTo>
                <a:lnTo>
                  <a:pt x="136" y="201"/>
                </a:lnTo>
                <a:lnTo>
                  <a:pt x="112" y="205"/>
                </a:lnTo>
                <a:lnTo>
                  <a:pt x="89" y="203"/>
                </a:lnTo>
                <a:lnTo>
                  <a:pt x="67" y="195"/>
                </a:lnTo>
                <a:lnTo>
                  <a:pt x="46" y="182"/>
                </a:lnTo>
                <a:lnTo>
                  <a:pt x="44" y="181"/>
                </a:lnTo>
                <a:lnTo>
                  <a:pt x="43" y="182"/>
                </a:lnTo>
                <a:lnTo>
                  <a:pt x="41" y="183"/>
                </a:lnTo>
                <a:lnTo>
                  <a:pt x="41" y="183"/>
                </a:lnTo>
                <a:lnTo>
                  <a:pt x="40" y="184"/>
                </a:lnTo>
                <a:lnTo>
                  <a:pt x="41" y="186"/>
                </a:lnTo>
                <a:lnTo>
                  <a:pt x="41" y="187"/>
                </a:lnTo>
                <a:lnTo>
                  <a:pt x="63" y="201"/>
                </a:lnTo>
                <a:lnTo>
                  <a:pt x="87" y="210"/>
                </a:lnTo>
                <a:lnTo>
                  <a:pt x="113" y="212"/>
                </a:lnTo>
                <a:lnTo>
                  <a:pt x="137" y="209"/>
                </a:lnTo>
                <a:lnTo>
                  <a:pt x="160" y="198"/>
                </a:lnTo>
                <a:lnTo>
                  <a:pt x="182" y="182"/>
                </a:lnTo>
                <a:lnTo>
                  <a:pt x="198" y="161"/>
                </a:lnTo>
                <a:lnTo>
                  <a:pt x="207" y="138"/>
                </a:lnTo>
                <a:lnTo>
                  <a:pt x="211" y="113"/>
                </a:lnTo>
                <a:lnTo>
                  <a:pt x="209" y="89"/>
                </a:lnTo>
                <a:lnTo>
                  <a:pt x="201" y="64"/>
                </a:lnTo>
                <a:lnTo>
                  <a:pt x="186" y="43"/>
                </a:lnTo>
                <a:lnTo>
                  <a:pt x="186" y="41"/>
                </a:lnTo>
                <a:lnTo>
                  <a:pt x="184" y="41"/>
                </a:lnTo>
                <a:close/>
                <a:moveTo>
                  <a:pt x="155" y="40"/>
                </a:moveTo>
                <a:lnTo>
                  <a:pt x="142" y="41"/>
                </a:lnTo>
                <a:lnTo>
                  <a:pt x="129" y="45"/>
                </a:lnTo>
                <a:lnTo>
                  <a:pt x="118" y="49"/>
                </a:lnTo>
                <a:lnTo>
                  <a:pt x="117" y="50"/>
                </a:lnTo>
                <a:lnTo>
                  <a:pt x="117" y="53"/>
                </a:lnTo>
                <a:lnTo>
                  <a:pt x="117" y="54"/>
                </a:lnTo>
                <a:lnTo>
                  <a:pt x="135" y="76"/>
                </a:lnTo>
                <a:lnTo>
                  <a:pt x="136" y="77"/>
                </a:lnTo>
                <a:lnTo>
                  <a:pt x="137" y="77"/>
                </a:lnTo>
                <a:lnTo>
                  <a:pt x="138" y="76"/>
                </a:lnTo>
                <a:lnTo>
                  <a:pt x="166" y="48"/>
                </a:lnTo>
                <a:lnTo>
                  <a:pt x="168" y="46"/>
                </a:lnTo>
                <a:lnTo>
                  <a:pt x="168" y="45"/>
                </a:lnTo>
                <a:lnTo>
                  <a:pt x="166" y="44"/>
                </a:lnTo>
                <a:lnTo>
                  <a:pt x="166" y="43"/>
                </a:lnTo>
                <a:lnTo>
                  <a:pt x="155" y="40"/>
                </a:lnTo>
                <a:close/>
                <a:moveTo>
                  <a:pt x="92" y="23"/>
                </a:moveTo>
                <a:lnTo>
                  <a:pt x="71" y="30"/>
                </a:lnTo>
                <a:lnTo>
                  <a:pt x="52" y="43"/>
                </a:lnTo>
                <a:lnTo>
                  <a:pt x="50" y="44"/>
                </a:lnTo>
                <a:lnTo>
                  <a:pt x="50" y="46"/>
                </a:lnTo>
                <a:lnTo>
                  <a:pt x="52" y="48"/>
                </a:lnTo>
                <a:lnTo>
                  <a:pt x="73" y="69"/>
                </a:lnTo>
                <a:lnTo>
                  <a:pt x="75" y="71"/>
                </a:lnTo>
                <a:lnTo>
                  <a:pt x="77" y="71"/>
                </a:lnTo>
                <a:lnTo>
                  <a:pt x="78" y="69"/>
                </a:lnTo>
                <a:lnTo>
                  <a:pt x="104" y="50"/>
                </a:lnTo>
                <a:lnTo>
                  <a:pt x="105" y="48"/>
                </a:lnTo>
                <a:lnTo>
                  <a:pt x="105" y="46"/>
                </a:lnTo>
                <a:lnTo>
                  <a:pt x="96" y="25"/>
                </a:lnTo>
                <a:lnTo>
                  <a:pt x="95" y="23"/>
                </a:lnTo>
                <a:lnTo>
                  <a:pt x="92" y="23"/>
                </a:lnTo>
                <a:close/>
                <a:moveTo>
                  <a:pt x="105" y="22"/>
                </a:moveTo>
                <a:lnTo>
                  <a:pt x="104" y="22"/>
                </a:lnTo>
                <a:lnTo>
                  <a:pt x="103" y="23"/>
                </a:lnTo>
                <a:lnTo>
                  <a:pt x="103" y="25"/>
                </a:lnTo>
                <a:lnTo>
                  <a:pt x="106" y="34"/>
                </a:lnTo>
                <a:lnTo>
                  <a:pt x="110" y="43"/>
                </a:lnTo>
                <a:lnTo>
                  <a:pt x="112" y="44"/>
                </a:lnTo>
                <a:lnTo>
                  <a:pt x="113" y="44"/>
                </a:lnTo>
                <a:lnTo>
                  <a:pt x="114" y="44"/>
                </a:lnTo>
                <a:lnTo>
                  <a:pt x="132" y="36"/>
                </a:lnTo>
                <a:lnTo>
                  <a:pt x="150" y="34"/>
                </a:lnTo>
                <a:lnTo>
                  <a:pt x="151" y="34"/>
                </a:lnTo>
                <a:lnTo>
                  <a:pt x="151" y="32"/>
                </a:lnTo>
                <a:lnTo>
                  <a:pt x="151" y="32"/>
                </a:lnTo>
                <a:lnTo>
                  <a:pt x="129" y="23"/>
                </a:lnTo>
                <a:lnTo>
                  <a:pt x="105" y="22"/>
                </a:lnTo>
                <a:close/>
                <a:moveTo>
                  <a:pt x="198" y="0"/>
                </a:moveTo>
                <a:lnTo>
                  <a:pt x="207" y="0"/>
                </a:lnTo>
                <a:lnTo>
                  <a:pt x="214" y="6"/>
                </a:lnTo>
                <a:lnTo>
                  <a:pt x="219" y="12"/>
                </a:lnTo>
                <a:lnTo>
                  <a:pt x="219" y="21"/>
                </a:lnTo>
                <a:lnTo>
                  <a:pt x="214" y="27"/>
                </a:lnTo>
                <a:lnTo>
                  <a:pt x="210" y="31"/>
                </a:lnTo>
                <a:lnTo>
                  <a:pt x="206" y="32"/>
                </a:lnTo>
                <a:lnTo>
                  <a:pt x="201" y="32"/>
                </a:lnTo>
                <a:lnTo>
                  <a:pt x="196" y="31"/>
                </a:lnTo>
                <a:lnTo>
                  <a:pt x="195" y="30"/>
                </a:lnTo>
                <a:lnTo>
                  <a:pt x="193" y="31"/>
                </a:lnTo>
                <a:lnTo>
                  <a:pt x="191" y="34"/>
                </a:lnTo>
                <a:lnTo>
                  <a:pt x="189" y="35"/>
                </a:lnTo>
                <a:lnTo>
                  <a:pt x="191" y="37"/>
                </a:lnTo>
                <a:lnTo>
                  <a:pt x="205" y="57"/>
                </a:lnTo>
                <a:lnTo>
                  <a:pt x="214" y="78"/>
                </a:lnTo>
                <a:lnTo>
                  <a:pt x="219" y="101"/>
                </a:lnTo>
                <a:lnTo>
                  <a:pt x="218" y="124"/>
                </a:lnTo>
                <a:lnTo>
                  <a:pt x="212" y="147"/>
                </a:lnTo>
                <a:lnTo>
                  <a:pt x="202" y="168"/>
                </a:lnTo>
                <a:lnTo>
                  <a:pt x="187" y="187"/>
                </a:lnTo>
                <a:lnTo>
                  <a:pt x="165" y="203"/>
                </a:lnTo>
                <a:lnTo>
                  <a:pt x="142" y="214"/>
                </a:lnTo>
                <a:lnTo>
                  <a:pt x="118" y="219"/>
                </a:lnTo>
                <a:lnTo>
                  <a:pt x="115" y="220"/>
                </a:lnTo>
                <a:lnTo>
                  <a:pt x="115" y="221"/>
                </a:lnTo>
                <a:lnTo>
                  <a:pt x="115" y="225"/>
                </a:lnTo>
                <a:lnTo>
                  <a:pt x="115" y="228"/>
                </a:lnTo>
                <a:lnTo>
                  <a:pt x="117" y="228"/>
                </a:lnTo>
                <a:lnTo>
                  <a:pt x="123" y="234"/>
                </a:lnTo>
                <a:lnTo>
                  <a:pt x="126" y="243"/>
                </a:lnTo>
                <a:lnTo>
                  <a:pt x="123" y="251"/>
                </a:lnTo>
                <a:lnTo>
                  <a:pt x="117" y="257"/>
                </a:lnTo>
                <a:lnTo>
                  <a:pt x="115" y="257"/>
                </a:lnTo>
                <a:lnTo>
                  <a:pt x="115" y="260"/>
                </a:lnTo>
                <a:lnTo>
                  <a:pt x="115" y="264"/>
                </a:lnTo>
                <a:lnTo>
                  <a:pt x="115" y="265"/>
                </a:lnTo>
                <a:lnTo>
                  <a:pt x="118" y="266"/>
                </a:lnTo>
                <a:lnTo>
                  <a:pt x="141" y="269"/>
                </a:lnTo>
                <a:lnTo>
                  <a:pt x="164" y="275"/>
                </a:lnTo>
                <a:lnTo>
                  <a:pt x="184" y="285"/>
                </a:lnTo>
                <a:lnTo>
                  <a:pt x="186" y="287"/>
                </a:lnTo>
                <a:lnTo>
                  <a:pt x="186" y="288"/>
                </a:lnTo>
                <a:lnTo>
                  <a:pt x="184" y="290"/>
                </a:lnTo>
                <a:lnTo>
                  <a:pt x="183" y="290"/>
                </a:lnTo>
                <a:lnTo>
                  <a:pt x="35" y="290"/>
                </a:lnTo>
                <a:lnTo>
                  <a:pt x="34" y="290"/>
                </a:lnTo>
                <a:lnTo>
                  <a:pt x="32" y="288"/>
                </a:lnTo>
                <a:lnTo>
                  <a:pt x="32" y="287"/>
                </a:lnTo>
                <a:lnTo>
                  <a:pt x="34" y="285"/>
                </a:lnTo>
                <a:lnTo>
                  <a:pt x="55" y="275"/>
                </a:lnTo>
                <a:lnTo>
                  <a:pt x="77" y="269"/>
                </a:lnTo>
                <a:lnTo>
                  <a:pt x="100" y="266"/>
                </a:lnTo>
                <a:lnTo>
                  <a:pt x="103" y="265"/>
                </a:lnTo>
                <a:lnTo>
                  <a:pt x="104" y="264"/>
                </a:lnTo>
                <a:lnTo>
                  <a:pt x="104" y="260"/>
                </a:lnTo>
                <a:lnTo>
                  <a:pt x="103" y="257"/>
                </a:lnTo>
                <a:lnTo>
                  <a:pt x="101" y="257"/>
                </a:lnTo>
                <a:lnTo>
                  <a:pt x="95" y="251"/>
                </a:lnTo>
                <a:lnTo>
                  <a:pt x="94" y="243"/>
                </a:lnTo>
                <a:lnTo>
                  <a:pt x="95" y="234"/>
                </a:lnTo>
                <a:lnTo>
                  <a:pt x="101" y="228"/>
                </a:lnTo>
                <a:lnTo>
                  <a:pt x="103" y="228"/>
                </a:lnTo>
                <a:lnTo>
                  <a:pt x="104" y="225"/>
                </a:lnTo>
                <a:lnTo>
                  <a:pt x="104" y="221"/>
                </a:lnTo>
                <a:lnTo>
                  <a:pt x="103" y="220"/>
                </a:lnTo>
                <a:lnTo>
                  <a:pt x="101" y="219"/>
                </a:lnTo>
                <a:lnTo>
                  <a:pt x="78" y="215"/>
                </a:lnTo>
                <a:lnTo>
                  <a:pt x="57" y="206"/>
                </a:lnTo>
                <a:lnTo>
                  <a:pt x="36" y="192"/>
                </a:lnTo>
                <a:lnTo>
                  <a:pt x="35" y="191"/>
                </a:lnTo>
                <a:lnTo>
                  <a:pt x="32" y="192"/>
                </a:lnTo>
                <a:lnTo>
                  <a:pt x="30" y="193"/>
                </a:lnTo>
                <a:lnTo>
                  <a:pt x="30" y="196"/>
                </a:lnTo>
                <a:lnTo>
                  <a:pt x="30" y="197"/>
                </a:lnTo>
                <a:lnTo>
                  <a:pt x="31" y="202"/>
                </a:lnTo>
                <a:lnTo>
                  <a:pt x="31" y="206"/>
                </a:lnTo>
                <a:lnTo>
                  <a:pt x="30" y="211"/>
                </a:lnTo>
                <a:lnTo>
                  <a:pt x="27" y="215"/>
                </a:lnTo>
                <a:lnTo>
                  <a:pt x="20" y="219"/>
                </a:lnTo>
                <a:lnTo>
                  <a:pt x="12" y="219"/>
                </a:lnTo>
                <a:lnTo>
                  <a:pt x="4" y="215"/>
                </a:lnTo>
                <a:lnTo>
                  <a:pt x="0" y="207"/>
                </a:lnTo>
                <a:lnTo>
                  <a:pt x="0" y="200"/>
                </a:lnTo>
                <a:lnTo>
                  <a:pt x="4" y="192"/>
                </a:lnTo>
                <a:lnTo>
                  <a:pt x="8" y="189"/>
                </a:lnTo>
                <a:lnTo>
                  <a:pt x="13" y="188"/>
                </a:lnTo>
                <a:lnTo>
                  <a:pt x="17" y="188"/>
                </a:lnTo>
                <a:lnTo>
                  <a:pt x="22" y="189"/>
                </a:lnTo>
                <a:lnTo>
                  <a:pt x="23" y="189"/>
                </a:lnTo>
                <a:lnTo>
                  <a:pt x="26" y="189"/>
                </a:lnTo>
                <a:lnTo>
                  <a:pt x="37" y="177"/>
                </a:lnTo>
                <a:lnTo>
                  <a:pt x="39" y="175"/>
                </a:lnTo>
                <a:lnTo>
                  <a:pt x="37" y="173"/>
                </a:lnTo>
                <a:lnTo>
                  <a:pt x="25" y="152"/>
                </a:lnTo>
                <a:lnTo>
                  <a:pt x="16" y="131"/>
                </a:lnTo>
                <a:lnTo>
                  <a:pt x="14" y="108"/>
                </a:lnTo>
                <a:lnTo>
                  <a:pt x="18" y="83"/>
                </a:lnTo>
                <a:lnTo>
                  <a:pt x="27" y="62"/>
                </a:lnTo>
                <a:lnTo>
                  <a:pt x="43" y="43"/>
                </a:lnTo>
                <a:lnTo>
                  <a:pt x="62" y="27"/>
                </a:lnTo>
                <a:lnTo>
                  <a:pt x="85" y="18"/>
                </a:lnTo>
                <a:lnTo>
                  <a:pt x="108" y="14"/>
                </a:lnTo>
                <a:lnTo>
                  <a:pt x="131" y="17"/>
                </a:lnTo>
                <a:lnTo>
                  <a:pt x="152" y="25"/>
                </a:lnTo>
                <a:lnTo>
                  <a:pt x="172" y="39"/>
                </a:lnTo>
                <a:lnTo>
                  <a:pt x="174" y="39"/>
                </a:lnTo>
                <a:lnTo>
                  <a:pt x="177" y="39"/>
                </a:lnTo>
                <a:lnTo>
                  <a:pt x="188" y="26"/>
                </a:lnTo>
                <a:lnTo>
                  <a:pt x="189" y="25"/>
                </a:lnTo>
                <a:lnTo>
                  <a:pt x="188" y="23"/>
                </a:lnTo>
                <a:lnTo>
                  <a:pt x="187" y="18"/>
                </a:lnTo>
                <a:lnTo>
                  <a:pt x="187" y="13"/>
                </a:lnTo>
                <a:lnTo>
                  <a:pt x="188" y="9"/>
                </a:lnTo>
                <a:lnTo>
                  <a:pt x="192" y="6"/>
                </a:lnTo>
                <a:lnTo>
                  <a:pt x="198" y="0"/>
                </a:lnTo>
                <a:close/>
              </a:path>
            </a:pathLst>
          </a:custGeom>
          <a:solidFill>
            <a:schemeClr val="bg1">
              <a:alpha val="10000"/>
            </a:schemeClr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" name="图片 1" descr="傲梦LOGO蓝蓝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9966960" y="189230"/>
            <a:ext cx="1746885" cy="493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02670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 77"/>
          <p:cNvSpPr>
            <a:spLocks noEditPoints="1"/>
          </p:cNvSpPr>
          <p:nvPr userDrawn="1"/>
        </p:nvSpPr>
        <p:spPr bwMode="auto">
          <a:xfrm rot="20644514">
            <a:off x="1047441" y="681857"/>
            <a:ext cx="1042017" cy="802702"/>
          </a:xfrm>
          <a:custGeom>
            <a:avLst/>
            <a:gdLst/>
            <a:ahLst/>
            <a:cxnLst>
              <a:cxn ang="0">
                <a:pos x="402" y="8"/>
              </a:cxn>
              <a:cxn ang="0">
                <a:pos x="402" y="6"/>
              </a:cxn>
              <a:cxn ang="0">
                <a:pos x="398" y="2"/>
              </a:cxn>
              <a:cxn ang="0">
                <a:pos x="242" y="0"/>
              </a:cxn>
              <a:cxn ang="0">
                <a:pos x="232" y="2"/>
              </a:cxn>
              <a:cxn ang="0">
                <a:pos x="216" y="10"/>
              </a:cxn>
              <a:cxn ang="0">
                <a:pos x="210" y="18"/>
              </a:cxn>
              <a:cxn ang="0">
                <a:pos x="210" y="18"/>
              </a:cxn>
              <a:cxn ang="0">
                <a:pos x="196" y="6"/>
              </a:cxn>
              <a:cxn ang="0">
                <a:pos x="178" y="0"/>
              </a:cxn>
              <a:cxn ang="0">
                <a:pos x="26" y="0"/>
              </a:cxn>
              <a:cxn ang="0">
                <a:pos x="20" y="4"/>
              </a:cxn>
              <a:cxn ang="0">
                <a:pos x="16" y="8"/>
              </a:cxn>
              <a:cxn ang="0">
                <a:pos x="0" y="34"/>
              </a:cxn>
              <a:cxn ang="0">
                <a:pos x="174" y="306"/>
              </a:cxn>
              <a:cxn ang="0">
                <a:pos x="182" y="314"/>
              </a:cxn>
              <a:cxn ang="0">
                <a:pos x="200" y="322"/>
              </a:cxn>
              <a:cxn ang="0">
                <a:pos x="210" y="322"/>
              </a:cxn>
              <a:cxn ang="0">
                <a:pos x="230" y="318"/>
              </a:cxn>
              <a:cxn ang="0">
                <a:pos x="246" y="306"/>
              </a:cxn>
              <a:cxn ang="0">
                <a:pos x="418" y="34"/>
              </a:cxn>
              <a:cxn ang="0">
                <a:pos x="34" y="18"/>
              </a:cxn>
              <a:cxn ang="0">
                <a:pos x="178" y="18"/>
              </a:cxn>
              <a:cxn ang="0">
                <a:pos x="194" y="24"/>
              </a:cxn>
              <a:cxn ang="0">
                <a:pos x="202" y="42"/>
              </a:cxn>
              <a:cxn ang="0">
                <a:pos x="202" y="194"/>
              </a:cxn>
              <a:cxn ang="0">
                <a:pos x="204" y="200"/>
              </a:cxn>
              <a:cxn ang="0">
                <a:pos x="210" y="202"/>
              </a:cxn>
              <a:cxn ang="0">
                <a:pos x="212" y="202"/>
              </a:cxn>
              <a:cxn ang="0">
                <a:pos x="218" y="198"/>
              </a:cxn>
              <a:cxn ang="0">
                <a:pos x="218" y="42"/>
              </a:cxn>
              <a:cxn ang="0">
                <a:pos x="220" y="32"/>
              </a:cxn>
              <a:cxn ang="0">
                <a:pos x="232" y="18"/>
              </a:cxn>
              <a:cxn ang="0">
                <a:pos x="386" y="18"/>
              </a:cxn>
              <a:cxn ang="0">
                <a:pos x="242" y="274"/>
              </a:cxn>
              <a:cxn ang="0">
                <a:pos x="232" y="276"/>
              </a:cxn>
              <a:cxn ang="0">
                <a:pos x="216" y="284"/>
              </a:cxn>
              <a:cxn ang="0">
                <a:pos x="210" y="290"/>
              </a:cxn>
              <a:cxn ang="0">
                <a:pos x="210" y="290"/>
              </a:cxn>
              <a:cxn ang="0">
                <a:pos x="196" y="278"/>
              </a:cxn>
              <a:cxn ang="0">
                <a:pos x="178" y="274"/>
              </a:cxn>
              <a:cxn ang="0">
                <a:pos x="34" y="18"/>
              </a:cxn>
            </a:cxnLst>
            <a:rect l="0" t="0" r="r" b="b"/>
            <a:pathLst>
              <a:path w="418" h="322">
                <a:moveTo>
                  <a:pt x="402" y="34"/>
                </a:moveTo>
                <a:lnTo>
                  <a:pt x="402" y="8"/>
                </a:lnTo>
                <a:lnTo>
                  <a:pt x="402" y="8"/>
                </a:lnTo>
                <a:lnTo>
                  <a:pt x="402" y="6"/>
                </a:lnTo>
                <a:lnTo>
                  <a:pt x="400" y="4"/>
                </a:lnTo>
                <a:lnTo>
                  <a:pt x="398" y="2"/>
                </a:lnTo>
                <a:lnTo>
                  <a:pt x="394" y="0"/>
                </a:lnTo>
                <a:lnTo>
                  <a:pt x="242" y="0"/>
                </a:lnTo>
                <a:lnTo>
                  <a:pt x="242" y="0"/>
                </a:lnTo>
                <a:lnTo>
                  <a:pt x="232" y="2"/>
                </a:lnTo>
                <a:lnTo>
                  <a:pt x="224" y="6"/>
                </a:lnTo>
                <a:lnTo>
                  <a:pt x="216" y="10"/>
                </a:lnTo>
                <a:lnTo>
                  <a:pt x="210" y="18"/>
                </a:lnTo>
                <a:lnTo>
                  <a:pt x="210" y="18"/>
                </a:lnTo>
                <a:lnTo>
                  <a:pt x="210" y="18"/>
                </a:lnTo>
                <a:lnTo>
                  <a:pt x="210" y="18"/>
                </a:lnTo>
                <a:lnTo>
                  <a:pt x="204" y="10"/>
                </a:lnTo>
                <a:lnTo>
                  <a:pt x="196" y="6"/>
                </a:lnTo>
                <a:lnTo>
                  <a:pt x="188" y="2"/>
                </a:lnTo>
                <a:lnTo>
                  <a:pt x="178" y="0"/>
                </a:lnTo>
                <a:lnTo>
                  <a:pt x="26" y="0"/>
                </a:lnTo>
                <a:lnTo>
                  <a:pt x="26" y="0"/>
                </a:lnTo>
                <a:lnTo>
                  <a:pt x="22" y="2"/>
                </a:lnTo>
                <a:lnTo>
                  <a:pt x="20" y="4"/>
                </a:lnTo>
                <a:lnTo>
                  <a:pt x="18" y="6"/>
                </a:lnTo>
                <a:lnTo>
                  <a:pt x="16" y="8"/>
                </a:lnTo>
                <a:lnTo>
                  <a:pt x="16" y="34"/>
                </a:lnTo>
                <a:lnTo>
                  <a:pt x="0" y="34"/>
                </a:lnTo>
                <a:lnTo>
                  <a:pt x="0" y="306"/>
                </a:lnTo>
                <a:lnTo>
                  <a:pt x="174" y="306"/>
                </a:lnTo>
                <a:lnTo>
                  <a:pt x="174" y="306"/>
                </a:lnTo>
                <a:lnTo>
                  <a:pt x="182" y="314"/>
                </a:lnTo>
                <a:lnTo>
                  <a:pt x="190" y="318"/>
                </a:lnTo>
                <a:lnTo>
                  <a:pt x="200" y="322"/>
                </a:lnTo>
                <a:lnTo>
                  <a:pt x="210" y="322"/>
                </a:lnTo>
                <a:lnTo>
                  <a:pt x="210" y="322"/>
                </a:lnTo>
                <a:lnTo>
                  <a:pt x="220" y="322"/>
                </a:lnTo>
                <a:lnTo>
                  <a:pt x="230" y="318"/>
                </a:lnTo>
                <a:lnTo>
                  <a:pt x="238" y="314"/>
                </a:lnTo>
                <a:lnTo>
                  <a:pt x="246" y="306"/>
                </a:lnTo>
                <a:lnTo>
                  <a:pt x="418" y="306"/>
                </a:lnTo>
                <a:lnTo>
                  <a:pt x="418" y="34"/>
                </a:lnTo>
                <a:lnTo>
                  <a:pt x="402" y="34"/>
                </a:lnTo>
                <a:close/>
                <a:moveTo>
                  <a:pt x="34" y="18"/>
                </a:moveTo>
                <a:lnTo>
                  <a:pt x="178" y="18"/>
                </a:lnTo>
                <a:lnTo>
                  <a:pt x="178" y="18"/>
                </a:lnTo>
                <a:lnTo>
                  <a:pt x="188" y="18"/>
                </a:lnTo>
                <a:lnTo>
                  <a:pt x="194" y="24"/>
                </a:lnTo>
                <a:lnTo>
                  <a:pt x="200" y="32"/>
                </a:lnTo>
                <a:lnTo>
                  <a:pt x="202" y="42"/>
                </a:lnTo>
                <a:lnTo>
                  <a:pt x="202" y="194"/>
                </a:lnTo>
                <a:lnTo>
                  <a:pt x="202" y="194"/>
                </a:lnTo>
                <a:lnTo>
                  <a:pt x="202" y="198"/>
                </a:lnTo>
                <a:lnTo>
                  <a:pt x="204" y="200"/>
                </a:lnTo>
                <a:lnTo>
                  <a:pt x="206" y="202"/>
                </a:lnTo>
                <a:lnTo>
                  <a:pt x="210" y="202"/>
                </a:lnTo>
                <a:lnTo>
                  <a:pt x="210" y="202"/>
                </a:lnTo>
                <a:lnTo>
                  <a:pt x="212" y="202"/>
                </a:lnTo>
                <a:lnTo>
                  <a:pt x="216" y="200"/>
                </a:lnTo>
                <a:lnTo>
                  <a:pt x="218" y="198"/>
                </a:lnTo>
                <a:lnTo>
                  <a:pt x="218" y="194"/>
                </a:lnTo>
                <a:lnTo>
                  <a:pt x="218" y="42"/>
                </a:lnTo>
                <a:lnTo>
                  <a:pt x="218" y="42"/>
                </a:lnTo>
                <a:lnTo>
                  <a:pt x="220" y="32"/>
                </a:lnTo>
                <a:lnTo>
                  <a:pt x="224" y="24"/>
                </a:lnTo>
                <a:lnTo>
                  <a:pt x="232" y="18"/>
                </a:lnTo>
                <a:lnTo>
                  <a:pt x="242" y="18"/>
                </a:lnTo>
                <a:lnTo>
                  <a:pt x="386" y="18"/>
                </a:lnTo>
                <a:lnTo>
                  <a:pt x="386" y="274"/>
                </a:lnTo>
                <a:lnTo>
                  <a:pt x="242" y="274"/>
                </a:lnTo>
                <a:lnTo>
                  <a:pt x="242" y="274"/>
                </a:lnTo>
                <a:lnTo>
                  <a:pt x="232" y="276"/>
                </a:lnTo>
                <a:lnTo>
                  <a:pt x="224" y="278"/>
                </a:lnTo>
                <a:lnTo>
                  <a:pt x="216" y="284"/>
                </a:lnTo>
                <a:lnTo>
                  <a:pt x="210" y="290"/>
                </a:lnTo>
                <a:lnTo>
                  <a:pt x="210" y="290"/>
                </a:lnTo>
                <a:lnTo>
                  <a:pt x="210" y="290"/>
                </a:lnTo>
                <a:lnTo>
                  <a:pt x="210" y="290"/>
                </a:lnTo>
                <a:lnTo>
                  <a:pt x="204" y="284"/>
                </a:lnTo>
                <a:lnTo>
                  <a:pt x="196" y="278"/>
                </a:lnTo>
                <a:lnTo>
                  <a:pt x="188" y="276"/>
                </a:lnTo>
                <a:lnTo>
                  <a:pt x="178" y="274"/>
                </a:lnTo>
                <a:lnTo>
                  <a:pt x="34" y="274"/>
                </a:lnTo>
                <a:lnTo>
                  <a:pt x="34" y="18"/>
                </a:lnTo>
                <a:close/>
              </a:path>
            </a:pathLst>
          </a:custGeom>
          <a:solidFill>
            <a:schemeClr val="bg1">
              <a:alpha val="10000"/>
            </a:schemeClr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Freeform 363"/>
          <p:cNvSpPr>
            <a:spLocks noEditPoints="1"/>
          </p:cNvSpPr>
          <p:nvPr userDrawn="1"/>
        </p:nvSpPr>
        <p:spPr bwMode="auto">
          <a:xfrm rot="1658487">
            <a:off x="6583748" y="312642"/>
            <a:ext cx="773335" cy="770514"/>
          </a:xfrm>
          <a:custGeom>
            <a:avLst/>
            <a:gdLst>
              <a:gd name="T0" fmla="*/ 145 w 274"/>
              <a:gd name="T1" fmla="*/ 262 h 273"/>
              <a:gd name="T2" fmla="*/ 189 w 274"/>
              <a:gd name="T3" fmla="*/ 204 h 273"/>
              <a:gd name="T4" fmla="*/ 263 w 274"/>
              <a:gd name="T5" fmla="*/ 204 h 273"/>
              <a:gd name="T6" fmla="*/ 216 w 274"/>
              <a:gd name="T7" fmla="*/ 217 h 273"/>
              <a:gd name="T8" fmla="*/ 104 w 274"/>
              <a:gd name="T9" fmla="*/ 199 h 273"/>
              <a:gd name="T10" fmla="*/ 55 w 274"/>
              <a:gd name="T11" fmla="*/ 186 h 273"/>
              <a:gd name="T12" fmla="*/ 14 w 274"/>
              <a:gd name="T13" fmla="*/ 168 h 273"/>
              <a:gd name="T14" fmla="*/ 44 w 274"/>
              <a:gd name="T15" fmla="*/ 207 h 273"/>
              <a:gd name="T16" fmla="*/ 45 w 274"/>
              <a:gd name="T17" fmla="*/ 217 h 273"/>
              <a:gd name="T18" fmla="*/ 95 w 274"/>
              <a:gd name="T19" fmla="*/ 254 h 273"/>
              <a:gd name="T20" fmla="*/ 86 w 274"/>
              <a:gd name="T21" fmla="*/ 232 h 273"/>
              <a:gd name="T22" fmla="*/ 114 w 274"/>
              <a:gd name="T23" fmla="*/ 255 h 273"/>
              <a:gd name="T24" fmla="*/ 131 w 274"/>
              <a:gd name="T25" fmla="*/ 196 h 273"/>
              <a:gd name="T26" fmla="*/ 110 w 274"/>
              <a:gd name="T27" fmla="*/ 189 h 273"/>
              <a:gd name="T28" fmla="*/ 132 w 274"/>
              <a:gd name="T29" fmla="*/ 145 h 273"/>
              <a:gd name="T30" fmla="*/ 74 w 274"/>
              <a:gd name="T31" fmla="*/ 145 h 273"/>
              <a:gd name="T32" fmla="*/ 67 w 274"/>
              <a:gd name="T33" fmla="*/ 166 h 273"/>
              <a:gd name="T34" fmla="*/ 205 w 274"/>
              <a:gd name="T35" fmla="*/ 111 h 273"/>
              <a:gd name="T36" fmla="*/ 192 w 274"/>
              <a:gd name="T37" fmla="*/ 159 h 273"/>
              <a:gd name="T38" fmla="*/ 150 w 274"/>
              <a:gd name="T39" fmla="*/ 59 h 273"/>
              <a:gd name="T40" fmla="*/ 114 w 274"/>
              <a:gd name="T41" fmla="*/ 94 h 273"/>
              <a:gd name="T42" fmla="*/ 57 w 274"/>
              <a:gd name="T43" fmla="*/ 42 h 273"/>
              <a:gd name="T44" fmla="*/ 9 w 274"/>
              <a:gd name="T45" fmla="*/ 55 h 273"/>
              <a:gd name="T46" fmla="*/ 178 w 274"/>
              <a:gd name="T47" fmla="*/ 23 h 273"/>
              <a:gd name="T48" fmla="*/ 230 w 274"/>
              <a:gd name="T49" fmla="*/ 57 h 273"/>
              <a:gd name="T50" fmla="*/ 137 w 274"/>
              <a:gd name="T51" fmla="*/ 0 h 273"/>
              <a:gd name="T52" fmla="*/ 271 w 274"/>
              <a:gd name="T53" fmla="*/ 108 h 273"/>
              <a:gd name="T54" fmla="*/ 257 w 274"/>
              <a:gd name="T55" fmla="*/ 189 h 273"/>
              <a:gd name="T56" fmla="*/ 260 w 274"/>
              <a:gd name="T57" fmla="*/ 142 h 273"/>
              <a:gd name="T58" fmla="*/ 238 w 274"/>
              <a:gd name="T59" fmla="*/ 133 h 273"/>
              <a:gd name="T60" fmla="*/ 261 w 274"/>
              <a:gd name="T61" fmla="*/ 105 h 273"/>
              <a:gd name="T62" fmla="*/ 206 w 274"/>
              <a:gd name="T63" fmla="*/ 76 h 273"/>
              <a:gd name="T64" fmla="*/ 206 w 274"/>
              <a:gd name="T65" fmla="*/ 103 h 273"/>
              <a:gd name="T66" fmla="*/ 193 w 274"/>
              <a:gd name="T67" fmla="*/ 82 h 273"/>
              <a:gd name="T68" fmla="*/ 169 w 274"/>
              <a:gd name="T69" fmla="*/ 79 h 273"/>
              <a:gd name="T70" fmla="*/ 189 w 274"/>
              <a:gd name="T71" fmla="*/ 66 h 273"/>
              <a:gd name="T72" fmla="*/ 142 w 274"/>
              <a:gd name="T73" fmla="*/ 13 h 273"/>
              <a:gd name="T74" fmla="*/ 136 w 274"/>
              <a:gd name="T75" fmla="*/ 50 h 273"/>
              <a:gd name="T76" fmla="*/ 127 w 274"/>
              <a:gd name="T77" fmla="*/ 11 h 273"/>
              <a:gd name="T78" fmla="*/ 86 w 274"/>
              <a:gd name="T79" fmla="*/ 71 h 273"/>
              <a:gd name="T80" fmla="*/ 104 w 274"/>
              <a:gd name="T81" fmla="*/ 83 h 273"/>
              <a:gd name="T82" fmla="*/ 76 w 274"/>
              <a:gd name="T83" fmla="*/ 105 h 273"/>
              <a:gd name="T84" fmla="*/ 132 w 274"/>
              <a:gd name="T85" fmla="*/ 130 h 273"/>
              <a:gd name="T86" fmla="*/ 140 w 274"/>
              <a:gd name="T87" fmla="*/ 113 h 273"/>
              <a:gd name="T88" fmla="*/ 146 w 274"/>
              <a:gd name="T89" fmla="*/ 131 h 273"/>
              <a:gd name="T90" fmla="*/ 171 w 274"/>
              <a:gd name="T91" fmla="*/ 140 h 273"/>
              <a:gd name="T92" fmla="*/ 142 w 274"/>
              <a:gd name="T93" fmla="*/ 182 h 273"/>
              <a:gd name="T94" fmla="*/ 193 w 274"/>
              <a:gd name="T95" fmla="*/ 191 h 273"/>
              <a:gd name="T96" fmla="*/ 206 w 274"/>
              <a:gd name="T97" fmla="*/ 170 h 273"/>
              <a:gd name="T98" fmla="*/ 206 w 274"/>
              <a:gd name="T99" fmla="*/ 196 h 273"/>
              <a:gd name="T100" fmla="*/ 209 w 274"/>
              <a:gd name="T101" fmla="*/ 207 h 273"/>
              <a:gd name="T102" fmla="*/ 179 w 274"/>
              <a:gd name="T103" fmla="*/ 249 h 273"/>
              <a:gd name="T104" fmla="*/ 212 w 274"/>
              <a:gd name="T105" fmla="*/ 239 h 273"/>
              <a:gd name="T106" fmla="*/ 219 w 274"/>
              <a:gd name="T107" fmla="*/ 246 h 273"/>
              <a:gd name="T108" fmla="*/ 31 w 274"/>
              <a:gd name="T109" fmla="*/ 222 h 273"/>
              <a:gd name="T110" fmla="*/ 14 w 274"/>
              <a:gd name="T111" fmla="*/ 82 h 273"/>
              <a:gd name="T112" fmla="*/ 11 w 274"/>
              <a:gd name="T113" fmla="*/ 130 h 273"/>
              <a:gd name="T114" fmla="*/ 67 w 274"/>
              <a:gd name="T115" fmla="*/ 103 h 273"/>
              <a:gd name="T116" fmla="*/ 63 w 274"/>
              <a:gd name="T117" fmla="*/ 74 h 273"/>
              <a:gd name="T118" fmla="*/ 72 w 274"/>
              <a:gd name="T119" fmla="*/ 67 h 273"/>
              <a:gd name="T120" fmla="*/ 95 w 274"/>
              <a:gd name="T121" fmla="*/ 19 h 273"/>
              <a:gd name="T122" fmla="*/ 58 w 274"/>
              <a:gd name="T123" fmla="*/ 33 h 273"/>
              <a:gd name="T124" fmla="*/ 109 w 274"/>
              <a:gd name="T125" fmla="*/ 4 h 2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274" h="273">
                <a:moveTo>
                  <a:pt x="146" y="196"/>
                </a:moveTo>
                <a:lnTo>
                  <a:pt x="143" y="196"/>
                </a:lnTo>
                <a:lnTo>
                  <a:pt x="142" y="198"/>
                </a:lnTo>
                <a:lnTo>
                  <a:pt x="142" y="200"/>
                </a:lnTo>
                <a:lnTo>
                  <a:pt x="142" y="258"/>
                </a:lnTo>
                <a:lnTo>
                  <a:pt x="142" y="260"/>
                </a:lnTo>
                <a:lnTo>
                  <a:pt x="145" y="262"/>
                </a:lnTo>
                <a:lnTo>
                  <a:pt x="147" y="262"/>
                </a:lnTo>
                <a:lnTo>
                  <a:pt x="159" y="255"/>
                </a:lnTo>
                <a:lnTo>
                  <a:pt x="169" y="245"/>
                </a:lnTo>
                <a:lnTo>
                  <a:pt x="178" y="234"/>
                </a:lnTo>
                <a:lnTo>
                  <a:pt x="184" y="219"/>
                </a:lnTo>
                <a:lnTo>
                  <a:pt x="189" y="207"/>
                </a:lnTo>
                <a:lnTo>
                  <a:pt x="189" y="204"/>
                </a:lnTo>
                <a:lnTo>
                  <a:pt x="189" y="203"/>
                </a:lnTo>
                <a:lnTo>
                  <a:pt x="187" y="202"/>
                </a:lnTo>
                <a:lnTo>
                  <a:pt x="168" y="198"/>
                </a:lnTo>
                <a:lnTo>
                  <a:pt x="146" y="196"/>
                </a:lnTo>
                <a:close/>
                <a:moveTo>
                  <a:pt x="242" y="191"/>
                </a:moveTo>
                <a:lnTo>
                  <a:pt x="254" y="195"/>
                </a:lnTo>
                <a:lnTo>
                  <a:pt x="263" y="204"/>
                </a:lnTo>
                <a:lnTo>
                  <a:pt x="267" y="217"/>
                </a:lnTo>
                <a:lnTo>
                  <a:pt x="263" y="230"/>
                </a:lnTo>
                <a:lnTo>
                  <a:pt x="254" y="239"/>
                </a:lnTo>
                <a:lnTo>
                  <a:pt x="242" y="242"/>
                </a:lnTo>
                <a:lnTo>
                  <a:pt x="229" y="239"/>
                </a:lnTo>
                <a:lnTo>
                  <a:pt x="219" y="230"/>
                </a:lnTo>
                <a:lnTo>
                  <a:pt x="216" y="217"/>
                </a:lnTo>
                <a:lnTo>
                  <a:pt x="219" y="204"/>
                </a:lnTo>
                <a:lnTo>
                  <a:pt x="229" y="195"/>
                </a:lnTo>
                <a:lnTo>
                  <a:pt x="242" y="191"/>
                </a:lnTo>
                <a:close/>
                <a:moveTo>
                  <a:pt x="78" y="173"/>
                </a:moveTo>
                <a:lnTo>
                  <a:pt x="91" y="177"/>
                </a:lnTo>
                <a:lnTo>
                  <a:pt x="100" y="186"/>
                </a:lnTo>
                <a:lnTo>
                  <a:pt x="104" y="199"/>
                </a:lnTo>
                <a:lnTo>
                  <a:pt x="100" y="212"/>
                </a:lnTo>
                <a:lnTo>
                  <a:pt x="91" y="222"/>
                </a:lnTo>
                <a:lnTo>
                  <a:pt x="78" y="225"/>
                </a:lnTo>
                <a:lnTo>
                  <a:pt x="65" y="222"/>
                </a:lnTo>
                <a:lnTo>
                  <a:pt x="55" y="212"/>
                </a:lnTo>
                <a:lnTo>
                  <a:pt x="53" y="199"/>
                </a:lnTo>
                <a:lnTo>
                  <a:pt x="55" y="186"/>
                </a:lnTo>
                <a:lnTo>
                  <a:pt x="65" y="177"/>
                </a:lnTo>
                <a:lnTo>
                  <a:pt x="78" y="173"/>
                </a:lnTo>
                <a:close/>
                <a:moveTo>
                  <a:pt x="14" y="142"/>
                </a:moveTo>
                <a:lnTo>
                  <a:pt x="12" y="142"/>
                </a:lnTo>
                <a:lnTo>
                  <a:pt x="11" y="144"/>
                </a:lnTo>
                <a:lnTo>
                  <a:pt x="11" y="145"/>
                </a:lnTo>
                <a:lnTo>
                  <a:pt x="14" y="168"/>
                </a:lnTo>
                <a:lnTo>
                  <a:pt x="22" y="189"/>
                </a:lnTo>
                <a:lnTo>
                  <a:pt x="32" y="208"/>
                </a:lnTo>
                <a:lnTo>
                  <a:pt x="34" y="209"/>
                </a:lnTo>
                <a:lnTo>
                  <a:pt x="36" y="211"/>
                </a:lnTo>
                <a:lnTo>
                  <a:pt x="37" y="209"/>
                </a:lnTo>
                <a:lnTo>
                  <a:pt x="42" y="207"/>
                </a:lnTo>
                <a:lnTo>
                  <a:pt x="44" y="207"/>
                </a:lnTo>
                <a:lnTo>
                  <a:pt x="45" y="207"/>
                </a:lnTo>
                <a:lnTo>
                  <a:pt x="46" y="208"/>
                </a:lnTo>
                <a:lnTo>
                  <a:pt x="48" y="211"/>
                </a:lnTo>
                <a:lnTo>
                  <a:pt x="48" y="212"/>
                </a:lnTo>
                <a:lnTo>
                  <a:pt x="48" y="214"/>
                </a:lnTo>
                <a:lnTo>
                  <a:pt x="46" y="216"/>
                </a:lnTo>
                <a:lnTo>
                  <a:pt x="45" y="217"/>
                </a:lnTo>
                <a:lnTo>
                  <a:pt x="42" y="218"/>
                </a:lnTo>
                <a:lnTo>
                  <a:pt x="42" y="221"/>
                </a:lnTo>
                <a:lnTo>
                  <a:pt x="44" y="222"/>
                </a:lnTo>
                <a:lnTo>
                  <a:pt x="65" y="241"/>
                </a:lnTo>
                <a:lnTo>
                  <a:pt x="91" y="255"/>
                </a:lnTo>
                <a:lnTo>
                  <a:pt x="94" y="255"/>
                </a:lnTo>
                <a:lnTo>
                  <a:pt x="95" y="254"/>
                </a:lnTo>
                <a:lnTo>
                  <a:pt x="96" y="253"/>
                </a:lnTo>
                <a:lnTo>
                  <a:pt x="96" y="251"/>
                </a:lnTo>
                <a:lnTo>
                  <a:pt x="95" y="249"/>
                </a:lnTo>
                <a:lnTo>
                  <a:pt x="91" y="242"/>
                </a:lnTo>
                <a:lnTo>
                  <a:pt x="86" y="235"/>
                </a:lnTo>
                <a:lnTo>
                  <a:pt x="86" y="234"/>
                </a:lnTo>
                <a:lnTo>
                  <a:pt x="86" y="232"/>
                </a:lnTo>
                <a:lnTo>
                  <a:pt x="87" y="231"/>
                </a:lnTo>
                <a:lnTo>
                  <a:pt x="90" y="230"/>
                </a:lnTo>
                <a:lnTo>
                  <a:pt x="91" y="228"/>
                </a:lnTo>
                <a:lnTo>
                  <a:pt x="94" y="230"/>
                </a:lnTo>
                <a:lnTo>
                  <a:pt x="95" y="231"/>
                </a:lnTo>
                <a:lnTo>
                  <a:pt x="104" y="244"/>
                </a:lnTo>
                <a:lnTo>
                  <a:pt x="114" y="255"/>
                </a:lnTo>
                <a:lnTo>
                  <a:pt x="127" y="262"/>
                </a:lnTo>
                <a:lnTo>
                  <a:pt x="129" y="262"/>
                </a:lnTo>
                <a:lnTo>
                  <a:pt x="132" y="260"/>
                </a:lnTo>
                <a:lnTo>
                  <a:pt x="132" y="258"/>
                </a:lnTo>
                <a:lnTo>
                  <a:pt x="132" y="200"/>
                </a:lnTo>
                <a:lnTo>
                  <a:pt x="132" y="198"/>
                </a:lnTo>
                <a:lnTo>
                  <a:pt x="131" y="196"/>
                </a:lnTo>
                <a:lnTo>
                  <a:pt x="128" y="196"/>
                </a:lnTo>
                <a:lnTo>
                  <a:pt x="114" y="198"/>
                </a:lnTo>
                <a:lnTo>
                  <a:pt x="111" y="196"/>
                </a:lnTo>
                <a:lnTo>
                  <a:pt x="110" y="195"/>
                </a:lnTo>
                <a:lnTo>
                  <a:pt x="109" y="194"/>
                </a:lnTo>
                <a:lnTo>
                  <a:pt x="109" y="191"/>
                </a:lnTo>
                <a:lnTo>
                  <a:pt x="110" y="189"/>
                </a:lnTo>
                <a:lnTo>
                  <a:pt x="111" y="189"/>
                </a:lnTo>
                <a:lnTo>
                  <a:pt x="113" y="188"/>
                </a:lnTo>
                <a:lnTo>
                  <a:pt x="128" y="186"/>
                </a:lnTo>
                <a:lnTo>
                  <a:pt x="131" y="186"/>
                </a:lnTo>
                <a:lnTo>
                  <a:pt x="132" y="185"/>
                </a:lnTo>
                <a:lnTo>
                  <a:pt x="132" y="182"/>
                </a:lnTo>
                <a:lnTo>
                  <a:pt x="132" y="145"/>
                </a:lnTo>
                <a:lnTo>
                  <a:pt x="132" y="143"/>
                </a:lnTo>
                <a:lnTo>
                  <a:pt x="131" y="142"/>
                </a:lnTo>
                <a:lnTo>
                  <a:pt x="128" y="142"/>
                </a:lnTo>
                <a:lnTo>
                  <a:pt x="78" y="142"/>
                </a:lnTo>
                <a:lnTo>
                  <a:pt x="76" y="142"/>
                </a:lnTo>
                <a:lnTo>
                  <a:pt x="74" y="143"/>
                </a:lnTo>
                <a:lnTo>
                  <a:pt x="74" y="145"/>
                </a:lnTo>
                <a:lnTo>
                  <a:pt x="76" y="163"/>
                </a:lnTo>
                <a:lnTo>
                  <a:pt x="74" y="166"/>
                </a:lnTo>
                <a:lnTo>
                  <a:pt x="73" y="167"/>
                </a:lnTo>
                <a:lnTo>
                  <a:pt x="72" y="168"/>
                </a:lnTo>
                <a:lnTo>
                  <a:pt x="69" y="168"/>
                </a:lnTo>
                <a:lnTo>
                  <a:pt x="68" y="167"/>
                </a:lnTo>
                <a:lnTo>
                  <a:pt x="67" y="166"/>
                </a:lnTo>
                <a:lnTo>
                  <a:pt x="65" y="165"/>
                </a:lnTo>
                <a:lnTo>
                  <a:pt x="64" y="145"/>
                </a:lnTo>
                <a:lnTo>
                  <a:pt x="64" y="143"/>
                </a:lnTo>
                <a:lnTo>
                  <a:pt x="63" y="142"/>
                </a:lnTo>
                <a:lnTo>
                  <a:pt x="60" y="142"/>
                </a:lnTo>
                <a:lnTo>
                  <a:pt x="14" y="142"/>
                </a:lnTo>
                <a:close/>
                <a:moveTo>
                  <a:pt x="205" y="111"/>
                </a:moveTo>
                <a:lnTo>
                  <a:pt x="217" y="115"/>
                </a:lnTo>
                <a:lnTo>
                  <a:pt x="226" y="124"/>
                </a:lnTo>
                <a:lnTo>
                  <a:pt x="230" y="136"/>
                </a:lnTo>
                <a:lnTo>
                  <a:pt x="226" y="149"/>
                </a:lnTo>
                <a:lnTo>
                  <a:pt x="217" y="159"/>
                </a:lnTo>
                <a:lnTo>
                  <a:pt x="205" y="162"/>
                </a:lnTo>
                <a:lnTo>
                  <a:pt x="192" y="159"/>
                </a:lnTo>
                <a:lnTo>
                  <a:pt x="183" y="149"/>
                </a:lnTo>
                <a:lnTo>
                  <a:pt x="179" y="136"/>
                </a:lnTo>
                <a:lnTo>
                  <a:pt x="183" y="124"/>
                </a:lnTo>
                <a:lnTo>
                  <a:pt x="192" y="115"/>
                </a:lnTo>
                <a:lnTo>
                  <a:pt x="205" y="111"/>
                </a:lnTo>
                <a:close/>
                <a:moveTo>
                  <a:pt x="137" y="56"/>
                </a:moveTo>
                <a:lnTo>
                  <a:pt x="150" y="59"/>
                </a:lnTo>
                <a:lnTo>
                  <a:pt x="159" y="69"/>
                </a:lnTo>
                <a:lnTo>
                  <a:pt x="163" y="82"/>
                </a:lnTo>
                <a:lnTo>
                  <a:pt x="159" y="94"/>
                </a:lnTo>
                <a:lnTo>
                  <a:pt x="150" y="103"/>
                </a:lnTo>
                <a:lnTo>
                  <a:pt x="137" y="107"/>
                </a:lnTo>
                <a:lnTo>
                  <a:pt x="124" y="103"/>
                </a:lnTo>
                <a:lnTo>
                  <a:pt x="114" y="94"/>
                </a:lnTo>
                <a:lnTo>
                  <a:pt x="111" y="82"/>
                </a:lnTo>
                <a:lnTo>
                  <a:pt x="114" y="69"/>
                </a:lnTo>
                <a:lnTo>
                  <a:pt x="124" y="59"/>
                </a:lnTo>
                <a:lnTo>
                  <a:pt x="137" y="56"/>
                </a:lnTo>
                <a:close/>
                <a:moveTo>
                  <a:pt x="35" y="29"/>
                </a:moveTo>
                <a:lnTo>
                  <a:pt x="48" y="33"/>
                </a:lnTo>
                <a:lnTo>
                  <a:pt x="57" y="42"/>
                </a:lnTo>
                <a:lnTo>
                  <a:pt x="60" y="55"/>
                </a:lnTo>
                <a:lnTo>
                  <a:pt x="57" y="67"/>
                </a:lnTo>
                <a:lnTo>
                  <a:pt x="48" y="76"/>
                </a:lnTo>
                <a:lnTo>
                  <a:pt x="35" y="80"/>
                </a:lnTo>
                <a:lnTo>
                  <a:pt x="22" y="76"/>
                </a:lnTo>
                <a:lnTo>
                  <a:pt x="13" y="67"/>
                </a:lnTo>
                <a:lnTo>
                  <a:pt x="9" y="55"/>
                </a:lnTo>
                <a:lnTo>
                  <a:pt x="13" y="42"/>
                </a:lnTo>
                <a:lnTo>
                  <a:pt x="22" y="33"/>
                </a:lnTo>
                <a:lnTo>
                  <a:pt x="35" y="29"/>
                </a:lnTo>
                <a:close/>
                <a:moveTo>
                  <a:pt x="182" y="18"/>
                </a:moveTo>
                <a:lnTo>
                  <a:pt x="179" y="19"/>
                </a:lnTo>
                <a:lnTo>
                  <a:pt x="178" y="20"/>
                </a:lnTo>
                <a:lnTo>
                  <a:pt x="178" y="23"/>
                </a:lnTo>
                <a:lnTo>
                  <a:pt x="179" y="24"/>
                </a:lnTo>
                <a:lnTo>
                  <a:pt x="191" y="43"/>
                </a:lnTo>
                <a:lnTo>
                  <a:pt x="200" y="65"/>
                </a:lnTo>
                <a:lnTo>
                  <a:pt x="201" y="66"/>
                </a:lnTo>
                <a:lnTo>
                  <a:pt x="202" y="67"/>
                </a:lnTo>
                <a:lnTo>
                  <a:pt x="205" y="67"/>
                </a:lnTo>
                <a:lnTo>
                  <a:pt x="230" y="57"/>
                </a:lnTo>
                <a:lnTo>
                  <a:pt x="232" y="55"/>
                </a:lnTo>
                <a:lnTo>
                  <a:pt x="232" y="53"/>
                </a:lnTo>
                <a:lnTo>
                  <a:pt x="230" y="51"/>
                </a:lnTo>
                <a:lnTo>
                  <a:pt x="209" y="32"/>
                </a:lnTo>
                <a:lnTo>
                  <a:pt x="183" y="18"/>
                </a:lnTo>
                <a:lnTo>
                  <a:pt x="182" y="18"/>
                </a:lnTo>
                <a:close/>
                <a:moveTo>
                  <a:pt x="137" y="0"/>
                </a:moveTo>
                <a:lnTo>
                  <a:pt x="164" y="2"/>
                </a:lnTo>
                <a:lnTo>
                  <a:pt x="189" y="10"/>
                </a:lnTo>
                <a:lnTo>
                  <a:pt x="212" y="23"/>
                </a:lnTo>
                <a:lnTo>
                  <a:pt x="233" y="39"/>
                </a:lnTo>
                <a:lnTo>
                  <a:pt x="249" y="59"/>
                </a:lnTo>
                <a:lnTo>
                  <a:pt x="262" y="83"/>
                </a:lnTo>
                <a:lnTo>
                  <a:pt x="271" y="108"/>
                </a:lnTo>
                <a:lnTo>
                  <a:pt x="274" y="136"/>
                </a:lnTo>
                <a:lnTo>
                  <a:pt x="271" y="163"/>
                </a:lnTo>
                <a:lnTo>
                  <a:pt x="263" y="188"/>
                </a:lnTo>
                <a:lnTo>
                  <a:pt x="263" y="189"/>
                </a:lnTo>
                <a:lnTo>
                  <a:pt x="262" y="190"/>
                </a:lnTo>
                <a:lnTo>
                  <a:pt x="260" y="190"/>
                </a:lnTo>
                <a:lnTo>
                  <a:pt x="257" y="189"/>
                </a:lnTo>
                <a:lnTo>
                  <a:pt x="254" y="186"/>
                </a:lnTo>
                <a:lnTo>
                  <a:pt x="254" y="184"/>
                </a:lnTo>
                <a:lnTo>
                  <a:pt x="261" y="166"/>
                </a:lnTo>
                <a:lnTo>
                  <a:pt x="263" y="145"/>
                </a:lnTo>
                <a:lnTo>
                  <a:pt x="263" y="144"/>
                </a:lnTo>
                <a:lnTo>
                  <a:pt x="262" y="142"/>
                </a:lnTo>
                <a:lnTo>
                  <a:pt x="260" y="142"/>
                </a:lnTo>
                <a:lnTo>
                  <a:pt x="240" y="142"/>
                </a:lnTo>
                <a:lnTo>
                  <a:pt x="239" y="142"/>
                </a:lnTo>
                <a:lnTo>
                  <a:pt x="238" y="140"/>
                </a:lnTo>
                <a:lnTo>
                  <a:pt x="237" y="139"/>
                </a:lnTo>
                <a:lnTo>
                  <a:pt x="237" y="136"/>
                </a:lnTo>
                <a:lnTo>
                  <a:pt x="237" y="135"/>
                </a:lnTo>
                <a:lnTo>
                  <a:pt x="238" y="133"/>
                </a:lnTo>
                <a:lnTo>
                  <a:pt x="239" y="133"/>
                </a:lnTo>
                <a:lnTo>
                  <a:pt x="240" y="131"/>
                </a:lnTo>
                <a:lnTo>
                  <a:pt x="260" y="131"/>
                </a:lnTo>
                <a:lnTo>
                  <a:pt x="262" y="131"/>
                </a:lnTo>
                <a:lnTo>
                  <a:pt x="263" y="130"/>
                </a:lnTo>
                <a:lnTo>
                  <a:pt x="263" y="127"/>
                </a:lnTo>
                <a:lnTo>
                  <a:pt x="261" y="105"/>
                </a:lnTo>
                <a:lnTo>
                  <a:pt x="253" y="84"/>
                </a:lnTo>
                <a:lnTo>
                  <a:pt x="242" y="65"/>
                </a:lnTo>
                <a:lnTo>
                  <a:pt x="240" y="64"/>
                </a:lnTo>
                <a:lnTo>
                  <a:pt x="239" y="64"/>
                </a:lnTo>
                <a:lnTo>
                  <a:pt x="237" y="64"/>
                </a:lnTo>
                <a:lnTo>
                  <a:pt x="223" y="71"/>
                </a:lnTo>
                <a:lnTo>
                  <a:pt x="206" y="76"/>
                </a:lnTo>
                <a:lnTo>
                  <a:pt x="205" y="78"/>
                </a:lnTo>
                <a:lnTo>
                  <a:pt x="203" y="79"/>
                </a:lnTo>
                <a:lnTo>
                  <a:pt x="203" y="82"/>
                </a:lnTo>
                <a:lnTo>
                  <a:pt x="206" y="90"/>
                </a:lnTo>
                <a:lnTo>
                  <a:pt x="207" y="101"/>
                </a:lnTo>
                <a:lnTo>
                  <a:pt x="207" y="102"/>
                </a:lnTo>
                <a:lnTo>
                  <a:pt x="206" y="103"/>
                </a:lnTo>
                <a:lnTo>
                  <a:pt x="205" y="105"/>
                </a:lnTo>
                <a:lnTo>
                  <a:pt x="203" y="105"/>
                </a:lnTo>
                <a:lnTo>
                  <a:pt x="201" y="105"/>
                </a:lnTo>
                <a:lnTo>
                  <a:pt x="198" y="103"/>
                </a:lnTo>
                <a:lnTo>
                  <a:pt x="198" y="102"/>
                </a:lnTo>
                <a:lnTo>
                  <a:pt x="194" y="84"/>
                </a:lnTo>
                <a:lnTo>
                  <a:pt x="193" y="82"/>
                </a:lnTo>
                <a:lnTo>
                  <a:pt x="192" y="82"/>
                </a:lnTo>
                <a:lnTo>
                  <a:pt x="191" y="82"/>
                </a:lnTo>
                <a:lnTo>
                  <a:pt x="173" y="84"/>
                </a:lnTo>
                <a:lnTo>
                  <a:pt x="171" y="84"/>
                </a:lnTo>
                <a:lnTo>
                  <a:pt x="170" y="83"/>
                </a:lnTo>
                <a:lnTo>
                  <a:pt x="169" y="82"/>
                </a:lnTo>
                <a:lnTo>
                  <a:pt x="169" y="79"/>
                </a:lnTo>
                <a:lnTo>
                  <a:pt x="169" y="78"/>
                </a:lnTo>
                <a:lnTo>
                  <a:pt x="170" y="75"/>
                </a:lnTo>
                <a:lnTo>
                  <a:pt x="171" y="74"/>
                </a:lnTo>
                <a:lnTo>
                  <a:pt x="187" y="71"/>
                </a:lnTo>
                <a:lnTo>
                  <a:pt x="189" y="71"/>
                </a:lnTo>
                <a:lnTo>
                  <a:pt x="189" y="69"/>
                </a:lnTo>
                <a:lnTo>
                  <a:pt x="189" y="66"/>
                </a:lnTo>
                <a:lnTo>
                  <a:pt x="184" y="53"/>
                </a:lnTo>
                <a:lnTo>
                  <a:pt x="178" y="41"/>
                </a:lnTo>
                <a:lnTo>
                  <a:pt x="169" y="28"/>
                </a:lnTo>
                <a:lnTo>
                  <a:pt x="159" y="18"/>
                </a:lnTo>
                <a:lnTo>
                  <a:pt x="147" y="11"/>
                </a:lnTo>
                <a:lnTo>
                  <a:pt x="145" y="11"/>
                </a:lnTo>
                <a:lnTo>
                  <a:pt x="142" y="13"/>
                </a:lnTo>
                <a:lnTo>
                  <a:pt x="142" y="15"/>
                </a:lnTo>
                <a:lnTo>
                  <a:pt x="142" y="46"/>
                </a:lnTo>
                <a:lnTo>
                  <a:pt x="142" y="47"/>
                </a:lnTo>
                <a:lnTo>
                  <a:pt x="141" y="48"/>
                </a:lnTo>
                <a:lnTo>
                  <a:pt x="140" y="50"/>
                </a:lnTo>
                <a:lnTo>
                  <a:pt x="137" y="50"/>
                </a:lnTo>
                <a:lnTo>
                  <a:pt x="136" y="50"/>
                </a:lnTo>
                <a:lnTo>
                  <a:pt x="133" y="48"/>
                </a:lnTo>
                <a:lnTo>
                  <a:pt x="133" y="47"/>
                </a:lnTo>
                <a:lnTo>
                  <a:pt x="132" y="46"/>
                </a:lnTo>
                <a:lnTo>
                  <a:pt x="132" y="15"/>
                </a:lnTo>
                <a:lnTo>
                  <a:pt x="132" y="13"/>
                </a:lnTo>
                <a:lnTo>
                  <a:pt x="129" y="11"/>
                </a:lnTo>
                <a:lnTo>
                  <a:pt x="127" y="11"/>
                </a:lnTo>
                <a:lnTo>
                  <a:pt x="115" y="18"/>
                </a:lnTo>
                <a:lnTo>
                  <a:pt x="105" y="28"/>
                </a:lnTo>
                <a:lnTo>
                  <a:pt x="96" y="41"/>
                </a:lnTo>
                <a:lnTo>
                  <a:pt x="90" y="53"/>
                </a:lnTo>
                <a:lnTo>
                  <a:pt x="85" y="66"/>
                </a:lnTo>
                <a:lnTo>
                  <a:pt x="85" y="69"/>
                </a:lnTo>
                <a:lnTo>
                  <a:pt x="86" y="71"/>
                </a:lnTo>
                <a:lnTo>
                  <a:pt x="87" y="71"/>
                </a:lnTo>
                <a:lnTo>
                  <a:pt x="101" y="74"/>
                </a:lnTo>
                <a:lnTo>
                  <a:pt x="104" y="75"/>
                </a:lnTo>
                <a:lnTo>
                  <a:pt x="104" y="78"/>
                </a:lnTo>
                <a:lnTo>
                  <a:pt x="105" y="79"/>
                </a:lnTo>
                <a:lnTo>
                  <a:pt x="104" y="82"/>
                </a:lnTo>
                <a:lnTo>
                  <a:pt x="104" y="83"/>
                </a:lnTo>
                <a:lnTo>
                  <a:pt x="101" y="84"/>
                </a:lnTo>
                <a:lnTo>
                  <a:pt x="100" y="84"/>
                </a:lnTo>
                <a:lnTo>
                  <a:pt x="85" y="82"/>
                </a:lnTo>
                <a:lnTo>
                  <a:pt x="82" y="82"/>
                </a:lnTo>
                <a:lnTo>
                  <a:pt x="81" y="82"/>
                </a:lnTo>
                <a:lnTo>
                  <a:pt x="80" y="84"/>
                </a:lnTo>
                <a:lnTo>
                  <a:pt x="76" y="105"/>
                </a:lnTo>
                <a:lnTo>
                  <a:pt x="74" y="127"/>
                </a:lnTo>
                <a:lnTo>
                  <a:pt x="74" y="130"/>
                </a:lnTo>
                <a:lnTo>
                  <a:pt x="76" y="131"/>
                </a:lnTo>
                <a:lnTo>
                  <a:pt x="78" y="131"/>
                </a:lnTo>
                <a:lnTo>
                  <a:pt x="128" y="131"/>
                </a:lnTo>
                <a:lnTo>
                  <a:pt x="131" y="131"/>
                </a:lnTo>
                <a:lnTo>
                  <a:pt x="132" y="130"/>
                </a:lnTo>
                <a:lnTo>
                  <a:pt x="132" y="127"/>
                </a:lnTo>
                <a:lnTo>
                  <a:pt x="132" y="117"/>
                </a:lnTo>
                <a:lnTo>
                  <a:pt x="133" y="116"/>
                </a:lnTo>
                <a:lnTo>
                  <a:pt x="133" y="115"/>
                </a:lnTo>
                <a:lnTo>
                  <a:pt x="136" y="113"/>
                </a:lnTo>
                <a:lnTo>
                  <a:pt x="137" y="113"/>
                </a:lnTo>
                <a:lnTo>
                  <a:pt x="140" y="113"/>
                </a:lnTo>
                <a:lnTo>
                  <a:pt x="141" y="115"/>
                </a:lnTo>
                <a:lnTo>
                  <a:pt x="142" y="116"/>
                </a:lnTo>
                <a:lnTo>
                  <a:pt x="142" y="117"/>
                </a:lnTo>
                <a:lnTo>
                  <a:pt x="142" y="127"/>
                </a:lnTo>
                <a:lnTo>
                  <a:pt x="142" y="130"/>
                </a:lnTo>
                <a:lnTo>
                  <a:pt x="143" y="131"/>
                </a:lnTo>
                <a:lnTo>
                  <a:pt x="146" y="131"/>
                </a:lnTo>
                <a:lnTo>
                  <a:pt x="169" y="131"/>
                </a:lnTo>
                <a:lnTo>
                  <a:pt x="170" y="133"/>
                </a:lnTo>
                <a:lnTo>
                  <a:pt x="171" y="133"/>
                </a:lnTo>
                <a:lnTo>
                  <a:pt x="173" y="135"/>
                </a:lnTo>
                <a:lnTo>
                  <a:pt x="173" y="136"/>
                </a:lnTo>
                <a:lnTo>
                  <a:pt x="173" y="139"/>
                </a:lnTo>
                <a:lnTo>
                  <a:pt x="171" y="140"/>
                </a:lnTo>
                <a:lnTo>
                  <a:pt x="170" y="142"/>
                </a:lnTo>
                <a:lnTo>
                  <a:pt x="169" y="142"/>
                </a:lnTo>
                <a:lnTo>
                  <a:pt x="146" y="142"/>
                </a:lnTo>
                <a:lnTo>
                  <a:pt x="143" y="142"/>
                </a:lnTo>
                <a:lnTo>
                  <a:pt x="142" y="143"/>
                </a:lnTo>
                <a:lnTo>
                  <a:pt x="142" y="145"/>
                </a:lnTo>
                <a:lnTo>
                  <a:pt x="142" y="182"/>
                </a:lnTo>
                <a:lnTo>
                  <a:pt x="142" y="185"/>
                </a:lnTo>
                <a:lnTo>
                  <a:pt x="143" y="186"/>
                </a:lnTo>
                <a:lnTo>
                  <a:pt x="146" y="186"/>
                </a:lnTo>
                <a:lnTo>
                  <a:pt x="169" y="189"/>
                </a:lnTo>
                <a:lnTo>
                  <a:pt x="191" y="193"/>
                </a:lnTo>
                <a:lnTo>
                  <a:pt x="192" y="193"/>
                </a:lnTo>
                <a:lnTo>
                  <a:pt x="193" y="191"/>
                </a:lnTo>
                <a:lnTo>
                  <a:pt x="194" y="189"/>
                </a:lnTo>
                <a:lnTo>
                  <a:pt x="198" y="172"/>
                </a:lnTo>
                <a:lnTo>
                  <a:pt x="198" y="170"/>
                </a:lnTo>
                <a:lnTo>
                  <a:pt x="201" y="170"/>
                </a:lnTo>
                <a:lnTo>
                  <a:pt x="202" y="168"/>
                </a:lnTo>
                <a:lnTo>
                  <a:pt x="205" y="170"/>
                </a:lnTo>
                <a:lnTo>
                  <a:pt x="206" y="170"/>
                </a:lnTo>
                <a:lnTo>
                  <a:pt x="207" y="172"/>
                </a:lnTo>
                <a:lnTo>
                  <a:pt x="207" y="173"/>
                </a:lnTo>
                <a:lnTo>
                  <a:pt x="206" y="182"/>
                </a:lnTo>
                <a:lnTo>
                  <a:pt x="203" y="191"/>
                </a:lnTo>
                <a:lnTo>
                  <a:pt x="203" y="194"/>
                </a:lnTo>
                <a:lnTo>
                  <a:pt x="205" y="195"/>
                </a:lnTo>
                <a:lnTo>
                  <a:pt x="206" y="196"/>
                </a:lnTo>
                <a:lnTo>
                  <a:pt x="209" y="198"/>
                </a:lnTo>
                <a:lnTo>
                  <a:pt x="211" y="198"/>
                </a:lnTo>
                <a:lnTo>
                  <a:pt x="212" y="200"/>
                </a:lnTo>
                <a:lnTo>
                  <a:pt x="212" y="202"/>
                </a:lnTo>
                <a:lnTo>
                  <a:pt x="212" y="204"/>
                </a:lnTo>
                <a:lnTo>
                  <a:pt x="211" y="205"/>
                </a:lnTo>
                <a:lnTo>
                  <a:pt x="209" y="207"/>
                </a:lnTo>
                <a:lnTo>
                  <a:pt x="207" y="207"/>
                </a:lnTo>
                <a:lnTo>
                  <a:pt x="205" y="205"/>
                </a:lnTo>
                <a:lnTo>
                  <a:pt x="202" y="205"/>
                </a:lnTo>
                <a:lnTo>
                  <a:pt x="201" y="207"/>
                </a:lnTo>
                <a:lnTo>
                  <a:pt x="200" y="208"/>
                </a:lnTo>
                <a:lnTo>
                  <a:pt x="191" y="230"/>
                </a:lnTo>
                <a:lnTo>
                  <a:pt x="179" y="249"/>
                </a:lnTo>
                <a:lnTo>
                  <a:pt x="178" y="251"/>
                </a:lnTo>
                <a:lnTo>
                  <a:pt x="178" y="253"/>
                </a:lnTo>
                <a:lnTo>
                  <a:pt x="179" y="254"/>
                </a:lnTo>
                <a:lnTo>
                  <a:pt x="182" y="255"/>
                </a:lnTo>
                <a:lnTo>
                  <a:pt x="183" y="255"/>
                </a:lnTo>
                <a:lnTo>
                  <a:pt x="198" y="248"/>
                </a:lnTo>
                <a:lnTo>
                  <a:pt x="212" y="239"/>
                </a:lnTo>
                <a:lnTo>
                  <a:pt x="215" y="237"/>
                </a:lnTo>
                <a:lnTo>
                  <a:pt x="217" y="239"/>
                </a:lnTo>
                <a:lnTo>
                  <a:pt x="219" y="240"/>
                </a:lnTo>
                <a:lnTo>
                  <a:pt x="220" y="241"/>
                </a:lnTo>
                <a:lnTo>
                  <a:pt x="220" y="244"/>
                </a:lnTo>
                <a:lnTo>
                  <a:pt x="220" y="245"/>
                </a:lnTo>
                <a:lnTo>
                  <a:pt x="219" y="246"/>
                </a:lnTo>
                <a:lnTo>
                  <a:pt x="194" y="260"/>
                </a:lnTo>
                <a:lnTo>
                  <a:pt x="166" y="271"/>
                </a:lnTo>
                <a:lnTo>
                  <a:pt x="137" y="273"/>
                </a:lnTo>
                <a:lnTo>
                  <a:pt x="106" y="269"/>
                </a:lnTo>
                <a:lnTo>
                  <a:pt x="77" y="259"/>
                </a:lnTo>
                <a:lnTo>
                  <a:pt x="51" y="244"/>
                </a:lnTo>
                <a:lnTo>
                  <a:pt x="31" y="222"/>
                </a:lnTo>
                <a:lnTo>
                  <a:pt x="14" y="196"/>
                </a:lnTo>
                <a:lnTo>
                  <a:pt x="4" y="168"/>
                </a:lnTo>
                <a:lnTo>
                  <a:pt x="0" y="136"/>
                </a:lnTo>
                <a:lnTo>
                  <a:pt x="3" y="108"/>
                </a:lnTo>
                <a:lnTo>
                  <a:pt x="12" y="83"/>
                </a:lnTo>
                <a:lnTo>
                  <a:pt x="12" y="82"/>
                </a:lnTo>
                <a:lnTo>
                  <a:pt x="14" y="82"/>
                </a:lnTo>
                <a:lnTo>
                  <a:pt x="16" y="82"/>
                </a:lnTo>
                <a:lnTo>
                  <a:pt x="18" y="83"/>
                </a:lnTo>
                <a:lnTo>
                  <a:pt x="21" y="84"/>
                </a:lnTo>
                <a:lnTo>
                  <a:pt x="19" y="88"/>
                </a:lnTo>
                <a:lnTo>
                  <a:pt x="13" y="107"/>
                </a:lnTo>
                <a:lnTo>
                  <a:pt x="11" y="127"/>
                </a:lnTo>
                <a:lnTo>
                  <a:pt x="11" y="130"/>
                </a:lnTo>
                <a:lnTo>
                  <a:pt x="12" y="131"/>
                </a:lnTo>
                <a:lnTo>
                  <a:pt x="14" y="131"/>
                </a:lnTo>
                <a:lnTo>
                  <a:pt x="60" y="131"/>
                </a:lnTo>
                <a:lnTo>
                  <a:pt x="63" y="131"/>
                </a:lnTo>
                <a:lnTo>
                  <a:pt x="64" y="130"/>
                </a:lnTo>
                <a:lnTo>
                  <a:pt x="64" y="127"/>
                </a:lnTo>
                <a:lnTo>
                  <a:pt x="67" y="103"/>
                </a:lnTo>
                <a:lnTo>
                  <a:pt x="71" y="82"/>
                </a:lnTo>
                <a:lnTo>
                  <a:pt x="71" y="79"/>
                </a:lnTo>
                <a:lnTo>
                  <a:pt x="69" y="78"/>
                </a:lnTo>
                <a:lnTo>
                  <a:pt x="68" y="76"/>
                </a:lnTo>
                <a:lnTo>
                  <a:pt x="65" y="76"/>
                </a:lnTo>
                <a:lnTo>
                  <a:pt x="64" y="75"/>
                </a:lnTo>
                <a:lnTo>
                  <a:pt x="63" y="74"/>
                </a:lnTo>
                <a:lnTo>
                  <a:pt x="63" y="71"/>
                </a:lnTo>
                <a:lnTo>
                  <a:pt x="63" y="70"/>
                </a:lnTo>
                <a:lnTo>
                  <a:pt x="64" y="67"/>
                </a:lnTo>
                <a:lnTo>
                  <a:pt x="67" y="66"/>
                </a:lnTo>
                <a:lnTo>
                  <a:pt x="68" y="66"/>
                </a:lnTo>
                <a:lnTo>
                  <a:pt x="71" y="67"/>
                </a:lnTo>
                <a:lnTo>
                  <a:pt x="72" y="67"/>
                </a:lnTo>
                <a:lnTo>
                  <a:pt x="74" y="66"/>
                </a:lnTo>
                <a:lnTo>
                  <a:pt x="76" y="65"/>
                </a:lnTo>
                <a:lnTo>
                  <a:pt x="83" y="43"/>
                </a:lnTo>
                <a:lnTo>
                  <a:pt x="95" y="24"/>
                </a:lnTo>
                <a:lnTo>
                  <a:pt x="96" y="23"/>
                </a:lnTo>
                <a:lnTo>
                  <a:pt x="96" y="20"/>
                </a:lnTo>
                <a:lnTo>
                  <a:pt x="95" y="19"/>
                </a:lnTo>
                <a:lnTo>
                  <a:pt x="94" y="18"/>
                </a:lnTo>
                <a:lnTo>
                  <a:pt x="91" y="18"/>
                </a:lnTo>
                <a:lnTo>
                  <a:pt x="77" y="25"/>
                </a:lnTo>
                <a:lnTo>
                  <a:pt x="63" y="33"/>
                </a:lnTo>
                <a:lnTo>
                  <a:pt x="62" y="34"/>
                </a:lnTo>
                <a:lnTo>
                  <a:pt x="60" y="34"/>
                </a:lnTo>
                <a:lnTo>
                  <a:pt x="58" y="33"/>
                </a:lnTo>
                <a:lnTo>
                  <a:pt x="58" y="32"/>
                </a:lnTo>
                <a:lnTo>
                  <a:pt x="57" y="30"/>
                </a:lnTo>
                <a:lnTo>
                  <a:pt x="57" y="28"/>
                </a:lnTo>
                <a:lnTo>
                  <a:pt x="57" y="27"/>
                </a:lnTo>
                <a:lnTo>
                  <a:pt x="58" y="25"/>
                </a:lnTo>
                <a:lnTo>
                  <a:pt x="82" y="11"/>
                </a:lnTo>
                <a:lnTo>
                  <a:pt x="109" y="4"/>
                </a:lnTo>
                <a:lnTo>
                  <a:pt x="137" y="0"/>
                </a:lnTo>
                <a:close/>
              </a:path>
            </a:pathLst>
          </a:custGeom>
          <a:solidFill>
            <a:schemeClr val="bg1">
              <a:alpha val="10000"/>
            </a:schemeClr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Freeform 463"/>
          <p:cNvSpPr>
            <a:spLocks noEditPoints="1"/>
          </p:cNvSpPr>
          <p:nvPr userDrawn="1"/>
        </p:nvSpPr>
        <p:spPr bwMode="auto">
          <a:xfrm rot="19468345">
            <a:off x="4877976" y="513678"/>
            <a:ext cx="1364153" cy="774137"/>
          </a:xfrm>
          <a:custGeom>
            <a:avLst/>
            <a:gdLst>
              <a:gd name="T0" fmla="*/ 250 w 326"/>
              <a:gd name="T1" fmla="*/ 94 h 185"/>
              <a:gd name="T2" fmla="*/ 253 w 326"/>
              <a:gd name="T3" fmla="*/ 98 h 185"/>
              <a:gd name="T4" fmla="*/ 249 w 326"/>
              <a:gd name="T5" fmla="*/ 148 h 185"/>
              <a:gd name="T6" fmla="*/ 225 w 326"/>
              <a:gd name="T7" fmla="*/ 163 h 185"/>
              <a:gd name="T8" fmla="*/ 185 w 326"/>
              <a:gd name="T9" fmla="*/ 171 h 185"/>
              <a:gd name="T10" fmla="*/ 142 w 326"/>
              <a:gd name="T11" fmla="*/ 171 h 185"/>
              <a:gd name="T12" fmla="*/ 102 w 326"/>
              <a:gd name="T13" fmla="*/ 163 h 185"/>
              <a:gd name="T14" fmla="*/ 78 w 326"/>
              <a:gd name="T15" fmla="*/ 148 h 185"/>
              <a:gd name="T16" fmla="*/ 74 w 326"/>
              <a:gd name="T17" fmla="*/ 99 h 185"/>
              <a:gd name="T18" fmla="*/ 76 w 326"/>
              <a:gd name="T19" fmla="*/ 94 h 185"/>
              <a:gd name="T20" fmla="*/ 82 w 326"/>
              <a:gd name="T21" fmla="*/ 94 h 185"/>
              <a:gd name="T22" fmla="*/ 163 w 326"/>
              <a:gd name="T23" fmla="*/ 126 h 185"/>
              <a:gd name="T24" fmla="*/ 245 w 326"/>
              <a:gd name="T25" fmla="*/ 93 h 185"/>
              <a:gd name="T26" fmla="*/ 163 w 326"/>
              <a:gd name="T27" fmla="*/ 0 h 185"/>
              <a:gd name="T28" fmla="*/ 322 w 326"/>
              <a:gd name="T29" fmla="*/ 46 h 185"/>
              <a:gd name="T30" fmla="*/ 326 w 326"/>
              <a:gd name="T31" fmla="*/ 50 h 185"/>
              <a:gd name="T32" fmla="*/ 324 w 326"/>
              <a:gd name="T33" fmla="*/ 53 h 185"/>
              <a:gd name="T34" fmla="*/ 168 w 326"/>
              <a:gd name="T35" fmla="*/ 120 h 185"/>
              <a:gd name="T36" fmla="*/ 157 w 326"/>
              <a:gd name="T37" fmla="*/ 120 h 185"/>
              <a:gd name="T38" fmla="*/ 42 w 326"/>
              <a:gd name="T39" fmla="*/ 72 h 185"/>
              <a:gd name="T40" fmla="*/ 39 w 326"/>
              <a:gd name="T41" fmla="*/ 75 h 185"/>
              <a:gd name="T42" fmla="*/ 39 w 326"/>
              <a:gd name="T43" fmla="*/ 110 h 185"/>
              <a:gd name="T44" fmla="*/ 42 w 326"/>
              <a:gd name="T45" fmla="*/ 110 h 185"/>
              <a:gd name="T46" fmla="*/ 45 w 326"/>
              <a:gd name="T47" fmla="*/ 110 h 185"/>
              <a:gd name="T48" fmla="*/ 46 w 326"/>
              <a:gd name="T49" fmla="*/ 112 h 185"/>
              <a:gd name="T50" fmla="*/ 46 w 326"/>
              <a:gd name="T51" fmla="*/ 116 h 185"/>
              <a:gd name="T52" fmla="*/ 45 w 326"/>
              <a:gd name="T53" fmla="*/ 122 h 185"/>
              <a:gd name="T54" fmla="*/ 46 w 326"/>
              <a:gd name="T55" fmla="*/ 124 h 185"/>
              <a:gd name="T56" fmla="*/ 46 w 326"/>
              <a:gd name="T57" fmla="*/ 126 h 185"/>
              <a:gd name="T58" fmla="*/ 45 w 326"/>
              <a:gd name="T59" fmla="*/ 127 h 185"/>
              <a:gd name="T60" fmla="*/ 52 w 326"/>
              <a:gd name="T61" fmla="*/ 149 h 185"/>
              <a:gd name="T62" fmla="*/ 50 w 326"/>
              <a:gd name="T63" fmla="*/ 171 h 185"/>
              <a:gd name="T64" fmla="*/ 42 w 326"/>
              <a:gd name="T65" fmla="*/ 181 h 185"/>
              <a:gd name="T66" fmla="*/ 42 w 326"/>
              <a:gd name="T67" fmla="*/ 175 h 185"/>
              <a:gd name="T68" fmla="*/ 42 w 326"/>
              <a:gd name="T69" fmla="*/ 171 h 185"/>
              <a:gd name="T70" fmla="*/ 41 w 326"/>
              <a:gd name="T71" fmla="*/ 172 h 185"/>
              <a:gd name="T72" fmla="*/ 39 w 326"/>
              <a:gd name="T73" fmla="*/ 179 h 185"/>
              <a:gd name="T74" fmla="*/ 36 w 326"/>
              <a:gd name="T75" fmla="*/ 185 h 185"/>
              <a:gd name="T76" fmla="*/ 34 w 326"/>
              <a:gd name="T77" fmla="*/ 185 h 185"/>
              <a:gd name="T78" fmla="*/ 33 w 326"/>
              <a:gd name="T79" fmla="*/ 170 h 185"/>
              <a:gd name="T80" fmla="*/ 32 w 326"/>
              <a:gd name="T81" fmla="*/ 167 h 185"/>
              <a:gd name="T82" fmla="*/ 32 w 326"/>
              <a:gd name="T83" fmla="*/ 171 h 185"/>
              <a:gd name="T84" fmla="*/ 30 w 326"/>
              <a:gd name="T85" fmla="*/ 179 h 185"/>
              <a:gd name="T86" fmla="*/ 30 w 326"/>
              <a:gd name="T87" fmla="*/ 179 h 185"/>
              <a:gd name="T88" fmla="*/ 29 w 326"/>
              <a:gd name="T89" fmla="*/ 172 h 185"/>
              <a:gd name="T90" fmla="*/ 28 w 326"/>
              <a:gd name="T91" fmla="*/ 172 h 185"/>
              <a:gd name="T92" fmla="*/ 28 w 326"/>
              <a:gd name="T93" fmla="*/ 180 h 185"/>
              <a:gd name="T94" fmla="*/ 28 w 326"/>
              <a:gd name="T95" fmla="*/ 181 h 185"/>
              <a:gd name="T96" fmla="*/ 16 w 326"/>
              <a:gd name="T97" fmla="*/ 157 h 185"/>
              <a:gd name="T98" fmla="*/ 25 w 326"/>
              <a:gd name="T99" fmla="*/ 127 h 185"/>
              <a:gd name="T100" fmla="*/ 24 w 326"/>
              <a:gd name="T101" fmla="*/ 126 h 185"/>
              <a:gd name="T102" fmla="*/ 24 w 326"/>
              <a:gd name="T103" fmla="*/ 122 h 185"/>
              <a:gd name="T104" fmla="*/ 27 w 326"/>
              <a:gd name="T105" fmla="*/ 121 h 185"/>
              <a:gd name="T106" fmla="*/ 25 w 326"/>
              <a:gd name="T107" fmla="*/ 116 h 185"/>
              <a:gd name="T108" fmla="*/ 25 w 326"/>
              <a:gd name="T109" fmla="*/ 112 h 185"/>
              <a:gd name="T110" fmla="*/ 28 w 326"/>
              <a:gd name="T111" fmla="*/ 108 h 185"/>
              <a:gd name="T112" fmla="*/ 30 w 326"/>
              <a:gd name="T113" fmla="*/ 110 h 185"/>
              <a:gd name="T114" fmla="*/ 33 w 326"/>
              <a:gd name="T115" fmla="*/ 108 h 185"/>
              <a:gd name="T116" fmla="*/ 32 w 326"/>
              <a:gd name="T117" fmla="*/ 67 h 185"/>
              <a:gd name="T118" fmla="*/ 2 w 326"/>
              <a:gd name="T119" fmla="*/ 55 h 185"/>
              <a:gd name="T120" fmla="*/ 0 w 326"/>
              <a:gd name="T121" fmla="*/ 52 h 185"/>
              <a:gd name="T122" fmla="*/ 1 w 326"/>
              <a:gd name="T123" fmla="*/ 47 h 185"/>
              <a:gd name="T124" fmla="*/ 159 w 326"/>
              <a:gd name="T125" fmla="*/ 0 h 1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326" h="185">
                <a:moveTo>
                  <a:pt x="248" y="93"/>
                </a:moveTo>
                <a:lnTo>
                  <a:pt x="250" y="94"/>
                </a:lnTo>
                <a:lnTo>
                  <a:pt x="251" y="95"/>
                </a:lnTo>
                <a:lnTo>
                  <a:pt x="253" y="98"/>
                </a:lnTo>
                <a:lnTo>
                  <a:pt x="253" y="138"/>
                </a:lnTo>
                <a:lnTo>
                  <a:pt x="249" y="148"/>
                </a:lnTo>
                <a:lnTo>
                  <a:pt x="239" y="157"/>
                </a:lnTo>
                <a:lnTo>
                  <a:pt x="225" y="163"/>
                </a:lnTo>
                <a:lnTo>
                  <a:pt x="207" y="168"/>
                </a:lnTo>
                <a:lnTo>
                  <a:pt x="185" y="171"/>
                </a:lnTo>
                <a:lnTo>
                  <a:pt x="163" y="172"/>
                </a:lnTo>
                <a:lnTo>
                  <a:pt x="142" y="171"/>
                </a:lnTo>
                <a:lnTo>
                  <a:pt x="120" y="168"/>
                </a:lnTo>
                <a:lnTo>
                  <a:pt x="102" y="163"/>
                </a:lnTo>
                <a:lnTo>
                  <a:pt x="87" y="157"/>
                </a:lnTo>
                <a:lnTo>
                  <a:pt x="78" y="148"/>
                </a:lnTo>
                <a:lnTo>
                  <a:pt x="74" y="138"/>
                </a:lnTo>
                <a:lnTo>
                  <a:pt x="74" y="99"/>
                </a:lnTo>
                <a:lnTo>
                  <a:pt x="75" y="97"/>
                </a:lnTo>
                <a:lnTo>
                  <a:pt x="76" y="94"/>
                </a:lnTo>
                <a:lnTo>
                  <a:pt x="79" y="93"/>
                </a:lnTo>
                <a:lnTo>
                  <a:pt x="82" y="94"/>
                </a:lnTo>
                <a:lnTo>
                  <a:pt x="158" y="125"/>
                </a:lnTo>
                <a:lnTo>
                  <a:pt x="163" y="126"/>
                </a:lnTo>
                <a:lnTo>
                  <a:pt x="168" y="125"/>
                </a:lnTo>
                <a:lnTo>
                  <a:pt x="245" y="93"/>
                </a:lnTo>
                <a:lnTo>
                  <a:pt x="248" y="93"/>
                </a:lnTo>
                <a:close/>
                <a:moveTo>
                  <a:pt x="163" y="0"/>
                </a:moveTo>
                <a:lnTo>
                  <a:pt x="167" y="0"/>
                </a:lnTo>
                <a:lnTo>
                  <a:pt x="322" y="46"/>
                </a:lnTo>
                <a:lnTo>
                  <a:pt x="324" y="47"/>
                </a:lnTo>
                <a:lnTo>
                  <a:pt x="326" y="50"/>
                </a:lnTo>
                <a:lnTo>
                  <a:pt x="326" y="52"/>
                </a:lnTo>
                <a:lnTo>
                  <a:pt x="324" y="53"/>
                </a:lnTo>
                <a:lnTo>
                  <a:pt x="323" y="55"/>
                </a:lnTo>
                <a:lnTo>
                  <a:pt x="168" y="120"/>
                </a:lnTo>
                <a:lnTo>
                  <a:pt x="163" y="121"/>
                </a:lnTo>
                <a:lnTo>
                  <a:pt x="157" y="120"/>
                </a:lnTo>
                <a:lnTo>
                  <a:pt x="43" y="72"/>
                </a:lnTo>
                <a:lnTo>
                  <a:pt x="42" y="72"/>
                </a:lnTo>
                <a:lnTo>
                  <a:pt x="39" y="74"/>
                </a:lnTo>
                <a:lnTo>
                  <a:pt x="39" y="75"/>
                </a:lnTo>
                <a:lnTo>
                  <a:pt x="39" y="110"/>
                </a:lnTo>
                <a:lnTo>
                  <a:pt x="39" y="110"/>
                </a:lnTo>
                <a:lnTo>
                  <a:pt x="41" y="111"/>
                </a:lnTo>
                <a:lnTo>
                  <a:pt x="42" y="110"/>
                </a:lnTo>
                <a:lnTo>
                  <a:pt x="43" y="110"/>
                </a:lnTo>
                <a:lnTo>
                  <a:pt x="45" y="110"/>
                </a:lnTo>
                <a:lnTo>
                  <a:pt x="45" y="111"/>
                </a:lnTo>
                <a:lnTo>
                  <a:pt x="46" y="112"/>
                </a:lnTo>
                <a:lnTo>
                  <a:pt x="46" y="115"/>
                </a:lnTo>
                <a:lnTo>
                  <a:pt x="46" y="116"/>
                </a:lnTo>
                <a:lnTo>
                  <a:pt x="46" y="120"/>
                </a:lnTo>
                <a:lnTo>
                  <a:pt x="45" y="122"/>
                </a:lnTo>
                <a:lnTo>
                  <a:pt x="45" y="124"/>
                </a:lnTo>
                <a:lnTo>
                  <a:pt x="46" y="124"/>
                </a:lnTo>
                <a:lnTo>
                  <a:pt x="47" y="125"/>
                </a:lnTo>
                <a:lnTo>
                  <a:pt x="46" y="126"/>
                </a:lnTo>
                <a:lnTo>
                  <a:pt x="45" y="127"/>
                </a:lnTo>
                <a:lnTo>
                  <a:pt x="45" y="127"/>
                </a:lnTo>
                <a:lnTo>
                  <a:pt x="50" y="138"/>
                </a:lnTo>
                <a:lnTo>
                  <a:pt x="52" y="149"/>
                </a:lnTo>
                <a:lnTo>
                  <a:pt x="52" y="161"/>
                </a:lnTo>
                <a:lnTo>
                  <a:pt x="50" y="171"/>
                </a:lnTo>
                <a:lnTo>
                  <a:pt x="42" y="180"/>
                </a:lnTo>
                <a:lnTo>
                  <a:pt x="42" y="181"/>
                </a:lnTo>
                <a:lnTo>
                  <a:pt x="42" y="180"/>
                </a:lnTo>
                <a:lnTo>
                  <a:pt x="42" y="175"/>
                </a:lnTo>
                <a:lnTo>
                  <a:pt x="42" y="172"/>
                </a:lnTo>
                <a:lnTo>
                  <a:pt x="42" y="171"/>
                </a:lnTo>
                <a:lnTo>
                  <a:pt x="42" y="171"/>
                </a:lnTo>
                <a:lnTo>
                  <a:pt x="41" y="172"/>
                </a:lnTo>
                <a:lnTo>
                  <a:pt x="41" y="175"/>
                </a:lnTo>
                <a:lnTo>
                  <a:pt x="39" y="179"/>
                </a:lnTo>
                <a:lnTo>
                  <a:pt x="37" y="182"/>
                </a:lnTo>
                <a:lnTo>
                  <a:pt x="36" y="185"/>
                </a:lnTo>
                <a:lnTo>
                  <a:pt x="34" y="185"/>
                </a:lnTo>
                <a:lnTo>
                  <a:pt x="34" y="185"/>
                </a:lnTo>
                <a:lnTo>
                  <a:pt x="33" y="173"/>
                </a:lnTo>
                <a:lnTo>
                  <a:pt x="33" y="170"/>
                </a:lnTo>
                <a:lnTo>
                  <a:pt x="33" y="168"/>
                </a:lnTo>
                <a:lnTo>
                  <a:pt x="32" y="167"/>
                </a:lnTo>
                <a:lnTo>
                  <a:pt x="32" y="168"/>
                </a:lnTo>
                <a:lnTo>
                  <a:pt x="32" y="171"/>
                </a:lnTo>
                <a:lnTo>
                  <a:pt x="32" y="179"/>
                </a:lnTo>
                <a:lnTo>
                  <a:pt x="30" y="179"/>
                </a:lnTo>
                <a:lnTo>
                  <a:pt x="30" y="180"/>
                </a:lnTo>
                <a:lnTo>
                  <a:pt x="30" y="179"/>
                </a:lnTo>
                <a:lnTo>
                  <a:pt x="29" y="175"/>
                </a:lnTo>
                <a:lnTo>
                  <a:pt x="29" y="172"/>
                </a:lnTo>
                <a:lnTo>
                  <a:pt x="28" y="172"/>
                </a:lnTo>
                <a:lnTo>
                  <a:pt x="28" y="172"/>
                </a:lnTo>
                <a:lnTo>
                  <a:pt x="28" y="175"/>
                </a:lnTo>
                <a:lnTo>
                  <a:pt x="28" y="180"/>
                </a:lnTo>
                <a:lnTo>
                  <a:pt x="28" y="181"/>
                </a:lnTo>
                <a:lnTo>
                  <a:pt x="28" y="181"/>
                </a:lnTo>
                <a:lnTo>
                  <a:pt x="19" y="170"/>
                </a:lnTo>
                <a:lnTo>
                  <a:pt x="16" y="157"/>
                </a:lnTo>
                <a:lnTo>
                  <a:pt x="19" y="141"/>
                </a:lnTo>
                <a:lnTo>
                  <a:pt x="25" y="127"/>
                </a:lnTo>
                <a:lnTo>
                  <a:pt x="25" y="126"/>
                </a:lnTo>
                <a:lnTo>
                  <a:pt x="24" y="126"/>
                </a:lnTo>
                <a:lnTo>
                  <a:pt x="24" y="124"/>
                </a:lnTo>
                <a:lnTo>
                  <a:pt x="24" y="122"/>
                </a:lnTo>
                <a:lnTo>
                  <a:pt x="25" y="122"/>
                </a:lnTo>
                <a:lnTo>
                  <a:pt x="27" y="121"/>
                </a:lnTo>
                <a:lnTo>
                  <a:pt x="25" y="118"/>
                </a:lnTo>
                <a:lnTo>
                  <a:pt x="25" y="116"/>
                </a:lnTo>
                <a:lnTo>
                  <a:pt x="25" y="113"/>
                </a:lnTo>
                <a:lnTo>
                  <a:pt x="25" y="112"/>
                </a:lnTo>
                <a:lnTo>
                  <a:pt x="27" y="110"/>
                </a:lnTo>
                <a:lnTo>
                  <a:pt x="28" y="108"/>
                </a:lnTo>
                <a:lnTo>
                  <a:pt x="30" y="108"/>
                </a:lnTo>
                <a:lnTo>
                  <a:pt x="30" y="110"/>
                </a:lnTo>
                <a:lnTo>
                  <a:pt x="32" y="108"/>
                </a:lnTo>
                <a:lnTo>
                  <a:pt x="33" y="108"/>
                </a:lnTo>
                <a:lnTo>
                  <a:pt x="33" y="70"/>
                </a:lnTo>
                <a:lnTo>
                  <a:pt x="32" y="67"/>
                </a:lnTo>
                <a:lnTo>
                  <a:pt x="30" y="66"/>
                </a:lnTo>
                <a:lnTo>
                  <a:pt x="2" y="55"/>
                </a:lnTo>
                <a:lnTo>
                  <a:pt x="1" y="53"/>
                </a:lnTo>
                <a:lnTo>
                  <a:pt x="0" y="52"/>
                </a:lnTo>
                <a:lnTo>
                  <a:pt x="0" y="50"/>
                </a:lnTo>
                <a:lnTo>
                  <a:pt x="1" y="47"/>
                </a:lnTo>
                <a:lnTo>
                  <a:pt x="4" y="46"/>
                </a:lnTo>
                <a:lnTo>
                  <a:pt x="159" y="0"/>
                </a:lnTo>
                <a:lnTo>
                  <a:pt x="163" y="0"/>
                </a:lnTo>
                <a:close/>
              </a:path>
            </a:pathLst>
          </a:custGeom>
          <a:solidFill>
            <a:schemeClr val="bg1">
              <a:alpha val="10000"/>
            </a:schemeClr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" name="Freeform 345"/>
          <p:cNvSpPr>
            <a:spLocks noEditPoints="1"/>
          </p:cNvSpPr>
          <p:nvPr userDrawn="1"/>
        </p:nvSpPr>
        <p:spPr bwMode="auto">
          <a:xfrm rot="19951744">
            <a:off x="485337" y="1535222"/>
            <a:ext cx="2166226" cy="3066048"/>
          </a:xfrm>
          <a:custGeom>
            <a:avLst/>
            <a:gdLst>
              <a:gd name="T0" fmla="*/ 190 w 195"/>
              <a:gd name="T1" fmla="*/ 163 h 276"/>
              <a:gd name="T2" fmla="*/ 195 w 195"/>
              <a:gd name="T3" fmla="*/ 174 h 276"/>
              <a:gd name="T4" fmla="*/ 192 w 195"/>
              <a:gd name="T5" fmla="*/ 180 h 276"/>
              <a:gd name="T6" fmla="*/ 105 w 195"/>
              <a:gd name="T7" fmla="*/ 212 h 276"/>
              <a:gd name="T8" fmla="*/ 98 w 195"/>
              <a:gd name="T9" fmla="*/ 202 h 276"/>
              <a:gd name="T10" fmla="*/ 101 w 195"/>
              <a:gd name="T11" fmla="*/ 195 h 276"/>
              <a:gd name="T12" fmla="*/ 187 w 195"/>
              <a:gd name="T13" fmla="*/ 160 h 276"/>
              <a:gd name="T14" fmla="*/ 20 w 195"/>
              <a:gd name="T15" fmla="*/ 147 h 276"/>
              <a:gd name="T16" fmla="*/ 15 w 195"/>
              <a:gd name="T17" fmla="*/ 157 h 276"/>
              <a:gd name="T18" fmla="*/ 20 w 195"/>
              <a:gd name="T19" fmla="*/ 168 h 276"/>
              <a:gd name="T20" fmla="*/ 32 w 195"/>
              <a:gd name="T21" fmla="*/ 169 h 276"/>
              <a:gd name="T22" fmla="*/ 40 w 195"/>
              <a:gd name="T23" fmla="*/ 161 h 276"/>
              <a:gd name="T24" fmla="*/ 37 w 195"/>
              <a:gd name="T25" fmla="*/ 150 h 276"/>
              <a:gd name="T26" fmla="*/ 27 w 195"/>
              <a:gd name="T27" fmla="*/ 145 h 276"/>
              <a:gd name="T28" fmla="*/ 102 w 195"/>
              <a:gd name="T29" fmla="*/ 2 h 276"/>
              <a:gd name="T30" fmla="*/ 105 w 195"/>
              <a:gd name="T31" fmla="*/ 12 h 276"/>
              <a:gd name="T32" fmla="*/ 100 w 195"/>
              <a:gd name="T33" fmla="*/ 14 h 276"/>
              <a:gd name="T34" fmla="*/ 151 w 195"/>
              <a:gd name="T35" fmla="*/ 146 h 276"/>
              <a:gd name="T36" fmla="*/ 148 w 195"/>
              <a:gd name="T37" fmla="*/ 149 h 276"/>
              <a:gd name="T38" fmla="*/ 147 w 195"/>
              <a:gd name="T39" fmla="*/ 151 h 276"/>
              <a:gd name="T40" fmla="*/ 148 w 195"/>
              <a:gd name="T41" fmla="*/ 160 h 276"/>
              <a:gd name="T42" fmla="*/ 144 w 195"/>
              <a:gd name="T43" fmla="*/ 166 h 276"/>
              <a:gd name="T44" fmla="*/ 129 w 195"/>
              <a:gd name="T45" fmla="*/ 169 h 276"/>
              <a:gd name="T46" fmla="*/ 124 w 195"/>
              <a:gd name="T47" fmla="*/ 161 h 276"/>
              <a:gd name="T48" fmla="*/ 120 w 195"/>
              <a:gd name="T49" fmla="*/ 160 h 276"/>
              <a:gd name="T50" fmla="*/ 118 w 195"/>
              <a:gd name="T51" fmla="*/ 160 h 276"/>
              <a:gd name="T52" fmla="*/ 91 w 195"/>
              <a:gd name="T53" fmla="*/ 97 h 276"/>
              <a:gd name="T54" fmla="*/ 84 w 195"/>
              <a:gd name="T55" fmla="*/ 97 h 276"/>
              <a:gd name="T56" fmla="*/ 52 w 195"/>
              <a:gd name="T57" fmla="*/ 136 h 276"/>
              <a:gd name="T58" fmla="*/ 55 w 195"/>
              <a:gd name="T59" fmla="*/ 151 h 276"/>
              <a:gd name="T60" fmla="*/ 52 w 195"/>
              <a:gd name="T61" fmla="*/ 170 h 276"/>
              <a:gd name="T62" fmla="*/ 46 w 195"/>
              <a:gd name="T63" fmla="*/ 180 h 276"/>
              <a:gd name="T64" fmla="*/ 59 w 195"/>
              <a:gd name="T65" fmla="*/ 216 h 276"/>
              <a:gd name="T66" fmla="*/ 87 w 195"/>
              <a:gd name="T67" fmla="*/ 243 h 276"/>
              <a:gd name="T68" fmla="*/ 185 w 195"/>
              <a:gd name="T69" fmla="*/ 244 h 276"/>
              <a:gd name="T70" fmla="*/ 193 w 195"/>
              <a:gd name="T71" fmla="*/ 256 h 276"/>
              <a:gd name="T72" fmla="*/ 189 w 195"/>
              <a:gd name="T73" fmla="*/ 274 h 276"/>
              <a:gd name="T74" fmla="*/ 22 w 195"/>
              <a:gd name="T75" fmla="*/ 276 h 276"/>
              <a:gd name="T76" fmla="*/ 12 w 195"/>
              <a:gd name="T77" fmla="*/ 270 h 276"/>
              <a:gd name="T78" fmla="*/ 12 w 195"/>
              <a:gd name="T79" fmla="*/ 251 h 276"/>
              <a:gd name="T80" fmla="*/ 22 w 195"/>
              <a:gd name="T81" fmla="*/ 244 h 276"/>
              <a:gd name="T82" fmla="*/ 29 w 195"/>
              <a:gd name="T83" fmla="*/ 241 h 276"/>
              <a:gd name="T84" fmla="*/ 17 w 195"/>
              <a:gd name="T85" fmla="*/ 210 h 276"/>
              <a:gd name="T86" fmla="*/ 8 w 195"/>
              <a:gd name="T87" fmla="*/ 177 h 276"/>
              <a:gd name="T88" fmla="*/ 0 w 195"/>
              <a:gd name="T89" fmla="*/ 157 h 276"/>
              <a:gd name="T90" fmla="*/ 15 w 195"/>
              <a:gd name="T91" fmla="*/ 131 h 276"/>
              <a:gd name="T92" fmla="*/ 38 w 195"/>
              <a:gd name="T93" fmla="*/ 91 h 276"/>
              <a:gd name="T94" fmla="*/ 75 w 195"/>
              <a:gd name="T95" fmla="*/ 62 h 276"/>
              <a:gd name="T96" fmla="*/ 65 w 195"/>
              <a:gd name="T97" fmla="*/ 31 h 276"/>
              <a:gd name="T98" fmla="*/ 61 w 195"/>
              <a:gd name="T99" fmla="*/ 30 h 276"/>
              <a:gd name="T100" fmla="*/ 56 w 195"/>
              <a:gd name="T101" fmla="*/ 31 h 276"/>
              <a:gd name="T102" fmla="*/ 52 w 195"/>
              <a:gd name="T103" fmla="*/ 20 h 276"/>
              <a:gd name="T104" fmla="*/ 59 w 195"/>
              <a:gd name="T105" fmla="*/ 16 h 276"/>
              <a:gd name="T106" fmla="*/ 101 w 195"/>
              <a:gd name="T107" fmla="*/ 0 h 2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195" h="276">
                <a:moveTo>
                  <a:pt x="187" y="160"/>
                </a:moveTo>
                <a:lnTo>
                  <a:pt x="189" y="161"/>
                </a:lnTo>
                <a:lnTo>
                  <a:pt x="190" y="163"/>
                </a:lnTo>
                <a:lnTo>
                  <a:pt x="193" y="165"/>
                </a:lnTo>
                <a:lnTo>
                  <a:pt x="195" y="172"/>
                </a:lnTo>
                <a:lnTo>
                  <a:pt x="195" y="174"/>
                </a:lnTo>
                <a:lnTo>
                  <a:pt x="195" y="177"/>
                </a:lnTo>
                <a:lnTo>
                  <a:pt x="193" y="178"/>
                </a:lnTo>
                <a:lnTo>
                  <a:pt x="192" y="180"/>
                </a:lnTo>
                <a:lnTo>
                  <a:pt x="110" y="212"/>
                </a:lnTo>
                <a:lnTo>
                  <a:pt x="107" y="212"/>
                </a:lnTo>
                <a:lnTo>
                  <a:pt x="105" y="212"/>
                </a:lnTo>
                <a:lnTo>
                  <a:pt x="103" y="211"/>
                </a:lnTo>
                <a:lnTo>
                  <a:pt x="101" y="209"/>
                </a:lnTo>
                <a:lnTo>
                  <a:pt x="98" y="202"/>
                </a:lnTo>
                <a:lnTo>
                  <a:pt x="98" y="200"/>
                </a:lnTo>
                <a:lnTo>
                  <a:pt x="98" y="197"/>
                </a:lnTo>
                <a:lnTo>
                  <a:pt x="101" y="195"/>
                </a:lnTo>
                <a:lnTo>
                  <a:pt x="102" y="193"/>
                </a:lnTo>
                <a:lnTo>
                  <a:pt x="184" y="161"/>
                </a:lnTo>
                <a:lnTo>
                  <a:pt x="187" y="160"/>
                </a:lnTo>
                <a:close/>
                <a:moveTo>
                  <a:pt x="27" y="145"/>
                </a:moveTo>
                <a:lnTo>
                  <a:pt x="23" y="145"/>
                </a:lnTo>
                <a:lnTo>
                  <a:pt x="20" y="147"/>
                </a:lnTo>
                <a:lnTo>
                  <a:pt x="17" y="150"/>
                </a:lnTo>
                <a:lnTo>
                  <a:pt x="15" y="154"/>
                </a:lnTo>
                <a:lnTo>
                  <a:pt x="15" y="157"/>
                </a:lnTo>
                <a:lnTo>
                  <a:pt x="15" y="161"/>
                </a:lnTo>
                <a:lnTo>
                  <a:pt x="17" y="165"/>
                </a:lnTo>
                <a:lnTo>
                  <a:pt x="20" y="168"/>
                </a:lnTo>
                <a:lnTo>
                  <a:pt x="23" y="169"/>
                </a:lnTo>
                <a:lnTo>
                  <a:pt x="27" y="170"/>
                </a:lnTo>
                <a:lnTo>
                  <a:pt x="32" y="169"/>
                </a:lnTo>
                <a:lnTo>
                  <a:pt x="35" y="168"/>
                </a:lnTo>
                <a:lnTo>
                  <a:pt x="37" y="165"/>
                </a:lnTo>
                <a:lnTo>
                  <a:pt x="40" y="161"/>
                </a:lnTo>
                <a:lnTo>
                  <a:pt x="40" y="157"/>
                </a:lnTo>
                <a:lnTo>
                  <a:pt x="40" y="154"/>
                </a:lnTo>
                <a:lnTo>
                  <a:pt x="37" y="150"/>
                </a:lnTo>
                <a:lnTo>
                  <a:pt x="35" y="147"/>
                </a:lnTo>
                <a:lnTo>
                  <a:pt x="32" y="145"/>
                </a:lnTo>
                <a:lnTo>
                  <a:pt x="27" y="145"/>
                </a:lnTo>
                <a:close/>
                <a:moveTo>
                  <a:pt x="101" y="0"/>
                </a:moveTo>
                <a:lnTo>
                  <a:pt x="102" y="0"/>
                </a:lnTo>
                <a:lnTo>
                  <a:pt x="102" y="2"/>
                </a:lnTo>
                <a:lnTo>
                  <a:pt x="106" y="9"/>
                </a:lnTo>
                <a:lnTo>
                  <a:pt x="106" y="11"/>
                </a:lnTo>
                <a:lnTo>
                  <a:pt x="105" y="12"/>
                </a:lnTo>
                <a:lnTo>
                  <a:pt x="103" y="13"/>
                </a:lnTo>
                <a:lnTo>
                  <a:pt x="101" y="14"/>
                </a:lnTo>
                <a:lnTo>
                  <a:pt x="100" y="14"/>
                </a:lnTo>
                <a:lnTo>
                  <a:pt x="100" y="16"/>
                </a:lnTo>
                <a:lnTo>
                  <a:pt x="100" y="18"/>
                </a:lnTo>
                <a:lnTo>
                  <a:pt x="151" y="146"/>
                </a:lnTo>
                <a:lnTo>
                  <a:pt x="151" y="147"/>
                </a:lnTo>
                <a:lnTo>
                  <a:pt x="149" y="149"/>
                </a:lnTo>
                <a:lnTo>
                  <a:pt x="148" y="149"/>
                </a:lnTo>
                <a:lnTo>
                  <a:pt x="148" y="150"/>
                </a:lnTo>
                <a:lnTo>
                  <a:pt x="147" y="150"/>
                </a:lnTo>
                <a:lnTo>
                  <a:pt x="147" y="151"/>
                </a:lnTo>
                <a:lnTo>
                  <a:pt x="147" y="152"/>
                </a:lnTo>
                <a:lnTo>
                  <a:pt x="148" y="157"/>
                </a:lnTo>
                <a:lnTo>
                  <a:pt x="148" y="160"/>
                </a:lnTo>
                <a:lnTo>
                  <a:pt x="148" y="163"/>
                </a:lnTo>
                <a:lnTo>
                  <a:pt x="147" y="164"/>
                </a:lnTo>
                <a:lnTo>
                  <a:pt x="144" y="166"/>
                </a:lnTo>
                <a:lnTo>
                  <a:pt x="134" y="169"/>
                </a:lnTo>
                <a:lnTo>
                  <a:pt x="132" y="170"/>
                </a:lnTo>
                <a:lnTo>
                  <a:pt x="129" y="169"/>
                </a:lnTo>
                <a:lnTo>
                  <a:pt x="128" y="168"/>
                </a:lnTo>
                <a:lnTo>
                  <a:pt x="125" y="165"/>
                </a:lnTo>
                <a:lnTo>
                  <a:pt x="124" y="161"/>
                </a:lnTo>
                <a:lnTo>
                  <a:pt x="124" y="161"/>
                </a:lnTo>
                <a:lnTo>
                  <a:pt x="123" y="160"/>
                </a:lnTo>
                <a:lnTo>
                  <a:pt x="120" y="160"/>
                </a:lnTo>
                <a:lnTo>
                  <a:pt x="120" y="160"/>
                </a:lnTo>
                <a:lnTo>
                  <a:pt x="119" y="161"/>
                </a:lnTo>
                <a:lnTo>
                  <a:pt x="118" y="160"/>
                </a:lnTo>
                <a:lnTo>
                  <a:pt x="116" y="159"/>
                </a:lnTo>
                <a:lnTo>
                  <a:pt x="93" y="100"/>
                </a:lnTo>
                <a:lnTo>
                  <a:pt x="91" y="97"/>
                </a:lnTo>
                <a:lnTo>
                  <a:pt x="89" y="96"/>
                </a:lnTo>
                <a:lnTo>
                  <a:pt x="87" y="96"/>
                </a:lnTo>
                <a:lnTo>
                  <a:pt x="84" y="97"/>
                </a:lnTo>
                <a:lnTo>
                  <a:pt x="70" y="108"/>
                </a:lnTo>
                <a:lnTo>
                  <a:pt x="60" y="120"/>
                </a:lnTo>
                <a:lnTo>
                  <a:pt x="52" y="136"/>
                </a:lnTo>
                <a:lnTo>
                  <a:pt x="51" y="140"/>
                </a:lnTo>
                <a:lnTo>
                  <a:pt x="52" y="145"/>
                </a:lnTo>
                <a:lnTo>
                  <a:pt x="55" y="151"/>
                </a:lnTo>
                <a:lnTo>
                  <a:pt x="55" y="157"/>
                </a:lnTo>
                <a:lnTo>
                  <a:pt x="55" y="164"/>
                </a:lnTo>
                <a:lnTo>
                  <a:pt x="52" y="170"/>
                </a:lnTo>
                <a:lnTo>
                  <a:pt x="49" y="175"/>
                </a:lnTo>
                <a:lnTo>
                  <a:pt x="47" y="178"/>
                </a:lnTo>
                <a:lnTo>
                  <a:pt x="46" y="180"/>
                </a:lnTo>
                <a:lnTo>
                  <a:pt x="46" y="184"/>
                </a:lnTo>
                <a:lnTo>
                  <a:pt x="51" y="201"/>
                </a:lnTo>
                <a:lnTo>
                  <a:pt x="59" y="216"/>
                </a:lnTo>
                <a:lnTo>
                  <a:pt x="69" y="230"/>
                </a:lnTo>
                <a:lnTo>
                  <a:pt x="83" y="242"/>
                </a:lnTo>
                <a:lnTo>
                  <a:pt x="87" y="243"/>
                </a:lnTo>
                <a:lnTo>
                  <a:pt x="89" y="244"/>
                </a:lnTo>
                <a:lnTo>
                  <a:pt x="181" y="244"/>
                </a:lnTo>
                <a:lnTo>
                  <a:pt x="185" y="244"/>
                </a:lnTo>
                <a:lnTo>
                  <a:pt x="189" y="247"/>
                </a:lnTo>
                <a:lnTo>
                  <a:pt x="192" y="251"/>
                </a:lnTo>
                <a:lnTo>
                  <a:pt x="193" y="256"/>
                </a:lnTo>
                <a:lnTo>
                  <a:pt x="193" y="265"/>
                </a:lnTo>
                <a:lnTo>
                  <a:pt x="192" y="270"/>
                </a:lnTo>
                <a:lnTo>
                  <a:pt x="189" y="274"/>
                </a:lnTo>
                <a:lnTo>
                  <a:pt x="185" y="276"/>
                </a:lnTo>
                <a:lnTo>
                  <a:pt x="181" y="276"/>
                </a:lnTo>
                <a:lnTo>
                  <a:pt x="22" y="276"/>
                </a:lnTo>
                <a:lnTo>
                  <a:pt x="18" y="276"/>
                </a:lnTo>
                <a:lnTo>
                  <a:pt x="14" y="274"/>
                </a:lnTo>
                <a:lnTo>
                  <a:pt x="12" y="270"/>
                </a:lnTo>
                <a:lnTo>
                  <a:pt x="10" y="265"/>
                </a:lnTo>
                <a:lnTo>
                  <a:pt x="10" y="256"/>
                </a:lnTo>
                <a:lnTo>
                  <a:pt x="12" y="251"/>
                </a:lnTo>
                <a:lnTo>
                  <a:pt x="14" y="247"/>
                </a:lnTo>
                <a:lnTo>
                  <a:pt x="18" y="244"/>
                </a:lnTo>
                <a:lnTo>
                  <a:pt x="22" y="244"/>
                </a:lnTo>
                <a:lnTo>
                  <a:pt x="24" y="244"/>
                </a:lnTo>
                <a:lnTo>
                  <a:pt x="27" y="243"/>
                </a:lnTo>
                <a:lnTo>
                  <a:pt x="29" y="241"/>
                </a:lnTo>
                <a:lnTo>
                  <a:pt x="29" y="238"/>
                </a:lnTo>
                <a:lnTo>
                  <a:pt x="28" y="235"/>
                </a:lnTo>
                <a:lnTo>
                  <a:pt x="17" y="210"/>
                </a:lnTo>
                <a:lnTo>
                  <a:pt x="10" y="183"/>
                </a:lnTo>
                <a:lnTo>
                  <a:pt x="9" y="179"/>
                </a:lnTo>
                <a:lnTo>
                  <a:pt x="8" y="177"/>
                </a:lnTo>
                <a:lnTo>
                  <a:pt x="4" y="170"/>
                </a:lnTo>
                <a:lnTo>
                  <a:pt x="0" y="164"/>
                </a:lnTo>
                <a:lnTo>
                  <a:pt x="0" y="157"/>
                </a:lnTo>
                <a:lnTo>
                  <a:pt x="3" y="143"/>
                </a:lnTo>
                <a:lnTo>
                  <a:pt x="13" y="133"/>
                </a:lnTo>
                <a:lnTo>
                  <a:pt x="15" y="131"/>
                </a:lnTo>
                <a:lnTo>
                  <a:pt x="17" y="128"/>
                </a:lnTo>
                <a:lnTo>
                  <a:pt x="27" y="109"/>
                </a:lnTo>
                <a:lnTo>
                  <a:pt x="38" y="91"/>
                </a:lnTo>
                <a:lnTo>
                  <a:pt x="54" y="76"/>
                </a:lnTo>
                <a:lnTo>
                  <a:pt x="73" y="63"/>
                </a:lnTo>
                <a:lnTo>
                  <a:pt x="75" y="62"/>
                </a:lnTo>
                <a:lnTo>
                  <a:pt x="75" y="59"/>
                </a:lnTo>
                <a:lnTo>
                  <a:pt x="75" y="57"/>
                </a:lnTo>
                <a:lnTo>
                  <a:pt x="65" y="31"/>
                </a:lnTo>
                <a:lnTo>
                  <a:pt x="65" y="30"/>
                </a:lnTo>
                <a:lnTo>
                  <a:pt x="64" y="30"/>
                </a:lnTo>
                <a:lnTo>
                  <a:pt x="61" y="30"/>
                </a:lnTo>
                <a:lnTo>
                  <a:pt x="59" y="31"/>
                </a:lnTo>
                <a:lnTo>
                  <a:pt x="58" y="31"/>
                </a:lnTo>
                <a:lnTo>
                  <a:pt x="56" y="31"/>
                </a:lnTo>
                <a:lnTo>
                  <a:pt x="55" y="30"/>
                </a:lnTo>
                <a:lnTo>
                  <a:pt x="52" y="22"/>
                </a:lnTo>
                <a:lnTo>
                  <a:pt x="52" y="20"/>
                </a:lnTo>
                <a:lnTo>
                  <a:pt x="52" y="18"/>
                </a:lnTo>
                <a:lnTo>
                  <a:pt x="54" y="18"/>
                </a:lnTo>
                <a:lnTo>
                  <a:pt x="59" y="16"/>
                </a:lnTo>
                <a:lnTo>
                  <a:pt x="93" y="2"/>
                </a:lnTo>
                <a:lnTo>
                  <a:pt x="98" y="0"/>
                </a:lnTo>
                <a:lnTo>
                  <a:pt x="101" y="0"/>
                </a:lnTo>
                <a:close/>
              </a:path>
            </a:pathLst>
          </a:custGeom>
          <a:solidFill>
            <a:schemeClr val="bg1">
              <a:alpha val="10000"/>
            </a:schemeClr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" name="Freeform 387"/>
          <p:cNvSpPr>
            <a:spLocks noEditPoints="1"/>
          </p:cNvSpPr>
          <p:nvPr userDrawn="1"/>
        </p:nvSpPr>
        <p:spPr bwMode="auto">
          <a:xfrm rot="1888595">
            <a:off x="2442159" y="392103"/>
            <a:ext cx="1572202" cy="2081915"/>
          </a:xfrm>
          <a:custGeom>
            <a:avLst/>
            <a:gdLst>
              <a:gd name="T0" fmla="*/ 68 w 219"/>
              <a:gd name="T1" fmla="*/ 188 h 290"/>
              <a:gd name="T2" fmla="*/ 108 w 219"/>
              <a:gd name="T3" fmla="*/ 177 h 290"/>
              <a:gd name="T4" fmla="*/ 114 w 219"/>
              <a:gd name="T5" fmla="*/ 174 h 290"/>
              <a:gd name="T6" fmla="*/ 168 w 219"/>
              <a:gd name="T7" fmla="*/ 174 h 290"/>
              <a:gd name="T8" fmla="*/ 52 w 219"/>
              <a:gd name="T9" fmla="*/ 172 h 290"/>
              <a:gd name="T10" fmla="*/ 100 w 219"/>
              <a:gd name="T11" fmla="*/ 170 h 290"/>
              <a:gd name="T12" fmla="*/ 52 w 219"/>
              <a:gd name="T13" fmla="*/ 117 h 290"/>
              <a:gd name="T14" fmla="*/ 44 w 219"/>
              <a:gd name="T15" fmla="*/ 168 h 290"/>
              <a:gd name="T16" fmla="*/ 53 w 219"/>
              <a:gd name="T17" fmla="*/ 118 h 290"/>
              <a:gd name="T18" fmla="*/ 89 w 219"/>
              <a:gd name="T19" fmla="*/ 138 h 290"/>
              <a:gd name="T20" fmla="*/ 137 w 219"/>
              <a:gd name="T21" fmla="*/ 145 h 290"/>
              <a:gd name="T22" fmla="*/ 150 w 219"/>
              <a:gd name="T23" fmla="*/ 141 h 290"/>
              <a:gd name="T24" fmla="*/ 175 w 219"/>
              <a:gd name="T25" fmla="*/ 169 h 290"/>
              <a:gd name="T26" fmla="*/ 172 w 219"/>
              <a:gd name="T27" fmla="*/ 114 h 290"/>
              <a:gd name="T28" fmla="*/ 31 w 219"/>
              <a:gd name="T29" fmla="*/ 152 h 290"/>
              <a:gd name="T30" fmla="*/ 43 w 219"/>
              <a:gd name="T31" fmla="*/ 112 h 290"/>
              <a:gd name="T32" fmla="*/ 115 w 219"/>
              <a:gd name="T33" fmla="*/ 109 h 290"/>
              <a:gd name="T34" fmla="*/ 164 w 219"/>
              <a:gd name="T35" fmla="*/ 112 h 290"/>
              <a:gd name="T36" fmla="*/ 73 w 219"/>
              <a:gd name="T37" fmla="*/ 83 h 290"/>
              <a:gd name="T38" fmla="*/ 83 w 219"/>
              <a:gd name="T39" fmla="*/ 131 h 290"/>
              <a:gd name="T40" fmla="*/ 77 w 219"/>
              <a:gd name="T41" fmla="*/ 82 h 290"/>
              <a:gd name="T42" fmla="*/ 175 w 219"/>
              <a:gd name="T43" fmla="*/ 108 h 290"/>
              <a:gd name="T44" fmla="*/ 196 w 219"/>
              <a:gd name="T45" fmla="*/ 90 h 290"/>
              <a:gd name="T46" fmla="*/ 82 w 219"/>
              <a:gd name="T47" fmla="*/ 77 h 290"/>
              <a:gd name="T48" fmla="*/ 129 w 219"/>
              <a:gd name="T49" fmla="*/ 85 h 290"/>
              <a:gd name="T50" fmla="*/ 174 w 219"/>
              <a:gd name="T51" fmla="*/ 51 h 290"/>
              <a:gd name="T52" fmla="*/ 156 w 219"/>
              <a:gd name="T53" fmla="*/ 96 h 290"/>
              <a:gd name="T54" fmla="*/ 178 w 219"/>
              <a:gd name="T55" fmla="*/ 77 h 290"/>
              <a:gd name="T56" fmla="*/ 43 w 219"/>
              <a:gd name="T57" fmla="*/ 51 h 290"/>
              <a:gd name="T58" fmla="*/ 49 w 219"/>
              <a:gd name="T59" fmla="*/ 104 h 290"/>
              <a:gd name="T60" fmla="*/ 184 w 219"/>
              <a:gd name="T61" fmla="*/ 41 h 290"/>
              <a:gd name="T62" fmla="*/ 202 w 219"/>
              <a:gd name="T63" fmla="*/ 89 h 290"/>
              <a:gd name="T64" fmla="*/ 112 w 219"/>
              <a:gd name="T65" fmla="*/ 205 h 290"/>
              <a:gd name="T66" fmla="*/ 41 w 219"/>
              <a:gd name="T67" fmla="*/ 183 h 290"/>
              <a:gd name="T68" fmla="*/ 137 w 219"/>
              <a:gd name="T69" fmla="*/ 209 h 290"/>
              <a:gd name="T70" fmla="*/ 201 w 219"/>
              <a:gd name="T71" fmla="*/ 64 h 290"/>
              <a:gd name="T72" fmla="*/ 118 w 219"/>
              <a:gd name="T73" fmla="*/ 49 h 290"/>
              <a:gd name="T74" fmla="*/ 138 w 219"/>
              <a:gd name="T75" fmla="*/ 76 h 290"/>
              <a:gd name="T76" fmla="*/ 92 w 219"/>
              <a:gd name="T77" fmla="*/ 23 h 290"/>
              <a:gd name="T78" fmla="*/ 75 w 219"/>
              <a:gd name="T79" fmla="*/ 71 h 290"/>
              <a:gd name="T80" fmla="*/ 95 w 219"/>
              <a:gd name="T81" fmla="*/ 23 h 290"/>
              <a:gd name="T82" fmla="*/ 110 w 219"/>
              <a:gd name="T83" fmla="*/ 43 h 290"/>
              <a:gd name="T84" fmla="*/ 151 w 219"/>
              <a:gd name="T85" fmla="*/ 32 h 290"/>
              <a:gd name="T86" fmla="*/ 219 w 219"/>
              <a:gd name="T87" fmla="*/ 12 h 290"/>
              <a:gd name="T88" fmla="*/ 195 w 219"/>
              <a:gd name="T89" fmla="*/ 30 h 290"/>
              <a:gd name="T90" fmla="*/ 219 w 219"/>
              <a:gd name="T91" fmla="*/ 101 h 290"/>
              <a:gd name="T92" fmla="*/ 118 w 219"/>
              <a:gd name="T93" fmla="*/ 219 h 290"/>
              <a:gd name="T94" fmla="*/ 126 w 219"/>
              <a:gd name="T95" fmla="*/ 243 h 290"/>
              <a:gd name="T96" fmla="*/ 118 w 219"/>
              <a:gd name="T97" fmla="*/ 266 h 290"/>
              <a:gd name="T98" fmla="*/ 183 w 219"/>
              <a:gd name="T99" fmla="*/ 290 h 290"/>
              <a:gd name="T100" fmla="*/ 77 w 219"/>
              <a:gd name="T101" fmla="*/ 269 h 290"/>
              <a:gd name="T102" fmla="*/ 95 w 219"/>
              <a:gd name="T103" fmla="*/ 251 h 290"/>
              <a:gd name="T104" fmla="*/ 103 w 219"/>
              <a:gd name="T105" fmla="*/ 220 h 290"/>
              <a:gd name="T106" fmla="*/ 30 w 219"/>
              <a:gd name="T107" fmla="*/ 193 h 290"/>
              <a:gd name="T108" fmla="*/ 20 w 219"/>
              <a:gd name="T109" fmla="*/ 219 h 290"/>
              <a:gd name="T110" fmla="*/ 13 w 219"/>
              <a:gd name="T111" fmla="*/ 188 h 290"/>
              <a:gd name="T112" fmla="*/ 37 w 219"/>
              <a:gd name="T113" fmla="*/ 173 h 290"/>
              <a:gd name="T114" fmla="*/ 62 w 219"/>
              <a:gd name="T115" fmla="*/ 27 h 290"/>
              <a:gd name="T116" fmla="*/ 177 w 219"/>
              <a:gd name="T117" fmla="*/ 39 h 290"/>
              <a:gd name="T118" fmla="*/ 192 w 219"/>
              <a:gd name="T119" fmla="*/ 6 h 2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219" h="290">
                <a:moveTo>
                  <a:pt x="106" y="175"/>
                </a:moveTo>
                <a:lnTo>
                  <a:pt x="104" y="175"/>
                </a:lnTo>
                <a:lnTo>
                  <a:pt x="87" y="183"/>
                </a:lnTo>
                <a:lnTo>
                  <a:pt x="68" y="187"/>
                </a:lnTo>
                <a:lnTo>
                  <a:pt x="68" y="187"/>
                </a:lnTo>
                <a:lnTo>
                  <a:pt x="67" y="188"/>
                </a:lnTo>
                <a:lnTo>
                  <a:pt x="68" y="188"/>
                </a:lnTo>
                <a:lnTo>
                  <a:pt x="90" y="196"/>
                </a:lnTo>
                <a:lnTo>
                  <a:pt x="113" y="198"/>
                </a:lnTo>
                <a:lnTo>
                  <a:pt x="114" y="198"/>
                </a:lnTo>
                <a:lnTo>
                  <a:pt x="115" y="196"/>
                </a:lnTo>
                <a:lnTo>
                  <a:pt x="115" y="195"/>
                </a:lnTo>
                <a:lnTo>
                  <a:pt x="113" y="186"/>
                </a:lnTo>
                <a:lnTo>
                  <a:pt x="108" y="177"/>
                </a:lnTo>
                <a:lnTo>
                  <a:pt x="108" y="177"/>
                </a:lnTo>
                <a:lnTo>
                  <a:pt x="106" y="175"/>
                </a:lnTo>
                <a:close/>
                <a:moveTo>
                  <a:pt x="142" y="150"/>
                </a:moveTo>
                <a:lnTo>
                  <a:pt x="141" y="150"/>
                </a:lnTo>
                <a:lnTo>
                  <a:pt x="115" y="170"/>
                </a:lnTo>
                <a:lnTo>
                  <a:pt x="114" y="172"/>
                </a:lnTo>
                <a:lnTo>
                  <a:pt x="114" y="174"/>
                </a:lnTo>
                <a:lnTo>
                  <a:pt x="123" y="195"/>
                </a:lnTo>
                <a:lnTo>
                  <a:pt x="124" y="197"/>
                </a:lnTo>
                <a:lnTo>
                  <a:pt x="126" y="197"/>
                </a:lnTo>
                <a:lnTo>
                  <a:pt x="147" y="189"/>
                </a:lnTo>
                <a:lnTo>
                  <a:pt x="168" y="177"/>
                </a:lnTo>
                <a:lnTo>
                  <a:pt x="168" y="175"/>
                </a:lnTo>
                <a:lnTo>
                  <a:pt x="168" y="174"/>
                </a:lnTo>
                <a:lnTo>
                  <a:pt x="168" y="173"/>
                </a:lnTo>
                <a:lnTo>
                  <a:pt x="145" y="150"/>
                </a:lnTo>
                <a:lnTo>
                  <a:pt x="143" y="150"/>
                </a:lnTo>
                <a:lnTo>
                  <a:pt x="142" y="150"/>
                </a:lnTo>
                <a:close/>
                <a:moveTo>
                  <a:pt x="81" y="143"/>
                </a:moveTo>
                <a:lnTo>
                  <a:pt x="80" y="143"/>
                </a:lnTo>
                <a:lnTo>
                  <a:pt x="52" y="172"/>
                </a:lnTo>
                <a:lnTo>
                  <a:pt x="52" y="174"/>
                </a:lnTo>
                <a:lnTo>
                  <a:pt x="52" y="175"/>
                </a:lnTo>
                <a:lnTo>
                  <a:pt x="53" y="177"/>
                </a:lnTo>
                <a:lnTo>
                  <a:pt x="64" y="179"/>
                </a:lnTo>
                <a:lnTo>
                  <a:pt x="77" y="179"/>
                </a:lnTo>
                <a:lnTo>
                  <a:pt x="90" y="175"/>
                </a:lnTo>
                <a:lnTo>
                  <a:pt x="100" y="170"/>
                </a:lnTo>
                <a:lnTo>
                  <a:pt x="101" y="169"/>
                </a:lnTo>
                <a:lnTo>
                  <a:pt x="103" y="168"/>
                </a:lnTo>
                <a:lnTo>
                  <a:pt x="101" y="166"/>
                </a:lnTo>
                <a:lnTo>
                  <a:pt x="85" y="143"/>
                </a:lnTo>
                <a:lnTo>
                  <a:pt x="83" y="143"/>
                </a:lnTo>
                <a:lnTo>
                  <a:pt x="81" y="143"/>
                </a:lnTo>
                <a:close/>
                <a:moveTo>
                  <a:pt x="52" y="117"/>
                </a:moveTo>
                <a:lnTo>
                  <a:pt x="50" y="118"/>
                </a:lnTo>
                <a:lnTo>
                  <a:pt x="49" y="119"/>
                </a:lnTo>
                <a:lnTo>
                  <a:pt x="44" y="129"/>
                </a:lnTo>
                <a:lnTo>
                  <a:pt x="40" y="142"/>
                </a:lnTo>
                <a:lnTo>
                  <a:pt x="40" y="155"/>
                </a:lnTo>
                <a:lnTo>
                  <a:pt x="43" y="166"/>
                </a:lnTo>
                <a:lnTo>
                  <a:pt x="44" y="168"/>
                </a:lnTo>
                <a:lnTo>
                  <a:pt x="45" y="168"/>
                </a:lnTo>
                <a:lnTo>
                  <a:pt x="48" y="168"/>
                </a:lnTo>
                <a:lnTo>
                  <a:pt x="76" y="140"/>
                </a:lnTo>
                <a:lnTo>
                  <a:pt x="76" y="138"/>
                </a:lnTo>
                <a:lnTo>
                  <a:pt x="76" y="136"/>
                </a:lnTo>
                <a:lnTo>
                  <a:pt x="76" y="135"/>
                </a:lnTo>
                <a:lnTo>
                  <a:pt x="53" y="118"/>
                </a:lnTo>
                <a:lnTo>
                  <a:pt x="52" y="117"/>
                </a:lnTo>
                <a:close/>
                <a:moveTo>
                  <a:pt x="110" y="115"/>
                </a:moveTo>
                <a:lnTo>
                  <a:pt x="109" y="115"/>
                </a:lnTo>
                <a:lnTo>
                  <a:pt x="108" y="117"/>
                </a:lnTo>
                <a:lnTo>
                  <a:pt x="89" y="135"/>
                </a:lnTo>
                <a:lnTo>
                  <a:pt x="89" y="136"/>
                </a:lnTo>
                <a:lnTo>
                  <a:pt x="89" y="138"/>
                </a:lnTo>
                <a:lnTo>
                  <a:pt x="89" y="140"/>
                </a:lnTo>
                <a:lnTo>
                  <a:pt x="108" y="164"/>
                </a:lnTo>
                <a:lnTo>
                  <a:pt x="109" y="164"/>
                </a:lnTo>
                <a:lnTo>
                  <a:pt x="110" y="165"/>
                </a:lnTo>
                <a:lnTo>
                  <a:pt x="112" y="164"/>
                </a:lnTo>
                <a:lnTo>
                  <a:pt x="136" y="146"/>
                </a:lnTo>
                <a:lnTo>
                  <a:pt x="137" y="145"/>
                </a:lnTo>
                <a:lnTo>
                  <a:pt x="137" y="142"/>
                </a:lnTo>
                <a:lnTo>
                  <a:pt x="136" y="141"/>
                </a:lnTo>
                <a:lnTo>
                  <a:pt x="112" y="117"/>
                </a:lnTo>
                <a:lnTo>
                  <a:pt x="110" y="115"/>
                </a:lnTo>
                <a:close/>
                <a:moveTo>
                  <a:pt x="172" y="114"/>
                </a:moveTo>
                <a:lnTo>
                  <a:pt x="169" y="115"/>
                </a:lnTo>
                <a:lnTo>
                  <a:pt x="150" y="141"/>
                </a:lnTo>
                <a:lnTo>
                  <a:pt x="149" y="142"/>
                </a:lnTo>
                <a:lnTo>
                  <a:pt x="149" y="145"/>
                </a:lnTo>
                <a:lnTo>
                  <a:pt x="150" y="146"/>
                </a:lnTo>
                <a:lnTo>
                  <a:pt x="172" y="168"/>
                </a:lnTo>
                <a:lnTo>
                  <a:pt x="173" y="169"/>
                </a:lnTo>
                <a:lnTo>
                  <a:pt x="174" y="169"/>
                </a:lnTo>
                <a:lnTo>
                  <a:pt x="175" y="169"/>
                </a:lnTo>
                <a:lnTo>
                  <a:pt x="177" y="168"/>
                </a:lnTo>
                <a:lnTo>
                  <a:pt x="189" y="149"/>
                </a:lnTo>
                <a:lnTo>
                  <a:pt x="196" y="127"/>
                </a:lnTo>
                <a:lnTo>
                  <a:pt x="196" y="124"/>
                </a:lnTo>
                <a:lnTo>
                  <a:pt x="195" y="123"/>
                </a:lnTo>
                <a:lnTo>
                  <a:pt x="173" y="114"/>
                </a:lnTo>
                <a:lnTo>
                  <a:pt x="172" y="114"/>
                </a:lnTo>
                <a:close/>
                <a:moveTo>
                  <a:pt x="25" y="104"/>
                </a:moveTo>
                <a:lnTo>
                  <a:pt x="23" y="104"/>
                </a:lnTo>
                <a:lnTo>
                  <a:pt x="21" y="105"/>
                </a:lnTo>
                <a:lnTo>
                  <a:pt x="21" y="106"/>
                </a:lnTo>
                <a:lnTo>
                  <a:pt x="23" y="129"/>
                </a:lnTo>
                <a:lnTo>
                  <a:pt x="31" y="151"/>
                </a:lnTo>
                <a:lnTo>
                  <a:pt x="31" y="152"/>
                </a:lnTo>
                <a:lnTo>
                  <a:pt x="32" y="151"/>
                </a:lnTo>
                <a:lnTo>
                  <a:pt x="32" y="151"/>
                </a:lnTo>
                <a:lnTo>
                  <a:pt x="36" y="132"/>
                </a:lnTo>
                <a:lnTo>
                  <a:pt x="44" y="115"/>
                </a:lnTo>
                <a:lnTo>
                  <a:pt x="44" y="113"/>
                </a:lnTo>
                <a:lnTo>
                  <a:pt x="43" y="112"/>
                </a:lnTo>
                <a:lnTo>
                  <a:pt x="43" y="112"/>
                </a:lnTo>
                <a:lnTo>
                  <a:pt x="34" y="106"/>
                </a:lnTo>
                <a:lnTo>
                  <a:pt x="25" y="104"/>
                </a:lnTo>
                <a:close/>
                <a:moveTo>
                  <a:pt x="137" y="89"/>
                </a:moveTo>
                <a:lnTo>
                  <a:pt x="136" y="89"/>
                </a:lnTo>
                <a:lnTo>
                  <a:pt x="135" y="90"/>
                </a:lnTo>
                <a:lnTo>
                  <a:pt x="117" y="108"/>
                </a:lnTo>
                <a:lnTo>
                  <a:pt x="115" y="109"/>
                </a:lnTo>
                <a:lnTo>
                  <a:pt x="115" y="110"/>
                </a:lnTo>
                <a:lnTo>
                  <a:pt x="117" y="112"/>
                </a:lnTo>
                <a:lnTo>
                  <a:pt x="141" y="137"/>
                </a:lnTo>
                <a:lnTo>
                  <a:pt x="142" y="137"/>
                </a:lnTo>
                <a:lnTo>
                  <a:pt x="145" y="137"/>
                </a:lnTo>
                <a:lnTo>
                  <a:pt x="164" y="113"/>
                </a:lnTo>
                <a:lnTo>
                  <a:pt x="164" y="112"/>
                </a:lnTo>
                <a:lnTo>
                  <a:pt x="164" y="109"/>
                </a:lnTo>
                <a:lnTo>
                  <a:pt x="163" y="109"/>
                </a:lnTo>
                <a:lnTo>
                  <a:pt x="138" y="90"/>
                </a:lnTo>
                <a:lnTo>
                  <a:pt x="137" y="89"/>
                </a:lnTo>
                <a:close/>
                <a:moveTo>
                  <a:pt x="77" y="82"/>
                </a:moveTo>
                <a:lnTo>
                  <a:pt x="75" y="82"/>
                </a:lnTo>
                <a:lnTo>
                  <a:pt x="73" y="83"/>
                </a:lnTo>
                <a:lnTo>
                  <a:pt x="55" y="108"/>
                </a:lnTo>
                <a:lnTo>
                  <a:pt x="54" y="109"/>
                </a:lnTo>
                <a:lnTo>
                  <a:pt x="55" y="110"/>
                </a:lnTo>
                <a:lnTo>
                  <a:pt x="55" y="112"/>
                </a:lnTo>
                <a:lnTo>
                  <a:pt x="80" y="131"/>
                </a:lnTo>
                <a:lnTo>
                  <a:pt x="81" y="131"/>
                </a:lnTo>
                <a:lnTo>
                  <a:pt x="83" y="131"/>
                </a:lnTo>
                <a:lnTo>
                  <a:pt x="85" y="131"/>
                </a:lnTo>
                <a:lnTo>
                  <a:pt x="103" y="112"/>
                </a:lnTo>
                <a:lnTo>
                  <a:pt x="104" y="110"/>
                </a:lnTo>
                <a:lnTo>
                  <a:pt x="104" y="109"/>
                </a:lnTo>
                <a:lnTo>
                  <a:pt x="103" y="108"/>
                </a:lnTo>
                <a:lnTo>
                  <a:pt x="78" y="83"/>
                </a:lnTo>
                <a:lnTo>
                  <a:pt x="77" y="82"/>
                </a:lnTo>
                <a:close/>
                <a:moveTo>
                  <a:pt x="187" y="68"/>
                </a:moveTo>
                <a:lnTo>
                  <a:pt x="186" y="68"/>
                </a:lnTo>
                <a:lnTo>
                  <a:pt x="186" y="69"/>
                </a:lnTo>
                <a:lnTo>
                  <a:pt x="183" y="87"/>
                </a:lnTo>
                <a:lnTo>
                  <a:pt x="175" y="105"/>
                </a:lnTo>
                <a:lnTo>
                  <a:pt x="175" y="106"/>
                </a:lnTo>
                <a:lnTo>
                  <a:pt x="175" y="108"/>
                </a:lnTo>
                <a:lnTo>
                  <a:pt x="177" y="109"/>
                </a:lnTo>
                <a:lnTo>
                  <a:pt x="186" y="113"/>
                </a:lnTo>
                <a:lnTo>
                  <a:pt x="195" y="117"/>
                </a:lnTo>
                <a:lnTo>
                  <a:pt x="196" y="117"/>
                </a:lnTo>
                <a:lnTo>
                  <a:pt x="197" y="115"/>
                </a:lnTo>
                <a:lnTo>
                  <a:pt x="197" y="114"/>
                </a:lnTo>
                <a:lnTo>
                  <a:pt x="196" y="90"/>
                </a:lnTo>
                <a:lnTo>
                  <a:pt x="187" y="68"/>
                </a:lnTo>
                <a:lnTo>
                  <a:pt x="187" y="68"/>
                </a:lnTo>
                <a:close/>
                <a:moveTo>
                  <a:pt x="108" y="55"/>
                </a:moveTo>
                <a:lnTo>
                  <a:pt x="106" y="55"/>
                </a:lnTo>
                <a:lnTo>
                  <a:pt x="82" y="74"/>
                </a:lnTo>
                <a:lnTo>
                  <a:pt x="82" y="76"/>
                </a:lnTo>
                <a:lnTo>
                  <a:pt x="82" y="77"/>
                </a:lnTo>
                <a:lnTo>
                  <a:pt x="82" y="77"/>
                </a:lnTo>
                <a:lnTo>
                  <a:pt x="82" y="78"/>
                </a:lnTo>
                <a:lnTo>
                  <a:pt x="108" y="103"/>
                </a:lnTo>
                <a:lnTo>
                  <a:pt x="109" y="104"/>
                </a:lnTo>
                <a:lnTo>
                  <a:pt x="110" y="104"/>
                </a:lnTo>
                <a:lnTo>
                  <a:pt x="112" y="103"/>
                </a:lnTo>
                <a:lnTo>
                  <a:pt x="129" y="85"/>
                </a:lnTo>
                <a:lnTo>
                  <a:pt x="131" y="83"/>
                </a:lnTo>
                <a:lnTo>
                  <a:pt x="131" y="82"/>
                </a:lnTo>
                <a:lnTo>
                  <a:pt x="129" y="81"/>
                </a:lnTo>
                <a:lnTo>
                  <a:pt x="110" y="57"/>
                </a:lnTo>
                <a:lnTo>
                  <a:pt x="109" y="55"/>
                </a:lnTo>
                <a:lnTo>
                  <a:pt x="108" y="55"/>
                </a:lnTo>
                <a:close/>
                <a:moveTo>
                  <a:pt x="174" y="51"/>
                </a:moveTo>
                <a:lnTo>
                  <a:pt x="173" y="51"/>
                </a:lnTo>
                <a:lnTo>
                  <a:pt x="172" y="53"/>
                </a:lnTo>
                <a:lnTo>
                  <a:pt x="143" y="81"/>
                </a:lnTo>
                <a:lnTo>
                  <a:pt x="142" y="83"/>
                </a:lnTo>
                <a:lnTo>
                  <a:pt x="145" y="86"/>
                </a:lnTo>
                <a:lnTo>
                  <a:pt x="150" y="91"/>
                </a:lnTo>
                <a:lnTo>
                  <a:pt x="156" y="96"/>
                </a:lnTo>
                <a:lnTo>
                  <a:pt x="161" y="100"/>
                </a:lnTo>
                <a:lnTo>
                  <a:pt x="165" y="103"/>
                </a:lnTo>
                <a:lnTo>
                  <a:pt x="166" y="103"/>
                </a:lnTo>
                <a:lnTo>
                  <a:pt x="169" y="103"/>
                </a:lnTo>
                <a:lnTo>
                  <a:pt x="170" y="101"/>
                </a:lnTo>
                <a:lnTo>
                  <a:pt x="174" y="90"/>
                </a:lnTo>
                <a:lnTo>
                  <a:pt x="178" y="77"/>
                </a:lnTo>
                <a:lnTo>
                  <a:pt x="179" y="64"/>
                </a:lnTo>
                <a:lnTo>
                  <a:pt x="177" y="53"/>
                </a:lnTo>
                <a:lnTo>
                  <a:pt x="175" y="53"/>
                </a:lnTo>
                <a:lnTo>
                  <a:pt x="174" y="51"/>
                </a:lnTo>
                <a:close/>
                <a:moveTo>
                  <a:pt x="45" y="51"/>
                </a:moveTo>
                <a:lnTo>
                  <a:pt x="44" y="51"/>
                </a:lnTo>
                <a:lnTo>
                  <a:pt x="43" y="51"/>
                </a:lnTo>
                <a:lnTo>
                  <a:pt x="30" y="72"/>
                </a:lnTo>
                <a:lnTo>
                  <a:pt x="22" y="94"/>
                </a:lnTo>
                <a:lnTo>
                  <a:pt x="22" y="95"/>
                </a:lnTo>
                <a:lnTo>
                  <a:pt x="25" y="96"/>
                </a:lnTo>
                <a:lnTo>
                  <a:pt x="45" y="105"/>
                </a:lnTo>
                <a:lnTo>
                  <a:pt x="48" y="105"/>
                </a:lnTo>
                <a:lnTo>
                  <a:pt x="49" y="104"/>
                </a:lnTo>
                <a:lnTo>
                  <a:pt x="69" y="78"/>
                </a:lnTo>
                <a:lnTo>
                  <a:pt x="69" y="77"/>
                </a:lnTo>
                <a:lnTo>
                  <a:pt x="69" y="76"/>
                </a:lnTo>
                <a:lnTo>
                  <a:pt x="69" y="74"/>
                </a:lnTo>
                <a:lnTo>
                  <a:pt x="46" y="51"/>
                </a:lnTo>
                <a:lnTo>
                  <a:pt x="45" y="51"/>
                </a:lnTo>
                <a:close/>
                <a:moveTo>
                  <a:pt x="184" y="41"/>
                </a:moveTo>
                <a:lnTo>
                  <a:pt x="183" y="41"/>
                </a:lnTo>
                <a:lnTo>
                  <a:pt x="182" y="43"/>
                </a:lnTo>
                <a:lnTo>
                  <a:pt x="181" y="43"/>
                </a:lnTo>
                <a:lnTo>
                  <a:pt x="181" y="45"/>
                </a:lnTo>
                <a:lnTo>
                  <a:pt x="181" y="48"/>
                </a:lnTo>
                <a:lnTo>
                  <a:pt x="195" y="67"/>
                </a:lnTo>
                <a:lnTo>
                  <a:pt x="202" y="89"/>
                </a:lnTo>
                <a:lnTo>
                  <a:pt x="205" y="112"/>
                </a:lnTo>
                <a:lnTo>
                  <a:pt x="201" y="135"/>
                </a:lnTo>
                <a:lnTo>
                  <a:pt x="192" y="158"/>
                </a:lnTo>
                <a:lnTo>
                  <a:pt x="177" y="177"/>
                </a:lnTo>
                <a:lnTo>
                  <a:pt x="158" y="192"/>
                </a:lnTo>
                <a:lnTo>
                  <a:pt x="136" y="201"/>
                </a:lnTo>
                <a:lnTo>
                  <a:pt x="112" y="205"/>
                </a:lnTo>
                <a:lnTo>
                  <a:pt x="89" y="203"/>
                </a:lnTo>
                <a:lnTo>
                  <a:pt x="67" y="195"/>
                </a:lnTo>
                <a:lnTo>
                  <a:pt x="46" y="182"/>
                </a:lnTo>
                <a:lnTo>
                  <a:pt x="44" y="181"/>
                </a:lnTo>
                <a:lnTo>
                  <a:pt x="43" y="182"/>
                </a:lnTo>
                <a:lnTo>
                  <a:pt x="41" y="183"/>
                </a:lnTo>
                <a:lnTo>
                  <a:pt x="41" y="183"/>
                </a:lnTo>
                <a:lnTo>
                  <a:pt x="40" y="184"/>
                </a:lnTo>
                <a:lnTo>
                  <a:pt x="41" y="186"/>
                </a:lnTo>
                <a:lnTo>
                  <a:pt x="41" y="187"/>
                </a:lnTo>
                <a:lnTo>
                  <a:pt x="63" y="201"/>
                </a:lnTo>
                <a:lnTo>
                  <a:pt x="87" y="210"/>
                </a:lnTo>
                <a:lnTo>
                  <a:pt x="113" y="212"/>
                </a:lnTo>
                <a:lnTo>
                  <a:pt x="137" y="209"/>
                </a:lnTo>
                <a:lnTo>
                  <a:pt x="160" y="198"/>
                </a:lnTo>
                <a:lnTo>
                  <a:pt x="182" y="182"/>
                </a:lnTo>
                <a:lnTo>
                  <a:pt x="198" y="161"/>
                </a:lnTo>
                <a:lnTo>
                  <a:pt x="207" y="138"/>
                </a:lnTo>
                <a:lnTo>
                  <a:pt x="211" y="113"/>
                </a:lnTo>
                <a:lnTo>
                  <a:pt x="209" y="89"/>
                </a:lnTo>
                <a:lnTo>
                  <a:pt x="201" y="64"/>
                </a:lnTo>
                <a:lnTo>
                  <a:pt x="186" y="43"/>
                </a:lnTo>
                <a:lnTo>
                  <a:pt x="186" y="41"/>
                </a:lnTo>
                <a:lnTo>
                  <a:pt x="184" y="41"/>
                </a:lnTo>
                <a:close/>
                <a:moveTo>
                  <a:pt x="155" y="40"/>
                </a:moveTo>
                <a:lnTo>
                  <a:pt x="142" y="41"/>
                </a:lnTo>
                <a:lnTo>
                  <a:pt x="129" y="45"/>
                </a:lnTo>
                <a:lnTo>
                  <a:pt x="118" y="49"/>
                </a:lnTo>
                <a:lnTo>
                  <a:pt x="117" y="50"/>
                </a:lnTo>
                <a:lnTo>
                  <a:pt x="117" y="53"/>
                </a:lnTo>
                <a:lnTo>
                  <a:pt x="117" y="54"/>
                </a:lnTo>
                <a:lnTo>
                  <a:pt x="135" y="76"/>
                </a:lnTo>
                <a:lnTo>
                  <a:pt x="136" y="77"/>
                </a:lnTo>
                <a:lnTo>
                  <a:pt x="137" y="77"/>
                </a:lnTo>
                <a:lnTo>
                  <a:pt x="138" y="76"/>
                </a:lnTo>
                <a:lnTo>
                  <a:pt x="166" y="48"/>
                </a:lnTo>
                <a:lnTo>
                  <a:pt x="168" y="46"/>
                </a:lnTo>
                <a:lnTo>
                  <a:pt x="168" y="45"/>
                </a:lnTo>
                <a:lnTo>
                  <a:pt x="166" y="44"/>
                </a:lnTo>
                <a:lnTo>
                  <a:pt x="166" y="43"/>
                </a:lnTo>
                <a:lnTo>
                  <a:pt x="155" y="40"/>
                </a:lnTo>
                <a:close/>
                <a:moveTo>
                  <a:pt x="92" y="23"/>
                </a:moveTo>
                <a:lnTo>
                  <a:pt x="71" y="30"/>
                </a:lnTo>
                <a:lnTo>
                  <a:pt x="52" y="43"/>
                </a:lnTo>
                <a:lnTo>
                  <a:pt x="50" y="44"/>
                </a:lnTo>
                <a:lnTo>
                  <a:pt x="50" y="46"/>
                </a:lnTo>
                <a:lnTo>
                  <a:pt x="52" y="48"/>
                </a:lnTo>
                <a:lnTo>
                  <a:pt x="73" y="69"/>
                </a:lnTo>
                <a:lnTo>
                  <a:pt x="75" y="71"/>
                </a:lnTo>
                <a:lnTo>
                  <a:pt x="77" y="71"/>
                </a:lnTo>
                <a:lnTo>
                  <a:pt x="78" y="69"/>
                </a:lnTo>
                <a:lnTo>
                  <a:pt x="104" y="50"/>
                </a:lnTo>
                <a:lnTo>
                  <a:pt x="105" y="48"/>
                </a:lnTo>
                <a:lnTo>
                  <a:pt x="105" y="46"/>
                </a:lnTo>
                <a:lnTo>
                  <a:pt x="96" y="25"/>
                </a:lnTo>
                <a:lnTo>
                  <a:pt x="95" y="23"/>
                </a:lnTo>
                <a:lnTo>
                  <a:pt x="92" y="23"/>
                </a:lnTo>
                <a:close/>
                <a:moveTo>
                  <a:pt x="105" y="22"/>
                </a:moveTo>
                <a:lnTo>
                  <a:pt x="104" y="22"/>
                </a:lnTo>
                <a:lnTo>
                  <a:pt x="103" y="23"/>
                </a:lnTo>
                <a:lnTo>
                  <a:pt x="103" y="25"/>
                </a:lnTo>
                <a:lnTo>
                  <a:pt x="106" y="34"/>
                </a:lnTo>
                <a:lnTo>
                  <a:pt x="110" y="43"/>
                </a:lnTo>
                <a:lnTo>
                  <a:pt x="112" y="44"/>
                </a:lnTo>
                <a:lnTo>
                  <a:pt x="113" y="44"/>
                </a:lnTo>
                <a:lnTo>
                  <a:pt x="114" y="44"/>
                </a:lnTo>
                <a:lnTo>
                  <a:pt x="132" y="36"/>
                </a:lnTo>
                <a:lnTo>
                  <a:pt x="150" y="34"/>
                </a:lnTo>
                <a:lnTo>
                  <a:pt x="151" y="34"/>
                </a:lnTo>
                <a:lnTo>
                  <a:pt x="151" y="32"/>
                </a:lnTo>
                <a:lnTo>
                  <a:pt x="151" y="32"/>
                </a:lnTo>
                <a:lnTo>
                  <a:pt x="129" y="23"/>
                </a:lnTo>
                <a:lnTo>
                  <a:pt x="105" y="22"/>
                </a:lnTo>
                <a:close/>
                <a:moveTo>
                  <a:pt x="198" y="0"/>
                </a:moveTo>
                <a:lnTo>
                  <a:pt x="207" y="0"/>
                </a:lnTo>
                <a:lnTo>
                  <a:pt x="214" y="6"/>
                </a:lnTo>
                <a:lnTo>
                  <a:pt x="219" y="12"/>
                </a:lnTo>
                <a:lnTo>
                  <a:pt x="219" y="21"/>
                </a:lnTo>
                <a:lnTo>
                  <a:pt x="214" y="27"/>
                </a:lnTo>
                <a:lnTo>
                  <a:pt x="210" y="31"/>
                </a:lnTo>
                <a:lnTo>
                  <a:pt x="206" y="32"/>
                </a:lnTo>
                <a:lnTo>
                  <a:pt x="201" y="32"/>
                </a:lnTo>
                <a:lnTo>
                  <a:pt x="196" y="31"/>
                </a:lnTo>
                <a:lnTo>
                  <a:pt x="195" y="30"/>
                </a:lnTo>
                <a:lnTo>
                  <a:pt x="193" y="31"/>
                </a:lnTo>
                <a:lnTo>
                  <a:pt x="191" y="34"/>
                </a:lnTo>
                <a:lnTo>
                  <a:pt x="189" y="35"/>
                </a:lnTo>
                <a:lnTo>
                  <a:pt x="191" y="37"/>
                </a:lnTo>
                <a:lnTo>
                  <a:pt x="205" y="57"/>
                </a:lnTo>
                <a:lnTo>
                  <a:pt x="214" y="78"/>
                </a:lnTo>
                <a:lnTo>
                  <a:pt x="219" y="101"/>
                </a:lnTo>
                <a:lnTo>
                  <a:pt x="218" y="124"/>
                </a:lnTo>
                <a:lnTo>
                  <a:pt x="212" y="147"/>
                </a:lnTo>
                <a:lnTo>
                  <a:pt x="202" y="168"/>
                </a:lnTo>
                <a:lnTo>
                  <a:pt x="187" y="187"/>
                </a:lnTo>
                <a:lnTo>
                  <a:pt x="165" y="203"/>
                </a:lnTo>
                <a:lnTo>
                  <a:pt x="142" y="214"/>
                </a:lnTo>
                <a:lnTo>
                  <a:pt x="118" y="219"/>
                </a:lnTo>
                <a:lnTo>
                  <a:pt x="115" y="220"/>
                </a:lnTo>
                <a:lnTo>
                  <a:pt x="115" y="221"/>
                </a:lnTo>
                <a:lnTo>
                  <a:pt x="115" y="225"/>
                </a:lnTo>
                <a:lnTo>
                  <a:pt x="115" y="228"/>
                </a:lnTo>
                <a:lnTo>
                  <a:pt x="117" y="228"/>
                </a:lnTo>
                <a:lnTo>
                  <a:pt x="123" y="234"/>
                </a:lnTo>
                <a:lnTo>
                  <a:pt x="126" y="243"/>
                </a:lnTo>
                <a:lnTo>
                  <a:pt x="123" y="251"/>
                </a:lnTo>
                <a:lnTo>
                  <a:pt x="117" y="257"/>
                </a:lnTo>
                <a:lnTo>
                  <a:pt x="115" y="257"/>
                </a:lnTo>
                <a:lnTo>
                  <a:pt x="115" y="260"/>
                </a:lnTo>
                <a:lnTo>
                  <a:pt x="115" y="264"/>
                </a:lnTo>
                <a:lnTo>
                  <a:pt x="115" y="265"/>
                </a:lnTo>
                <a:lnTo>
                  <a:pt x="118" y="266"/>
                </a:lnTo>
                <a:lnTo>
                  <a:pt x="141" y="269"/>
                </a:lnTo>
                <a:lnTo>
                  <a:pt x="164" y="275"/>
                </a:lnTo>
                <a:lnTo>
                  <a:pt x="184" y="285"/>
                </a:lnTo>
                <a:lnTo>
                  <a:pt x="186" y="287"/>
                </a:lnTo>
                <a:lnTo>
                  <a:pt x="186" y="288"/>
                </a:lnTo>
                <a:lnTo>
                  <a:pt x="184" y="290"/>
                </a:lnTo>
                <a:lnTo>
                  <a:pt x="183" y="290"/>
                </a:lnTo>
                <a:lnTo>
                  <a:pt x="35" y="290"/>
                </a:lnTo>
                <a:lnTo>
                  <a:pt x="34" y="290"/>
                </a:lnTo>
                <a:lnTo>
                  <a:pt x="32" y="288"/>
                </a:lnTo>
                <a:lnTo>
                  <a:pt x="32" y="287"/>
                </a:lnTo>
                <a:lnTo>
                  <a:pt x="34" y="285"/>
                </a:lnTo>
                <a:lnTo>
                  <a:pt x="55" y="275"/>
                </a:lnTo>
                <a:lnTo>
                  <a:pt x="77" y="269"/>
                </a:lnTo>
                <a:lnTo>
                  <a:pt x="100" y="266"/>
                </a:lnTo>
                <a:lnTo>
                  <a:pt x="103" y="265"/>
                </a:lnTo>
                <a:lnTo>
                  <a:pt x="104" y="264"/>
                </a:lnTo>
                <a:lnTo>
                  <a:pt x="104" y="260"/>
                </a:lnTo>
                <a:lnTo>
                  <a:pt x="103" y="257"/>
                </a:lnTo>
                <a:lnTo>
                  <a:pt x="101" y="257"/>
                </a:lnTo>
                <a:lnTo>
                  <a:pt x="95" y="251"/>
                </a:lnTo>
                <a:lnTo>
                  <a:pt x="94" y="243"/>
                </a:lnTo>
                <a:lnTo>
                  <a:pt x="95" y="234"/>
                </a:lnTo>
                <a:lnTo>
                  <a:pt x="101" y="228"/>
                </a:lnTo>
                <a:lnTo>
                  <a:pt x="103" y="228"/>
                </a:lnTo>
                <a:lnTo>
                  <a:pt x="104" y="225"/>
                </a:lnTo>
                <a:lnTo>
                  <a:pt x="104" y="221"/>
                </a:lnTo>
                <a:lnTo>
                  <a:pt x="103" y="220"/>
                </a:lnTo>
                <a:lnTo>
                  <a:pt x="101" y="219"/>
                </a:lnTo>
                <a:lnTo>
                  <a:pt x="78" y="215"/>
                </a:lnTo>
                <a:lnTo>
                  <a:pt x="57" y="206"/>
                </a:lnTo>
                <a:lnTo>
                  <a:pt x="36" y="192"/>
                </a:lnTo>
                <a:lnTo>
                  <a:pt x="35" y="191"/>
                </a:lnTo>
                <a:lnTo>
                  <a:pt x="32" y="192"/>
                </a:lnTo>
                <a:lnTo>
                  <a:pt x="30" y="193"/>
                </a:lnTo>
                <a:lnTo>
                  <a:pt x="30" y="196"/>
                </a:lnTo>
                <a:lnTo>
                  <a:pt x="30" y="197"/>
                </a:lnTo>
                <a:lnTo>
                  <a:pt x="31" y="202"/>
                </a:lnTo>
                <a:lnTo>
                  <a:pt x="31" y="206"/>
                </a:lnTo>
                <a:lnTo>
                  <a:pt x="30" y="211"/>
                </a:lnTo>
                <a:lnTo>
                  <a:pt x="27" y="215"/>
                </a:lnTo>
                <a:lnTo>
                  <a:pt x="20" y="219"/>
                </a:lnTo>
                <a:lnTo>
                  <a:pt x="12" y="219"/>
                </a:lnTo>
                <a:lnTo>
                  <a:pt x="4" y="215"/>
                </a:lnTo>
                <a:lnTo>
                  <a:pt x="0" y="207"/>
                </a:lnTo>
                <a:lnTo>
                  <a:pt x="0" y="200"/>
                </a:lnTo>
                <a:lnTo>
                  <a:pt x="4" y="192"/>
                </a:lnTo>
                <a:lnTo>
                  <a:pt x="8" y="189"/>
                </a:lnTo>
                <a:lnTo>
                  <a:pt x="13" y="188"/>
                </a:lnTo>
                <a:lnTo>
                  <a:pt x="17" y="188"/>
                </a:lnTo>
                <a:lnTo>
                  <a:pt x="22" y="189"/>
                </a:lnTo>
                <a:lnTo>
                  <a:pt x="23" y="189"/>
                </a:lnTo>
                <a:lnTo>
                  <a:pt x="26" y="189"/>
                </a:lnTo>
                <a:lnTo>
                  <a:pt x="37" y="177"/>
                </a:lnTo>
                <a:lnTo>
                  <a:pt x="39" y="175"/>
                </a:lnTo>
                <a:lnTo>
                  <a:pt x="37" y="173"/>
                </a:lnTo>
                <a:lnTo>
                  <a:pt x="25" y="152"/>
                </a:lnTo>
                <a:lnTo>
                  <a:pt x="16" y="131"/>
                </a:lnTo>
                <a:lnTo>
                  <a:pt x="14" y="108"/>
                </a:lnTo>
                <a:lnTo>
                  <a:pt x="18" y="83"/>
                </a:lnTo>
                <a:lnTo>
                  <a:pt x="27" y="62"/>
                </a:lnTo>
                <a:lnTo>
                  <a:pt x="43" y="43"/>
                </a:lnTo>
                <a:lnTo>
                  <a:pt x="62" y="27"/>
                </a:lnTo>
                <a:lnTo>
                  <a:pt x="85" y="18"/>
                </a:lnTo>
                <a:lnTo>
                  <a:pt x="108" y="14"/>
                </a:lnTo>
                <a:lnTo>
                  <a:pt x="131" y="17"/>
                </a:lnTo>
                <a:lnTo>
                  <a:pt x="152" y="25"/>
                </a:lnTo>
                <a:lnTo>
                  <a:pt x="172" y="39"/>
                </a:lnTo>
                <a:lnTo>
                  <a:pt x="174" y="39"/>
                </a:lnTo>
                <a:lnTo>
                  <a:pt x="177" y="39"/>
                </a:lnTo>
                <a:lnTo>
                  <a:pt x="188" y="26"/>
                </a:lnTo>
                <a:lnTo>
                  <a:pt x="189" y="25"/>
                </a:lnTo>
                <a:lnTo>
                  <a:pt x="188" y="23"/>
                </a:lnTo>
                <a:lnTo>
                  <a:pt x="187" y="18"/>
                </a:lnTo>
                <a:lnTo>
                  <a:pt x="187" y="13"/>
                </a:lnTo>
                <a:lnTo>
                  <a:pt x="188" y="9"/>
                </a:lnTo>
                <a:lnTo>
                  <a:pt x="192" y="6"/>
                </a:lnTo>
                <a:lnTo>
                  <a:pt x="198" y="0"/>
                </a:lnTo>
                <a:close/>
              </a:path>
            </a:pathLst>
          </a:custGeom>
          <a:solidFill>
            <a:schemeClr val="bg1">
              <a:alpha val="10000"/>
            </a:schemeClr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" name="图片 1" descr="傲梦LOGO蓝蓝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9966960" y="189230"/>
            <a:ext cx="1746885" cy="493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02670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标题幻灯片">
    <p:bg>
      <p:bgPr>
        <a:gradFill flip="none" rotWithShape="1">
          <a:gsLst>
            <a:gs pos="0">
              <a:schemeClr val="accent4">
                <a:lumMod val="89000"/>
              </a:schemeClr>
            </a:gs>
            <a:gs pos="23000">
              <a:schemeClr val="accent4">
                <a:lumMod val="89000"/>
              </a:schemeClr>
            </a:gs>
            <a:gs pos="69000">
              <a:schemeClr val="accent4">
                <a:lumMod val="75000"/>
              </a:schemeClr>
            </a:gs>
            <a:gs pos="97000">
              <a:schemeClr val="accent4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傲梦LOGO蓝蓝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9966960" y="189230"/>
            <a:ext cx="1746885" cy="493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36590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标题幻灯片">
    <p:bg>
      <p:bgPr>
        <a:gradFill flip="none" rotWithShape="1">
          <a:gsLst>
            <a:gs pos="0">
              <a:schemeClr val="accent4">
                <a:lumMod val="89000"/>
              </a:schemeClr>
            </a:gs>
            <a:gs pos="23000">
              <a:schemeClr val="accent4">
                <a:lumMod val="89000"/>
              </a:schemeClr>
            </a:gs>
            <a:gs pos="69000">
              <a:schemeClr val="accent4">
                <a:lumMod val="75000"/>
              </a:schemeClr>
            </a:gs>
            <a:gs pos="97000">
              <a:schemeClr val="accent4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 77"/>
          <p:cNvSpPr>
            <a:spLocks noEditPoints="1"/>
          </p:cNvSpPr>
          <p:nvPr userDrawn="1"/>
        </p:nvSpPr>
        <p:spPr bwMode="auto">
          <a:xfrm rot="20644514">
            <a:off x="1047441" y="681857"/>
            <a:ext cx="1042017" cy="802702"/>
          </a:xfrm>
          <a:custGeom>
            <a:avLst/>
            <a:gdLst/>
            <a:ahLst/>
            <a:cxnLst>
              <a:cxn ang="0">
                <a:pos x="402" y="8"/>
              </a:cxn>
              <a:cxn ang="0">
                <a:pos x="402" y="6"/>
              </a:cxn>
              <a:cxn ang="0">
                <a:pos x="398" y="2"/>
              </a:cxn>
              <a:cxn ang="0">
                <a:pos x="242" y="0"/>
              </a:cxn>
              <a:cxn ang="0">
                <a:pos x="232" y="2"/>
              </a:cxn>
              <a:cxn ang="0">
                <a:pos x="216" y="10"/>
              </a:cxn>
              <a:cxn ang="0">
                <a:pos x="210" y="18"/>
              </a:cxn>
              <a:cxn ang="0">
                <a:pos x="210" y="18"/>
              </a:cxn>
              <a:cxn ang="0">
                <a:pos x="196" y="6"/>
              </a:cxn>
              <a:cxn ang="0">
                <a:pos x="178" y="0"/>
              </a:cxn>
              <a:cxn ang="0">
                <a:pos x="26" y="0"/>
              </a:cxn>
              <a:cxn ang="0">
                <a:pos x="20" y="4"/>
              </a:cxn>
              <a:cxn ang="0">
                <a:pos x="16" y="8"/>
              </a:cxn>
              <a:cxn ang="0">
                <a:pos x="0" y="34"/>
              </a:cxn>
              <a:cxn ang="0">
                <a:pos x="174" y="306"/>
              </a:cxn>
              <a:cxn ang="0">
                <a:pos x="182" y="314"/>
              </a:cxn>
              <a:cxn ang="0">
                <a:pos x="200" y="322"/>
              </a:cxn>
              <a:cxn ang="0">
                <a:pos x="210" y="322"/>
              </a:cxn>
              <a:cxn ang="0">
                <a:pos x="230" y="318"/>
              </a:cxn>
              <a:cxn ang="0">
                <a:pos x="246" y="306"/>
              </a:cxn>
              <a:cxn ang="0">
                <a:pos x="418" y="34"/>
              </a:cxn>
              <a:cxn ang="0">
                <a:pos x="34" y="18"/>
              </a:cxn>
              <a:cxn ang="0">
                <a:pos x="178" y="18"/>
              </a:cxn>
              <a:cxn ang="0">
                <a:pos x="194" y="24"/>
              </a:cxn>
              <a:cxn ang="0">
                <a:pos x="202" y="42"/>
              </a:cxn>
              <a:cxn ang="0">
                <a:pos x="202" y="194"/>
              </a:cxn>
              <a:cxn ang="0">
                <a:pos x="204" y="200"/>
              </a:cxn>
              <a:cxn ang="0">
                <a:pos x="210" y="202"/>
              </a:cxn>
              <a:cxn ang="0">
                <a:pos x="212" y="202"/>
              </a:cxn>
              <a:cxn ang="0">
                <a:pos x="218" y="198"/>
              </a:cxn>
              <a:cxn ang="0">
                <a:pos x="218" y="42"/>
              </a:cxn>
              <a:cxn ang="0">
                <a:pos x="220" y="32"/>
              </a:cxn>
              <a:cxn ang="0">
                <a:pos x="232" y="18"/>
              </a:cxn>
              <a:cxn ang="0">
                <a:pos x="386" y="18"/>
              </a:cxn>
              <a:cxn ang="0">
                <a:pos x="242" y="274"/>
              </a:cxn>
              <a:cxn ang="0">
                <a:pos x="232" y="276"/>
              </a:cxn>
              <a:cxn ang="0">
                <a:pos x="216" y="284"/>
              </a:cxn>
              <a:cxn ang="0">
                <a:pos x="210" y="290"/>
              </a:cxn>
              <a:cxn ang="0">
                <a:pos x="210" y="290"/>
              </a:cxn>
              <a:cxn ang="0">
                <a:pos x="196" y="278"/>
              </a:cxn>
              <a:cxn ang="0">
                <a:pos x="178" y="274"/>
              </a:cxn>
              <a:cxn ang="0">
                <a:pos x="34" y="18"/>
              </a:cxn>
            </a:cxnLst>
            <a:rect l="0" t="0" r="r" b="b"/>
            <a:pathLst>
              <a:path w="418" h="322">
                <a:moveTo>
                  <a:pt x="402" y="34"/>
                </a:moveTo>
                <a:lnTo>
                  <a:pt x="402" y="8"/>
                </a:lnTo>
                <a:lnTo>
                  <a:pt x="402" y="8"/>
                </a:lnTo>
                <a:lnTo>
                  <a:pt x="402" y="6"/>
                </a:lnTo>
                <a:lnTo>
                  <a:pt x="400" y="4"/>
                </a:lnTo>
                <a:lnTo>
                  <a:pt x="398" y="2"/>
                </a:lnTo>
                <a:lnTo>
                  <a:pt x="394" y="0"/>
                </a:lnTo>
                <a:lnTo>
                  <a:pt x="242" y="0"/>
                </a:lnTo>
                <a:lnTo>
                  <a:pt x="242" y="0"/>
                </a:lnTo>
                <a:lnTo>
                  <a:pt x="232" y="2"/>
                </a:lnTo>
                <a:lnTo>
                  <a:pt x="224" y="6"/>
                </a:lnTo>
                <a:lnTo>
                  <a:pt x="216" y="10"/>
                </a:lnTo>
                <a:lnTo>
                  <a:pt x="210" y="18"/>
                </a:lnTo>
                <a:lnTo>
                  <a:pt x="210" y="18"/>
                </a:lnTo>
                <a:lnTo>
                  <a:pt x="210" y="18"/>
                </a:lnTo>
                <a:lnTo>
                  <a:pt x="210" y="18"/>
                </a:lnTo>
                <a:lnTo>
                  <a:pt x="204" y="10"/>
                </a:lnTo>
                <a:lnTo>
                  <a:pt x="196" y="6"/>
                </a:lnTo>
                <a:lnTo>
                  <a:pt x="188" y="2"/>
                </a:lnTo>
                <a:lnTo>
                  <a:pt x="178" y="0"/>
                </a:lnTo>
                <a:lnTo>
                  <a:pt x="26" y="0"/>
                </a:lnTo>
                <a:lnTo>
                  <a:pt x="26" y="0"/>
                </a:lnTo>
                <a:lnTo>
                  <a:pt x="22" y="2"/>
                </a:lnTo>
                <a:lnTo>
                  <a:pt x="20" y="4"/>
                </a:lnTo>
                <a:lnTo>
                  <a:pt x="18" y="6"/>
                </a:lnTo>
                <a:lnTo>
                  <a:pt x="16" y="8"/>
                </a:lnTo>
                <a:lnTo>
                  <a:pt x="16" y="34"/>
                </a:lnTo>
                <a:lnTo>
                  <a:pt x="0" y="34"/>
                </a:lnTo>
                <a:lnTo>
                  <a:pt x="0" y="306"/>
                </a:lnTo>
                <a:lnTo>
                  <a:pt x="174" y="306"/>
                </a:lnTo>
                <a:lnTo>
                  <a:pt x="174" y="306"/>
                </a:lnTo>
                <a:lnTo>
                  <a:pt x="182" y="314"/>
                </a:lnTo>
                <a:lnTo>
                  <a:pt x="190" y="318"/>
                </a:lnTo>
                <a:lnTo>
                  <a:pt x="200" y="322"/>
                </a:lnTo>
                <a:lnTo>
                  <a:pt x="210" y="322"/>
                </a:lnTo>
                <a:lnTo>
                  <a:pt x="210" y="322"/>
                </a:lnTo>
                <a:lnTo>
                  <a:pt x="220" y="322"/>
                </a:lnTo>
                <a:lnTo>
                  <a:pt x="230" y="318"/>
                </a:lnTo>
                <a:lnTo>
                  <a:pt x="238" y="314"/>
                </a:lnTo>
                <a:lnTo>
                  <a:pt x="246" y="306"/>
                </a:lnTo>
                <a:lnTo>
                  <a:pt x="418" y="306"/>
                </a:lnTo>
                <a:lnTo>
                  <a:pt x="418" y="34"/>
                </a:lnTo>
                <a:lnTo>
                  <a:pt x="402" y="34"/>
                </a:lnTo>
                <a:close/>
                <a:moveTo>
                  <a:pt x="34" y="18"/>
                </a:moveTo>
                <a:lnTo>
                  <a:pt x="178" y="18"/>
                </a:lnTo>
                <a:lnTo>
                  <a:pt x="178" y="18"/>
                </a:lnTo>
                <a:lnTo>
                  <a:pt x="188" y="18"/>
                </a:lnTo>
                <a:lnTo>
                  <a:pt x="194" y="24"/>
                </a:lnTo>
                <a:lnTo>
                  <a:pt x="200" y="32"/>
                </a:lnTo>
                <a:lnTo>
                  <a:pt x="202" y="42"/>
                </a:lnTo>
                <a:lnTo>
                  <a:pt x="202" y="194"/>
                </a:lnTo>
                <a:lnTo>
                  <a:pt x="202" y="194"/>
                </a:lnTo>
                <a:lnTo>
                  <a:pt x="202" y="198"/>
                </a:lnTo>
                <a:lnTo>
                  <a:pt x="204" y="200"/>
                </a:lnTo>
                <a:lnTo>
                  <a:pt x="206" y="202"/>
                </a:lnTo>
                <a:lnTo>
                  <a:pt x="210" y="202"/>
                </a:lnTo>
                <a:lnTo>
                  <a:pt x="210" y="202"/>
                </a:lnTo>
                <a:lnTo>
                  <a:pt x="212" y="202"/>
                </a:lnTo>
                <a:lnTo>
                  <a:pt x="216" y="200"/>
                </a:lnTo>
                <a:lnTo>
                  <a:pt x="218" y="198"/>
                </a:lnTo>
                <a:lnTo>
                  <a:pt x="218" y="194"/>
                </a:lnTo>
                <a:lnTo>
                  <a:pt x="218" y="42"/>
                </a:lnTo>
                <a:lnTo>
                  <a:pt x="218" y="42"/>
                </a:lnTo>
                <a:lnTo>
                  <a:pt x="220" y="32"/>
                </a:lnTo>
                <a:lnTo>
                  <a:pt x="224" y="24"/>
                </a:lnTo>
                <a:lnTo>
                  <a:pt x="232" y="18"/>
                </a:lnTo>
                <a:lnTo>
                  <a:pt x="242" y="18"/>
                </a:lnTo>
                <a:lnTo>
                  <a:pt x="386" y="18"/>
                </a:lnTo>
                <a:lnTo>
                  <a:pt x="386" y="274"/>
                </a:lnTo>
                <a:lnTo>
                  <a:pt x="242" y="274"/>
                </a:lnTo>
                <a:lnTo>
                  <a:pt x="242" y="274"/>
                </a:lnTo>
                <a:lnTo>
                  <a:pt x="232" y="276"/>
                </a:lnTo>
                <a:lnTo>
                  <a:pt x="224" y="278"/>
                </a:lnTo>
                <a:lnTo>
                  <a:pt x="216" y="284"/>
                </a:lnTo>
                <a:lnTo>
                  <a:pt x="210" y="290"/>
                </a:lnTo>
                <a:lnTo>
                  <a:pt x="210" y="290"/>
                </a:lnTo>
                <a:lnTo>
                  <a:pt x="210" y="290"/>
                </a:lnTo>
                <a:lnTo>
                  <a:pt x="210" y="290"/>
                </a:lnTo>
                <a:lnTo>
                  <a:pt x="204" y="284"/>
                </a:lnTo>
                <a:lnTo>
                  <a:pt x="196" y="278"/>
                </a:lnTo>
                <a:lnTo>
                  <a:pt x="188" y="276"/>
                </a:lnTo>
                <a:lnTo>
                  <a:pt x="178" y="274"/>
                </a:lnTo>
                <a:lnTo>
                  <a:pt x="34" y="274"/>
                </a:lnTo>
                <a:lnTo>
                  <a:pt x="34" y="18"/>
                </a:lnTo>
                <a:close/>
              </a:path>
            </a:pathLst>
          </a:custGeom>
          <a:solidFill>
            <a:schemeClr val="bg1">
              <a:alpha val="10000"/>
            </a:schemeClr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Freeform 363"/>
          <p:cNvSpPr>
            <a:spLocks noEditPoints="1"/>
          </p:cNvSpPr>
          <p:nvPr userDrawn="1"/>
        </p:nvSpPr>
        <p:spPr bwMode="auto">
          <a:xfrm rot="1658487">
            <a:off x="6583748" y="312642"/>
            <a:ext cx="773335" cy="770514"/>
          </a:xfrm>
          <a:custGeom>
            <a:avLst/>
            <a:gdLst>
              <a:gd name="T0" fmla="*/ 145 w 274"/>
              <a:gd name="T1" fmla="*/ 262 h 273"/>
              <a:gd name="T2" fmla="*/ 189 w 274"/>
              <a:gd name="T3" fmla="*/ 204 h 273"/>
              <a:gd name="T4" fmla="*/ 263 w 274"/>
              <a:gd name="T5" fmla="*/ 204 h 273"/>
              <a:gd name="T6" fmla="*/ 216 w 274"/>
              <a:gd name="T7" fmla="*/ 217 h 273"/>
              <a:gd name="T8" fmla="*/ 104 w 274"/>
              <a:gd name="T9" fmla="*/ 199 h 273"/>
              <a:gd name="T10" fmla="*/ 55 w 274"/>
              <a:gd name="T11" fmla="*/ 186 h 273"/>
              <a:gd name="T12" fmla="*/ 14 w 274"/>
              <a:gd name="T13" fmla="*/ 168 h 273"/>
              <a:gd name="T14" fmla="*/ 44 w 274"/>
              <a:gd name="T15" fmla="*/ 207 h 273"/>
              <a:gd name="T16" fmla="*/ 45 w 274"/>
              <a:gd name="T17" fmla="*/ 217 h 273"/>
              <a:gd name="T18" fmla="*/ 95 w 274"/>
              <a:gd name="T19" fmla="*/ 254 h 273"/>
              <a:gd name="T20" fmla="*/ 86 w 274"/>
              <a:gd name="T21" fmla="*/ 232 h 273"/>
              <a:gd name="T22" fmla="*/ 114 w 274"/>
              <a:gd name="T23" fmla="*/ 255 h 273"/>
              <a:gd name="T24" fmla="*/ 131 w 274"/>
              <a:gd name="T25" fmla="*/ 196 h 273"/>
              <a:gd name="T26" fmla="*/ 110 w 274"/>
              <a:gd name="T27" fmla="*/ 189 h 273"/>
              <a:gd name="T28" fmla="*/ 132 w 274"/>
              <a:gd name="T29" fmla="*/ 145 h 273"/>
              <a:gd name="T30" fmla="*/ 74 w 274"/>
              <a:gd name="T31" fmla="*/ 145 h 273"/>
              <a:gd name="T32" fmla="*/ 67 w 274"/>
              <a:gd name="T33" fmla="*/ 166 h 273"/>
              <a:gd name="T34" fmla="*/ 205 w 274"/>
              <a:gd name="T35" fmla="*/ 111 h 273"/>
              <a:gd name="T36" fmla="*/ 192 w 274"/>
              <a:gd name="T37" fmla="*/ 159 h 273"/>
              <a:gd name="T38" fmla="*/ 150 w 274"/>
              <a:gd name="T39" fmla="*/ 59 h 273"/>
              <a:gd name="T40" fmla="*/ 114 w 274"/>
              <a:gd name="T41" fmla="*/ 94 h 273"/>
              <a:gd name="T42" fmla="*/ 57 w 274"/>
              <a:gd name="T43" fmla="*/ 42 h 273"/>
              <a:gd name="T44" fmla="*/ 9 w 274"/>
              <a:gd name="T45" fmla="*/ 55 h 273"/>
              <a:gd name="T46" fmla="*/ 178 w 274"/>
              <a:gd name="T47" fmla="*/ 23 h 273"/>
              <a:gd name="T48" fmla="*/ 230 w 274"/>
              <a:gd name="T49" fmla="*/ 57 h 273"/>
              <a:gd name="T50" fmla="*/ 137 w 274"/>
              <a:gd name="T51" fmla="*/ 0 h 273"/>
              <a:gd name="T52" fmla="*/ 271 w 274"/>
              <a:gd name="T53" fmla="*/ 108 h 273"/>
              <a:gd name="T54" fmla="*/ 257 w 274"/>
              <a:gd name="T55" fmla="*/ 189 h 273"/>
              <a:gd name="T56" fmla="*/ 260 w 274"/>
              <a:gd name="T57" fmla="*/ 142 h 273"/>
              <a:gd name="T58" fmla="*/ 238 w 274"/>
              <a:gd name="T59" fmla="*/ 133 h 273"/>
              <a:gd name="T60" fmla="*/ 261 w 274"/>
              <a:gd name="T61" fmla="*/ 105 h 273"/>
              <a:gd name="T62" fmla="*/ 206 w 274"/>
              <a:gd name="T63" fmla="*/ 76 h 273"/>
              <a:gd name="T64" fmla="*/ 206 w 274"/>
              <a:gd name="T65" fmla="*/ 103 h 273"/>
              <a:gd name="T66" fmla="*/ 193 w 274"/>
              <a:gd name="T67" fmla="*/ 82 h 273"/>
              <a:gd name="T68" fmla="*/ 169 w 274"/>
              <a:gd name="T69" fmla="*/ 79 h 273"/>
              <a:gd name="T70" fmla="*/ 189 w 274"/>
              <a:gd name="T71" fmla="*/ 66 h 273"/>
              <a:gd name="T72" fmla="*/ 142 w 274"/>
              <a:gd name="T73" fmla="*/ 13 h 273"/>
              <a:gd name="T74" fmla="*/ 136 w 274"/>
              <a:gd name="T75" fmla="*/ 50 h 273"/>
              <a:gd name="T76" fmla="*/ 127 w 274"/>
              <a:gd name="T77" fmla="*/ 11 h 273"/>
              <a:gd name="T78" fmla="*/ 86 w 274"/>
              <a:gd name="T79" fmla="*/ 71 h 273"/>
              <a:gd name="T80" fmla="*/ 104 w 274"/>
              <a:gd name="T81" fmla="*/ 83 h 273"/>
              <a:gd name="T82" fmla="*/ 76 w 274"/>
              <a:gd name="T83" fmla="*/ 105 h 273"/>
              <a:gd name="T84" fmla="*/ 132 w 274"/>
              <a:gd name="T85" fmla="*/ 130 h 273"/>
              <a:gd name="T86" fmla="*/ 140 w 274"/>
              <a:gd name="T87" fmla="*/ 113 h 273"/>
              <a:gd name="T88" fmla="*/ 146 w 274"/>
              <a:gd name="T89" fmla="*/ 131 h 273"/>
              <a:gd name="T90" fmla="*/ 171 w 274"/>
              <a:gd name="T91" fmla="*/ 140 h 273"/>
              <a:gd name="T92" fmla="*/ 142 w 274"/>
              <a:gd name="T93" fmla="*/ 182 h 273"/>
              <a:gd name="T94" fmla="*/ 193 w 274"/>
              <a:gd name="T95" fmla="*/ 191 h 273"/>
              <a:gd name="T96" fmla="*/ 206 w 274"/>
              <a:gd name="T97" fmla="*/ 170 h 273"/>
              <a:gd name="T98" fmla="*/ 206 w 274"/>
              <a:gd name="T99" fmla="*/ 196 h 273"/>
              <a:gd name="T100" fmla="*/ 209 w 274"/>
              <a:gd name="T101" fmla="*/ 207 h 273"/>
              <a:gd name="T102" fmla="*/ 179 w 274"/>
              <a:gd name="T103" fmla="*/ 249 h 273"/>
              <a:gd name="T104" fmla="*/ 212 w 274"/>
              <a:gd name="T105" fmla="*/ 239 h 273"/>
              <a:gd name="T106" fmla="*/ 219 w 274"/>
              <a:gd name="T107" fmla="*/ 246 h 273"/>
              <a:gd name="T108" fmla="*/ 31 w 274"/>
              <a:gd name="T109" fmla="*/ 222 h 273"/>
              <a:gd name="T110" fmla="*/ 14 w 274"/>
              <a:gd name="T111" fmla="*/ 82 h 273"/>
              <a:gd name="T112" fmla="*/ 11 w 274"/>
              <a:gd name="T113" fmla="*/ 130 h 273"/>
              <a:gd name="T114" fmla="*/ 67 w 274"/>
              <a:gd name="T115" fmla="*/ 103 h 273"/>
              <a:gd name="T116" fmla="*/ 63 w 274"/>
              <a:gd name="T117" fmla="*/ 74 h 273"/>
              <a:gd name="T118" fmla="*/ 72 w 274"/>
              <a:gd name="T119" fmla="*/ 67 h 273"/>
              <a:gd name="T120" fmla="*/ 95 w 274"/>
              <a:gd name="T121" fmla="*/ 19 h 273"/>
              <a:gd name="T122" fmla="*/ 58 w 274"/>
              <a:gd name="T123" fmla="*/ 33 h 273"/>
              <a:gd name="T124" fmla="*/ 109 w 274"/>
              <a:gd name="T125" fmla="*/ 4 h 2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274" h="273">
                <a:moveTo>
                  <a:pt x="146" y="196"/>
                </a:moveTo>
                <a:lnTo>
                  <a:pt x="143" y="196"/>
                </a:lnTo>
                <a:lnTo>
                  <a:pt x="142" y="198"/>
                </a:lnTo>
                <a:lnTo>
                  <a:pt x="142" y="200"/>
                </a:lnTo>
                <a:lnTo>
                  <a:pt x="142" y="258"/>
                </a:lnTo>
                <a:lnTo>
                  <a:pt x="142" y="260"/>
                </a:lnTo>
                <a:lnTo>
                  <a:pt x="145" y="262"/>
                </a:lnTo>
                <a:lnTo>
                  <a:pt x="147" y="262"/>
                </a:lnTo>
                <a:lnTo>
                  <a:pt x="159" y="255"/>
                </a:lnTo>
                <a:lnTo>
                  <a:pt x="169" y="245"/>
                </a:lnTo>
                <a:lnTo>
                  <a:pt x="178" y="234"/>
                </a:lnTo>
                <a:lnTo>
                  <a:pt x="184" y="219"/>
                </a:lnTo>
                <a:lnTo>
                  <a:pt x="189" y="207"/>
                </a:lnTo>
                <a:lnTo>
                  <a:pt x="189" y="204"/>
                </a:lnTo>
                <a:lnTo>
                  <a:pt x="189" y="203"/>
                </a:lnTo>
                <a:lnTo>
                  <a:pt x="187" y="202"/>
                </a:lnTo>
                <a:lnTo>
                  <a:pt x="168" y="198"/>
                </a:lnTo>
                <a:lnTo>
                  <a:pt x="146" y="196"/>
                </a:lnTo>
                <a:close/>
                <a:moveTo>
                  <a:pt x="242" y="191"/>
                </a:moveTo>
                <a:lnTo>
                  <a:pt x="254" y="195"/>
                </a:lnTo>
                <a:lnTo>
                  <a:pt x="263" y="204"/>
                </a:lnTo>
                <a:lnTo>
                  <a:pt x="267" y="217"/>
                </a:lnTo>
                <a:lnTo>
                  <a:pt x="263" y="230"/>
                </a:lnTo>
                <a:lnTo>
                  <a:pt x="254" y="239"/>
                </a:lnTo>
                <a:lnTo>
                  <a:pt x="242" y="242"/>
                </a:lnTo>
                <a:lnTo>
                  <a:pt x="229" y="239"/>
                </a:lnTo>
                <a:lnTo>
                  <a:pt x="219" y="230"/>
                </a:lnTo>
                <a:lnTo>
                  <a:pt x="216" y="217"/>
                </a:lnTo>
                <a:lnTo>
                  <a:pt x="219" y="204"/>
                </a:lnTo>
                <a:lnTo>
                  <a:pt x="229" y="195"/>
                </a:lnTo>
                <a:lnTo>
                  <a:pt x="242" y="191"/>
                </a:lnTo>
                <a:close/>
                <a:moveTo>
                  <a:pt x="78" y="173"/>
                </a:moveTo>
                <a:lnTo>
                  <a:pt x="91" y="177"/>
                </a:lnTo>
                <a:lnTo>
                  <a:pt x="100" y="186"/>
                </a:lnTo>
                <a:lnTo>
                  <a:pt x="104" y="199"/>
                </a:lnTo>
                <a:lnTo>
                  <a:pt x="100" y="212"/>
                </a:lnTo>
                <a:lnTo>
                  <a:pt x="91" y="222"/>
                </a:lnTo>
                <a:lnTo>
                  <a:pt x="78" y="225"/>
                </a:lnTo>
                <a:lnTo>
                  <a:pt x="65" y="222"/>
                </a:lnTo>
                <a:lnTo>
                  <a:pt x="55" y="212"/>
                </a:lnTo>
                <a:lnTo>
                  <a:pt x="53" y="199"/>
                </a:lnTo>
                <a:lnTo>
                  <a:pt x="55" y="186"/>
                </a:lnTo>
                <a:lnTo>
                  <a:pt x="65" y="177"/>
                </a:lnTo>
                <a:lnTo>
                  <a:pt x="78" y="173"/>
                </a:lnTo>
                <a:close/>
                <a:moveTo>
                  <a:pt x="14" y="142"/>
                </a:moveTo>
                <a:lnTo>
                  <a:pt x="12" y="142"/>
                </a:lnTo>
                <a:lnTo>
                  <a:pt x="11" y="144"/>
                </a:lnTo>
                <a:lnTo>
                  <a:pt x="11" y="145"/>
                </a:lnTo>
                <a:lnTo>
                  <a:pt x="14" y="168"/>
                </a:lnTo>
                <a:lnTo>
                  <a:pt x="22" y="189"/>
                </a:lnTo>
                <a:lnTo>
                  <a:pt x="32" y="208"/>
                </a:lnTo>
                <a:lnTo>
                  <a:pt x="34" y="209"/>
                </a:lnTo>
                <a:lnTo>
                  <a:pt x="36" y="211"/>
                </a:lnTo>
                <a:lnTo>
                  <a:pt x="37" y="209"/>
                </a:lnTo>
                <a:lnTo>
                  <a:pt x="42" y="207"/>
                </a:lnTo>
                <a:lnTo>
                  <a:pt x="44" y="207"/>
                </a:lnTo>
                <a:lnTo>
                  <a:pt x="45" y="207"/>
                </a:lnTo>
                <a:lnTo>
                  <a:pt x="46" y="208"/>
                </a:lnTo>
                <a:lnTo>
                  <a:pt x="48" y="211"/>
                </a:lnTo>
                <a:lnTo>
                  <a:pt x="48" y="212"/>
                </a:lnTo>
                <a:lnTo>
                  <a:pt x="48" y="214"/>
                </a:lnTo>
                <a:lnTo>
                  <a:pt x="46" y="216"/>
                </a:lnTo>
                <a:lnTo>
                  <a:pt x="45" y="217"/>
                </a:lnTo>
                <a:lnTo>
                  <a:pt x="42" y="218"/>
                </a:lnTo>
                <a:lnTo>
                  <a:pt x="42" y="221"/>
                </a:lnTo>
                <a:lnTo>
                  <a:pt x="44" y="222"/>
                </a:lnTo>
                <a:lnTo>
                  <a:pt x="65" y="241"/>
                </a:lnTo>
                <a:lnTo>
                  <a:pt x="91" y="255"/>
                </a:lnTo>
                <a:lnTo>
                  <a:pt x="94" y="255"/>
                </a:lnTo>
                <a:lnTo>
                  <a:pt x="95" y="254"/>
                </a:lnTo>
                <a:lnTo>
                  <a:pt x="96" y="253"/>
                </a:lnTo>
                <a:lnTo>
                  <a:pt x="96" y="251"/>
                </a:lnTo>
                <a:lnTo>
                  <a:pt x="95" y="249"/>
                </a:lnTo>
                <a:lnTo>
                  <a:pt x="91" y="242"/>
                </a:lnTo>
                <a:lnTo>
                  <a:pt x="86" y="235"/>
                </a:lnTo>
                <a:lnTo>
                  <a:pt x="86" y="234"/>
                </a:lnTo>
                <a:lnTo>
                  <a:pt x="86" y="232"/>
                </a:lnTo>
                <a:lnTo>
                  <a:pt x="87" y="231"/>
                </a:lnTo>
                <a:lnTo>
                  <a:pt x="90" y="230"/>
                </a:lnTo>
                <a:lnTo>
                  <a:pt x="91" y="228"/>
                </a:lnTo>
                <a:lnTo>
                  <a:pt x="94" y="230"/>
                </a:lnTo>
                <a:lnTo>
                  <a:pt x="95" y="231"/>
                </a:lnTo>
                <a:lnTo>
                  <a:pt x="104" y="244"/>
                </a:lnTo>
                <a:lnTo>
                  <a:pt x="114" y="255"/>
                </a:lnTo>
                <a:lnTo>
                  <a:pt x="127" y="262"/>
                </a:lnTo>
                <a:lnTo>
                  <a:pt x="129" y="262"/>
                </a:lnTo>
                <a:lnTo>
                  <a:pt x="132" y="260"/>
                </a:lnTo>
                <a:lnTo>
                  <a:pt x="132" y="258"/>
                </a:lnTo>
                <a:lnTo>
                  <a:pt x="132" y="200"/>
                </a:lnTo>
                <a:lnTo>
                  <a:pt x="132" y="198"/>
                </a:lnTo>
                <a:lnTo>
                  <a:pt x="131" y="196"/>
                </a:lnTo>
                <a:lnTo>
                  <a:pt x="128" y="196"/>
                </a:lnTo>
                <a:lnTo>
                  <a:pt x="114" y="198"/>
                </a:lnTo>
                <a:lnTo>
                  <a:pt x="111" y="196"/>
                </a:lnTo>
                <a:lnTo>
                  <a:pt x="110" y="195"/>
                </a:lnTo>
                <a:lnTo>
                  <a:pt x="109" y="194"/>
                </a:lnTo>
                <a:lnTo>
                  <a:pt x="109" y="191"/>
                </a:lnTo>
                <a:lnTo>
                  <a:pt x="110" y="189"/>
                </a:lnTo>
                <a:lnTo>
                  <a:pt x="111" y="189"/>
                </a:lnTo>
                <a:lnTo>
                  <a:pt x="113" y="188"/>
                </a:lnTo>
                <a:lnTo>
                  <a:pt x="128" y="186"/>
                </a:lnTo>
                <a:lnTo>
                  <a:pt x="131" y="186"/>
                </a:lnTo>
                <a:lnTo>
                  <a:pt x="132" y="185"/>
                </a:lnTo>
                <a:lnTo>
                  <a:pt x="132" y="182"/>
                </a:lnTo>
                <a:lnTo>
                  <a:pt x="132" y="145"/>
                </a:lnTo>
                <a:lnTo>
                  <a:pt x="132" y="143"/>
                </a:lnTo>
                <a:lnTo>
                  <a:pt x="131" y="142"/>
                </a:lnTo>
                <a:lnTo>
                  <a:pt x="128" y="142"/>
                </a:lnTo>
                <a:lnTo>
                  <a:pt x="78" y="142"/>
                </a:lnTo>
                <a:lnTo>
                  <a:pt x="76" y="142"/>
                </a:lnTo>
                <a:lnTo>
                  <a:pt x="74" y="143"/>
                </a:lnTo>
                <a:lnTo>
                  <a:pt x="74" y="145"/>
                </a:lnTo>
                <a:lnTo>
                  <a:pt x="76" y="163"/>
                </a:lnTo>
                <a:lnTo>
                  <a:pt x="74" y="166"/>
                </a:lnTo>
                <a:lnTo>
                  <a:pt x="73" y="167"/>
                </a:lnTo>
                <a:lnTo>
                  <a:pt x="72" y="168"/>
                </a:lnTo>
                <a:lnTo>
                  <a:pt x="69" y="168"/>
                </a:lnTo>
                <a:lnTo>
                  <a:pt x="68" y="167"/>
                </a:lnTo>
                <a:lnTo>
                  <a:pt x="67" y="166"/>
                </a:lnTo>
                <a:lnTo>
                  <a:pt x="65" y="165"/>
                </a:lnTo>
                <a:lnTo>
                  <a:pt x="64" y="145"/>
                </a:lnTo>
                <a:lnTo>
                  <a:pt x="64" y="143"/>
                </a:lnTo>
                <a:lnTo>
                  <a:pt x="63" y="142"/>
                </a:lnTo>
                <a:lnTo>
                  <a:pt x="60" y="142"/>
                </a:lnTo>
                <a:lnTo>
                  <a:pt x="14" y="142"/>
                </a:lnTo>
                <a:close/>
                <a:moveTo>
                  <a:pt x="205" y="111"/>
                </a:moveTo>
                <a:lnTo>
                  <a:pt x="217" y="115"/>
                </a:lnTo>
                <a:lnTo>
                  <a:pt x="226" y="124"/>
                </a:lnTo>
                <a:lnTo>
                  <a:pt x="230" y="136"/>
                </a:lnTo>
                <a:lnTo>
                  <a:pt x="226" y="149"/>
                </a:lnTo>
                <a:lnTo>
                  <a:pt x="217" y="159"/>
                </a:lnTo>
                <a:lnTo>
                  <a:pt x="205" y="162"/>
                </a:lnTo>
                <a:lnTo>
                  <a:pt x="192" y="159"/>
                </a:lnTo>
                <a:lnTo>
                  <a:pt x="183" y="149"/>
                </a:lnTo>
                <a:lnTo>
                  <a:pt x="179" y="136"/>
                </a:lnTo>
                <a:lnTo>
                  <a:pt x="183" y="124"/>
                </a:lnTo>
                <a:lnTo>
                  <a:pt x="192" y="115"/>
                </a:lnTo>
                <a:lnTo>
                  <a:pt x="205" y="111"/>
                </a:lnTo>
                <a:close/>
                <a:moveTo>
                  <a:pt x="137" y="56"/>
                </a:moveTo>
                <a:lnTo>
                  <a:pt x="150" y="59"/>
                </a:lnTo>
                <a:lnTo>
                  <a:pt x="159" y="69"/>
                </a:lnTo>
                <a:lnTo>
                  <a:pt x="163" y="82"/>
                </a:lnTo>
                <a:lnTo>
                  <a:pt x="159" y="94"/>
                </a:lnTo>
                <a:lnTo>
                  <a:pt x="150" y="103"/>
                </a:lnTo>
                <a:lnTo>
                  <a:pt x="137" y="107"/>
                </a:lnTo>
                <a:lnTo>
                  <a:pt x="124" y="103"/>
                </a:lnTo>
                <a:lnTo>
                  <a:pt x="114" y="94"/>
                </a:lnTo>
                <a:lnTo>
                  <a:pt x="111" y="82"/>
                </a:lnTo>
                <a:lnTo>
                  <a:pt x="114" y="69"/>
                </a:lnTo>
                <a:lnTo>
                  <a:pt x="124" y="59"/>
                </a:lnTo>
                <a:lnTo>
                  <a:pt x="137" y="56"/>
                </a:lnTo>
                <a:close/>
                <a:moveTo>
                  <a:pt x="35" y="29"/>
                </a:moveTo>
                <a:lnTo>
                  <a:pt x="48" y="33"/>
                </a:lnTo>
                <a:lnTo>
                  <a:pt x="57" y="42"/>
                </a:lnTo>
                <a:lnTo>
                  <a:pt x="60" y="55"/>
                </a:lnTo>
                <a:lnTo>
                  <a:pt x="57" y="67"/>
                </a:lnTo>
                <a:lnTo>
                  <a:pt x="48" y="76"/>
                </a:lnTo>
                <a:lnTo>
                  <a:pt x="35" y="80"/>
                </a:lnTo>
                <a:lnTo>
                  <a:pt x="22" y="76"/>
                </a:lnTo>
                <a:lnTo>
                  <a:pt x="13" y="67"/>
                </a:lnTo>
                <a:lnTo>
                  <a:pt x="9" y="55"/>
                </a:lnTo>
                <a:lnTo>
                  <a:pt x="13" y="42"/>
                </a:lnTo>
                <a:lnTo>
                  <a:pt x="22" y="33"/>
                </a:lnTo>
                <a:lnTo>
                  <a:pt x="35" y="29"/>
                </a:lnTo>
                <a:close/>
                <a:moveTo>
                  <a:pt x="182" y="18"/>
                </a:moveTo>
                <a:lnTo>
                  <a:pt x="179" y="19"/>
                </a:lnTo>
                <a:lnTo>
                  <a:pt x="178" y="20"/>
                </a:lnTo>
                <a:lnTo>
                  <a:pt x="178" y="23"/>
                </a:lnTo>
                <a:lnTo>
                  <a:pt x="179" y="24"/>
                </a:lnTo>
                <a:lnTo>
                  <a:pt x="191" y="43"/>
                </a:lnTo>
                <a:lnTo>
                  <a:pt x="200" y="65"/>
                </a:lnTo>
                <a:lnTo>
                  <a:pt x="201" y="66"/>
                </a:lnTo>
                <a:lnTo>
                  <a:pt x="202" y="67"/>
                </a:lnTo>
                <a:lnTo>
                  <a:pt x="205" y="67"/>
                </a:lnTo>
                <a:lnTo>
                  <a:pt x="230" y="57"/>
                </a:lnTo>
                <a:lnTo>
                  <a:pt x="232" y="55"/>
                </a:lnTo>
                <a:lnTo>
                  <a:pt x="232" y="53"/>
                </a:lnTo>
                <a:lnTo>
                  <a:pt x="230" y="51"/>
                </a:lnTo>
                <a:lnTo>
                  <a:pt x="209" y="32"/>
                </a:lnTo>
                <a:lnTo>
                  <a:pt x="183" y="18"/>
                </a:lnTo>
                <a:lnTo>
                  <a:pt x="182" y="18"/>
                </a:lnTo>
                <a:close/>
                <a:moveTo>
                  <a:pt x="137" y="0"/>
                </a:moveTo>
                <a:lnTo>
                  <a:pt x="164" y="2"/>
                </a:lnTo>
                <a:lnTo>
                  <a:pt x="189" y="10"/>
                </a:lnTo>
                <a:lnTo>
                  <a:pt x="212" y="23"/>
                </a:lnTo>
                <a:lnTo>
                  <a:pt x="233" y="39"/>
                </a:lnTo>
                <a:lnTo>
                  <a:pt x="249" y="59"/>
                </a:lnTo>
                <a:lnTo>
                  <a:pt x="262" y="83"/>
                </a:lnTo>
                <a:lnTo>
                  <a:pt x="271" y="108"/>
                </a:lnTo>
                <a:lnTo>
                  <a:pt x="274" y="136"/>
                </a:lnTo>
                <a:lnTo>
                  <a:pt x="271" y="163"/>
                </a:lnTo>
                <a:lnTo>
                  <a:pt x="263" y="188"/>
                </a:lnTo>
                <a:lnTo>
                  <a:pt x="263" y="189"/>
                </a:lnTo>
                <a:lnTo>
                  <a:pt x="262" y="190"/>
                </a:lnTo>
                <a:lnTo>
                  <a:pt x="260" y="190"/>
                </a:lnTo>
                <a:lnTo>
                  <a:pt x="257" y="189"/>
                </a:lnTo>
                <a:lnTo>
                  <a:pt x="254" y="186"/>
                </a:lnTo>
                <a:lnTo>
                  <a:pt x="254" y="184"/>
                </a:lnTo>
                <a:lnTo>
                  <a:pt x="261" y="166"/>
                </a:lnTo>
                <a:lnTo>
                  <a:pt x="263" y="145"/>
                </a:lnTo>
                <a:lnTo>
                  <a:pt x="263" y="144"/>
                </a:lnTo>
                <a:lnTo>
                  <a:pt x="262" y="142"/>
                </a:lnTo>
                <a:lnTo>
                  <a:pt x="260" y="142"/>
                </a:lnTo>
                <a:lnTo>
                  <a:pt x="240" y="142"/>
                </a:lnTo>
                <a:lnTo>
                  <a:pt x="239" y="142"/>
                </a:lnTo>
                <a:lnTo>
                  <a:pt x="238" y="140"/>
                </a:lnTo>
                <a:lnTo>
                  <a:pt x="237" y="139"/>
                </a:lnTo>
                <a:lnTo>
                  <a:pt x="237" y="136"/>
                </a:lnTo>
                <a:lnTo>
                  <a:pt x="237" y="135"/>
                </a:lnTo>
                <a:lnTo>
                  <a:pt x="238" y="133"/>
                </a:lnTo>
                <a:lnTo>
                  <a:pt x="239" y="133"/>
                </a:lnTo>
                <a:lnTo>
                  <a:pt x="240" y="131"/>
                </a:lnTo>
                <a:lnTo>
                  <a:pt x="260" y="131"/>
                </a:lnTo>
                <a:lnTo>
                  <a:pt x="262" y="131"/>
                </a:lnTo>
                <a:lnTo>
                  <a:pt x="263" y="130"/>
                </a:lnTo>
                <a:lnTo>
                  <a:pt x="263" y="127"/>
                </a:lnTo>
                <a:lnTo>
                  <a:pt x="261" y="105"/>
                </a:lnTo>
                <a:lnTo>
                  <a:pt x="253" y="84"/>
                </a:lnTo>
                <a:lnTo>
                  <a:pt x="242" y="65"/>
                </a:lnTo>
                <a:lnTo>
                  <a:pt x="240" y="64"/>
                </a:lnTo>
                <a:lnTo>
                  <a:pt x="239" y="64"/>
                </a:lnTo>
                <a:lnTo>
                  <a:pt x="237" y="64"/>
                </a:lnTo>
                <a:lnTo>
                  <a:pt x="223" y="71"/>
                </a:lnTo>
                <a:lnTo>
                  <a:pt x="206" y="76"/>
                </a:lnTo>
                <a:lnTo>
                  <a:pt x="205" y="78"/>
                </a:lnTo>
                <a:lnTo>
                  <a:pt x="203" y="79"/>
                </a:lnTo>
                <a:lnTo>
                  <a:pt x="203" y="82"/>
                </a:lnTo>
                <a:lnTo>
                  <a:pt x="206" y="90"/>
                </a:lnTo>
                <a:lnTo>
                  <a:pt x="207" y="101"/>
                </a:lnTo>
                <a:lnTo>
                  <a:pt x="207" y="102"/>
                </a:lnTo>
                <a:lnTo>
                  <a:pt x="206" y="103"/>
                </a:lnTo>
                <a:lnTo>
                  <a:pt x="205" y="105"/>
                </a:lnTo>
                <a:lnTo>
                  <a:pt x="203" y="105"/>
                </a:lnTo>
                <a:lnTo>
                  <a:pt x="201" y="105"/>
                </a:lnTo>
                <a:lnTo>
                  <a:pt x="198" y="103"/>
                </a:lnTo>
                <a:lnTo>
                  <a:pt x="198" y="102"/>
                </a:lnTo>
                <a:lnTo>
                  <a:pt x="194" y="84"/>
                </a:lnTo>
                <a:lnTo>
                  <a:pt x="193" y="82"/>
                </a:lnTo>
                <a:lnTo>
                  <a:pt x="192" y="82"/>
                </a:lnTo>
                <a:lnTo>
                  <a:pt x="191" y="82"/>
                </a:lnTo>
                <a:lnTo>
                  <a:pt x="173" y="84"/>
                </a:lnTo>
                <a:lnTo>
                  <a:pt x="171" y="84"/>
                </a:lnTo>
                <a:lnTo>
                  <a:pt x="170" y="83"/>
                </a:lnTo>
                <a:lnTo>
                  <a:pt x="169" y="82"/>
                </a:lnTo>
                <a:lnTo>
                  <a:pt x="169" y="79"/>
                </a:lnTo>
                <a:lnTo>
                  <a:pt x="169" y="78"/>
                </a:lnTo>
                <a:lnTo>
                  <a:pt x="170" y="75"/>
                </a:lnTo>
                <a:lnTo>
                  <a:pt x="171" y="74"/>
                </a:lnTo>
                <a:lnTo>
                  <a:pt x="187" y="71"/>
                </a:lnTo>
                <a:lnTo>
                  <a:pt x="189" y="71"/>
                </a:lnTo>
                <a:lnTo>
                  <a:pt x="189" y="69"/>
                </a:lnTo>
                <a:lnTo>
                  <a:pt x="189" y="66"/>
                </a:lnTo>
                <a:lnTo>
                  <a:pt x="184" y="53"/>
                </a:lnTo>
                <a:lnTo>
                  <a:pt x="178" y="41"/>
                </a:lnTo>
                <a:lnTo>
                  <a:pt x="169" y="28"/>
                </a:lnTo>
                <a:lnTo>
                  <a:pt x="159" y="18"/>
                </a:lnTo>
                <a:lnTo>
                  <a:pt x="147" y="11"/>
                </a:lnTo>
                <a:lnTo>
                  <a:pt x="145" y="11"/>
                </a:lnTo>
                <a:lnTo>
                  <a:pt x="142" y="13"/>
                </a:lnTo>
                <a:lnTo>
                  <a:pt x="142" y="15"/>
                </a:lnTo>
                <a:lnTo>
                  <a:pt x="142" y="46"/>
                </a:lnTo>
                <a:lnTo>
                  <a:pt x="142" y="47"/>
                </a:lnTo>
                <a:lnTo>
                  <a:pt x="141" y="48"/>
                </a:lnTo>
                <a:lnTo>
                  <a:pt x="140" y="50"/>
                </a:lnTo>
                <a:lnTo>
                  <a:pt x="137" y="50"/>
                </a:lnTo>
                <a:lnTo>
                  <a:pt x="136" y="50"/>
                </a:lnTo>
                <a:lnTo>
                  <a:pt x="133" y="48"/>
                </a:lnTo>
                <a:lnTo>
                  <a:pt x="133" y="47"/>
                </a:lnTo>
                <a:lnTo>
                  <a:pt x="132" y="46"/>
                </a:lnTo>
                <a:lnTo>
                  <a:pt x="132" y="15"/>
                </a:lnTo>
                <a:lnTo>
                  <a:pt x="132" y="13"/>
                </a:lnTo>
                <a:lnTo>
                  <a:pt x="129" y="11"/>
                </a:lnTo>
                <a:lnTo>
                  <a:pt x="127" y="11"/>
                </a:lnTo>
                <a:lnTo>
                  <a:pt x="115" y="18"/>
                </a:lnTo>
                <a:lnTo>
                  <a:pt x="105" y="28"/>
                </a:lnTo>
                <a:lnTo>
                  <a:pt x="96" y="41"/>
                </a:lnTo>
                <a:lnTo>
                  <a:pt x="90" y="53"/>
                </a:lnTo>
                <a:lnTo>
                  <a:pt x="85" y="66"/>
                </a:lnTo>
                <a:lnTo>
                  <a:pt x="85" y="69"/>
                </a:lnTo>
                <a:lnTo>
                  <a:pt x="86" y="71"/>
                </a:lnTo>
                <a:lnTo>
                  <a:pt x="87" y="71"/>
                </a:lnTo>
                <a:lnTo>
                  <a:pt x="101" y="74"/>
                </a:lnTo>
                <a:lnTo>
                  <a:pt x="104" y="75"/>
                </a:lnTo>
                <a:lnTo>
                  <a:pt x="104" y="78"/>
                </a:lnTo>
                <a:lnTo>
                  <a:pt x="105" y="79"/>
                </a:lnTo>
                <a:lnTo>
                  <a:pt x="104" y="82"/>
                </a:lnTo>
                <a:lnTo>
                  <a:pt x="104" y="83"/>
                </a:lnTo>
                <a:lnTo>
                  <a:pt x="101" y="84"/>
                </a:lnTo>
                <a:lnTo>
                  <a:pt x="100" y="84"/>
                </a:lnTo>
                <a:lnTo>
                  <a:pt x="85" y="82"/>
                </a:lnTo>
                <a:lnTo>
                  <a:pt x="82" y="82"/>
                </a:lnTo>
                <a:lnTo>
                  <a:pt x="81" y="82"/>
                </a:lnTo>
                <a:lnTo>
                  <a:pt x="80" y="84"/>
                </a:lnTo>
                <a:lnTo>
                  <a:pt x="76" y="105"/>
                </a:lnTo>
                <a:lnTo>
                  <a:pt x="74" y="127"/>
                </a:lnTo>
                <a:lnTo>
                  <a:pt x="74" y="130"/>
                </a:lnTo>
                <a:lnTo>
                  <a:pt x="76" y="131"/>
                </a:lnTo>
                <a:lnTo>
                  <a:pt x="78" y="131"/>
                </a:lnTo>
                <a:lnTo>
                  <a:pt x="128" y="131"/>
                </a:lnTo>
                <a:lnTo>
                  <a:pt x="131" y="131"/>
                </a:lnTo>
                <a:lnTo>
                  <a:pt x="132" y="130"/>
                </a:lnTo>
                <a:lnTo>
                  <a:pt x="132" y="127"/>
                </a:lnTo>
                <a:lnTo>
                  <a:pt x="132" y="117"/>
                </a:lnTo>
                <a:lnTo>
                  <a:pt x="133" y="116"/>
                </a:lnTo>
                <a:lnTo>
                  <a:pt x="133" y="115"/>
                </a:lnTo>
                <a:lnTo>
                  <a:pt x="136" y="113"/>
                </a:lnTo>
                <a:lnTo>
                  <a:pt x="137" y="113"/>
                </a:lnTo>
                <a:lnTo>
                  <a:pt x="140" y="113"/>
                </a:lnTo>
                <a:lnTo>
                  <a:pt x="141" y="115"/>
                </a:lnTo>
                <a:lnTo>
                  <a:pt x="142" y="116"/>
                </a:lnTo>
                <a:lnTo>
                  <a:pt x="142" y="117"/>
                </a:lnTo>
                <a:lnTo>
                  <a:pt x="142" y="127"/>
                </a:lnTo>
                <a:lnTo>
                  <a:pt x="142" y="130"/>
                </a:lnTo>
                <a:lnTo>
                  <a:pt x="143" y="131"/>
                </a:lnTo>
                <a:lnTo>
                  <a:pt x="146" y="131"/>
                </a:lnTo>
                <a:lnTo>
                  <a:pt x="169" y="131"/>
                </a:lnTo>
                <a:lnTo>
                  <a:pt x="170" y="133"/>
                </a:lnTo>
                <a:lnTo>
                  <a:pt x="171" y="133"/>
                </a:lnTo>
                <a:lnTo>
                  <a:pt x="173" y="135"/>
                </a:lnTo>
                <a:lnTo>
                  <a:pt x="173" y="136"/>
                </a:lnTo>
                <a:lnTo>
                  <a:pt x="173" y="139"/>
                </a:lnTo>
                <a:lnTo>
                  <a:pt x="171" y="140"/>
                </a:lnTo>
                <a:lnTo>
                  <a:pt x="170" y="142"/>
                </a:lnTo>
                <a:lnTo>
                  <a:pt x="169" y="142"/>
                </a:lnTo>
                <a:lnTo>
                  <a:pt x="146" y="142"/>
                </a:lnTo>
                <a:lnTo>
                  <a:pt x="143" y="142"/>
                </a:lnTo>
                <a:lnTo>
                  <a:pt x="142" y="143"/>
                </a:lnTo>
                <a:lnTo>
                  <a:pt x="142" y="145"/>
                </a:lnTo>
                <a:lnTo>
                  <a:pt x="142" y="182"/>
                </a:lnTo>
                <a:lnTo>
                  <a:pt x="142" y="185"/>
                </a:lnTo>
                <a:lnTo>
                  <a:pt x="143" y="186"/>
                </a:lnTo>
                <a:lnTo>
                  <a:pt x="146" y="186"/>
                </a:lnTo>
                <a:lnTo>
                  <a:pt x="169" y="189"/>
                </a:lnTo>
                <a:lnTo>
                  <a:pt x="191" y="193"/>
                </a:lnTo>
                <a:lnTo>
                  <a:pt x="192" y="193"/>
                </a:lnTo>
                <a:lnTo>
                  <a:pt x="193" y="191"/>
                </a:lnTo>
                <a:lnTo>
                  <a:pt x="194" y="189"/>
                </a:lnTo>
                <a:lnTo>
                  <a:pt x="198" y="172"/>
                </a:lnTo>
                <a:lnTo>
                  <a:pt x="198" y="170"/>
                </a:lnTo>
                <a:lnTo>
                  <a:pt x="201" y="170"/>
                </a:lnTo>
                <a:lnTo>
                  <a:pt x="202" y="168"/>
                </a:lnTo>
                <a:lnTo>
                  <a:pt x="205" y="170"/>
                </a:lnTo>
                <a:lnTo>
                  <a:pt x="206" y="170"/>
                </a:lnTo>
                <a:lnTo>
                  <a:pt x="207" y="172"/>
                </a:lnTo>
                <a:lnTo>
                  <a:pt x="207" y="173"/>
                </a:lnTo>
                <a:lnTo>
                  <a:pt x="206" y="182"/>
                </a:lnTo>
                <a:lnTo>
                  <a:pt x="203" y="191"/>
                </a:lnTo>
                <a:lnTo>
                  <a:pt x="203" y="194"/>
                </a:lnTo>
                <a:lnTo>
                  <a:pt x="205" y="195"/>
                </a:lnTo>
                <a:lnTo>
                  <a:pt x="206" y="196"/>
                </a:lnTo>
                <a:lnTo>
                  <a:pt x="209" y="198"/>
                </a:lnTo>
                <a:lnTo>
                  <a:pt x="211" y="198"/>
                </a:lnTo>
                <a:lnTo>
                  <a:pt x="212" y="200"/>
                </a:lnTo>
                <a:lnTo>
                  <a:pt x="212" y="202"/>
                </a:lnTo>
                <a:lnTo>
                  <a:pt x="212" y="204"/>
                </a:lnTo>
                <a:lnTo>
                  <a:pt x="211" y="205"/>
                </a:lnTo>
                <a:lnTo>
                  <a:pt x="209" y="207"/>
                </a:lnTo>
                <a:lnTo>
                  <a:pt x="207" y="207"/>
                </a:lnTo>
                <a:lnTo>
                  <a:pt x="205" y="205"/>
                </a:lnTo>
                <a:lnTo>
                  <a:pt x="202" y="205"/>
                </a:lnTo>
                <a:lnTo>
                  <a:pt x="201" y="207"/>
                </a:lnTo>
                <a:lnTo>
                  <a:pt x="200" y="208"/>
                </a:lnTo>
                <a:lnTo>
                  <a:pt x="191" y="230"/>
                </a:lnTo>
                <a:lnTo>
                  <a:pt x="179" y="249"/>
                </a:lnTo>
                <a:lnTo>
                  <a:pt x="178" y="251"/>
                </a:lnTo>
                <a:lnTo>
                  <a:pt x="178" y="253"/>
                </a:lnTo>
                <a:lnTo>
                  <a:pt x="179" y="254"/>
                </a:lnTo>
                <a:lnTo>
                  <a:pt x="182" y="255"/>
                </a:lnTo>
                <a:lnTo>
                  <a:pt x="183" y="255"/>
                </a:lnTo>
                <a:lnTo>
                  <a:pt x="198" y="248"/>
                </a:lnTo>
                <a:lnTo>
                  <a:pt x="212" y="239"/>
                </a:lnTo>
                <a:lnTo>
                  <a:pt x="215" y="237"/>
                </a:lnTo>
                <a:lnTo>
                  <a:pt x="217" y="239"/>
                </a:lnTo>
                <a:lnTo>
                  <a:pt x="219" y="240"/>
                </a:lnTo>
                <a:lnTo>
                  <a:pt x="220" y="241"/>
                </a:lnTo>
                <a:lnTo>
                  <a:pt x="220" y="244"/>
                </a:lnTo>
                <a:lnTo>
                  <a:pt x="220" y="245"/>
                </a:lnTo>
                <a:lnTo>
                  <a:pt x="219" y="246"/>
                </a:lnTo>
                <a:lnTo>
                  <a:pt x="194" y="260"/>
                </a:lnTo>
                <a:lnTo>
                  <a:pt x="166" y="271"/>
                </a:lnTo>
                <a:lnTo>
                  <a:pt x="137" y="273"/>
                </a:lnTo>
                <a:lnTo>
                  <a:pt x="106" y="269"/>
                </a:lnTo>
                <a:lnTo>
                  <a:pt x="77" y="259"/>
                </a:lnTo>
                <a:lnTo>
                  <a:pt x="51" y="244"/>
                </a:lnTo>
                <a:lnTo>
                  <a:pt x="31" y="222"/>
                </a:lnTo>
                <a:lnTo>
                  <a:pt x="14" y="196"/>
                </a:lnTo>
                <a:lnTo>
                  <a:pt x="4" y="168"/>
                </a:lnTo>
                <a:lnTo>
                  <a:pt x="0" y="136"/>
                </a:lnTo>
                <a:lnTo>
                  <a:pt x="3" y="108"/>
                </a:lnTo>
                <a:lnTo>
                  <a:pt x="12" y="83"/>
                </a:lnTo>
                <a:lnTo>
                  <a:pt x="12" y="82"/>
                </a:lnTo>
                <a:lnTo>
                  <a:pt x="14" y="82"/>
                </a:lnTo>
                <a:lnTo>
                  <a:pt x="16" y="82"/>
                </a:lnTo>
                <a:lnTo>
                  <a:pt x="18" y="83"/>
                </a:lnTo>
                <a:lnTo>
                  <a:pt x="21" y="84"/>
                </a:lnTo>
                <a:lnTo>
                  <a:pt x="19" y="88"/>
                </a:lnTo>
                <a:lnTo>
                  <a:pt x="13" y="107"/>
                </a:lnTo>
                <a:lnTo>
                  <a:pt x="11" y="127"/>
                </a:lnTo>
                <a:lnTo>
                  <a:pt x="11" y="130"/>
                </a:lnTo>
                <a:lnTo>
                  <a:pt x="12" y="131"/>
                </a:lnTo>
                <a:lnTo>
                  <a:pt x="14" y="131"/>
                </a:lnTo>
                <a:lnTo>
                  <a:pt x="60" y="131"/>
                </a:lnTo>
                <a:lnTo>
                  <a:pt x="63" y="131"/>
                </a:lnTo>
                <a:lnTo>
                  <a:pt x="64" y="130"/>
                </a:lnTo>
                <a:lnTo>
                  <a:pt x="64" y="127"/>
                </a:lnTo>
                <a:lnTo>
                  <a:pt x="67" y="103"/>
                </a:lnTo>
                <a:lnTo>
                  <a:pt x="71" y="82"/>
                </a:lnTo>
                <a:lnTo>
                  <a:pt x="71" y="79"/>
                </a:lnTo>
                <a:lnTo>
                  <a:pt x="69" y="78"/>
                </a:lnTo>
                <a:lnTo>
                  <a:pt x="68" y="76"/>
                </a:lnTo>
                <a:lnTo>
                  <a:pt x="65" y="76"/>
                </a:lnTo>
                <a:lnTo>
                  <a:pt x="64" y="75"/>
                </a:lnTo>
                <a:lnTo>
                  <a:pt x="63" y="74"/>
                </a:lnTo>
                <a:lnTo>
                  <a:pt x="63" y="71"/>
                </a:lnTo>
                <a:lnTo>
                  <a:pt x="63" y="70"/>
                </a:lnTo>
                <a:lnTo>
                  <a:pt x="64" y="67"/>
                </a:lnTo>
                <a:lnTo>
                  <a:pt x="67" y="66"/>
                </a:lnTo>
                <a:lnTo>
                  <a:pt x="68" y="66"/>
                </a:lnTo>
                <a:lnTo>
                  <a:pt x="71" y="67"/>
                </a:lnTo>
                <a:lnTo>
                  <a:pt x="72" y="67"/>
                </a:lnTo>
                <a:lnTo>
                  <a:pt x="74" y="66"/>
                </a:lnTo>
                <a:lnTo>
                  <a:pt x="76" y="65"/>
                </a:lnTo>
                <a:lnTo>
                  <a:pt x="83" y="43"/>
                </a:lnTo>
                <a:lnTo>
                  <a:pt x="95" y="24"/>
                </a:lnTo>
                <a:lnTo>
                  <a:pt x="96" y="23"/>
                </a:lnTo>
                <a:lnTo>
                  <a:pt x="96" y="20"/>
                </a:lnTo>
                <a:lnTo>
                  <a:pt x="95" y="19"/>
                </a:lnTo>
                <a:lnTo>
                  <a:pt x="94" y="18"/>
                </a:lnTo>
                <a:lnTo>
                  <a:pt x="91" y="18"/>
                </a:lnTo>
                <a:lnTo>
                  <a:pt x="77" y="25"/>
                </a:lnTo>
                <a:lnTo>
                  <a:pt x="63" y="33"/>
                </a:lnTo>
                <a:lnTo>
                  <a:pt x="62" y="34"/>
                </a:lnTo>
                <a:lnTo>
                  <a:pt x="60" y="34"/>
                </a:lnTo>
                <a:lnTo>
                  <a:pt x="58" y="33"/>
                </a:lnTo>
                <a:lnTo>
                  <a:pt x="58" y="32"/>
                </a:lnTo>
                <a:lnTo>
                  <a:pt x="57" y="30"/>
                </a:lnTo>
                <a:lnTo>
                  <a:pt x="57" y="28"/>
                </a:lnTo>
                <a:lnTo>
                  <a:pt x="57" y="27"/>
                </a:lnTo>
                <a:lnTo>
                  <a:pt x="58" y="25"/>
                </a:lnTo>
                <a:lnTo>
                  <a:pt x="82" y="11"/>
                </a:lnTo>
                <a:lnTo>
                  <a:pt x="109" y="4"/>
                </a:lnTo>
                <a:lnTo>
                  <a:pt x="137" y="0"/>
                </a:lnTo>
                <a:close/>
              </a:path>
            </a:pathLst>
          </a:custGeom>
          <a:solidFill>
            <a:schemeClr val="bg1">
              <a:alpha val="10000"/>
            </a:schemeClr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Freeform 463"/>
          <p:cNvSpPr>
            <a:spLocks noEditPoints="1"/>
          </p:cNvSpPr>
          <p:nvPr userDrawn="1"/>
        </p:nvSpPr>
        <p:spPr bwMode="auto">
          <a:xfrm rot="19468345">
            <a:off x="4877976" y="513678"/>
            <a:ext cx="1364153" cy="774137"/>
          </a:xfrm>
          <a:custGeom>
            <a:avLst/>
            <a:gdLst>
              <a:gd name="T0" fmla="*/ 250 w 326"/>
              <a:gd name="T1" fmla="*/ 94 h 185"/>
              <a:gd name="T2" fmla="*/ 253 w 326"/>
              <a:gd name="T3" fmla="*/ 98 h 185"/>
              <a:gd name="T4" fmla="*/ 249 w 326"/>
              <a:gd name="T5" fmla="*/ 148 h 185"/>
              <a:gd name="T6" fmla="*/ 225 w 326"/>
              <a:gd name="T7" fmla="*/ 163 h 185"/>
              <a:gd name="T8" fmla="*/ 185 w 326"/>
              <a:gd name="T9" fmla="*/ 171 h 185"/>
              <a:gd name="T10" fmla="*/ 142 w 326"/>
              <a:gd name="T11" fmla="*/ 171 h 185"/>
              <a:gd name="T12" fmla="*/ 102 w 326"/>
              <a:gd name="T13" fmla="*/ 163 h 185"/>
              <a:gd name="T14" fmla="*/ 78 w 326"/>
              <a:gd name="T15" fmla="*/ 148 h 185"/>
              <a:gd name="T16" fmla="*/ 74 w 326"/>
              <a:gd name="T17" fmla="*/ 99 h 185"/>
              <a:gd name="T18" fmla="*/ 76 w 326"/>
              <a:gd name="T19" fmla="*/ 94 h 185"/>
              <a:gd name="T20" fmla="*/ 82 w 326"/>
              <a:gd name="T21" fmla="*/ 94 h 185"/>
              <a:gd name="T22" fmla="*/ 163 w 326"/>
              <a:gd name="T23" fmla="*/ 126 h 185"/>
              <a:gd name="T24" fmla="*/ 245 w 326"/>
              <a:gd name="T25" fmla="*/ 93 h 185"/>
              <a:gd name="T26" fmla="*/ 163 w 326"/>
              <a:gd name="T27" fmla="*/ 0 h 185"/>
              <a:gd name="T28" fmla="*/ 322 w 326"/>
              <a:gd name="T29" fmla="*/ 46 h 185"/>
              <a:gd name="T30" fmla="*/ 326 w 326"/>
              <a:gd name="T31" fmla="*/ 50 h 185"/>
              <a:gd name="T32" fmla="*/ 324 w 326"/>
              <a:gd name="T33" fmla="*/ 53 h 185"/>
              <a:gd name="T34" fmla="*/ 168 w 326"/>
              <a:gd name="T35" fmla="*/ 120 h 185"/>
              <a:gd name="T36" fmla="*/ 157 w 326"/>
              <a:gd name="T37" fmla="*/ 120 h 185"/>
              <a:gd name="T38" fmla="*/ 42 w 326"/>
              <a:gd name="T39" fmla="*/ 72 h 185"/>
              <a:gd name="T40" fmla="*/ 39 w 326"/>
              <a:gd name="T41" fmla="*/ 75 h 185"/>
              <a:gd name="T42" fmla="*/ 39 w 326"/>
              <a:gd name="T43" fmla="*/ 110 h 185"/>
              <a:gd name="T44" fmla="*/ 42 w 326"/>
              <a:gd name="T45" fmla="*/ 110 h 185"/>
              <a:gd name="T46" fmla="*/ 45 w 326"/>
              <a:gd name="T47" fmla="*/ 110 h 185"/>
              <a:gd name="T48" fmla="*/ 46 w 326"/>
              <a:gd name="T49" fmla="*/ 112 h 185"/>
              <a:gd name="T50" fmla="*/ 46 w 326"/>
              <a:gd name="T51" fmla="*/ 116 h 185"/>
              <a:gd name="T52" fmla="*/ 45 w 326"/>
              <a:gd name="T53" fmla="*/ 122 h 185"/>
              <a:gd name="T54" fmla="*/ 46 w 326"/>
              <a:gd name="T55" fmla="*/ 124 h 185"/>
              <a:gd name="T56" fmla="*/ 46 w 326"/>
              <a:gd name="T57" fmla="*/ 126 h 185"/>
              <a:gd name="T58" fmla="*/ 45 w 326"/>
              <a:gd name="T59" fmla="*/ 127 h 185"/>
              <a:gd name="T60" fmla="*/ 52 w 326"/>
              <a:gd name="T61" fmla="*/ 149 h 185"/>
              <a:gd name="T62" fmla="*/ 50 w 326"/>
              <a:gd name="T63" fmla="*/ 171 h 185"/>
              <a:gd name="T64" fmla="*/ 42 w 326"/>
              <a:gd name="T65" fmla="*/ 181 h 185"/>
              <a:gd name="T66" fmla="*/ 42 w 326"/>
              <a:gd name="T67" fmla="*/ 175 h 185"/>
              <a:gd name="T68" fmla="*/ 42 w 326"/>
              <a:gd name="T69" fmla="*/ 171 h 185"/>
              <a:gd name="T70" fmla="*/ 41 w 326"/>
              <a:gd name="T71" fmla="*/ 172 h 185"/>
              <a:gd name="T72" fmla="*/ 39 w 326"/>
              <a:gd name="T73" fmla="*/ 179 h 185"/>
              <a:gd name="T74" fmla="*/ 36 w 326"/>
              <a:gd name="T75" fmla="*/ 185 h 185"/>
              <a:gd name="T76" fmla="*/ 34 w 326"/>
              <a:gd name="T77" fmla="*/ 185 h 185"/>
              <a:gd name="T78" fmla="*/ 33 w 326"/>
              <a:gd name="T79" fmla="*/ 170 h 185"/>
              <a:gd name="T80" fmla="*/ 32 w 326"/>
              <a:gd name="T81" fmla="*/ 167 h 185"/>
              <a:gd name="T82" fmla="*/ 32 w 326"/>
              <a:gd name="T83" fmla="*/ 171 h 185"/>
              <a:gd name="T84" fmla="*/ 30 w 326"/>
              <a:gd name="T85" fmla="*/ 179 h 185"/>
              <a:gd name="T86" fmla="*/ 30 w 326"/>
              <a:gd name="T87" fmla="*/ 179 h 185"/>
              <a:gd name="T88" fmla="*/ 29 w 326"/>
              <a:gd name="T89" fmla="*/ 172 h 185"/>
              <a:gd name="T90" fmla="*/ 28 w 326"/>
              <a:gd name="T91" fmla="*/ 172 h 185"/>
              <a:gd name="T92" fmla="*/ 28 w 326"/>
              <a:gd name="T93" fmla="*/ 180 h 185"/>
              <a:gd name="T94" fmla="*/ 28 w 326"/>
              <a:gd name="T95" fmla="*/ 181 h 185"/>
              <a:gd name="T96" fmla="*/ 16 w 326"/>
              <a:gd name="T97" fmla="*/ 157 h 185"/>
              <a:gd name="T98" fmla="*/ 25 w 326"/>
              <a:gd name="T99" fmla="*/ 127 h 185"/>
              <a:gd name="T100" fmla="*/ 24 w 326"/>
              <a:gd name="T101" fmla="*/ 126 h 185"/>
              <a:gd name="T102" fmla="*/ 24 w 326"/>
              <a:gd name="T103" fmla="*/ 122 h 185"/>
              <a:gd name="T104" fmla="*/ 27 w 326"/>
              <a:gd name="T105" fmla="*/ 121 h 185"/>
              <a:gd name="T106" fmla="*/ 25 w 326"/>
              <a:gd name="T107" fmla="*/ 116 h 185"/>
              <a:gd name="T108" fmla="*/ 25 w 326"/>
              <a:gd name="T109" fmla="*/ 112 h 185"/>
              <a:gd name="T110" fmla="*/ 28 w 326"/>
              <a:gd name="T111" fmla="*/ 108 h 185"/>
              <a:gd name="T112" fmla="*/ 30 w 326"/>
              <a:gd name="T113" fmla="*/ 110 h 185"/>
              <a:gd name="T114" fmla="*/ 33 w 326"/>
              <a:gd name="T115" fmla="*/ 108 h 185"/>
              <a:gd name="T116" fmla="*/ 32 w 326"/>
              <a:gd name="T117" fmla="*/ 67 h 185"/>
              <a:gd name="T118" fmla="*/ 2 w 326"/>
              <a:gd name="T119" fmla="*/ 55 h 185"/>
              <a:gd name="T120" fmla="*/ 0 w 326"/>
              <a:gd name="T121" fmla="*/ 52 h 185"/>
              <a:gd name="T122" fmla="*/ 1 w 326"/>
              <a:gd name="T123" fmla="*/ 47 h 185"/>
              <a:gd name="T124" fmla="*/ 159 w 326"/>
              <a:gd name="T125" fmla="*/ 0 h 1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326" h="185">
                <a:moveTo>
                  <a:pt x="248" y="93"/>
                </a:moveTo>
                <a:lnTo>
                  <a:pt x="250" y="94"/>
                </a:lnTo>
                <a:lnTo>
                  <a:pt x="251" y="95"/>
                </a:lnTo>
                <a:lnTo>
                  <a:pt x="253" y="98"/>
                </a:lnTo>
                <a:lnTo>
                  <a:pt x="253" y="138"/>
                </a:lnTo>
                <a:lnTo>
                  <a:pt x="249" y="148"/>
                </a:lnTo>
                <a:lnTo>
                  <a:pt x="239" y="157"/>
                </a:lnTo>
                <a:lnTo>
                  <a:pt x="225" y="163"/>
                </a:lnTo>
                <a:lnTo>
                  <a:pt x="207" y="168"/>
                </a:lnTo>
                <a:lnTo>
                  <a:pt x="185" y="171"/>
                </a:lnTo>
                <a:lnTo>
                  <a:pt x="163" y="172"/>
                </a:lnTo>
                <a:lnTo>
                  <a:pt x="142" y="171"/>
                </a:lnTo>
                <a:lnTo>
                  <a:pt x="120" y="168"/>
                </a:lnTo>
                <a:lnTo>
                  <a:pt x="102" y="163"/>
                </a:lnTo>
                <a:lnTo>
                  <a:pt x="87" y="157"/>
                </a:lnTo>
                <a:lnTo>
                  <a:pt x="78" y="148"/>
                </a:lnTo>
                <a:lnTo>
                  <a:pt x="74" y="138"/>
                </a:lnTo>
                <a:lnTo>
                  <a:pt x="74" y="99"/>
                </a:lnTo>
                <a:lnTo>
                  <a:pt x="75" y="97"/>
                </a:lnTo>
                <a:lnTo>
                  <a:pt x="76" y="94"/>
                </a:lnTo>
                <a:lnTo>
                  <a:pt x="79" y="93"/>
                </a:lnTo>
                <a:lnTo>
                  <a:pt x="82" y="94"/>
                </a:lnTo>
                <a:lnTo>
                  <a:pt x="158" y="125"/>
                </a:lnTo>
                <a:lnTo>
                  <a:pt x="163" y="126"/>
                </a:lnTo>
                <a:lnTo>
                  <a:pt x="168" y="125"/>
                </a:lnTo>
                <a:lnTo>
                  <a:pt x="245" y="93"/>
                </a:lnTo>
                <a:lnTo>
                  <a:pt x="248" y="93"/>
                </a:lnTo>
                <a:close/>
                <a:moveTo>
                  <a:pt x="163" y="0"/>
                </a:moveTo>
                <a:lnTo>
                  <a:pt x="167" y="0"/>
                </a:lnTo>
                <a:lnTo>
                  <a:pt x="322" y="46"/>
                </a:lnTo>
                <a:lnTo>
                  <a:pt x="324" y="47"/>
                </a:lnTo>
                <a:lnTo>
                  <a:pt x="326" y="50"/>
                </a:lnTo>
                <a:lnTo>
                  <a:pt x="326" y="52"/>
                </a:lnTo>
                <a:lnTo>
                  <a:pt x="324" y="53"/>
                </a:lnTo>
                <a:lnTo>
                  <a:pt x="323" y="55"/>
                </a:lnTo>
                <a:lnTo>
                  <a:pt x="168" y="120"/>
                </a:lnTo>
                <a:lnTo>
                  <a:pt x="163" y="121"/>
                </a:lnTo>
                <a:lnTo>
                  <a:pt x="157" y="120"/>
                </a:lnTo>
                <a:lnTo>
                  <a:pt x="43" y="72"/>
                </a:lnTo>
                <a:lnTo>
                  <a:pt x="42" y="72"/>
                </a:lnTo>
                <a:lnTo>
                  <a:pt x="39" y="74"/>
                </a:lnTo>
                <a:lnTo>
                  <a:pt x="39" y="75"/>
                </a:lnTo>
                <a:lnTo>
                  <a:pt x="39" y="110"/>
                </a:lnTo>
                <a:lnTo>
                  <a:pt x="39" y="110"/>
                </a:lnTo>
                <a:lnTo>
                  <a:pt x="41" y="111"/>
                </a:lnTo>
                <a:lnTo>
                  <a:pt x="42" y="110"/>
                </a:lnTo>
                <a:lnTo>
                  <a:pt x="43" y="110"/>
                </a:lnTo>
                <a:lnTo>
                  <a:pt x="45" y="110"/>
                </a:lnTo>
                <a:lnTo>
                  <a:pt x="45" y="111"/>
                </a:lnTo>
                <a:lnTo>
                  <a:pt x="46" y="112"/>
                </a:lnTo>
                <a:lnTo>
                  <a:pt x="46" y="115"/>
                </a:lnTo>
                <a:lnTo>
                  <a:pt x="46" y="116"/>
                </a:lnTo>
                <a:lnTo>
                  <a:pt x="46" y="120"/>
                </a:lnTo>
                <a:lnTo>
                  <a:pt x="45" y="122"/>
                </a:lnTo>
                <a:lnTo>
                  <a:pt x="45" y="124"/>
                </a:lnTo>
                <a:lnTo>
                  <a:pt x="46" y="124"/>
                </a:lnTo>
                <a:lnTo>
                  <a:pt x="47" y="125"/>
                </a:lnTo>
                <a:lnTo>
                  <a:pt x="46" y="126"/>
                </a:lnTo>
                <a:lnTo>
                  <a:pt x="45" y="127"/>
                </a:lnTo>
                <a:lnTo>
                  <a:pt x="45" y="127"/>
                </a:lnTo>
                <a:lnTo>
                  <a:pt x="50" y="138"/>
                </a:lnTo>
                <a:lnTo>
                  <a:pt x="52" y="149"/>
                </a:lnTo>
                <a:lnTo>
                  <a:pt x="52" y="161"/>
                </a:lnTo>
                <a:lnTo>
                  <a:pt x="50" y="171"/>
                </a:lnTo>
                <a:lnTo>
                  <a:pt x="42" y="180"/>
                </a:lnTo>
                <a:lnTo>
                  <a:pt x="42" y="181"/>
                </a:lnTo>
                <a:lnTo>
                  <a:pt x="42" y="180"/>
                </a:lnTo>
                <a:lnTo>
                  <a:pt x="42" y="175"/>
                </a:lnTo>
                <a:lnTo>
                  <a:pt x="42" y="172"/>
                </a:lnTo>
                <a:lnTo>
                  <a:pt x="42" y="171"/>
                </a:lnTo>
                <a:lnTo>
                  <a:pt x="42" y="171"/>
                </a:lnTo>
                <a:lnTo>
                  <a:pt x="41" y="172"/>
                </a:lnTo>
                <a:lnTo>
                  <a:pt x="41" y="175"/>
                </a:lnTo>
                <a:lnTo>
                  <a:pt x="39" y="179"/>
                </a:lnTo>
                <a:lnTo>
                  <a:pt x="37" y="182"/>
                </a:lnTo>
                <a:lnTo>
                  <a:pt x="36" y="185"/>
                </a:lnTo>
                <a:lnTo>
                  <a:pt x="34" y="185"/>
                </a:lnTo>
                <a:lnTo>
                  <a:pt x="34" y="185"/>
                </a:lnTo>
                <a:lnTo>
                  <a:pt x="33" y="173"/>
                </a:lnTo>
                <a:lnTo>
                  <a:pt x="33" y="170"/>
                </a:lnTo>
                <a:lnTo>
                  <a:pt x="33" y="168"/>
                </a:lnTo>
                <a:lnTo>
                  <a:pt x="32" y="167"/>
                </a:lnTo>
                <a:lnTo>
                  <a:pt x="32" y="168"/>
                </a:lnTo>
                <a:lnTo>
                  <a:pt x="32" y="171"/>
                </a:lnTo>
                <a:lnTo>
                  <a:pt x="32" y="179"/>
                </a:lnTo>
                <a:lnTo>
                  <a:pt x="30" y="179"/>
                </a:lnTo>
                <a:lnTo>
                  <a:pt x="30" y="180"/>
                </a:lnTo>
                <a:lnTo>
                  <a:pt x="30" y="179"/>
                </a:lnTo>
                <a:lnTo>
                  <a:pt x="29" y="175"/>
                </a:lnTo>
                <a:lnTo>
                  <a:pt x="29" y="172"/>
                </a:lnTo>
                <a:lnTo>
                  <a:pt x="28" y="172"/>
                </a:lnTo>
                <a:lnTo>
                  <a:pt x="28" y="172"/>
                </a:lnTo>
                <a:lnTo>
                  <a:pt x="28" y="175"/>
                </a:lnTo>
                <a:lnTo>
                  <a:pt x="28" y="180"/>
                </a:lnTo>
                <a:lnTo>
                  <a:pt x="28" y="181"/>
                </a:lnTo>
                <a:lnTo>
                  <a:pt x="28" y="181"/>
                </a:lnTo>
                <a:lnTo>
                  <a:pt x="19" y="170"/>
                </a:lnTo>
                <a:lnTo>
                  <a:pt x="16" y="157"/>
                </a:lnTo>
                <a:lnTo>
                  <a:pt x="19" y="141"/>
                </a:lnTo>
                <a:lnTo>
                  <a:pt x="25" y="127"/>
                </a:lnTo>
                <a:lnTo>
                  <a:pt x="25" y="126"/>
                </a:lnTo>
                <a:lnTo>
                  <a:pt x="24" y="126"/>
                </a:lnTo>
                <a:lnTo>
                  <a:pt x="24" y="124"/>
                </a:lnTo>
                <a:lnTo>
                  <a:pt x="24" y="122"/>
                </a:lnTo>
                <a:lnTo>
                  <a:pt x="25" y="122"/>
                </a:lnTo>
                <a:lnTo>
                  <a:pt x="27" y="121"/>
                </a:lnTo>
                <a:lnTo>
                  <a:pt x="25" y="118"/>
                </a:lnTo>
                <a:lnTo>
                  <a:pt x="25" y="116"/>
                </a:lnTo>
                <a:lnTo>
                  <a:pt x="25" y="113"/>
                </a:lnTo>
                <a:lnTo>
                  <a:pt x="25" y="112"/>
                </a:lnTo>
                <a:lnTo>
                  <a:pt x="27" y="110"/>
                </a:lnTo>
                <a:lnTo>
                  <a:pt x="28" y="108"/>
                </a:lnTo>
                <a:lnTo>
                  <a:pt x="30" y="108"/>
                </a:lnTo>
                <a:lnTo>
                  <a:pt x="30" y="110"/>
                </a:lnTo>
                <a:lnTo>
                  <a:pt x="32" y="108"/>
                </a:lnTo>
                <a:lnTo>
                  <a:pt x="33" y="108"/>
                </a:lnTo>
                <a:lnTo>
                  <a:pt x="33" y="70"/>
                </a:lnTo>
                <a:lnTo>
                  <a:pt x="32" y="67"/>
                </a:lnTo>
                <a:lnTo>
                  <a:pt x="30" y="66"/>
                </a:lnTo>
                <a:lnTo>
                  <a:pt x="2" y="55"/>
                </a:lnTo>
                <a:lnTo>
                  <a:pt x="1" y="53"/>
                </a:lnTo>
                <a:lnTo>
                  <a:pt x="0" y="52"/>
                </a:lnTo>
                <a:lnTo>
                  <a:pt x="0" y="50"/>
                </a:lnTo>
                <a:lnTo>
                  <a:pt x="1" y="47"/>
                </a:lnTo>
                <a:lnTo>
                  <a:pt x="4" y="46"/>
                </a:lnTo>
                <a:lnTo>
                  <a:pt x="159" y="0"/>
                </a:lnTo>
                <a:lnTo>
                  <a:pt x="163" y="0"/>
                </a:lnTo>
                <a:close/>
              </a:path>
            </a:pathLst>
          </a:custGeom>
          <a:solidFill>
            <a:schemeClr val="bg1">
              <a:alpha val="10000"/>
            </a:schemeClr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" name="Freeform 345"/>
          <p:cNvSpPr>
            <a:spLocks noEditPoints="1"/>
          </p:cNvSpPr>
          <p:nvPr userDrawn="1"/>
        </p:nvSpPr>
        <p:spPr bwMode="auto">
          <a:xfrm rot="19951744">
            <a:off x="485337" y="1535222"/>
            <a:ext cx="2166226" cy="3066048"/>
          </a:xfrm>
          <a:custGeom>
            <a:avLst/>
            <a:gdLst>
              <a:gd name="T0" fmla="*/ 190 w 195"/>
              <a:gd name="T1" fmla="*/ 163 h 276"/>
              <a:gd name="T2" fmla="*/ 195 w 195"/>
              <a:gd name="T3" fmla="*/ 174 h 276"/>
              <a:gd name="T4" fmla="*/ 192 w 195"/>
              <a:gd name="T5" fmla="*/ 180 h 276"/>
              <a:gd name="T6" fmla="*/ 105 w 195"/>
              <a:gd name="T7" fmla="*/ 212 h 276"/>
              <a:gd name="T8" fmla="*/ 98 w 195"/>
              <a:gd name="T9" fmla="*/ 202 h 276"/>
              <a:gd name="T10" fmla="*/ 101 w 195"/>
              <a:gd name="T11" fmla="*/ 195 h 276"/>
              <a:gd name="T12" fmla="*/ 187 w 195"/>
              <a:gd name="T13" fmla="*/ 160 h 276"/>
              <a:gd name="T14" fmla="*/ 20 w 195"/>
              <a:gd name="T15" fmla="*/ 147 h 276"/>
              <a:gd name="T16" fmla="*/ 15 w 195"/>
              <a:gd name="T17" fmla="*/ 157 h 276"/>
              <a:gd name="T18" fmla="*/ 20 w 195"/>
              <a:gd name="T19" fmla="*/ 168 h 276"/>
              <a:gd name="T20" fmla="*/ 32 w 195"/>
              <a:gd name="T21" fmla="*/ 169 h 276"/>
              <a:gd name="T22" fmla="*/ 40 w 195"/>
              <a:gd name="T23" fmla="*/ 161 h 276"/>
              <a:gd name="T24" fmla="*/ 37 w 195"/>
              <a:gd name="T25" fmla="*/ 150 h 276"/>
              <a:gd name="T26" fmla="*/ 27 w 195"/>
              <a:gd name="T27" fmla="*/ 145 h 276"/>
              <a:gd name="T28" fmla="*/ 102 w 195"/>
              <a:gd name="T29" fmla="*/ 2 h 276"/>
              <a:gd name="T30" fmla="*/ 105 w 195"/>
              <a:gd name="T31" fmla="*/ 12 h 276"/>
              <a:gd name="T32" fmla="*/ 100 w 195"/>
              <a:gd name="T33" fmla="*/ 14 h 276"/>
              <a:gd name="T34" fmla="*/ 151 w 195"/>
              <a:gd name="T35" fmla="*/ 146 h 276"/>
              <a:gd name="T36" fmla="*/ 148 w 195"/>
              <a:gd name="T37" fmla="*/ 149 h 276"/>
              <a:gd name="T38" fmla="*/ 147 w 195"/>
              <a:gd name="T39" fmla="*/ 151 h 276"/>
              <a:gd name="T40" fmla="*/ 148 w 195"/>
              <a:gd name="T41" fmla="*/ 160 h 276"/>
              <a:gd name="T42" fmla="*/ 144 w 195"/>
              <a:gd name="T43" fmla="*/ 166 h 276"/>
              <a:gd name="T44" fmla="*/ 129 w 195"/>
              <a:gd name="T45" fmla="*/ 169 h 276"/>
              <a:gd name="T46" fmla="*/ 124 w 195"/>
              <a:gd name="T47" fmla="*/ 161 h 276"/>
              <a:gd name="T48" fmla="*/ 120 w 195"/>
              <a:gd name="T49" fmla="*/ 160 h 276"/>
              <a:gd name="T50" fmla="*/ 118 w 195"/>
              <a:gd name="T51" fmla="*/ 160 h 276"/>
              <a:gd name="T52" fmla="*/ 91 w 195"/>
              <a:gd name="T53" fmla="*/ 97 h 276"/>
              <a:gd name="T54" fmla="*/ 84 w 195"/>
              <a:gd name="T55" fmla="*/ 97 h 276"/>
              <a:gd name="T56" fmla="*/ 52 w 195"/>
              <a:gd name="T57" fmla="*/ 136 h 276"/>
              <a:gd name="T58" fmla="*/ 55 w 195"/>
              <a:gd name="T59" fmla="*/ 151 h 276"/>
              <a:gd name="T60" fmla="*/ 52 w 195"/>
              <a:gd name="T61" fmla="*/ 170 h 276"/>
              <a:gd name="T62" fmla="*/ 46 w 195"/>
              <a:gd name="T63" fmla="*/ 180 h 276"/>
              <a:gd name="T64" fmla="*/ 59 w 195"/>
              <a:gd name="T65" fmla="*/ 216 h 276"/>
              <a:gd name="T66" fmla="*/ 87 w 195"/>
              <a:gd name="T67" fmla="*/ 243 h 276"/>
              <a:gd name="T68" fmla="*/ 185 w 195"/>
              <a:gd name="T69" fmla="*/ 244 h 276"/>
              <a:gd name="T70" fmla="*/ 193 w 195"/>
              <a:gd name="T71" fmla="*/ 256 h 276"/>
              <a:gd name="T72" fmla="*/ 189 w 195"/>
              <a:gd name="T73" fmla="*/ 274 h 276"/>
              <a:gd name="T74" fmla="*/ 22 w 195"/>
              <a:gd name="T75" fmla="*/ 276 h 276"/>
              <a:gd name="T76" fmla="*/ 12 w 195"/>
              <a:gd name="T77" fmla="*/ 270 h 276"/>
              <a:gd name="T78" fmla="*/ 12 w 195"/>
              <a:gd name="T79" fmla="*/ 251 h 276"/>
              <a:gd name="T80" fmla="*/ 22 w 195"/>
              <a:gd name="T81" fmla="*/ 244 h 276"/>
              <a:gd name="T82" fmla="*/ 29 w 195"/>
              <a:gd name="T83" fmla="*/ 241 h 276"/>
              <a:gd name="T84" fmla="*/ 17 w 195"/>
              <a:gd name="T85" fmla="*/ 210 h 276"/>
              <a:gd name="T86" fmla="*/ 8 w 195"/>
              <a:gd name="T87" fmla="*/ 177 h 276"/>
              <a:gd name="T88" fmla="*/ 0 w 195"/>
              <a:gd name="T89" fmla="*/ 157 h 276"/>
              <a:gd name="T90" fmla="*/ 15 w 195"/>
              <a:gd name="T91" fmla="*/ 131 h 276"/>
              <a:gd name="T92" fmla="*/ 38 w 195"/>
              <a:gd name="T93" fmla="*/ 91 h 276"/>
              <a:gd name="T94" fmla="*/ 75 w 195"/>
              <a:gd name="T95" fmla="*/ 62 h 276"/>
              <a:gd name="T96" fmla="*/ 65 w 195"/>
              <a:gd name="T97" fmla="*/ 31 h 276"/>
              <a:gd name="T98" fmla="*/ 61 w 195"/>
              <a:gd name="T99" fmla="*/ 30 h 276"/>
              <a:gd name="T100" fmla="*/ 56 w 195"/>
              <a:gd name="T101" fmla="*/ 31 h 276"/>
              <a:gd name="T102" fmla="*/ 52 w 195"/>
              <a:gd name="T103" fmla="*/ 20 h 276"/>
              <a:gd name="T104" fmla="*/ 59 w 195"/>
              <a:gd name="T105" fmla="*/ 16 h 276"/>
              <a:gd name="T106" fmla="*/ 101 w 195"/>
              <a:gd name="T107" fmla="*/ 0 h 2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195" h="276">
                <a:moveTo>
                  <a:pt x="187" y="160"/>
                </a:moveTo>
                <a:lnTo>
                  <a:pt x="189" y="161"/>
                </a:lnTo>
                <a:lnTo>
                  <a:pt x="190" y="163"/>
                </a:lnTo>
                <a:lnTo>
                  <a:pt x="193" y="165"/>
                </a:lnTo>
                <a:lnTo>
                  <a:pt x="195" y="172"/>
                </a:lnTo>
                <a:lnTo>
                  <a:pt x="195" y="174"/>
                </a:lnTo>
                <a:lnTo>
                  <a:pt x="195" y="177"/>
                </a:lnTo>
                <a:lnTo>
                  <a:pt x="193" y="178"/>
                </a:lnTo>
                <a:lnTo>
                  <a:pt x="192" y="180"/>
                </a:lnTo>
                <a:lnTo>
                  <a:pt x="110" y="212"/>
                </a:lnTo>
                <a:lnTo>
                  <a:pt x="107" y="212"/>
                </a:lnTo>
                <a:lnTo>
                  <a:pt x="105" y="212"/>
                </a:lnTo>
                <a:lnTo>
                  <a:pt x="103" y="211"/>
                </a:lnTo>
                <a:lnTo>
                  <a:pt x="101" y="209"/>
                </a:lnTo>
                <a:lnTo>
                  <a:pt x="98" y="202"/>
                </a:lnTo>
                <a:lnTo>
                  <a:pt x="98" y="200"/>
                </a:lnTo>
                <a:lnTo>
                  <a:pt x="98" y="197"/>
                </a:lnTo>
                <a:lnTo>
                  <a:pt x="101" y="195"/>
                </a:lnTo>
                <a:lnTo>
                  <a:pt x="102" y="193"/>
                </a:lnTo>
                <a:lnTo>
                  <a:pt x="184" y="161"/>
                </a:lnTo>
                <a:lnTo>
                  <a:pt x="187" y="160"/>
                </a:lnTo>
                <a:close/>
                <a:moveTo>
                  <a:pt x="27" y="145"/>
                </a:moveTo>
                <a:lnTo>
                  <a:pt x="23" y="145"/>
                </a:lnTo>
                <a:lnTo>
                  <a:pt x="20" y="147"/>
                </a:lnTo>
                <a:lnTo>
                  <a:pt x="17" y="150"/>
                </a:lnTo>
                <a:lnTo>
                  <a:pt x="15" y="154"/>
                </a:lnTo>
                <a:lnTo>
                  <a:pt x="15" y="157"/>
                </a:lnTo>
                <a:lnTo>
                  <a:pt x="15" y="161"/>
                </a:lnTo>
                <a:lnTo>
                  <a:pt x="17" y="165"/>
                </a:lnTo>
                <a:lnTo>
                  <a:pt x="20" y="168"/>
                </a:lnTo>
                <a:lnTo>
                  <a:pt x="23" y="169"/>
                </a:lnTo>
                <a:lnTo>
                  <a:pt x="27" y="170"/>
                </a:lnTo>
                <a:lnTo>
                  <a:pt x="32" y="169"/>
                </a:lnTo>
                <a:lnTo>
                  <a:pt x="35" y="168"/>
                </a:lnTo>
                <a:lnTo>
                  <a:pt x="37" y="165"/>
                </a:lnTo>
                <a:lnTo>
                  <a:pt x="40" y="161"/>
                </a:lnTo>
                <a:lnTo>
                  <a:pt x="40" y="157"/>
                </a:lnTo>
                <a:lnTo>
                  <a:pt x="40" y="154"/>
                </a:lnTo>
                <a:lnTo>
                  <a:pt x="37" y="150"/>
                </a:lnTo>
                <a:lnTo>
                  <a:pt x="35" y="147"/>
                </a:lnTo>
                <a:lnTo>
                  <a:pt x="32" y="145"/>
                </a:lnTo>
                <a:lnTo>
                  <a:pt x="27" y="145"/>
                </a:lnTo>
                <a:close/>
                <a:moveTo>
                  <a:pt x="101" y="0"/>
                </a:moveTo>
                <a:lnTo>
                  <a:pt x="102" y="0"/>
                </a:lnTo>
                <a:lnTo>
                  <a:pt x="102" y="2"/>
                </a:lnTo>
                <a:lnTo>
                  <a:pt x="106" y="9"/>
                </a:lnTo>
                <a:lnTo>
                  <a:pt x="106" y="11"/>
                </a:lnTo>
                <a:lnTo>
                  <a:pt x="105" y="12"/>
                </a:lnTo>
                <a:lnTo>
                  <a:pt x="103" y="13"/>
                </a:lnTo>
                <a:lnTo>
                  <a:pt x="101" y="14"/>
                </a:lnTo>
                <a:lnTo>
                  <a:pt x="100" y="14"/>
                </a:lnTo>
                <a:lnTo>
                  <a:pt x="100" y="16"/>
                </a:lnTo>
                <a:lnTo>
                  <a:pt x="100" y="18"/>
                </a:lnTo>
                <a:lnTo>
                  <a:pt x="151" y="146"/>
                </a:lnTo>
                <a:lnTo>
                  <a:pt x="151" y="147"/>
                </a:lnTo>
                <a:lnTo>
                  <a:pt x="149" y="149"/>
                </a:lnTo>
                <a:lnTo>
                  <a:pt x="148" y="149"/>
                </a:lnTo>
                <a:lnTo>
                  <a:pt x="148" y="150"/>
                </a:lnTo>
                <a:lnTo>
                  <a:pt x="147" y="150"/>
                </a:lnTo>
                <a:lnTo>
                  <a:pt x="147" y="151"/>
                </a:lnTo>
                <a:lnTo>
                  <a:pt x="147" y="152"/>
                </a:lnTo>
                <a:lnTo>
                  <a:pt x="148" y="157"/>
                </a:lnTo>
                <a:lnTo>
                  <a:pt x="148" y="160"/>
                </a:lnTo>
                <a:lnTo>
                  <a:pt x="148" y="163"/>
                </a:lnTo>
                <a:lnTo>
                  <a:pt x="147" y="164"/>
                </a:lnTo>
                <a:lnTo>
                  <a:pt x="144" y="166"/>
                </a:lnTo>
                <a:lnTo>
                  <a:pt x="134" y="169"/>
                </a:lnTo>
                <a:lnTo>
                  <a:pt x="132" y="170"/>
                </a:lnTo>
                <a:lnTo>
                  <a:pt x="129" y="169"/>
                </a:lnTo>
                <a:lnTo>
                  <a:pt x="128" y="168"/>
                </a:lnTo>
                <a:lnTo>
                  <a:pt x="125" y="165"/>
                </a:lnTo>
                <a:lnTo>
                  <a:pt x="124" y="161"/>
                </a:lnTo>
                <a:lnTo>
                  <a:pt x="124" y="161"/>
                </a:lnTo>
                <a:lnTo>
                  <a:pt x="123" y="160"/>
                </a:lnTo>
                <a:lnTo>
                  <a:pt x="120" y="160"/>
                </a:lnTo>
                <a:lnTo>
                  <a:pt x="120" y="160"/>
                </a:lnTo>
                <a:lnTo>
                  <a:pt x="119" y="161"/>
                </a:lnTo>
                <a:lnTo>
                  <a:pt x="118" y="160"/>
                </a:lnTo>
                <a:lnTo>
                  <a:pt x="116" y="159"/>
                </a:lnTo>
                <a:lnTo>
                  <a:pt x="93" y="100"/>
                </a:lnTo>
                <a:lnTo>
                  <a:pt x="91" y="97"/>
                </a:lnTo>
                <a:lnTo>
                  <a:pt x="89" y="96"/>
                </a:lnTo>
                <a:lnTo>
                  <a:pt x="87" y="96"/>
                </a:lnTo>
                <a:lnTo>
                  <a:pt x="84" y="97"/>
                </a:lnTo>
                <a:lnTo>
                  <a:pt x="70" y="108"/>
                </a:lnTo>
                <a:lnTo>
                  <a:pt x="60" y="120"/>
                </a:lnTo>
                <a:lnTo>
                  <a:pt x="52" y="136"/>
                </a:lnTo>
                <a:lnTo>
                  <a:pt x="51" y="140"/>
                </a:lnTo>
                <a:lnTo>
                  <a:pt x="52" y="145"/>
                </a:lnTo>
                <a:lnTo>
                  <a:pt x="55" y="151"/>
                </a:lnTo>
                <a:lnTo>
                  <a:pt x="55" y="157"/>
                </a:lnTo>
                <a:lnTo>
                  <a:pt x="55" y="164"/>
                </a:lnTo>
                <a:lnTo>
                  <a:pt x="52" y="170"/>
                </a:lnTo>
                <a:lnTo>
                  <a:pt x="49" y="175"/>
                </a:lnTo>
                <a:lnTo>
                  <a:pt x="47" y="178"/>
                </a:lnTo>
                <a:lnTo>
                  <a:pt x="46" y="180"/>
                </a:lnTo>
                <a:lnTo>
                  <a:pt x="46" y="184"/>
                </a:lnTo>
                <a:lnTo>
                  <a:pt x="51" y="201"/>
                </a:lnTo>
                <a:lnTo>
                  <a:pt x="59" y="216"/>
                </a:lnTo>
                <a:lnTo>
                  <a:pt x="69" y="230"/>
                </a:lnTo>
                <a:lnTo>
                  <a:pt x="83" y="242"/>
                </a:lnTo>
                <a:lnTo>
                  <a:pt x="87" y="243"/>
                </a:lnTo>
                <a:lnTo>
                  <a:pt x="89" y="244"/>
                </a:lnTo>
                <a:lnTo>
                  <a:pt x="181" y="244"/>
                </a:lnTo>
                <a:lnTo>
                  <a:pt x="185" y="244"/>
                </a:lnTo>
                <a:lnTo>
                  <a:pt x="189" y="247"/>
                </a:lnTo>
                <a:lnTo>
                  <a:pt x="192" y="251"/>
                </a:lnTo>
                <a:lnTo>
                  <a:pt x="193" y="256"/>
                </a:lnTo>
                <a:lnTo>
                  <a:pt x="193" y="265"/>
                </a:lnTo>
                <a:lnTo>
                  <a:pt x="192" y="270"/>
                </a:lnTo>
                <a:lnTo>
                  <a:pt x="189" y="274"/>
                </a:lnTo>
                <a:lnTo>
                  <a:pt x="185" y="276"/>
                </a:lnTo>
                <a:lnTo>
                  <a:pt x="181" y="276"/>
                </a:lnTo>
                <a:lnTo>
                  <a:pt x="22" y="276"/>
                </a:lnTo>
                <a:lnTo>
                  <a:pt x="18" y="276"/>
                </a:lnTo>
                <a:lnTo>
                  <a:pt x="14" y="274"/>
                </a:lnTo>
                <a:lnTo>
                  <a:pt x="12" y="270"/>
                </a:lnTo>
                <a:lnTo>
                  <a:pt x="10" y="265"/>
                </a:lnTo>
                <a:lnTo>
                  <a:pt x="10" y="256"/>
                </a:lnTo>
                <a:lnTo>
                  <a:pt x="12" y="251"/>
                </a:lnTo>
                <a:lnTo>
                  <a:pt x="14" y="247"/>
                </a:lnTo>
                <a:lnTo>
                  <a:pt x="18" y="244"/>
                </a:lnTo>
                <a:lnTo>
                  <a:pt x="22" y="244"/>
                </a:lnTo>
                <a:lnTo>
                  <a:pt x="24" y="244"/>
                </a:lnTo>
                <a:lnTo>
                  <a:pt x="27" y="243"/>
                </a:lnTo>
                <a:lnTo>
                  <a:pt x="29" y="241"/>
                </a:lnTo>
                <a:lnTo>
                  <a:pt x="29" y="238"/>
                </a:lnTo>
                <a:lnTo>
                  <a:pt x="28" y="235"/>
                </a:lnTo>
                <a:lnTo>
                  <a:pt x="17" y="210"/>
                </a:lnTo>
                <a:lnTo>
                  <a:pt x="10" y="183"/>
                </a:lnTo>
                <a:lnTo>
                  <a:pt x="9" y="179"/>
                </a:lnTo>
                <a:lnTo>
                  <a:pt x="8" y="177"/>
                </a:lnTo>
                <a:lnTo>
                  <a:pt x="4" y="170"/>
                </a:lnTo>
                <a:lnTo>
                  <a:pt x="0" y="164"/>
                </a:lnTo>
                <a:lnTo>
                  <a:pt x="0" y="157"/>
                </a:lnTo>
                <a:lnTo>
                  <a:pt x="3" y="143"/>
                </a:lnTo>
                <a:lnTo>
                  <a:pt x="13" y="133"/>
                </a:lnTo>
                <a:lnTo>
                  <a:pt x="15" y="131"/>
                </a:lnTo>
                <a:lnTo>
                  <a:pt x="17" y="128"/>
                </a:lnTo>
                <a:lnTo>
                  <a:pt x="27" y="109"/>
                </a:lnTo>
                <a:lnTo>
                  <a:pt x="38" y="91"/>
                </a:lnTo>
                <a:lnTo>
                  <a:pt x="54" y="76"/>
                </a:lnTo>
                <a:lnTo>
                  <a:pt x="73" y="63"/>
                </a:lnTo>
                <a:lnTo>
                  <a:pt x="75" y="62"/>
                </a:lnTo>
                <a:lnTo>
                  <a:pt x="75" y="59"/>
                </a:lnTo>
                <a:lnTo>
                  <a:pt x="75" y="57"/>
                </a:lnTo>
                <a:lnTo>
                  <a:pt x="65" y="31"/>
                </a:lnTo>
                <a:lnTo>
                  <a:pt x="65" y="30"/>
                </a:lnTo>
                <a:lnTo>
                  <a:pt x="64" y="30"/>
                </a:lnTo>
                <a:lnTo>
                  <a:pt x="61" y="30"/>
                </a:lnTo>
                <a:lnTo>
                  <a:pt x="59" y="31"/>
                </a:lnTo>
                <a:lnTo>
                  <a:pt x="58" y="31"/>
                </a:lnTo>
                <a:lnTo>
                  <a:pt x="56" y="31"/>
                </a:lnTo>
                <a:lnTo>
                  <a:pt x="55" y="30"/>
                </a:lnTo>
                <a:lnTo>
                  <a:pt x="52" y="22"/>
                </a:lnTo>
                <a:lnTo>
                  <a:pt x="52" y="20"/>
                </a:lnTo>
                <a:lnTo>
                  <a:pt x="52" y="18"/>
                </a:lnTo>
                <a:lnTo>
                  <a:pt x="54" y="18"/>
                </a:lnTo>
                <a:lnTo>
                  <a:pt x="59" y="16"/>
                </a:lnTo>
                <a:lnTo>
                  <a:pt x="93" y="2"/>
                </a:lnTo>
                <a:lnTo>
                  <a:pt x="98" y="0"/>
                </a:lnTo>
                <a:lnTo>
                  <a:pt x="101" y="0"/>
                </a:lnTo>
                <a:close/>
              </a:path>
            </a:pathLst>
          </a:custGeom>
          <a:solidFill>
            <a:schemeClr val="bg1">
              <a:alpha val="10000"/>
            </a:schemeClr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" name="Freeform 387"/>
          <p:cNvSpPr>
            <a:spLocks noEditPoints="1"/>
          </p:cNvSpPr>
          <p:nvPr userDrawn="1"/>
        </p:nvSpPr>
        <p:spPr bwMode="auto">
          <a:xfrm rot="1888595">
            <a:off x="2442159" y="392103"/>
            <a:ext cx="1572202" cy="2081915"/>
          </a:xfrm>
          <a:custGeom>
            <a:avLst/>
            <a:gdLst>
              <a:gd name="T0" fmla="*/ 68 w 219"/>
              <a:gd name="T1" fmla="*/ 188 h 290"/>
              <a:gd name="T2" fmla="*/ 108 w 219"/>
              <a:gd name="T3" fmla="*/ 177 h 290"/>
              <a:gd name="T4" fmla="*/ 114 w 219"/>
              <a:gd name="T5" fmla="*/ 174 h 290"/>
              <a:gd name="T6" fmla="*/ 168 w 219"/>
              <a:gd name="T7" fmla="*/ 174 h 290"/>
              <a:gd name="T8" fmla="*/ 52 w 219"/>
              <a:gd name="T9" fmla="*/ 172 h 290"/>
              <a:gd name="T10" fmla="*/ 100 w 219"/>
              <a:gd name="T11" fmla="*/ 170 h 290"/>
              <a:gd name="T12" fmla="*/ 52 w 219"/>
              <a:gd name="T13" fmla="*/ 117 h 290"/>
              <a:gd name="T14" fmla="*/ 44 w 219"/>
              <a:gd name="T15" fmla="*/ 168 h 290"/>
              <a:gd name="T16" fmla="*/ 53 w 219"/>
              <a:gd name="T17" fmla="*/ 118 h 290"/>
              <a:gd name="T18" fmla="*/ 89 w 219"/>
              <a:gd name="T19" fmla="*/ 138 h 290"/>
              <a:gd name="T20" fmla="*/ 137 w 219"/>
              <a:gd name="T21" fmla="*/ 145 h 290"/>
              <a:gd name="T22" fmla="*/ 150 w 219"/>
              <a:gd name="T23" fmla="*/ 141 h 290"/>
              <a:gd name="T24" fmla="*/ 175 w 219"/>
              <a:gd name="T25" fmla="*/ 169 h 290"/>
              <a:gd name="T26" fmla="*/ 172 w 219"/>
              <a:gd name="T27" fmla="*/ 114 h 290"/>
              <a:gd name="T28" fmla="*/ 31 w 219"/>
              <a:gd name="T29" fmla="*/ 152 h 290"/>
              <a:gd name="T30" fmla="*/ 43 w 219"/>
              <a:gd name="T31" fmla="*/ 112 h 290"/>
              <a:gd name="T32" fmla="*/ 115 w 219"/>
              <a:gd name="T33" fmla="*/ 109 h 290"/>
              <a:gd name="T34" fmla="*/ 164 w 219"/>
              <a:gd name="T35" fmla="*/ 112 h 290"/>
              <a:gd name="T36" fmla="*/ 73 w 219"/>
              <a:gd name="T37" fmla="*/ 83 h 290"/>
              <a:gd name="T38" fmla="*/ 83 w 219"/>
              <a:gd name="T39" fmla="*/ 131 h 290"/>
              <a:gd name="T40" fmla="*/ 77 w 219"/>
              <a:gd name="T41" fmla="*/ 82 h 290"/>
              <a:gd name="T42" fmla="*/ 175 w 219"/>
              <a:gd name="T43" fmla="*/ 108 h 290"/>
              <a:gd name="T44" fmla="*/ 196 w 219"/>
              <a:gd name="T45" fmla="*/ 90 h 290"/>
              <a:gd name="T46" fmla="*/ 82 w 219"/>
              <a:gd name="T47" fmla="*/ 77 h 290"/>
              <a:gd name="T48" fmla="*/ 129 w 219"/>
              <a:gd name="T49" fmla="*/ 85 h 290"/>
              <a:gd name="T50" fmla="*/ 174 w 219"/>
              <a:gd name="T51" fmla="*/ 51 h 290"/>
              <a:gd name="T52" fmla="*/ 156 w 219"/>
              <a:gd name="T53" fmla="*/ 96 h 290"/>
              <a:gd name="T54" fmla="*/ 178 w 219"/>
              <a:gd name="T55" fmla="*/ 77 h 290"/>
              <a:gd name="T56" fmla="*/ 43 w 219"/>
              <a:gd name="T57" fmla="*/ 51 h 290"/>
              <a:gd name="T58" fmla="*/ 49 w 219"/>
              <a:gd name="T59" fmla="*/ 104 h 290"/>
              <a:gd name="T60" fmla="*/ 184 w 219"/>
              <a:gd name="T61" fmla="*/ 41 h 290"/>
              <a:gd name="T62" fmla="*/ 202 w 219"/>
              <a:gd name="T63" fmla="*/ 89 h 290"/>
              <a:gd name="T64" fmla="*/ 112 w 219"/>
              <a:gd name="T65" fmla="*/ 205 h 290"/>
              <a:gd name="T66" fmla="*/ 41 w 219"/>
              <a:gd name="T67" fmla="*/ 183 h 290"/>
              <a:gd name="T68" fmla="*/ 137 w 219"/>
              <a:gd name="T69" fmla="*/ 209 h 290"/>
              <a:gd name="T70" fmla="*/ 201 w 219"/>
              <a:gd name="T71" fmla="*/ 64 h 290"/>
              <a:gd name="T72" fmla="*/ 118 w 219"/>
              <a:gd name="T73" fmla="*/ 49 h 290"/>
              <a:gd name="T74" fmla="*/ 138 w 219"/>
              <a:gd name="T75" fmla="*/ 76 h 290"/>
              <a:gd name="T76" fmla="*/ 92 w 219"/>
              <a:gd name="T77" fmla="*/ 23 h 290"/>
              <a:gd name="T78" fmla="*/ 75 w 219"/>
              <a:gd name="T79" fmla="*/ 71 h 290"/>
              <a:gd name="T80" fmla="*/ 95 w 219"/>
              <a:gd name="T81" fmla="*/ 23 h 290"/>
              <a:gd name="T82" fmla="*/ 110 w 219"/>
              <a:gd name="T83" fmla="*/ 43 h 290"/>
              <a:gd name="T84" fmla="*/ 151 w 219"/>
              <a:gd name="T85" fmla="*/ 32 h 290"/>
              <a:gd name="T86" fmla="*/ 219 w 219"/>
              <a:gd name="T87" fmla="*/ 12 h 290"/>
              <a:gd name="T88" fmla="*/ 195 w 219"/>
              <a:gd name="T89" fmla="*/ 30 h 290"/>
              <a:gd name="T90" fmla="*/ 219 w 219"/>
              <a:gd name="T91" fmla="*/ 101 h 290"/>
              <a:gd name="T92" fmla="*/ 118 w 219"/>
              <a:gd name="T93" fmla="*/ 219 h 290"/>
              <a:gd name="T94" fmla="*/ 126 w 219"/>
              <a:gd name="T95" fmla="*/ 243 h 290"/>
              <a:gd name="T96" fmla="*/ 118 w 219"/>
              <a:gd name="T97" fmla="*/ 266 h 290"/>
              <a:gd name="T98" fmla="*/ 183 w 219"/>
              <a:gd name="T99" fmla="*/ 290 h 290"/>
              <a:gd name="T100" fmla="*/ 77 w 219"/>
              <a:gd name="T101" fmla="*/ 269 h 290"/>
              <a:gd name="T102" fmla="*/ 95 w 219"/>
              <a:gd name="T103" fmla="*/ 251 h 290"/>
              <a:gd name="T104" fmla="*/ 103 w 219"/>
              <a:gd name="T105" fmla="*/ 220 h 290"/>
              <a:gd name="T106" fmla="*/ 30 w 219"/>
              <a:gd name="T107" fmla="*/ 193 h 290"/>
              <a:gd name="T108" fmla="*/ 20 w 219"/>
              <a:gd name="T109" fmla="*/ 219 h 290"/>
              <a:gd name="T110" fmla="*/ 13 w 219"/>
              <a:gd name="T111" fmla="*/ 188 h 290"/>
              <a:gd name="T112" fmla="*/ 37 w 219"/>
              <a:gd name="T113" fmla="*/ 173 h 290"/>
              <a:gd name="T114" fmla="*/ 62 w 219"/>
              <a:gd name="T115" fmla="*/ 27 h 290"/>
              <a:gd name="T116" fmla="*/ 177 w 219"/>
              <a:gd name="T117" fmla="*/ 39 h 290"/>
              <a:gd name="T118" fmla="*/ 192 w 219"/>
              <a:gd name="T119" fmla="*/ 6 h 2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219" h="290">
                <a:moveTo>
                  <a:pt x="106" y="175"/>
                </a:moveTo>
                <a:lnTo>
                  <a:pt x="104" y="175"/>
                </a:lnTo>
                <a:lnTo>
                  <a:pt x="87" y="183"/>
                </a:lnTo>
                <a:lnTo>
                  <a:pt x="68" y="187"/>
                </a:lnTo>
                <a:lnTo>
                  <a:pt x="68" y="187"/>
                </a:lnTo>
                <a:lnTo>
                  <a:pt x="67" y="188"/>
                </a:lnTo>
                <a:lnTo>
                  <a:pt x="68" y="188"/>
                </a:lnTo>
                <a:lnTo>
                  <a:pt x="90" y="196"/>
                </a:lnTo>
                <a:lnTo>
                  <a:pt x="113" y="198"/>
                </a:lnTo>
                <a:lnTo>
                  <a:pt x="114" y="198"/>
                </a:lnTo>
                <a:lnTo>
                  <a:pt x="115" y="196"/>
                </a:lnTo>
                <a:lnTo>
                  <a:pt x="115" y="195"/>
                </a:lnTo>
                <a:lnTo>
                  <a:pt x="113" y="186"/>
                </a:lnTo>
                <a:lnTo>
                  <a:pt x="108" y="177"/>
                </a:lnTo>
                <a:lnTo>
                  <a:pt x="108" y="177"/>
                </a:lnTo>
                <a:lnTo>
                  <a:pt x="106" y="175"/>
                </a:lnTo>
                <a:close/>
                <a:moveTo>
                  <a:pt x="142" y="150"/>
                </a:moveTo>
                <a:lnTo>
                  <a:pt x="141" y="150"/>
                </a:lnTo>
                <a:lnTo>
                  <a:pt x="115" y="170"/>
                </a:lnTo>
                <a:lnTo>
                  <a:pt x="114" y="172"/>
                </a:lnTo>
                <a:lnTo>
                  <a:pt x="114" y="174"/>
                </a:lnTo>
                <a:lnTo>
                  <a:pt x="123" y="195"/>
                </a:lnTo>
                <a:lnTo>
                  <a:pt x="124" y="197"/>
                </a:lnTo>
                <a:lnTo>
                  <a:pt x="126" y="197"/>
                </a:lnTo>
                <a:lnTo>
                  <a:pt x="147" y="189"/>
                </a:lnTo>
                <a:lnTo>
                  <a:pt x="168" y="177"/>
                </a:lnTo>
                <a:lnTo>
                  <a:pt x="168" y="175"/>
                </a:lnTo>
                <a:lnTo>
                  <a:pt x="168" y="174"/>
                </a:lnTo>
                <a:lnTo>
                  <a:pt x="168" y="173"/>
                </a:lnTo>
                <a:lnTo>
                  <a:pt x="145" y="150"/>
                </a:lnTo>
                <a:lnTo>
                  <a:pt x="143" y="150"/>
                </a:lnTo>
                <a:lnTo>
                  <a:pt x="142" y="150"/>
                </a:lnTo>
                <a:close/>
                <a:moveTo>
                  <a:pt x="81" y="143"/>
                </a:moveTo>
                <a:lnTo>
                  <a:pt x="80" y="143"/>
                </a:lnTo>
                <a:lnTo>
                  <a:pt x="52" y="172"/>
                </a:lnTo>
                <a:lnTo>
                  <a:pt x="52" y="174"/>
                </a:lnTo>
                <a:lnTo>
                  <a:pt x="52" y="175"/>
                </a:lnTo>
                <a:lnTo>
                  <a:pt x="53" y="177"/>
                </a:lnTo>
                <a:lnTo>
                  <a:pt x="64" y="179"/>
                </a:lnTo>
                <a:lnTo>
                  <a:pt x="77" y="179"/>
                </a:lnTo>
                <a:lnTo>
                  <a:pt x="90" y="175"/>
                </a:lnTo>
                <a:lnTo>
                  <a:pt x="100" y="170"/>
                </a:lnTo>
                <a:lnTo>
                  <a:pt x="101" y="169"/>
                </a:lnTo>
                <a:lnTo>
                  <a:pt x="103" y="168"/>
                </a:lnTo>
                <a:lnTo>
                  <a:pt x="101" y="166"/>
                </a:lnTo>
                <a:lnTo>
                  <a:pt x="85" y="143"/>
                </a:lnTo>
                <a:lnTo>
                  <a:pt x="83" y="143"/>
                </a:lnTo>
                <a:lnTo>
                  <a:pt x="81" y="143"/>
                </a:lnTo>
                <a:close/>
                <a:moveTo>
                  <a:pt x="52" y="117"/>
                </a:moveTo>
                <a:lnTo>
                  <a:pt x="50" y="118"/>
                </a:lnTo>
                <a:lnTo>
                  <a:pt x="49" y="119"/>
                </a:lnTo>
                <a:lnTo>
                  <a:pt x="44" y="129"/>
                </a:lnTo>
                <a:lnTo>
                  <a:pt x="40" y="142"/>
                </a:lnTo>
                <a:lnTo>
                  <a:pt x="40" y="155"/>
                </a:lnTo>
                <a:lnTo>
                  <a:pt x="43" y="166"/>
                </a:lnTo>
                <a:lnTo>
                  <a:pt x="44" y="168"/>
                </a:lnTo>
                <a:lnTo>
                  <a:pt x="45" y="168"/>
                </a:lnTo>
                <a:lnTo>
                  <a:pt x="48" y="168"/>
                </a:lnTo>
                <a:lnTo>
                  <a:pt x="76" y="140"/>
                </a:lnTo>
                <a:lnTo>
                  <a:pt x="76" y="138"/>
                </a:lnTo>
                <a:lnTo>
                  <a:pt x="76" y="136"/>
                </a:lnTo>
                <a:lnTo>
                  <a:pt x="76" y="135"/>
                </a:lnTo>
                <a:lnTo>
                  <a:pt x="53" y="118"/>
                </a:lnTo>
                <a:lnTo>
                  <a:pt x="52" y="117"/>
                </a:lnTo>
                <a:close/>
                <a:moveTo>
                  <a:pt x="110" y="115"/>
                </a:moveTo>
                <a:lnTo>
                  <a:pt x="109" y="115"/>
                </a:lnTo>
                <a:lnTo>
                  <a:pt x="108" y="117"/>
                </a:lnTo>
                <a:lnTo>
                  <a:pt x="89" y="135"/>
                </a:lnTo>
                <a:lnTo>
                  <a:pt x="89" y="136"/>
                </a:lnTo>
                <a:lnTo>
                  <a:pt x="89" y="138"/>
                </a:lnTo>
                <a:lnTo>
                  <a:pt x="89" y="140"/>
                </a:lnTo>
                <a:lnTo>
                  <a:pt x="108" y="164"/>
                </a:lnTo>
                <a:lnTo>
                  <a:pt x="109" y="164"/>
                </a:lnTo>
                <a:lnTo>
                  <a:pt x="110" y="165"/>
                </a:lnTo>
                <a:lnTo>
                  <a:pt x="112" y="164"/>
                </a:lnTo>
                <a:lnTo>
                  <a:pt x="136" y="146"/>
                </a:lnTo>
                <a:lnTo>
                  <a:pt x="137" y="145"/>
                </a:lnTo>
                <a:lnTo>
                  <a:pt x="137" y="142"/>
                </a:lnTo>
                <a:lnTo>
                  <a:pt x="136" y="141"/>
                </a:lnTo>
                <a:lnTo>
                  <a:pt x="112" y="117"/>
                </a:lnTo>
                <a:lnTo>
                  <a:pt x="110" y="115"/>
                </a:lnTo>
                <a:close/>
                <a:moveTo>
                  <a:pt x="172" y="114"/>
                </a:moveTo>
                <a:lnTo>
                  <a:pt x="169" y="115"/>
                </a:lnTo>
                <a:lnTo>
                  <a:pt x="150" y="141"/>
                </a:lnTo>
                <a:lnTo>
                  <a:pt x="149" y="142"/>
                </a:lnTo>
                <a:lnTo>
                  <a:pt x="149" y="145"/>
                </a:lnTo>
                <a:lnTo>
                  <a:pt x="150" y="146"/>
                </a:lnTo>
                <a:lnTo>
                  <a:pt x="172" y="168"/>
                </a:lnTo>
                <a:lnTo>
                  <a:pt x="173" y="169"/>
                </a:lnTo>
                <a:lnTo>
                  <a:pt x="174" y="169"/>
                </a:lnTo>
                <a:lnTo>
                  <a:pt x="175" y="169"/>
                </a:lnTo>
                <a:lnTo>
                  <a:pt x="177" y="168"/>
                </a:lnTo>
                <a:lnTo>
                  <a:pt x="189" y="149"/>
                </a:lnTo>
                <a:lnTo>
                  <a:pt x="196" y="127"/>
                </a:lnTo>
                <a:lnTo>
                  <a:pt x="196" y="124"/>
                </a:lnTo>
                <a:lnTo>
                  <a:pt x="195" y="123"/>
                </a:lnTo>
                <a:lnTo>
                  <a:pt x="173" y="114"/>
                </a:lnTo>
                <a:lnTo>
                  <a:pt x="172" y="114"/>
                </a:lnTo>
                <a:close/>
                <a:moveTo>
                  <a:pt x="25" y="104"/>
                </a:moveTo>
                <a:lnTo>
                  <a:pt x="23" y="104"/>
                </a:lnTo>
                <a:lnTo>
                  <a:pt x="21" y="105"/>
                </a:lnTo>
                <a:lnTo>
                  <a:pt x="21" y="106"/>
                </a:lnTo>
                <a:lnTo>
                  <a:pt x="23" y="129"/>
                </a:lnTo>
                <a:lnTo>
                  <a:pt x="31" y="151"/>
                </a:lnTo>
                <a:lnTo>
                  <a:pt x="31" y="152"/>
                </a:lnTo>
                <a:lnTo>
                  <a:pt x="32" y="151"/>
                </a:lnTo>
                <a:lnTo>
                  <a:pt x="32" y="151"/>
                </a:lnTo>
                <a:lnTo>
                  <a:pt x="36" y="132"/>
                </a:lnTo>
                <a:lnTo>
                  <a:pt x="44" y="115"/>
                </a:lnTo>
                <a:lnTo>
                  <a:pt x="44" y="113"/>
                </a:lnTo>
                <a:lnTo>
                  <a:pt x="43" y="112"/>
                </a:lnTo>
                <a:lnTo>
                  <a:pt x="43" y="112"/>
                </a:lnTo>
                <a:lnTo>
                  <a:pt x="34" y="106"/>
                </a:lnTo>
                <a:lnTo>
                  <a:pt x="25" y="104"/>
                </a:lnTo>
                <a:close/>
                <a:moveTo>
                  <a:pt x="137" y="89"/>
                </a:moveTo>
                <a:lnTo>
                  <a:pt x="136" y="89"/>
                </a:lnTo>
                <a:lnTo>
                  <a:pt x="135" y="90"/>
                </a:lnTo>
                <a:lnTo>
                  <a:pt x="117" y="108"/>
                </a:lnTo>
                <a:lnTo>
                  <a:pt x="115" y="109"/>
                </a:lnTo>
                <a:lnTo>
                  <a:pt x="115" y="110"/>
                </a:lnTo>
                <a:lnTo>
                  <a:pt x="117" y="112"/>
                </a:lnTo>
                <a:lnTo>
                  <a:pt x="141" y="137"/>
                </a:lnTo>
                <a:lnTo>
                  <a:pt x="142" y="137"/>
                </a:lnTo>
                <a:lnTo>
                  <a:pt x="145" y="137"/>
                </a:lnTo>
                <a:lnTo>
                  <a:pt x="164" y="113"/>
                </a:lnTo>
                <a:lnTo>
                  <a:pt x="164" y="112"/>
                </a:lnTo>
                <a:lnTo>
                  <a:pt x="164" y="109"/>
                </a:lnTo>
                <a:lnTo>
                  <a:pt x="163" y="109"/>
                </a:lnTo>
                <a:lnTo>
                  <a:pt x="138" y="90"/>
                </a:lnTo>
                <a:lnTo>
                  <a:pt x="137" y="89"/>
                </a:lnTo>
                <a:close/>
                <a:moveTo>
                  <a:pt x="77" y="82"/>
                </a:moveTo>
                <a:lnTo>
                  <a:pt x="75" y="82"/>
                </a:lnTo>
                <a:lnTo>
                  <a:pt x="73" y="83"/>
                </a:lnTo>
                <a:lnTo>
                  <a:pt x="55" y="108"/>
                </a:lnTo>
                <a:lnTo>
                  <a:pt x="54" y="109"/>
                </a:lnTo>
                <a:lnTo>
                  <a:pt x="55" y="110"/>
                </a:lnTo>
                <a:lnTo>
                  <a:pt x="55" y="112"/>
                </a:lnTo>
                <a:lnTo>
                  <a:pt x="80" y="131"/>
                </a:lnTo>
                <a:lnTo>
                  <a:pt x="81" y="131"/>
                </a:lnTo>
                <a:lnTo>
                  <a:pt x="83" y="131"/>
                </a:lnTo>
                <a:lnTo>
                  <a:pt x="85" y="131"/>
                </a:lnTo>
                <a:lnTo>
                  <a:pt x="103" y="112"/>
                </a:lnTo>
                <a:lnTo>
                  <a:pt x="104" y="110"/>
                </a:lnTo>
                <a:lnTo>
                  <a:pt x="104" y="109"/>
                </a:lnTo>
                <a:lnTo>
                  <a:pt x="103" y="108"/>
                </a:lnTo>
                <a:lnTo>
                  <a:pt x="78" y="83"/>
                </a:lnTo>
                <a:lnTo>
                  <a:pt x="77" y="82"/>
                </a:lnTo>
                <a:close/>
                <a:moveTo>
                  <a:pt x="187" y="68"/>
                </a:moveTo>
                <a:lnTo>
                  <a:pt x="186" y="68"/>
                </a:lnTo>
                <a:lnTo>
                  <a:pt x="186" y="69"/>
                </a:lnTo>
                <a:lnTo>
                  <a:pt x="183" y="87"/>
                </a:lnTo>
                <a:lnTo>
                  <a:pt x="175" y="105"/>
                </a:lnTo>
                <a:lnTo>
                  <a:pt x="175" y="106"/>
                </a:lnTo>
                <a:lnTo>
                  <a:pt x="175" y="108"/>
                </a:lnTo>
                <a:lnTo>
                  <a:pt x="177" y="109"/>
                </a:lnTo>
                <a:lnTo>
                  <a:pt x="186" y="113"/>
                </a:lnTo>
                <a:lnTo>
                  <a:pt x="195" y="117"/>
                </a:lnTo>
                <a:lnTo>
                  <a:pt x="196" y="117"/>
                </a:lnTo>
                <a:lnTo>
                  <a:pt x="197" y="115"/>
                </a:lnTo>
                <a:lnTo>
                  <a:pt x="197" y="114"/>
                </a:lnTo>
                <a:lnTo>
                  <a:pt x="196" y="90"/>
                </a:lnTo>
                <a:lnTo>
                  <a:pt x="187" y="68"/>
                </a:lnTo>
                <a:lnTo>
                  <a:pt x="187" y="68"/>
                </a:lnTo>
                <a:close/>
                <a:moveTo>
                  <a:pt x="108" y="55"/>
                </a:moveTo>
                <a:lnTo>
                  <a:pt x="106" y="55"/>
                </a:lnTo>
                <a:lnTo>
                  <a:pt x="82" y="74"/>
                </a:lnTo>
                <a:lnTo>
                  <a:pt x="82" y="76"/>
                </a:lnTo>
                <a:lnTo>
                  <a:pt x="82" y="77"/>
                </a:lnTo>
                <a:lnTo>
                  <a:pt x="82" y="77"/>
                </a:lnTo>
                <a:lnTo>
                  <a:pt x="82" y="78"/>
                </a:lnTo>
                <a:lnTo>
                  <a:pt x="108" y="103"/>
                </a:lnTo>
                <a:lnTo>
                  <a:pt x="109" y="104"/>
                </a:lnTo>
                <a:lnTo>
                  <a:pt x="110" y="104"/>
                </a:lnTo>
                <a:lnTo>
                  <a:pt x="112" y="103"/>
                </a:lnTo>
                <a:lnTo>
                  <a:pt x="129" y="85"/>
                </a:lnTo>
                <a:lnTo>
                  <a:pt x="131" y="83"/>
                </a:lnTo>
                <a:lnTo>
                  <a:pt x="131" y="82"/>
                </a:lnTo>
                <a:lnTo>
                  <a:pt x="129" y="81"/>
                </a:lnTo>
                <a:lnTo>
                  <a:pt x="110" y="57"/>
                </a:lnTo>
                <a:lnTo>
                  <a:pt x="109" y="55"/>
                </a:lnTo>
                <a:lnTo>
                  <a:pt x="108" y="55"/>
                </a:lnTo>
                <a:close/>
                <a:moveTo>
                  <a:pt x="174" y="51"/>
                </a:moveTo>
                <a:lnTo>
                  <a:pt x="173" y="51"/>
                </a:lnTo>
                <a:lnTo>
                  <a:pt x="172" y="53"/>
                </a:lnTo>
                <a:lnTo>
                  <a:pt x="143" y="81"/>
                </a:lnTo>
                <a:lnTo>
                  <a:pt x="142" y="83"/>
                </a:lnTo>
                <a:lnTo>
                  <a:pt x="145" y="86"/>
                </a:lnTo>
                <a:lnTo>
                  <a:pt x="150" y="91"/>
                </a:lnTo>
                <a:lnTo>
                  <a:pt x="156" y="96"/>
                </a:lnTo>
                <a:lnTo>
                  <a:pt x="161" y="100"/>
                </a:lnTo>
                <a:lnTo>
                  <a:pt x="165" y="103"/>
                </a:lnTo>
                <a:lnTo>
                  <a:pt x="166" y="103"/>
                </a:lnTo>
                <a:lnTo>
                  <a:pt x="169" y="103"/>
                </a:lnTo>
                <a:lnTo>
                  <a:pt x="170" y="101"/>
                </a:lnTo>
                <a:lnTo>
                  <a:pt x="174" y="90"/>
                </a:lnTo>
                <a:lnTo>
                  <a:pt x="178" y="77"/>
                </a:lnTo>
                <a:lnTo>
                  <a:pt x="179" y="64"/>
                </a:lnTo>
                <a:lnTo>
                  <a:pt x="177" y="53"/>
                </a:lnTo>
                <a:lnTo>
                  <a:pt x="175" y="53"/>
                </a:lnTo>
                <a:lnTo>
                  <a:pt x="174" y="51"/>
                </a:lnTo>
                <a:close/>
                <a:moveTo>
                  <a:pt x="45" y="51"/>
                </a:moveTo>
                <a:lnTo>
                  <a:pt x="44" y="51"/>
                </a:lnTo>
                <a:lnTo>
                  <a:pt x="43" y="51"/>
                </a:lnTo>
                <a:lnTo>
                  <a:pt x="30" y="72"/>
                </a:lnTo>
                <a:lnTo>
                  <a:pt x="22" y="94"/>
                </a:lnTo>
                <a:lnTo>
                  <a:pt x="22" y="95"/>
                </a:lnTo>
                <a:lnTo>
                  <a:pt x="25" y="96"/>
                </a:lnTo>
                <a:lnTo>
                  <a:pt x="45" y="105"/>
                </a:lnTo>
                <a:lnTo>
                  <a:pt x="48" y="105"/>
                </a:lnTo>
                <a:lnTo>
                  <a:pt x="49" y="104"/>
                </a:lnTo>
                <a:lnTo>
                  <a:pt x="69" y="78"/>
                </a:lnTo>
                <a:lnTo>
                  <a:pt x="69" y="77"/>
                </a:lnTo>
                <a:lnTo>
                  <a:pt x="69" y="76"/>
                </a:lnTo>
                <a:lnTo>
                  <a:pt x="69" y="74"/>
                </a:lnTo>
                <a:lnTo>
                  <a:pt x="46" y="51"/>
                </a:lnTo>
                <a:lnTo>
                  <a:pt x="45" y="51"/>
                </a:lnTo>
                <a:close/>
                <a:moveTo>
                  <a:pt x="184" y="41"/>
                </a:moveTo>
                <a:lnTo>
                  <a:pt x="183" y="41"/>
                </a:lnTo>
                <a:lnTo>
                  <a:pt x="182" y="43"/>
                </a:lnTo>
                <a:lnTo>
                  <a:pt x="181" y="43"/>
                </a:lnTo>
                <a:lnTo>
                  <a:pt x="181" y="45"/>
                </a:lnTo>
                <a:lnTo>
                  <a:pt x="181" y="48"/>
                </a:lnTo>
                <a:lnTo>
                  <a:pt x="195" y="67"/>
                </a:lnTo>
                <a:lnTo>
                  <a:pt x="202" y="89"/>
                </a:lnTo>
                <a:lnTo>
                  <a:pt x="205" y="112"/>
                </a:lnTo>
                <a:lnTo>
                  <a:pt x="201" y="135"/>
                </a:lnTo>
                <a:lnTo>
                  <a:pt x="192" y="158"/>
                </a:lnTo>
                <a:lnTo>
                  <a:pt x="177" y="177"/>
                </a:lnTo>
                <a:lnTo>
                  <a:pt x="158" y="192"/>
                </a:lnTo>
                <a:lnTo>
                  <a:pt x="136" y="201"/>
                </a:lnTo>
                <a:lnTo>
                  <a:pt x="112" y="205"/>
                </a:lnTo>
                <a:lnTo>
                  <a:pt x="89" y="203"/>
                </a:lnTo>
                <a:lnTo>
                  <a:pt x="67" y="195"/>
                </a:lnTo>
                <a:lnTo>
                  <a:pt x="46" y="182"/>
                </a:lnTo>
                <a:lnTo>
                  <a:pt x="44" y="181"/>
                </a:lnTo>
                <a:lnTo>
                  <a:pt x="43" y="182"/>
                </a:lnTo>
                <a:lnTo>
                  <a:pt x="41" y="183"/>
                </a:lnTo>
                <a:lnTo>
                  <a:pt x="41" y="183"/>
                </a:lnTo>
                <a:lnTo>
                  <a:pt x="40" y="184"/>
                </a:lnTo>
                <a:lnTo>
                  <a:pt x="41" y="186"/>
                </a:lnTo>
                <a:lnTo>
                  <a:pt x="41" y="187"/>
                </a:lnTo>
                <a:lnTo>
                  <a:pt x="63" y="201"/>
                </a:lnTo>
                <a:lnTo>
                  <a:pt x="87" y="210"/>
                </a:lnTo>
                <a:lnTo>
                  <a:pt x="113" y="212"/>
                </a:lnTo>
                <a:lnTo>
                  <a:pt x="137" y="209"/>
                </a:lnTo>
                <a:lnTo>
                  <a:pt x="160" y="198"/>
                </a:lnTo>
                <a:lnTo>
                  <a:pt x="182" y="182"/>
                </a:lnTo>
                <a:lnTo>
                  <a:pt x="198" y="161"/>
                </a:lnTo>
                <a:lnTo>
                  <a:pt x="207" y="138"/>
                </a:lnTo>
                <a:lnTo>
                  <a:pt x="211" y="113"/>
                </a:lnTo>
                <a:lnTo>
                  <a:pt x="209" y="89"/>
                </a:lnTo>
                <a:lnTo>
                  <a:pt x="201" y="64"/>
                </a:lnTo>
                <a:lnTo>
                  <a:pt x="186" y="43"/>
                </a:lnTo>
                <a:lnTo>
                  <a:pt x="186" y="41"/>
                </a:lnTo>
                <a:lnTo>
                  <a:pt x="184" y="41"/>
                </a:lnTo>
                <a:close/>
                <a:moveTo>
                  <a:pt x="155" y="40"/>
                </a:moveTo>
                <a:lnTo>
                  <a:pt x="142" y="41"/>
                </a:lnTo>
                <a:lnTo>
                  <a:pt x="129" y="45"/>
                </a:lnTo>
                <a:lnTo>
                  <a:pt x="118" y="49"/>
                </a:lnTo>
                <a:lnTo>
                  <a:pt x="117" y="50"/>
                </a:lnTo>
                <a:lnTo>
                  <a:pt x="117" y="53"/>
                </a:lnTo>
                <a:lnTo>
                  <a:pt x="117" y="54"/>
                </a:lnTo>
                <a:lnTo>
                  <a:pt x="135" y="76"/>
                </a:lnTo>
                <a:lnTo>
                  <a:pt x="136" y="77"/>
                </a:lnTo>
                <a:lnTo>
                  <a:pt x="137" y="77"/>
                </a:lnTo>
                <a:lnTo>
                  <a:pt x="138" y="76"/>
                </a:lnTo>
                <a:lnTo>
                  <a:pt x="166" y="48"/>
                </a:lnTo>
                <a:lnTo>
                  <a:pt x="168" y="46"/>
                </a:lnTo>
                <a:lnTo>
                  <a:pt x="168" y="45"/>
                </a:lnTo>
                <a:lnTo>
                  <a:pt x="166" y="44"/>
                </a:lnTo>
                <a:lnTo>
                  <a:pt x="166" y="43"/>
                </a:lnTo>
                <a:lnTo>
                  <a:pt x="155" y="40"/>
                </a:lnTo>
                <a:close/>
                <a:moveTo>
                  <a:pt x="92" y="23"/>
                </a:moveTo>
                <a:lnTo>
                  <a:pt x="71" y="30"/>
                </a:lnTo>
                <a:lnTo>
                  <a:pt x="52" y="43"/>
                </a:lnTo>
                <a:lnTo>
                  <a:pt x="50" y="44"/>
                </a:lnTo>
                <a:lnTo>
                  <a:pt x="50" y="46"/>
                </a:lnTo>
                <a:lnTo>
                  <a:pt x="52" y="48"/>
                </a:lnTo>
                <a:lnTo>
                  <a:pt x="73" y="69"/>
                </a:lnTo>
                <a:lnTo>
                  <a:pt x="75" y="71"/>
                </a:lnTo>
                <a:lnTo>
                  <a:pt x="77" y="71"/>
                </a:lnTo>
                <a:lnTo>
                  <a:pt x="78" y="69"/>
                </a:lnTo>
                <a:lnTo>
                  <a:pt x="104" y="50"/>
                </a:lnTo>
                <a:lnTo>
                  <a:pt x="105" y="48"/>
                </a:lnTo>
                <a:lnTo>
                  <a:pt x="105" y="46"/>
                </a:lnTo>
                <a:lnTo>
                  <a:pt x="96" y="25"/>
                </a:lnTo>
                <a:lnTo>
                  <a:pt x="95" y="23"/>
                </a:lnTo>
                <a:lnTo>
                  <a:pt x="92" y="23"/>
                </a:lnTo>
                <a:close/>
                <a:moveTo>
                  <a:pt x="105" y="22"/>
                </a:moveTo>
                <a:lnTo>
                  <a:pt x="104" y="22"/>
                </a:lnTo>
                <a:lnTo>
                  <a:pt x="103" y="23"/>
                </a:lnTo>
                <a:lnTo>
                  <a:pt x="103" y="25"/>
                </a:lnTo>
                <a:lnTo>
                  <a:pt x="106" y="34"/>
                </a:lnTo>
                <a:lnTo>
                  <a:pt x="110" y="43"/>
                </a:lnTo>
                <a:lnTo>
                  <a:pt x="112" y="44"/>
                </a:lnTo>
                <a:lnTo>
                  <a:pt x="113" y="44"/>
                </a:lnTo>
                <a:lnTo>
                  <a:pt x="114" y="44"/>
                </a:lnTo>
                <a:lnTo>
                  <a:pt x="132" y="36"/>
                </a:lnTo>
                <a:lnTo>
                  <a:pt x="150" y="34"/>
                </a:lnTo>
                <a:lnTo>
                  <a:pt x="151" y="34"/>
                </a:lnTo>
                <a:lnTo>
                  <a:pt x="151" y="32"/>
                </a:lnTo>
                <a:lnTo>
                  <a:pt x="151" y="32"/>
                </a:lnTo>
                <a:lnTo>
                  <a:pt x="129" y="23"/>
                </a:lnTo>
                <a:lnTo>
                  <a:pt x="105" y="22"/>
                </a:lnTo>
                <a:close/>
                <a:moveTo>
                  <a:pt x="198" y="0"/>
                </a:moveTo>
                <a:lnTo>
                  <a:pt x="207" y="0"/>
                </a:lnTo>
                <a:lnTo>
                  <a:pt x="214" y="6"/>
                </a:lnTo>
                <a:lnTo>
                  <a:pt x="219" y="12"/>
                </a:lnTo>
                <a:lnTo>
                  <a:pt x="219" y="21"/>
                </a:lnTo>
                <a:lnTo>
                  <a:pt x="214" y="27"/>
                </a:lnTo>
                <a:lnTo>
                  <a:pt x="210" y="31"/>
                </a:lnTo>
                <a:lnTo>
                  <a:pt x="206" y="32"/>
                </a:lnTo>
                <a:lnTo>
                  <a:pt x="201" y="32"/>
                </a:lnTo>
                <a:lnTo>
                  <a:pt x="196" y="31"/>
                </a:lnTo>
                <a:lnTo>
                  <a:pt x="195" y="30"/>
                </a:lnTo>
                <a:lnTo>
                  <a:pt x="193" y="31"/>
                </a:lnTo>
                <a:lnTo>
                  <a:pt x="191" y="34"/>
                </a:lnTo>
                <a:lnTo>
                  <a:pt x="189" y="35"/>
                </a:lnTo>
                <a:lnTo>
                  <a:pt x="191" y="37"/>
                </a:lnTo>
                <a:lnTo>
                  <a:pt x="205" y="57"/>
                </a:lnTo>
                <a:lnTo>
                  <a:pt x="214" y="78"/>
                </a:lnTo>
                <a:lnTo>
                  <a:pt x="219" y="101"/>
                </a:lnTo>
                <a:lnTo>
                  <a:pt x="218" y="124"/>
                </a:lnTo>
                <a:lnTo>
                  <a:pt x="212" y="147"/>
                </a:lnTo>
                <a:lnTo>
                  <a:pt x="202" y="168"/>
                </a:lnTo>
                <a:lnTo>
                  <a:pt x="187" y="187"/>
                </a:lnTo>
                <a:lnTo>
                  <a:pt x="165" y="203"/>
                </a:lnTo>
                <a:lnTo>
                  <a:pt x="142" y="214"/>
                </a:lnTo>
                <a:lnTo>
                  <a:pt x="118" y="219"/>
                </a:lnTo>
                <a:lnTo>
                  <a:pt x="115" y="220"/>
                </a:lnTo>
                <a:lnTo>
                  <a:pt x="115" y="221"/>
                </a:lnTo>
                <a:lnTo>
                  <a:pt x="115" y="225"/>
                </a:lnTo>
                <a:lnTo>
                  <a:pt x="115" y="228"/>
                </a:lnTo>
                <a:lnTo>
                  <a:pt x="117" y="228"/>
                </a:lnTo>
                <a:lnTo>
                  <a:pt x="123" y="234"/>
                </a:lnTo>
                <a:lnTo>
                  <a:pt x="126" y="243"/>
                </a:lnTo>
                <a:lnTo>
                  <a:pt x="123" y="251"/>
                </a:lnTo>
                <a:lnTo>
                  <a:pt x="117" y="257"/>
                </a:lnTo>
                <a:lnTo>
                  <a:pt x="115" y="257"/>
                </a:lnTo>
                <a:lnTo>
                  <a:pt x="115" y="260"/>
                </a:lnTo>
                <a:lnTo>
                  <a:pt x="115" y="264"/>
                </a:lnTo>
                <a:lnTo>
                  <a:pt x="115" y="265"/>
                </a:lnTo>
                <a:lnTo>
                  <a:pt x="118" y="266"/>
                </a:lnTo>
                <a:lnTo>
                  <a:pt x="141" y="269"/>
                </a:lnTo>
                <a:lnTo>
                  <a:pt x="164" y="275"/>
                </a:lnTo>
                <a:lnTo>
                  <a:pt x="184" y="285"/>
                </a:lnTo>
                <a:lnTo>
                  <a:pt x="186" y="287"/>
                </a:lnTo>
                <a:lnTo>
                  <a:pt x="186" y="288"/>
                </a:lnTo>
                <a:lnTo>
                  <a:pt x="184" y="290"/>
                </a:lnTo>
                <a:lnTo>
                  <a:pt x="183" y="290"/>
                </a:lnTo>
                <a:lnTo>
                  <a:pt x="35" y="290"/>
                </a:lnTo>
                <a:lnTo>
                  <a:pt x="34" y="290"/>
                </a:lnTo>
                <a:lnTo>
                  <a:pt x="32" y="288"/>
                </a:lnTo>
                <a:lnTo>
                  <a:pt x="32" y="287"/>
                </a:lnTo>
                <a:lnTo>
                  <a:pt x="34" y="285"/>
                </a:lnTo>
                <a:lnTo>
                  <a:pt x="55" y="275"/>
                </a:lnTo>
                <a:lnTo>
                  <a:pt x="77" y="269"/>
                </a:lnTo>
                <a:lnTo>
                  <a:pt x="100" y="266"/>
                </a:lnTo>
                <a:lnTo>
                  <a:pt x="103" y="265"/>
                </a:lnTo>
                <a:lnTo>
                  <a:pt x="104" y="264"/>
                </a:lnTo>
                <a:lnTo>
                  <a:pt x="104" y="260"/>
                </a:lnTo>
                <a:lnTo>
                  <a:pt x="103" y="257"/>
                </a:lnTo>
                <a:lnTo>
                  <a:pt x="101" y="257"/>
                </a:lnTo>
                <a:lnTo>
                  <a:pt x="95" y="251"/>
                </a:lnTo>
                <a:lnTo>
                  <a:pt x="94" y="243"/>
                </a:lnTo>
                <a:lnTo>
                  <a:pt x="95" y="234"/>
                </a:lnTo>
                <a:lnTo>
                  <a:pt x="101" y="228"/>
                </a:lnTo>
                <a:lnTo>
                  <a:pt x="103" y="228"/>
                </a:lnTo>
                <a:lnTo>
                  <a:pt x="104" y="225"/>
                </a:lnTo>
                <a:lnTo>
                  <a:pt x="104" y="221"/>
                </a:lnTo>
                <a:lnTo>
                  <a:pt x="103" y="220"/>
                </a:lnTo>
                <a:lnTo>
                  <a:pt x="101" y="219"/>
                </a:lnTo>
                <a:lnTo>
                  <a:pt x="78" y="215"/>
                </a:lnTo>
                <a:lnTo>
                  <a:pt x="57" y="206"/>
                </a:lnTo>
                <a:lnTo>
                  <a:pt x="36" y="192"/>
                </a:lnTo>
                <a:lnTo>
                  <a:pt x="35" y="191"/>
                </a:lnTo>
                <a:lnTo>
                  <a:pt x="32" y="192"/>
                </a:lnTo>
                <a:lnTo>
                  <a:pt x="30" y="193"/>
                </a:lnTo>
                <a:lnTo>
                  <a:pt x="30" y="196"/>
                </a:lnTo>
                <a:lnTo>
                  <a:pt x="30" y="197"/>
                </a:lnTo>
                <a:lnTo>
                  <a:pt x="31" y="202"/>
                </a:lnTo>
                <a:lnTo>
                  <a:pt x="31" y="206"/>
                </a:lnTo>
                <a:lnTo>
                  <a:pt x="30" y="211"/>
                </a:lnTo>
                <a:lnTo>
                  <a:pt x="27" y="215"/>
                </a:lnTo>
                <a:lnTo>
                  <a:pt x="20" y="219"/>
                </a:lnTo>
                <a:lnTo>
                  <a:pt x="12" y="219"/>
                </a:lnTo>
                <a:lnTo>
                  <a:pt x="4" y="215"/>
                </a:lnTo>
                <a:lnTo>
                  <a:pt x="0" y="207"/>
                </a:lnTo>
                <a:lnTo>
                  <a:pt x="0" y="200"/>
                </a:lnTo>
                <a:lnTo>
                  <a:pt x="4" y="192"/>
                </a:lnTo>
                <a:lnTo>
                  <a:pt x="8" y="189"/>
                </a:lnTo>
                <a:lnTo>
                  <a:pt x="13" y="188"/>
                </a:lnTo>
                <a:lnTo>
                  <a:pt x="17" y="188"/>
                </a:lnTo>
                <a:lnTo>
                  <a:pt x="22" y="189"/>
                </a:lnTo>
                <a:lnTo>
                  <a:pt x="23" y="189"/>
                </a:lnTo>
                <a:lnTo>
                  <a:pt x="26" y="189"/>
                </a:lnTo>
                <a:lnTo>
                  <a:pt x="37" y="177"/>
                </a:lnTo>
                <a:lnTo>
                  <a:pt x="39" y="175"/>
                </a:lnTo>
                <a:lnTo>
                  <a:pt x="37" y="173"/>
                </a:lnTo>
                <a:lnTo>
                  <a:pt x="25" y="152"/>
                </a:lnTo>
                <a:lnTo>
                  <a:pt x="16" y="131"/>
                </a:lnTo>
                <a:lnTo>
                  <a:pt x="14" y="108"/>
                </a:lnTo>
                <a:lnTo>
                  <a:pt x="18" y="83"/>
                </a:lnTo>
                <a:lnTo>
                  <a:pt x="27" y="62"/>
                </a:lnTo>
                <a:lnTo>
                  <a:pt x="43" y="43"/>
                </a:lnTo>
                <a:lnTo>
                  <a:pt x="62" y="27"/>
                </a:lnTo>
                <a:lnTo>
                  <a:pt x="85" y="18"/>
                </a:lnTo>
                <a:lnTo>
                  <a:pt x="108" y="14"/>
                </a:lnTo>
                <a:lnTo>
                  <a:pt x="131" y="17"/>
                </a:lnTo>
                <a:lnTo>
                  <a:pt x="152" y="25"/>
                </a:lnTo>
                <a:lnTo>
                  <a:pt x="172" y="39"/>
                </a:lnTo>
                <a:lnTo>
                  <a:pt x="174" y="39"/>
                </a:lnTo>
                <a:lnTo>
                  <a:pt x="177" y="39"/>
                </a:lnTo>
                <a:lnTo>
                  <a:pt x="188" y="26"/>
                </a:lnTo>
                <a:lnTo>
                  <a:pt x="189" y="25"/>
                </a:lnTo>
                <a:lnTo>
                  <a:pt x="188" y="23"/>
                </a:lnTo>
                <a:lnTo>
                  <a:pt x="187" y="18"/>
                </a:lnTo>
                <a:lnTo>
                  <a:pt x="187" y="13"/>
                </a:lnTo>
                <a:lnTo>
                  <a:pt x="188" y="9"/>
                </a:lnTo>
                <a:lnTo>
                  <a:pt x="192" y="6"/>
                </a:lnTo>
                <a:lnTo>
                  <a:pt x="198" y="0"/>
                </a:lnTo>
                <a:close/>
              </a:path>
            </a:pathLst>
          </a:custGeom>
          <a:solidFill>
            <a:schemeClr val="bg1">
              <a:alpha val="10000"/>
            </a:schemeClr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" name="图片 1" descr="傲梦LOGO蓝蓝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9966960" y="189230"/>
            <a:ext cx="1746885" cy="493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0267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标题幻灯片">
    <p:bg>
      <p:bgPr>
        <a:gradFill flip="none" rotWithShape="1">
          <a:gsLst>
            <a:gs pos="0">
              <a:schemeClr val="accent4">
                <a:lumMod val="89000"/>
              </a:schemeClr>
            </a:gs>
            <a:gs pos="23000">
              <a:schemeClr val="accent4">
                <a:lumMod val="89000"/>
              </a:schemeClr>
            </a:gs>
            <a:gs pos="69000">
              <a:schemeClr val="accent4">
                <a:lumMod val="75000"/>
              </a:schemeClr>
            </a:gs>
            <a:gs pos="97000">
              <a:schemeClr val="accent4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 77"/>
          <p:cNvSpPr>
            <a:spLocks noEditPoints="1"/>
          </p:cNvSpPr>
          <p:nvPr userDrawn="1"/>
        </p:nvSpPr>
        <p:spPr bwMode="auto">
          <a:xfrm rot="20644514">
            <a:off x="1047441" y="681857"/>
            <a:ext cx="1042017" cy="802702"/>
          </a:xfrm>
          <a:custGeom>
            <a:avLst/>
            <a:gdLst/>
            <a:ahLst/>
            <a:cxnLst>
              <a:cxn ang="0">
                <a:pos x="402" y="8"/>
              </a:cxn>
              <a:cxn ang="0">
                <a:pos x="402" y="6"/>
              </a:cxn>
              <a:cxn ang="0">
                <a:pos x="398" y="2"/>
              </a:cxn>
              <a:cxn ang="0">
                <a:pos x="242" y="0"/>
              </a:cxn>
              <a:cxn ang="0">
                <a:pos x="232" y="2"/>
              </a:cxn>
              <a:cxn ang="0">
                <a:pos x="216" y="10"/>
              </a:cxn>
              <a:cxn ang="0">
                <a:pos x="210" y="18"/>
              </a:cxn>
              <a:cxn ang="0">
                <a:pos x="210" y="18"/>
              </a:cxn>
              <a:cxn ang="0">
                <a:pos x="196" y="6"/>
              </a:cxn>
              <a:cxn ang="0">
                <a:pos x="178" y="0"/>
              </a:cxn>
              <a:cxn ang="0">
                <a:pos x="26" y="0"/>
              </a:cxn>
              <a:cxn ang="0">
                <a:pos x="20" y="4"/>
              </a:cxn>
              <a:cxn ang="0">
                <a:pos x="16" y="8"/>
              </a:cxn>
              <a:cxn ang="0">
                <a:pos x="0" y="34"/>
              </a:cxn>
              <a:cxn ang="0">
                <a:pos x="174" y="306"/>
              </a:cxn>
              <a:cxn ang="0">
                <a:pos x="182" y="314"/>
              </a:cxn>
              <a:cxn ang="0">
                <a:pos x="200" y="322"/>
              </a:cxn>
              <a:cxn ang="0">
                <a:pos x="210" y="322"/>
              </a:cxn>
              <a:cxn ang="0">
                <a:pos x="230" y="318"/>
              </a:cxn>
              <a:cxn ang="0">
                <a:pos x="246" y="306"/>
              </a:cxn>
              <a:cxn ang="0">
                <a:pos x="418" y="34"/>
              </a:cxn>
              <a:cxn ang="0">
                <a:pos x="34" y="18"/>
              </a:cxn>
              <a:cxn ang="0">
                <a:pos x="178" y="18"/>
              </a:cxn>
              <a:cxn ang="0">
                <a:pos x="194" y="24"/>
              </a:cxn>
              <a:cxn ang="0">
                <a:pos x="202" y="42"/>
              </a:cxn>
              <a:cxn ang="0">
                <a:pos x="202" y="194"/>
              </a:cxn>
              <a:cxn ang="0">
                <a:pos x="204" y="200"/>
              </a:cxn>
              <a:cxn ang="0">
                <a:pos x="210" y="202"/>
              </a:cxn>
              <a:cxn ang="0">
                <a:pos x="212" y="202"/>
              </a:cxn>
              <a:cxn ang="0">
                <a:pos x="218" y="198"/>
              </a:cxn>
              <a:cxn ang="0">
                <a:pos x="218" y="42"/>
              </a:cxn>
              <a:cxn ang="0">
                <a:pos x="220" y="32"/>
              </a:cxn>
              <a:cxn ang="0">
                <a:pos x="232" y="18"/>
              </a:cxn>
              <a:cxn ang="0">
                <a:pos x="386" y="18"/>
              </a:cxn>
              <a:cxn ang="0">
                <a:pos x="242" y="274"/>
              </a:cxn>
              <a:cxn ang="0">
                <a:pos x="232" y="276"/>
              </a:cxn>
              <a:cxn ang="0">
                <a:pos x="216" y="284"/>
              </a:cxn>
              <a:cxn ang="0">
                <a:pos x="210" y="290"/>
              </a:cxn>
              <a:cxn ang="0">
                <a:pos x="210" y="290"/>
              </a:cxn>
              <a:cxn ang="0">
                <a:pos x="196" y="278"/>
              </a:cxn>
              <a:cxn ang="0">
                <a:pos x="178" y="274"/>
              </a:cxn>
              <a:cxn ang="0">
                <a:pos x="34" y="18"/>
              </a:cxn>
            </a:cxnLst>
            <a:rect l="0" t="0" r="r" b="b"/>
            <a:pathLst>
              <a:path w="418" h="322">
                <a:moveTo>
                  <a:pt x="402" y="34"/>
                </a:moveTo>
                <a:lnTo>
                  <a:pt x="402" y="8"/>
                </a:lnTo>
                <a:lnTo>
                  <a:pt x="402" y="8"/>
                </a:lnTo>
                <a:lnTo>
                  <a:pt x="402" y="6"/>
                </a:lnTo>
                <a:lnTo>
                  <a:pt x="400" y="4"/>
                </a:lnTo>
                <a:lnTo>
                  <a:pt x="398" y="2"/>
                </a:lnTo>
                <a:lnTo>
                  <a:pt x="394" y="0"/>
                </a:lnTo>
                <a:lnTo>
                  <a:pt x="242" y="0"/>
                </a:lnTo>
                <a:lnTo>
                  <a:pt x="242" y="0"/>
                </a:lnTo>
                <a:lnTo>
                  <a:pt x="232" y="2"/>
                </a:lnTo>
                <a:lnTo>
                  <a:pt x="224" y="6"/>
                </a:lnTo>
                <a:lnTo>
                  <a:pt x="216" y="10"/>
                </a:lnTo>
                <a:lnTo>
                  <a:pt x="210" y="18"/>
                </a:lnTo>
                <a:lnTo>
                  <a:pt x="210" y="18"/>
                </a:lnTo>
                <a:lnTo>
                  <a:pt x="210" y="18"/>
                </a:lnTo>
                <a:lnTo>
                  <a:pt x="210" y="18"/>
                </a:lnTo>
                <a:lnTo>
                  <a:pt x="204" y="10"/>
                </a:lnTo>
                <a:lnTo>
                  <a:pt x="196" y="6"/>
                </a:lnTo>
                <a:lnTo>
                  <a:pt x="188" y="2"/>
                </a:lnTo>
                <a:lnTo>
                  <a:pt x="178" y="0"/>
                </a:lnTo>
                <a:lnTo>
                  <a:pt x="26" y="0"/>
                </a:lnTo>
                <a:lnTo>
                  <a:pt x="26" y="0"/>
                </a:lnTo>
                <a:lnTo>
                  <a:pt x="22" y="2"/>
                </a:lnTo>
                <a:lnTo>
                  <a:pt x="20" y="4"/>
                </a:lnTo>
                <a:lnTo>
                  <a:pt x="18" y="6"/>
                </a:lnTo>
                <a:lnTo>
                  <a:pt x="16" y="8"/>
                </a:lnTo>
                <a:lnTo>
                  <a:pt x="16" y="34"/>
                </a:lnTo>
                <a:lnTo>
                  <a:pt x="0" y="34"/>
                </a:lnTo>
                <a:lnTo>
                  <a:pt x="0" y="306"/>
                </a:lnTo>
                <a:lnTo>
                  <a:pt x="174" y="306"/>
                </a:lnTo>
                <a:lnTo>
                  <a:pt x="174" y="306"/>
                </a:lnTo>
                <a:lnTo>
                  <a:pt x="182" y="314"/>
                </a:lnTo>
                <a:lnTo>
                  <a:pt x="190" y="318"/>
                </a:lnTo>
                <a:lnTo>
                  <a:pt x="200" y="322"/>
                </a:lnTo>
                <a:lnTo>
                  <a:pt x="210" y="322"/>
                </a:lnTo>
                <a:lnTo>
                  <a:pt x="210" y="322"/>
                </a:lnTo>
                <a:lnTo>
                  <a:pt x="220" y="322"/>
                </a:lnTo>
                <a:lnTo>
                  <a:pt x="230" y="318"/>
                </a:lnTo>
                <a:lnTo>
                  <a:pt x="238" y="314"/>
                </a:lnTo>
                <a:lnTo>
                  <a:pt x="246" y="306"/>
                </a:lnTo>
                <a:lnTo>
                  <a:pt x="418" y="306"/>
                </a:lnTo>
                <a:lnTo>
                  <a:pt x="418" y="34"/>
                </a:lnTo>
                <a:lnTo>
                  <a:pt x="402" y="34"/>
                </a:lnTo>
                <a:close/>
                <a:moveTo>
                  <a:pt x="34" y="18"/>
                </a:moveTo>
                <a:lnTo>
                  <a:pt x="178" y="18"/>
                </a:lnTo>
                <a:lnTo>
                  <a:pt x="178" y="18"/>
                </a:lnTo>
                <a:lnTo>
                  <a:pt x="188" y="18"/>
                </a:lnTo>
                <a:lnTo>
                  <a:pt x="194" y="24"/>
                </a:lnTo>
                <a:lnTo>
                  <a:pt x="200" y="32"/>
                </a:lnTo>
                <a:lnTo>
                  <a:pt x="202" y="42"/>
                </a:lnTo>
                <a:lnTo>
                  <a:pt x="202" y="194"/>
                </a:lnTo>
                <a:lnTo>
                  <a:pt x="202" y="194"/>
                </a:lnTo>
                <a:lnTo>
                  <a:pt x="202" y="198"/>
                </a:lnTo>
                <a:lnTo>
                  <a:pt x="204" y="200"/>
                </a:lnTo>
                <a:lnTo>
                  <a:pt x="206" y="202"/>
                </a:lnTo>
                <a:lnTo>
                  <a:pt x="210" y="202"/>
                </a:lnTo>
                <a:lnTo>
                  <a:pt x="210" y="202"/>
                </a:lnTo>
                <a:lnTo>
                  <a:pt x="212" y="202"/>
                </a:lnTo>
                <a:lnTo>
                  <a:pt x="216" y="200"/>
                </a:lnTo>
                <a:lnTo>
                  <a:pt x="218" y="198"/>
                </a:lnTo>
                <a:lnTo>
                  <a:pt x="218" y="194"/>
                </a:lnTo>
                <a:lnTo>
                  <a:pt x="218" y="42"/>
                </a:lnTo>
                <a:lnTo>
                  <a:pt x="218" y="42"/>
                </a:lnTo>
                <a:lnTo>
                  <a:pt x="220" y="32"/>
                </a:lnTo>
                <a:lnTo>
                  <a:pt x="224" y="24"/>
                </a:lnTo>
                <a:lnTo>
                  <a:pt x="232" y="18"/>
                </a:lnTo>
                <a:lnTo>
                  <a:pt x="242" y="18"/>
                </a:lnTo>
                <a:lnTo>
                  <a:pt x="386" y="18"/>
                </a:lnTo>
                <a:lnTo>
                  <a:pt x="386" y="274"/>
                </a:lnTo>
                <a:lnTo>
                  <a:pt x="242" y="274"/>
                </a:lnTo>
                <a:lnTo>
                  <a:pt x="242" y="274"/>
                </a:lnTo>
                <a:lnTo>
                  <a:pt x="232" y="276"/>
                </a:lnTo>
                <a:lnTo>
                  <a:pt x="224" y="278"/>
                </a:lnTo>
                <a:lnTo>
                  <a:pt x="216" y="284"/>
                </a:lnTo>
                <a:lnTo>
                  <a:pt x="210" y="290"/>
                </a:lnTo>
                <a:lnTo>
                  <a:pt x="210" y="290"/>
                </a:lnTo>
                <a:lnTo>
                  <a:pt x="210" y="290"/>
                </a:lnTo>
                <a:lnTo>
                  <a:pt x="210" y="290"/>
                </a:lnTo>
                <a:lnTo>
                  <a:pt x="204" y="284"/>
                </a:lnTo>
                <a:lnTo>
                  <a:pt x="196" y="278"/>
                </a:lnTo>
                <a:lnTo>
                  <a:pt x="188" y="276"/>
                </a:lnTo>
                <a:lnTo>
                  <a:pt x="178" y="274"/>
                </a:lnTo>
                <a:lnTo>
                  <a:pt x="34" y="274"/>
                </a:lnTo>
                <a:lnTo>
                  <a:pt x="34" y="18"/>
                </a:lnTo>
                <a:close/>
              </a:path>
            </a:pathLst>
          </a:custGeom>
          <a:solidFill>
            <a:schemeClr val="bg1">
              <a:alpha val="10000"/>
            </a:schemeClr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pPr defTabSz="914400">
              <a:defRPr/>
            </a:pPr>
            <a:endParaRPr lang="zh-CN" altLang="en-US" sz="1800">
              <a:solidFill>
                <a:srgbClr val="00000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8" name="Freeform 363"/>
          <p:cNvSpPr>
            <a:spLocks noEditPoints="1"/>
          </p:cNvSpPr>
          <p:nvPr userDrawn="1"/>
        </p:nvSpPr>
        <p:spPr bwMode="auto">
          <a:xfrm rot="1658487">
            <a:off x="6583748" y="312642"/>
            <a:ext cx="773335" cy="770514"/>
          </a:xfrm>
          <a:custGeom>
            <a:avLst/>
            <a:gdLst>
              <a:gd name="T0" fmla="*/ 145 w 274"/>
              <a:gd name="T1" fmla="*/ 262 h 273"/>
              <a:gd name="T2" fmla="*/ 189 w 274"/>
              <a:gd name="T3" fmla="*/ 204 h 273"/>
              <a:gd name="T4" fmla="*/ 263 w 274"/>
              <a:gd name="T5" fmla="*/ 204 h 273"/>
              <a:gd name="T6" fmla="*/ 216 w 274"/>
              <a:gd name="T7" fmla="*/ 217 h 273"/>
              <a:gd name="T8" fmla="*/ 104 w 274"/>
              <a:gd name="T9" fmla="*/ 199 h 273"/>
              <a:gd name="T10" fmla="*/ 55 w 274"/>
              <a:gd name="T11" fmla="*/ 186 h 273"/>
              <a:gd name="T12" fmla="*/ 14 w 274"/>
              <a:gd name="T13" fmla="*/ 168 h 273"/>
              <a:gd name="T14" fmla="*/ 44 w 274"/>
              <a:gd name="T15" fmla="*/ 207 h 273"/>
              <a:gd name="T16" fmla="*/ 45 w 274"/>
              <a:gd name="T17" fmla="*/ 217 h 273"/>
              <a:gd name="T18" fmla="*/ 95 w 274"/>
              <a:gd name="T19" fmla="*/ 254 h 273"/>
              <a:gd name="T20" fmla="*/ 86 w 274"/>
              <a:gd name="T21" fmla="*/ 232 h 273"/>
              <a:gd name="T22" fmla="*/ 114 w 274"/>
              <a:gd name="T23" fmla="*/ 255 h 273"/>
              <a:gd name="T24" fmla="*/ 131 w 274"/>
              <a:gd name="T25" fmla="*/ 196 h 273"/>
              <a:gd name="T26" fmla="*/ 110 w 274"/>
              <a:gd name="T27" fmla="*/ 189 h 273"/>
              <a:gd name="T28" fmla="*/ 132 w 274"/>
              <a:gd name="T29" fmla="*/ 145 h 273"/>
              <a:gd name="T30" fmla="*/ 74 w 274"/>
              <a:gd name="T31" fmla="*/ 145 h 273"/>
              <a:gd name="T32" fmla="*/ 67 w 274"/>
              <a:gd name="T33" fmla="*/ 166 h 273"/>
              <a:gd name="T34" fmla="*/ 205 w 274"/>
              <a:gd name="T35" fmla="*/ 111 h 273"/>
              <a:gd name="T36" fmla="*/ 192 w 274"/>
              <a:gd name="T37" fmla="*/ 159 h 273"/>
              <a:gd name="T38" fmla="*/ 150 w 274"/>
              <a:gd name="T39" fmla="*/ 59 h 273"/>
              <a:gd name="T40" fmla="*/ 114 w 274"/>
              <a:gd name="T41" fmla="*/ 94 h 273"/>
              <a:gd name="T42" fmla="*/ 57 w 274"/>
              <a:gd name="T43" fmla="*/ 42 h 273"/>
              <a:gd name="T44" fmla="*/ 9 w 274"/>
              <a:gd name="T45" fmla="*/ 55 h 273"/>
              <a:gd name="T46" fmla="*/ 178 w 274"/>
              <a:gd name="T47" fmla="*/ 23 h 273"/>
              <a:gd name="T48" fmla="*/ 230 w 274"/>
              <a:gd name="T49" fmla="*/ 57 h 273"/>
              <a:gd name="T50" fmla="*/ 137 w 274"/>
              <a:gd name="T51" fmla="*/ 0 h 273"/>
              <a:gd name="T52" fmla="*/ 271 w 274"/>
              <a:gd name="T53" fmla="*/ 108 h 273"/>
              <a:gd name="T54" fmla="*/ 257 w 274"/>
              <a:gd name="T55" fmla="*/ 189 h 273"/>
              <a:gd name="T56" fmla="*/ 260 w 274"/>
              <a:gd name="T57" fmla="*/ 142 h 273"/>
              <a:gd name="T58" fmla="*/ 238 w 274"/>
              <a:gd name="T59" fmla="*/ 133 h 273"/>
              <a:gd name="T60" fmla="*/ 261 w 274"/>
              <a:gd name="T61" fmla="*/ 105 h 273"/>
              <a:gd name="T62" fmla="*/ 206 w 274"/>
              <a:gd name="T63" fmla="*/ 76 h 273"/>
              <a:gd name="T64" fmla="*/ 206 w 274"/>
              <a:gd name="T65" fmla="*/ 103 h 273"/>
              <a:gd name="T66" fmla="*/ 193 w 274"/>
              <a:gd name="T67" fmla="*/ 82 h 273"/>
              <a:gd name="T68" fmla="*/ 169 w 274"/>
              <a:gd name="T69" fmla="*/ 79 h 273"/>
              <a:gd name="T70" fmla="*/ 189 w 274"/>
              <a:gd name="T71" fmla="*/ 66 h 273"/>
              <a:gd name="T72" fmla="*/ 142 w 274"/>
              <a:gd name="T73" fmla="*/ 13 h 273"/>
              <a:gd name="T74" fmla="*/ 136 w 274"/>
              <a:gd name="T75" fmla="*/ 50 h 273"/>
              <a:gd name="T76" fmla="*/ 127 w 274"/>
              <a:gd name="T77" fmla="*/ 11 h 273"/>
              <a:gd name="T78" fmla="*/ 86 w 274"/>
              <a:gd name="T79" fmla="*/ 71 h 273"/>
              <a:gd name="T80" fmla="*/ 104 w 274"/>
              <a:gd name="T81" fmla="*/ 83 h 273"/>
              <a:gd name="T82" fmla="*/ 76 w 274"/>
              <a:gd name="T83" fmla="*/ 105 h 273"/>
              <a:gd name="T84" fmla="*/ 132 w 274"/>
              <a:gd name="T85" fmla="*/ 130 h 273"/>
              <a:gd name="T86" fmla="*/ 140 w 274"/>
              <a:gd name="T87" fmla="*/ 113 h 273"/>
              <a:gd name="T88" fmla="*/ 146 w 274"/>
              <a:gd name="T89" fmla="*/ 131 h 273"/>
              <a:gd name="T90" fmla="*/ 171 w 274"/>
              <a:gd name="T91" fmla="*/ 140 h 273"/>
              <a:gd name="T92" fmla="*/ 142 w 274"/>
              <a:gd name="T93" fmla="*/ 182 h 273"/>
              <a:gd name="T94" fmla="*/ 193 w 274"/>
              <a:gd name="T95" fmla="*/ 191 h 273"/>
              <a:gd name="T96" fmla="*/ 206 w 274"/>
              <a:gd name="T97" fmla="*/ 170 h 273"/>
              <a:gd name="T98" fmla="*/ 206 w 274"/>
              <a:gd name="T99" fmla="*/ 196 h 273"/>
              <a:gd name="T100" fmla="*/ 209 w 274"/>
              <a:gd name="T101" fmla="*/ 207 h 273"/>
              <a:gd name="T102" fmla="*/ 179 w 274"/>
              <a:gd name="T103" fmla="*/ 249 h 273"/>
              <a:gd name="T104" fmla="*/ 212 w 274"/>
              <a:gd name="T105" fmla="*/ 239 h 273"/>
              <a:gd name="T106" fmla="*/ 219 w 274"/>
              <a:gd name="T107" fmla="*/ 246 h 273"/>
              <a:gd name="T108" fmla="*/ 31 w 274"/>
              <a:gd name="T109" fmla="*/ 222 h 273"/>
              <a:gd name="T110" fmla="*/ 14 w 274"/>
              <a:gd name="T111" fmla="*/ 82 h 273"/>
              <a:gd name="T112" fmla="*/ 11 w 274"/>
              <a:gd name="T113" fmla="*/ 130 h 273"/>
              <a:gd name="T114" fmla="*/ 67 w 274"/>
              <a:gd name="T115" fmla="*/ 103 h 273"/>
              <a:gd name="T116" fmla="*/ 63 w 274"/>
              <a:gd name="T117" fmla="*/ 74 h 273"/>
              <a:gd name="T118" fmla="*/ 72 w 274"/>
              <a:gd name="T119" fmla="*/ 67 h 273"/>
              <a:gd name="T120" fmla="*/ 95 w 274"/>
              <a:gd name="T121" fmla="*/ 19 h 273"/>
              <a:gd name="T122" fmla="*/ 58 w 274"/>
              <a:gd name="T123" fmla="*/ 33 h 273"/>
              <a:gd name="T124" fmla="*/ 109 w 274"/>
              <a:gd name="T125" fmla="*/ 4 h 2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274" h="273">
                <a:moveTo>
                  <a:pt x="146" y="196"/>
                </a:moveTo>
                <a:lnTo>
                  <a:pt x="143" y="196"/>
                </a:lnTo>
                <a:lnTo>
                  <a:pt x="142" y="198"/>
                </a:lnTo>
                <a:lnTo>
                  <a:pt x="142" y="200"/>
                </a:lnTo>
                <a:lnTo>
                  <a:pt x="142" y="258"/>
                </a:lnTo>
                <a:lnTo>
                  <a:pt x="142" y="260"/>
                </a:lnTo>
                <a:lnTo>
                  <a:pt x="145" y="262"/>
                </a:lnTo>
                <a:lnTo>
                  <a:pt x="147" y="262"/>
                </a:lnTo>
                <a:lnTo>
                  <a:pt x="159" y="255"/>
                </a:lnTo>
                <a:lnTo>
                  <a:pt x="169" y="245"/>
                </a:lnTo>
                <a:lnTo>
                  <a:pt x="178" y="234"/>
                </a:lnTo>
                <a:lnTo>
                  <a:pt x="184" y="219"/>
                </a:lnTo>
                <a:lnTo>
                  <a:pt x="189" y="207"/>
                </a:lnTo>
                <a:lnTo>
                  <a:pt x="189" y="204"/>
                </a:lnTo>
                <a:lnTo>
                  <a:pt x="189" y="203"/>
                </a:lnTo>
                <a:lnTo>
                  <a:pt x="187" y="202"/>
                </a:lnTo>
                <a:lnTo>
                  <a:pt x="168" y="198"/>
                </a:lnTo>
                <a:lnTo>
                  <a:pt x="146" y="196"/>
                </a:lnTo>
                <a:close/>
                <a:moveTo>
                  <a:pt x="242" y="191"/>
                </a:moveTo>
                <a:lnTo>
                  <a:pt x="254" y="195"/>
                </a:lnTo>
                <a:lnTo>
                  <a:pt x="263" y="204"/>
                </a:lnTo>
                <a:lnTo>
                  <a:pt x="267" y="217"/>
                </a:lnTo>
                <a:lnTo>
                  <a:pt x="263" y="230"/>
                </a:lnTo>
                <a:lnTo>
                  <a:pt x="254" y="239"/>
                </a:lnTo>
                <a:lnTo>
                  <a:pt x="242" y="242"/>
                </a:lnTo>
                <a:lnTo>
                  <a:pt x="229" y="239"/>
                </a:lnTo>
                <a:lnTo>
                  <a:pt x="219" y="230"/>
                </a:lnTo>
                <a:lnTo>
                  <a:pt x="216" y="217"/>
                </a:lnTo>
                <a:lnTo>
                  <a:pt x="219" y="204"/>
                </a:lnTo>
                <a:lnTo>
                  <a:pt x="229" y="195"/>
                </a:lnTo>
                <a:lnTo>
                  <a:pt x="242" y="191"/>
                </a:lnTo>
                <a:close/>
                <a:moveTo>
                  <a:pt x="78" y="173"/>
                </a:moveTo>
                <a:lnTo>
                  <a:pt x="91" y="177"/>
                </a:lnTo>
                <a:lnTo>
                  <a:pt x="100" y="186"/>
                </a:lnTo>
                <a:lnTo>
                  <a:pt x="104" y="199"/>
                </a:lnTo>
                <a:lnTo>
                  <a:pt x="100" y="212"/>
                </a:lnTo>
                <a:lnTo>
                  <a:pt x="91" y="222"/>
                </a:lnTo>
                <a:lnTo>
                  <a:pt x="78" y="225"/>
                </a:lnTo>
                <a:lnTo>
                  <a:pt x="65" y="222"/>
                </a:lnTo>
                <a:lnTo>
                  <a:pt x="55" y="212"/>
                </a:lnTo>
                <a:lnTo>
                  <a:pt x="53" y="199"/>
                </a:lnTo>
                <a:lnTo>
                  <a:pt x="55" y="186"/>
                </a:lnTo>
                <a:lnTo>
                  <a:pt x="65" y="177"/>
                </a:lnTo>
                <a:lnTo>
                  <a:pt x="78" y="173"/>
                </a:lnTo>
                <a:close/>
                <a:moveTo>
                  <a:pt x="14" y="142"/>
                </a:moveTo>
                <a:lnTo>
                  <a:pt x="12" y="142"/>
                </a:lnTo>
                <a:lnTo>
                  <a:pt x="11" y="144"/>
                </a:lnTo>
                <a:lnTo>
                  <a:pt x="11" y="145"/>
                </a:lnTo>
                <a:lnTo>
                  <a:pt x="14" y="168"/>
                </a:lnTo>
                <a:lnTo>
                  <a:pt x="22" y="189"/>
                </a:lnTo>
                <a:lnTo>
                  <a:pt x="32" y="208"/>
                </a:lnTo>
                <a:lnTo>
                  <a:pt x="34" y="209"/>
                </a:lnTo>
                <a:lnTo>
                  <a:pt x="36" y="211"/>
                </a:lnTo>
                <a:lnTo>
                  <a:pt x="37" y="209"/>
                </a:lnTo>
                <a:lnTo>
                  <a:pt x="42" y="207"/>
                </a:lnTo>
                <a:lnTo>
                  <a:pt x="44" y="207"/>
                </a:lnTo>
                <a:lnTo>
                  <a:pt x="45" y="207"/>
                </a:lnTo>
                <a:lnTo>
                  <a:pt x="46" y="208"/>
                </a:lnTo>
                <a:lnTo>
                  <a:pt x="48" y="211"/>
                </a:lnTo>
                <a:lnTo>
                  <a:pt x="48" y="212"/>
                </a:lnTo>
                <a:lnTo>
                  <a:pt x="48" y="214"/>
                </a:lnTo>
                <a:lnTo>
                  <a:pt x="46" y="216"/>
                </a:lnTo>
                <a:lnTo>
                  <a:pt x="45" y="217"/>
                </a:lnTo>
                <a:lnTo>
                  <a:pt x="42" y="218"/>
                </a:lnTo>
                <a:lnTo>
                  <a:pt x="42" y="221"/>
                </a:lnTo>
                <a:lnTo>
                  <a:pt x="44" y="222"/>
                </a:lnTo>
                <a:lnTo>
                  <a:pt x="65" y="241"/>
                </a:lnTo>
                <a:lnTo>
                  <a:pt x="91" y="255"/>
                </a:lnTo>
                <a:lnTo>
                  <a:pt x="94" y="255"/>
                </a:lnTo>
                <a:lnTo>
                  <a:pt x="95" y="254"/>
                </a:lnTo>
                <a:lnTo>
                  <a:pt x="96" y="253"/>
                </a:lnTo>
                <a:lnTo>
                  <a:pt x="96" y="251"/>
                </a:lnTo>
                <a:lnTo>
                  <a:pt x="95" y="249"/>
                </a:lnTo>
                <a:lnTo>
                  <a:pt x="91" y="242"/>
                </a:lnTo>
                <a:lnTo>
                  <a:pt x="86" y="235"/>
                </a:lnTo>
                <a:lnTo>
                  <a:pt x="86" y="234"/>
                </a:lnTo>
                <a:lnTo>
                  <a:pt x="86" y="232"/>
                </a:lnTo>
                <a:lnTo>
                  <a:pt x="87" y="231"/>
                </a:lnTo>
                <a:lnTo>
                  <a:pt x="90" y="230"/>
                </a:lnTo>
                <a:lnTo>
                  <a:pt x="91" y="228"/>
                </a:lnTo>
                <a:lnTo>
                  <a:pt x="94" y="230"/>
                </a:lnTo>
                <a:lnTo>
                  <a:pt x="95" y="231"/>
                </a:lnTo>
                <a:lnTo>
                  <a:pt x="104" y="244"/>
                </a:lnTo>
                <a:lnTo>
                  <a:pt x="114" y="255"/>
                </a:lnTo>
                <a:lnTo>
                  <a:pt x="127" y="262"/>
                </a:lnTo>
                <a:lnTo>
                  <a:pt x="129" y="262"/>
                </a:lnTo>
                <a:lnTo>
                  <a:pt x="132" y="260"/>
                </a:lnTo>
                <a:lnTo>
                  <a:pt x="132" y="258"/>
                </a:lnTo>
                <a:lnTo>
                  <a:pt x="132" y="200"/>
                </a:lnTo>
                <a:lnTo>
                  <a:pt x="132" y="198"/>
                </a:lnTo>
                <a:lnTo>
                  <a:pt x="131" y="196"/>
                </a:lnTo>
                <a:lnTo>
                  <a:pt x="128" y="196"/>
                </a:lnTo>
                <a:lnTo>
                  <a:pt x="114" y="198"/>
                </a:lnTo>
                <a:lnTo>
                  <a:pt x="111" y="196"/>
                </a:lnTo>
                <a:lnTo>
                  <a:pt x="110" y="195"/>
                </a:lnTo>
                <a:lnTo>
                  <a:pt x="109" y="194"/>
                </a:lnTo>
                <a:lnTo>
                  <a:pt x="109" y="191"/>
                </a:lnTo>
                <a:lnTo>
                  <a:pt x="110" y="189"/>
                </a:lnTo>
                <a:lnTo>
                  <a:pt x="111" y="189"/>
                </a:lnTo>
                <a:lnTo>
                  <a:pt x="113" y="188"/>
                </a:lnTo>
                <a:lnTo>
                  <a:pt x="128" y="186"/>
                </a:lnTo>
                <a:lnTo>
                  <a:pt x="131" y="186"/>
                </a:lnTo>
                <a:lnTo>
                  <a:pt x="132" y="185"/>
                </a:lnTo>
                <a:lnTo>
                  <a:pt x="132" y="182"/>
                </a:lnTo>
                <a:lnTo>
                  <a:pt x="132" y="145"/>
                </a:lnTo>
                <a:lnTo>
                  <a:pt x="132" y="143"/>
                </a:lnTo>
                <a:lnTo>
                  <a:pt x="131" y="142"/>
                </a:lnTo>
                <a:lnTo>
                  <a:pt x="128" y="142"/>
                </a:lnTo>
                <a:lnTo>
                  <a:pt x="78" y="142"/>
                </a:lnTo>
                <a:lnTo>
                  <a:pt x="76" y="142"/>
                </a:lnTo>
                <a:lnTo>
                  <a:pt x="74" y="143"/>
                </a:lnTo>
                <a:lnTo>
                  <a:pt x="74" y="145"/>
                </a:lnTo>
                <a:lnTo>
                  <a:pt x="76" y="163"/>
                </a:lnTo>
                <a:lnTo>
                  <a:pt x="74" y="166"/>
                </a:lnTo>
                <a:lnTo>
                  <a:pt x="73" y="167"/>
                </a:lnTo>
                <a:lnTo>
                  <a:pt x="72" y="168"/>
                </a:lnTo>
                <a:lnTo>
                  <a:pt x="69" y="168"/>
                </a:lnTo>
                <a:lnTo>
                  <a:pt x="68" y="167"/>
                </a:lnTo>
                <a:lnTo>
                  <a:pt x="67" y="166"/>
                </a:lnTo>
                <a:lnTo>
                  <a:pt x="65" y="165"/>
                </a:lnTo>
                <a:lnTo>
                  <a:pt x="64" y="145"/>
                </a:lnTo>
                <a:lnTo>
                  <a:pt x="64" y="143"/>
                </a:lnTo>
                <a:lnTo>
                  <a:pt x="63" y="142"/>
                </a:lnTo>
                <a:lnTo>
                  <a:pt x="60" y="142"/>
                </a:lnTo>
                <a:lnTo>
                  <a:pt x="14" y="142"/>
                </a:lnTo>
                <a:close/>
                <a:moveTo>
                  <a:pt x="205" y="111"/>
                </a:moveTo>
                <a:lnTo>
                  <a:pt x="217" y="115"/>
                </a:lnTo>
                <a:lnTo>
                  <a:pt x="226" y="124"/>
                </a:lnTo>
                <a:lnTo>
                  <a:pt x="230" y="136"/>
                </a:lnTo>
                <a:lnTo>
                  <a:pt x="226" y="149"/>
                </a:lnTo>
                <a:lnTo>
                  <a:pt x="217" y="159"/>
                </a:lnTo>
                <a:lnTo>
                  <a:pt x="205" y="162"/>
                </a:lnTo>
                <a:lnTo>
                  <a:pt x="192" y="159"/>
                </a:lnTo>
                <a:lnTo>
                  <a:pt x="183" y="149"/>
                </a:lnTo>
                <a:lnTo>
                  <a:pt x="179" y="136"/>
                </a:lnTo>
                <a:lnTo>
                  <a:pt x="183" y="124"/>
                </a:lnTo>
                <a:lnTo>
                  <a:pt x="192" y="115"/>
                </a:lnTo>
                <a:lnTo>
                  <a:pt x="205" y="111"/>
                </a:lnTo>
                <a:close/>
                <a:moveTo>
                  <a:pt x="137" y="56"/>
                </a:moveTo>
                <a:lnTo>
                  <a:pt x="150" y="59"/>
                </a:lnTo>
                <a:lnTo>
                  <a:pt x="159" y="69"/>
                </a:lnTo>
                <a:lnTo>
                  <a:pt x="163" y="82"/>
                </a:lnTo>
                <a:lnTo>
                  <a:pt x="159" y="94"/>
                </a:lnTo>
                <a:lnTo>
                  <a:pt x="150" y="103"/>
                </a:lnTo>
                <a:lnTo>
                  <a:pt x="137" y="107"/>
                </a:lnTo>
                <a:lnTo>
                  <a:pt x="124" y="103"/>
                </a:lnTo>
                <a:lnTo>
                  <a:pt x="114" y="94"/>
                </a:lnTo>
                <a:lnTo>
                  <a:pt x="111" y="82"/>
                </a:lnTo>
                <a:lnTo>
                  <a:pt x="114" y="69"/>
                </a:lnTo>
                <a:lnTo>
                  <a:pt x="124" y="59"/>
                </a:lnTo>
                <a:lnTo>
                  <a:pt x="137" y="56"/>
                </a:lnTo>
                <a:close/>
                <a:moveTo>
                  <a:pt x="35" y="29"/>
                </a:moveTo>
                <a:lnTo>
                  <a:pt x="48" y="33"/>
                </a:lnTo>
                <a:lnTo>
                  <a:pt x="57" y="42"/>
                </a:lnTo>
                <a:lnTo>
                  <a:pt x="60" y="55"/>
                </a:lnTo>
                <a:lnTo>
                  <a:pt x="57" y="67"/>
                </a:lnTo>
                <a:lnTo>
                  <a:pt x="48" y="76"/>
                </a:lnTo>
                <a:lnTo>
                  <a:pt x="35" y="80"/>
                </a:lnTo>
                <a:lnTo>
                  <a:pt x="22" y="76"/>
                </a:lnTo>
                <a:lnTo>
                  <a:pt x="13" y="67"/>
                </a:lnTo>
                <a:lnTo>
                  <a:pt x="9" y="55"/>
                </a:lnTo>
                <a:lnTo>
                  <a:pt x="13" y="42"/>
                </a:lnTo>
                <a:lnTo>
                  <a:pt x="22" y="33"/>
                </a:lnTo>
                <a:lnTo>
                  <a:pt x="35" y="29"/>
                </a:lnTo>
                <a:close/>
                <a:moveTo>
                  <a:pt x="182" y="18"/>
                </a:moveTo>
                <a:lnTo>
                  <a:pt x="179" y="19"/>
                </a:lnTo>
                <a:lnTo>
                  <a:pt x="178" y="20"/>
                </a:lnTo>
                <a:lnTo>
                  <a:pt x="178" y="23"/>
                </a:lnTo>
                <a:lnTo>
                  <a:pt x="179" y="24"/>
                </a:lnTo>
                <a:lnTo>
                  <a:pt x="191" y="43"/>
                </a:lnTo>
                <a:lnTo>
                  <a:pt x="200" y="65"/>
                </a:lnTo>
                <a:lnTo>
                  <a:pt x="201" y="66"/>
                </a:lnTo>
                <a:lnTo>
                  <a:pt x="202" y="67"/>
                </a:lnTo>
                <a:lnTo>
                  <a:pt x="205" y="67"/>
                </a:lnTo>
                <a:lnTo>
                  <a:pt x="230" y="57"/>
                </a:lnTo>
                <a:lnTo>
                  <a:pt x="232" y="55"/>
                </a:lnTo>
                <a:lnTo>
                  <a:pt x="232" y="53"/>
                </a:lnTo>
                <a:lnTo>
                  <a:pt x="230" y="51"/>
                </a:lnTo>
                <a:lnTo>
                  <a:pt x="209" y="32"/>
                </a:lnTo>
                <a:lnTo>
                  <a:pt x="183" y="18"/>
                </a:lnTo>
                <a:lnTo>
                  <a:pt x="182" y="18"/>
                </a:lnTo>
                <a:close/>
                <a:moveTo>
                  <a:pt x="137" y="0"/>
                </a:moveTo>
                <a:lnTo>
                  <a:pt x="164" y="2"/>
                </a:lnTo>
                <a:lnTo>
                  <a:pt x="189" y="10"/>
                </a:lnTo>
                <a:lnTo>
                  <a:pt x="212" y="23"/>
                </a:lnTo>
                <a:lnTo>
                  <a:pt x="233" y="39"/>
                </a:lnTo>
                <a:lnTo>
                  <a:pt x="249" y="59"/>
                </a:lnTo>
                <a:lnTo>
                  <a:pt x="262" y="83"/>
                </a:lnTo>
                <a:lnTo>
                  <a:pt x="271" y="108"/>
                </a:lnTo>
                <a:lnTo>
                  <a:pt x="274" y="136"/>
                </a:lnTo>
                <a:lnTo>
                  <a:pt x="271" y="163"/>
                </a:lnTo>
                <a:lnTo>
                  <a:pt x="263" y="188"/>
                </a:lnTo>
                <a:lnTo>
                  <a:pt x="263" y="189"/>
                </a:lnTo>
                <a:lnTo>
                  <a:pt x="262" y="190"/>
                </a:lnTo>
                <a:lnTo>
                  <a:pt x="260" y="190"/>
                </a:lnTo>
                <a:lnTo>
                  <a:pt x="257" y="189"/>
                </a:lnTo>
                <a:lnTo>
                  <a:pt x="254" y="186"/>
                </a:lnTo>
                <a:lnTo>
                  <a:pt x="254" y="184"/>
                </a:lnTo>
                <a:lnTo>
                  <a:pt x="261" y="166"/>
                </a:lnTo>
                <a:lnTo>
                  <a:pt x="263" y="145"/>
                </a:lnTo>
                <a:lnTo>
                  <a:pt x="263" y="144"/>
                </a:lnTo>
                <a:lnTo>
                  <a:pt x="262" y="142"/>
                </a:lnTo>
                <a:lnTo>
                  <a:pt x="260" y="142"/>
                </a:lnTo>
                <a:lnTo>
                  <a:pt x="240" y="142"/>
                </a:lnTo>
                <a:lnTo>
                  <a:pt x="239" y="142"/>
                </a:lnTo>
                <a:lnTo>
                  <a:pt x="238" y="140"/>
                </a:lnTo>
                <a:lnTo>
                  <a:pt x="237" y="139"/>
                </a:lnTo>
                <a:lnTo>
                  <a:pt x="237" y="136"/>
                </a:lnTo>
                <a:lnTo>
                  <a:pt x="237" y="135"/>
                </a:lnTo>
                <a:lnTo>
                  <a:pt x="238" y="133"/>
                </a:lnTo>
                <a:lnTo>
                  <a:pt x="239" y="133"/>
                </a:lnTo>
                <a:lnTo>
                  <a:pt x="240" y="131"/>
                </a:lnTo>
                <a:lnTo>
                  <a:pt x="260" y="131"/>
                </a:lnTo>
                <a:lnTo>
                  <a:pt x="262" y="131"/>
                </a:lnTo>
                <a:lnTo>
                  <a:pt x="263" y="130"/>
                </a:lnTo>
                <a:lnTo>
                  <a:pt x="263" y="127"/>
                </a:lnTo>
                <a:lnTo>
                  <a:pt x="261" y="105"/>
                </a:lnTo>
                <a:lnTo>
                  <a:pt x="253" y="84"/>
                </a:lnTo>
                <a:lnTo>
                  <a:pt x="242" y="65"/>
                </a:lnTo>
                <a:lnTo>
                  <a:pt x="240" y="64"/>
                </a:lnTo>
                <a:lnTo>
                  <a:pt x="239" y="64"/>
                </a:lnTo>
                <a:lnTo>
                  <a:pt x="237" y="64"/>
                </a:lnTo>
                <a:lnTo>
                  <a:pt x="223" y="71"/>
                </a:lnTo>
                <a:lnTo>
                  <a:pt x="206" y="76"/>
                </a:lnTo>
                <a:lnTo>
                  <a:pt x="205" y="78"/>
                </a:lnTo>
                <a:lnTo>
                  <a:pt x="203" y="79"/>
                </a:lnTo>
                <a:lnTo>
                  <a:pt x="203" y="82"/>
                </a:lnTo>
                <a:lnTo>
                  <a:pt x="206" y="90"/>
                </a:lnTo>
                <a:lnTo>
                  <a:pt x="207" y="101"/>
                </a:lnTo>
                <a:lnTo>
                  <a:pt x="207" y="102"/>
                </a:lnTo>
                <a:lnTo>
                  <a:pt x="206" y="103"/>
                </a:lnTo>
                <a:lnTo>
                  <a:pt x="205" y="105"/>
                </a:lnTo>
                <a:lnTo>
                  <a:pt x="203" y="105"/>
                </a:lnTo>
                <a:lnTo>
                  <a:pt x="201" y="105"/>
                </a:lnTo>
                <a:lnTo>
                  <a:pt x="198" y="103"/>
                </a:lnTo>
                <a:lnTo>
                  <a:pt x="198" y="102"/>
                </a:lnTo>
                <a:lnTo>
                  <a:pt x="194" y="84"/>
                </a:lnTo>
                <a:lnTo>
                  <a:pt x="193" y="82"/>
                </a:lnTo>
                <a:lnTo>
                  <a:pt x="192" y="82"/>
                </a:lnTo>
                <a:lnTo>
                  <a:pt x="191" y="82"/>
                </a:lnTo>
                <a:lnTo>
                  <a:pt x="173" y="84"/>
                </a:lnTo>
                <a:lnTo>
                  <a:pt x="171" y="84"/>
                </a:lnTo>
                <a:lnTo>
                  <a:pt x="170" y="83"/>
                </a:lnTo>
                <a:lnTo>
                  <a:pt x="169" y="82"/>
                </a:lnTo>
                <a:lnTo>
                  <a:pt x="169" y="79"/>
                </a:lnTo>
                <a:lnTo>
                  <a:pt x="169" y="78"/>
                </a:lnTo>
                <a:lnTo>
                  <a:pt x="170" y="75"/>
                </a:lnTo>
                <a:lnTo>
                  <a:pt x="171" y="74"/>
                </a:lnTo>
                <a:lnTo>
                  <a:pt x="187" y="71"/>
                </a:lnTo>
                <a:lnTo>
                  <a:pt x="189" y="71"/>
                </a:lnTo>
                <a:lnTo>
                  <a:pt x="189" y="69"/>
                </a:lnTo>
                <a:lnTo>
                  <a:pt x="189" y="66"/>
                </a:lnTo>
                <a:lnTo>
                  <a:pt x="184" y="53"/>
                </a:lnTo>
                <a:lnTo>
                  <a:pt x="178" y="41"/>
                </a:lnTo>
                <a:lnTo>
                  <a:pt x="169" y="28"/>
                </a:lnTo>
                <a:lnTo>
                  <a:pt x="159" y="18"/>
                </a:lnTo>
                <a:lnTo>
                  <a:pt x="147" y="11"/>
                </a:lnTo>
                <a:lnTo>
                  <a:pt x="145" y="11"/>
                </a:lnTo>
                <a:lnTo>
                  <a:pt x="142" y="13"/>
                </a:lnTo>
                <a:lnTo>
                  <a:pt x="142" y="15"/>
                </a:lnTo>
                <a:lnTo>
                  <a:pt x="142" y="46"/>
                </a:lnTo>
                <a:lnTo>
                  <a:pt x="142" y="47"/>
                </a:lnTo>
                <a:lnTo>
                  <a:pt x="141" y="48"/>
                </a:lnTo>
                <a:lnTo>
                  <a:pt x="140" y="50"/>
                </a:lnTo>
                <a:lnTo>
                  <a:pt x="137" y="50"/>
                </a:lnTo>
                <a:lnTo>
                  <a:pt x="136" y="50"/>
                </a:lnTo>
                <a:lnTo>
                  <a:pt x="133" y="48"/>
                </a:lnTo>
                <a:lnTo>
                  <a:pt x="133" y="47"/>
                </a:lnTo>
                <a:lnTo>
                  <a:pt x="132" y="46"/>
                </a:lnTo>
                <a:lnTo>
                  <a:pt x="132" y="15"/>
                </a:lnTo>
                <a:lnTo>
                  <a:pt x="132" y="13"/>
                </a:lnTo>
                <a:lnTo>
                  <a:pt x="129" y="11"/>
                </a:lnTo>
                <a:lnTo>
                  <a:pt x="127" y="11"/>
                </a:lnTo>
                <a:lnTo>
                  <a:pt x="115" y="18"/>
                </a:lnTo>
                <a:lnTo>
                  <a:pt x="105" y="28"/>
                </a:lnTo>
                <a:lnTo>
                  <a:pt x="96" y="41"/>
                </a:lnTo>
                <a:lnTo>
                  <a:pt x="90" y="53"/>
                </a:lnTo>
                <a:lnTo>
                  <a:pt x="85" y="66"/>
                </a:lnTo>
                <a:lnTo>
                  <a:pt x="85" y="69"/>
                </a:lnTo>
                <a:lnTo>
                  <a:pt x="86" y="71"/>
                </a:lnTo>
                <a:lnTo>
                  <a:pt x="87" y="71"/>
                </a:lnTo>
                <a:lnTo>
                  <a:pt x="101" y="74"/>
                </a:lnTo>
                <a:lnTo>
                  <a:pt x="104" y="75"/>
                </a:lnTo>
                <a:lnTo>
                  <a:pt x="104" y="78"/>
                </a:lnTo>
                <a:lnTo>
                  <a:pt x="105" y="79"/>
                </a:lnTo>
                <a:lnTo>
                  <a:pt x="104" y="82"/>
                </a:lnTo>
                <a:lnTo>
                  <a:pt x="104" y="83"/>
                </a:lnTo>
                <a:lnTo>
                  <a:pt x="101" y="84"/>
                </a:lnTo>
                <a:lnTo>
                  <a:pt x="100" y="84"/>
                </a:lnTo>
                <a:lnTo>
                  <a:pt x="85" y="82"/>
                </a:lnTo>
                <a:lnTo>
                  <a:pt x="82" y="82"/>
                </a:lnTo>
                <a:lnTo>
                  <a:pt x="81" y="82"/>
                </a:lnTo>
                <a:lnTo>
                  <a:pt x="80" y="84"/>
                </a:lnTo>
                <a:lnTo>
                  <a:pt x="76" y="105"/>
                </a:lnTo>
                <a:lnTo>
                  <a:pt x="74" y="127"/>
                </a:lnTo>
                <a:lnTo>
                  <a:pt x="74" y="130"/>
                </a:lnTo>
                <a:lnTo>
                  <a:pt x="76" y="131"/>
                </a:lnTo>
                <a:lnTo>
                  <a:pt x="78" y="131"/>
                </a:lnTo>
                <a:lnTo>
                  <a:pt x="128" y="131"/>
                </a:lnTo>
                <a:lnTo>
                  <a:pt x="131" y="131"/>
                </a:lnTo>
                <a:lnTo>
                  <a:pt x="132" y="130"/>
                </a:lnTo>
                <a:lnTo>
                  <a:pt x="132" y="127"/>
                </a:lnTo>
                <a:lnTo>
                  <a:pt x="132" y="117"/>
                </a:lnTo>
                <a:lnTo>
                  <a:pt x="133" y="116"/>
                </a:lnTo>
                <a:lnTo>
                  <a:pt x="133" y="115"/>
                </a:lnTo>
                <a:lnTo>
                  <a:pt x="136" y="113"/>
                </a:lnTo>
                <a:lnTo>
                  <a:pt x="137" y="113"/>
                </a:lnTo>
                <a:lnTo>
                  <a:pt x="140" y="113"/>
                </a:lnTo>
                <a:lnTo>
                  <a:pt x="141" y="115"/>
                </a:lnTo>
                <a:lnTo>
                  <a:pt x="142" y="116"/>
                </a:lnTo>
                <a:lnTo>
                  <a:pt x="142" y="117"/>
                </a:lnTo>
                <a:lnTo>
                  <a:pt x="142" y="127"/>
                </a:lnTo>
                <a:lnTo>
                  <a:pt x="142" y="130"/>
                </a:lnTo>
                <a:lnTo>
                  <a:pt x="143" y="131"/>
                </a:lnTo>
                <a:lnTo>
                  <a:pt x="146" y="131"/>
                </a:lnTo>
                <a:lnTo>
                  <a:pt x="169" y="131"/>
                </a:lnTo>
                <a:lnTo>
                  <a:pt x="170" y="133"/>
                </a:lnTo>
                <a:lnTo>
                  <a:pt x="171" y="133"/>
                </a:lnTo>
                <a:lnTo>
                  <a:pt x="173" y="135"/>
                </a:lnTo>
                <a:lnTo>
                  <a:pt x="173" y="136"/>
                </a:lnTo>
                <a:lnTo>
                  <a:pt x="173" y="139"/>
                </a:lnTo>
                <a:lnTo>
                  <a:pt x="171" y="140"/>
                </a:lnTo>
                <a:lnTo>
                  <a:pt x="170" y="142"/>
                </a:lnTo>
                <a:lnTo>
                  <a:pt x="169" y="142"/>
                </a:lnTo>
                <a:lnTo>
                  <a:pt x="146" y="142"/>
                </a:lnTo>
                <a:lnTo>
                  <a:pt x="143" y="142"/>
                </a:lnTo>
                <a:lnTo>
                  <a:pt x="142" y="143"/>
                </a:lnTo>
                <a:lnTo>
                  <a:pt x="142" y="145"/>
                </a:lnTo>
                <a:lnTo>
                  <a:pt x="142" y="182"/>
                </a:lnTo>
                <a:lnTo>
                  <a:pt x="142" y="185"/>
                </a:lnTo>
                <a:lnTo>
                  <a:pt x="143" y="186"/>
                </a:lnTo>
                <a:lnTo>
                  <a:pt x="146" y="186"/>
                </a:lnTo>
                <a:lnTo>
                  <a:pt x="169" y="189"/>
                </a:lnTo>
                <a:lnTo>
                  <a:pt x="191" y="193"/>
                </a:lnTo>
                <a:lnTo>
                  <a:pt x="192" y="193"/>
                </a:lnTo>
                <a:lnTo>
                  <a:pt x="193" y="191"/>
                </a:lnTo>
                <a:lnTo>
                  <a:pt x="194" y="189"/>
                </a:lnTo>
                <a:lnTo>
                  <a:pt x="198" y="172"/>
                </a:lnTo>
                <a:lnTo>
                  <a:pt x="198" y="170"/>
                </a:lnTo>
                <a:lnTo>
                  <a:pt x="201" y="170"/>
                </a:lnTo>
                <a:lnTo>
                  <a:pt x="202" y="168"/>
                </a:lnTo>
                <a:lnTo>
                  <a:pt x="205" y="170"/>
                </a:lnTo>
                <a:lnTo>
                  <a:pt x="206" y="170"/>
                </a:lnTo>
                <a:lnTo>
                  <a:pt x="207" y="172"/>
                </a:lnTo>
                <a:lnTo>
                  <a:pt x="207" y="173"/>
                </a:lnTo>
                <a:lnTo>
                  <a:pt x="206" y="182"/>
                </a:lnTo>
                <a:lnTo>
                  <a:pt x="203" y="191"/>
                </a:lnTo>
                <a:lnTo>
                  <a:pt x="203" y="194"/>
                </a:lnTo>
                <a:lnTo>
                  <a:pt x="205" y="195"/>
                </a:lnTo>
                <a:lnTo>
                  <a:pt x="206" y="196"/>
                </a:lnTo>
                <a:lnTo>
                  <a:pt x="209" y="198"/>
                </a:lnTo>
                <a:lnTo>
                  <a:pt x="211" y="198"/>
                </a:lnTo>
                <a:lnTo>
                  <a:pt x="212" y="200"/>
                </a:lnTo>
                <a:lnTo>
                  <a:pt x="212" y="202"/>
                </a:lnTo>
                <a:lnTo>
                  <a:pt x="212" y="204"/>
                </a:lnTo>
                <a:lnTo>
                  <a:pt x="211" y="205"/>
                </a:lnTo>
                <a:lnTo>
                  <a:pt x="209" y="207"/>
                </a:lnTo>
                <a:lnTo>
                  <a:pt x="207" y="207"/>
                </a:lnTo>
                <a:lnTo>
                  <a:pt x="205" y="205"/>
                </a:lnTo>
                <a:lnTo>
                  <a:pt x="202" y="205"/>
                </a:lnTo>
                <a:lnTo>
                  <a:pt x="201" y="207"/>
                </a:lnTo>
                <a:lnTo>
                  <a:pt x="200" y="208"/>
                </a:lnTo>
                <a:lnTo>
                  <a:pt x="191" y="230"/>
                </a:lnTo>
                <a:lnTo>
                  <a:pt x="179" y="249"/>
                </a:lnTo>
                <a:lnTo>
                  <a:pt x="178" y="251"/>
                </a:lnTo>
                <a:lnTo>
                  <a:pt x="178" y="253"/>
                </a:lnTo>
                <a:lnTo>
                  <a:pt x="179" y="254"/>
                </a:lnTo>
                <a:lnTo>
                  <a:pt x="182" y="255"/>
                </a:lnTo>
                <a:lnTo>
                  <a:pt x="183" y="255"/>
                </a:lnTo>
                <a:lnTo>
                  <a:pt x="198" y="248"/>
                </a:lnTo>
                <a:lnTo>
                  <a:pt x="212" y="239"/>
                </a:lnTo>
                <a:lnTo>
                  <a:pt x="215" y="237"/>
                </a:lnTo>
                <a:lnTo>
                  <a:pt x="217" y="239"/>
                </a:lnTo>
                <a:lnTo>
                  <a:pt x="219" y="240"/>
                </a:lnTo>
                <a:lnTo>
                  <a:pt x="220" y="241"/>
                </a:lnTo>
                <a:lnTo>
                  <a:pt x="220" y="244"/>
                </a:lnTo>
                <a:lnTo>
                  <a:pt x="220" y="245"/>
                </a:lnTo>
                <a:lnTo>
                  <a:pt x="219" y="246"/>
                </a:lnTo>
                <a:lnTo>
                  <a:pt x="194" y="260"/>
                </a:lnTo>
                <a:lnTo>
                  <a:pt x="166" y="271"/>
                </a:lnTo>
                <a:lnTo>
                  <a:pt x="137" y="273"/>
                </a:lnTo>
                <a:lnTo>
                  <a:pt x="106" y="269"/>
                </a:lnTo>
                <a:lnTo>
                  <a:pt x="77" y="259"/>
                </a:lnTo>
                <a:lnTo>
                  <a:pt x="51" y="244"/>
                </a:lnTo>
                <a:lnTo>
                  <a:pt x="31" y="222"/>
                </a:lnTo>
                <a:lnTo>
                  <a:pt x="14" y="196"/>
                </a:lnTo>
                <a:lnTo>
                  <a:pt x="4" y="168"/>
                </a:lnTo>
                <a:lnTo>
                  <a:pt x="0" y="136"/>
                </a:lnTo>
                <a:lnTo>
                  <a:pt x="3" y="108"/>
                </a:lnTo>
                <a:lnTo>
                  <a:pt x="12" y="83"/>
                </a:lnTo>
                <a:lnTo>
                  <a:pt x="12" y="82"/>
                </a:lnTo>
                <a:lnTo>
                  <a:pt x="14" y="82"/>
                </a:lnTo>
                <a:lnTo>
                  <a:pt x="16" y="82"/>
                </a:lnTo>
                <a:lnTo>
                  <a:pt x="18" y="83"/>
                </a:lnTo>
                <a:lnTo>
                  <a:pt x="21" y="84"/>
                </a:lnTo>
                <a:lnTo>
                  <a:pt x="19" y="88"/>
                </a:lnTo>
                <a:lnTo>
                  <a:pt x="13" y="107"/>
                </a:lnTo>
                <a:lnTo>
                  <a:pt x="11" y="127"/>
                </a:lnTo>
                <a:lnTo>
                  <a:pt x="11" y="130"/>
                </a:lnTo>
                <a:lnTo>
                  <a:pt x="12" y="131"/>
                </a:lnTo>
                <a:lnTo>
                  <a:pt x="14" y="131"/>
                </a:lnTo>
                <a:lnTo>
                  <a:pt x="60" y="131"/>
                </a:lnTo>
                <a:lnTo>
                  <a:pt x="63" y="131"/>
                </a:lnTo>
                <a:lnTo>
                  <a:pt x="64" y="130"/>
                </a:lnTo>
                <a:lnTo>
                  <a:pt x="64" y="127"/>
                </a:lnTo>
                <a:lnTo>
                  <a:pt x="67" y="103"/>
                </a:lnTo>
                <a:lnTo>
                  <a:pt x="71" y="82"/>
                </a:lnTo>
                <a:lnTo>
                  <a:pt x="71" y="79"/>
                </a:lnTo>
                <a:lnTo>
                  <a:pt x="69" y="78"/>
                </a:lnTo>
                <a:lnTo>
                  <a:pt x="68" y="76"/>
                </a:lnTo>
                <a:lnTo>
                  <a:pt x="65" y="76"/>
                </a:lnTo>
                <a:lnTo>
                  <a:pt x="64" y="75"/>
                </a:lnTo>
                <a:lnTo>
                  <a:pt x="63" y="74"/>
                </a:lnTo>
                <a:lnTo>
                  <a:pt x="63" y="71"/>
                </a:lnTo>
                <a:lnTo>
                  <a:pt x="63" y="70"/>
                </a:lnTo>
                <a:lnTo>
                  <a:pt x="64" y="67"/>
                </a:lnTo>
                <a:lnTo>
                  <a:pt x="67" y="66"/>
                </a:lnTo>
                <a:lnTo>
                  <a:pt x="68" y="66"/>
                </a:lnTo>
                <a:lnTo>
                  <a:pt x="71" y="67"/>
                </a:lnTo>
                <a:lnTo>
                  <a:pt x="72" y="67"/>
                </a:lnTo>
                <a:lnTo>
                  <a:pt x="74" y="66"/>
                </a:lnTo>
                <a:lnTo>
                  <a:pt x="76" y="65"/>
                </a:lnTo>
                <a:lnTo>
                  <a:pt x="83" y="43"/>
                </a:lnTo>
                <a:lnTo>
                  <a:pt x="95" y="24"/>
                </a:lnTo>
                <a:lnTo>
                  <a:pt x="96" y="23"/>
                </a:lnTo>
                <a:lnTo>
                  <a:pt x="96" y="20"/>
                </a:lnTo>
                <a:lnTo>
                  <a:pt x="95" y="19"/>
                </a:lnTo>
                <a:lnTo>
                  <a:pt x="94" y="18"/>
                </a:lnTo>
                <a:lnTo>
                  <a:pt x="91" y="18"/>
                </a:lnTo>
                <a:lnTo>
                  <a:pt x="77" y="25"/>
                </a:lnTo>
                <a:lnTo>
                  <a:pt x="63" y="33"/>
                </a:lnTo>
                <a:lnTo>
                  <a:pt x="62" y="34"/>
                </a:lnTo>
                <a:lnTo>
                  <a:pt x="60" y="34"/>
                </a:lnTo>
                <a:lnTo>
                  <a:pt x="58" y="33"/>
                </a:lnTo>
                <a:lnTo>
                  <a:pt x="58" y="32"/>
                </a:lnTo>
                <a:lnTo>
                  <a:pt x="57" y="30"/>
                </a:lnTo>
                <a:lnTo>
                  <a:pt x="57" y="28"/>
                </a:lnTo>
                <a:lnTo>
                  <a:pt x="57" y="27"/>
                </a:lnTo>
                <a:lnTo>
                  <a:pt x="58" y="25"/>
                </a:lnTo>
                <a:lnTo>
                  <a:pt x="82" y="11"/>
                </a:lnTo>
                <a:lnTo>
                  <a:pt x="109" y="4"/>
                </a:lnTo>
                <a:lnTo>
                  <a:pt x="137" y="0"/>
                </a:lnTo>
                <a:close/>
              </a:path>
            </a:pathLst>
          </a:custGeom>
          <a:solidFill>
            <a:schemeClr val="bg1">
              <a:alpha val="10000"/>
            </a:schemeClr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pPr defTabSz="914400">
              <a:defRPr/>
            </a:pPr>
            <a:endParaRPr lang="zh-CN" altLang="en-US" sz="1800">
              <a:solidFill>
                <a:srgbClr val="00000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9" name="Freeform 463"/>
          <p:cNvSpPr>
            <a:spLocks noEditPoints="1"/>
          </p:cNvSpPr>
          <p:nvPr userDrawn="1"/>
        </p:nvSpPr>
        <p:spPr bwMode="auto">
          <a:xfrm rot="19468345">
            <a:off x="4877976" y="513678"/>
            <a:ext cx="1364153" cy="774137"/>
          </a:xfrm>
          <a:custGeom>
            <a:avLst/>
            <a:gdLst>
              <a:gd name="T0" fmla="*/ 250 w 326"/>
              <a:gd name="T1" fmla="*/ 94 h 185"/>
              <a:gd name="T2" fmla="*/ 253 w 326"/>
              <a:gd name="T3" fmla="*/ 98 h 185"/>
              <a:gd name="T4" fmla="*/ 249 w 326"/>
              <a:gd name="T5" fmla="*/ 148 h 185"/>
              <a:gd name="T6" fmla="*/ 225 w 326"/>
              <a:gd name="T7" fmla="*/ 163 h 185"/>
              <a:gd name="T8" fmla="*/ 185 w 326"/>
              <a:gd name="T9" fmla="*/ 171 h 185"/>
              <a:gd name="T10" fmla="*/ 142 w 326"/>
              <a:gd name="T11" fmla="*/ 171 h 185"/>
              <a:gd name="T12" fmla="*/ 102 w 326"/>
              <a:gd name="T13" fmla="*/ 163 h 185"/>
              <a:gd name="T14" fmla="*/ 78 w 326"/>
              <a:gd name="T15" fmla="*/ 148 h 185"/>
              <a:gd name="T16" fmla="*/ 74 w 326"/>
              <a:gd name="T17" fmla="*/ 99 h 185"/>
              <a:gd name="T18" fmla="*/ 76 w 326"/>
              <a:gd name="T19" fmla="*/ 94 h 185"/>
              <a:gd name="T20" fmla="*/ 82 w 326"/>
              <a:gd name="T21" fmla="*/ 94 h 185"/>
              <a:gd name="T22" fmla="*/ 163 w 326"/>
              <a:gd name="T23" fmla="*/ 126 h 185"/>
              <a:gd name="T24" fmla="*/ 245 w 326"/>
              <a:gd name="T25" fmla="*/ 93 h 185"/>
              <a:gd name="T26" fmla="*/ 163 w 326"/>
              <a:gd name="T27" fmla="*/ 0 h 185"/>
              <a:gd name="T28" fmla="*/ 322 w 326"/>
              <a:gd name="T29" fmla="*/ 46 h 185"/>
              <a:gd name="T30" fmla="*/ 326 w 326"/>
              <a:gd name="T31" fmla="*/ 50 h 185"/>
              <a:gd name="T32" fmla="*/ 324 w 326"/>
              <a:gd name="T33" fmla="*/ 53 h 185"/>
              <a:gd name="T34" fmla="*/ 168 w 326"/>
              <a:gd name="T35" fmla="*/ 120 h 185"/>
              <a:gd name="T36" fmla="*/ 157 w 326"/>
              <a:gd name="T37" fmla="*/ 120 h 185"/>
              <a:gd name="T38" fmla="*/ 42 w 326"/>
              <a:gd name="T39" fmla="*/ 72 h 185"/>
              <a:gd name="T40" fmla="*/ 39 w 326"/>
              <a:gd name="T41" fmla="*/ 75 h 185"/>
              <a:gd name="T42" fmla="*/ 39 w 326"/>
              <a:gd name="T43" fmla="*/ 110 h 185"/>
              <a:gd name="T44" fmla="*/ 42 w 326"/>
              <a:gd name="T45" fmla="*/ 110 h 185"/>
              <a:gd name="T46" fmla="*/ 45 w 326"/>
              <a:gd name="T47" fmla="*/ 110 h 185"/>
              <a:gd name="T48" fmla="*/ 46 w 326"/>
              <a:gd name="T49" fmla="*/ 112 h 185"/>
              <a:gd name="T50" fmla="*/ 46 w 326"/>
              <a:gd name="T51" fmla="*/ 116 h 185"/>
              <a:gd name="T52" fmla="*/ 45 w 326"/>
              <a:gd name="T53" fmla="*/ 122 h 185"/>
              <a:gd name="T54" fmla="*/ 46 w 326"/>
              <a:gd name="T55" fmla="*/ 124 h 185"/>
              <a:gd name="T56" fmla="*/ 46 w 326"/>
              <a:gd name="T57" fmla="*/ 126 h 185"/>
              <a:gd name="T58" fmla="*/ 45 w 326"/>
              <a:gd name="T59" fmla="*/ 127 h 185"/>
              <a:gd name="T60" fmla="*/ 52 w 326"/>
              <a:gd name="T61" fmla="*/ 149 h 185"/>
              <a:gd name="T62" fmla="*/ 50 w 326"/>
              <a:gd name="T63" fmla="*/ 171 h 185"/>
              <a:gd name="T64" fmla="*/ 42 w 326"/>
              <a:gd name="T65" fmla="*/ 181 h 185"/>
              <a:gd name="T66" fmla="*/ 42 w 326"/>
              <a:gd name="T67" fmla="*/ 175 h 185"/>
              <a:gd name="T68" fmla="*/ 42 w 326"/>
              <a:gd name="T69" fmla="*/ 171 h 185"/>
              <a:gd name="T70" fmla="*/ 41 w 326"/>
              <a:gd name="T71" fmla="*/ 172 h 185"/>
              <a:gd name="T72" fmla="*/ 39 w 326"/>
              <a:gd name="T73" fmla="*/ 179 h 185"/>
              <a:gd name="T74" fmla="*/ 36 w 326"/>
              <a:gd name="T75" fmla="*/ 185 h 185"/>
              <a:gd name="T76" fmla="*/ 34 w 326"/>
              <a:gd name="T77" fmla="*/ 185 h 185"/>
              <a:gd name="T78" fmla="*/ 33 w 326"/>
              <a:gd name="T79" fmla="*/ 170 h 185"/>
              <a:gd name="T80" fmla="*/ 32 w 326"/>
              <a:gd name="T81" fmla="*/ 167 h 185"/>
              <a:gd name="T82" fmla="*/ 32 w 326"/>
              <a:gd name="T83" fmla="*/ 171 h 185"/>
              <a:gd name="T84" fmla="*/ 30 w 326"/>
              <a:gd name="T85" fmla="*/ 179 h 185"/>
              <a:gd name="T86" fmla="*/ 30 w 326"/>
              <a:gd name="T87" fmla="*/ 179 h 185"/>
              <a:gd name="T88" fmla="*/ 29 w 326"/>
              <a:gd name="T89" fmla="*/ 172 h 185"/>
              <a:gd name="T90" fmla="*/ 28 w 326"/>
              <a:gd name="T91" fmla="*/ 172 h 185"/>
              <a:gd name="T92" fmla="*/ 28 w 326"/>
              <a:gd name="T93" fmla="*/ 180 h 185"/>
              <a:gd name="T94" fmla="*/ 28 w 326"/>
              <a:gd name="T95" fmla="*/ 181 h 185"/>
              <a:gd name="T96" fmla="*/ 16 w 326"/>
              <a:gd name="T97" fmla="*/ 157 h 185"/>
              <a:gd name="T98" fmla="*/ 25 w 326"/>
              <a:gd name="T99" fmla="*/ 127 h 185"/>
              <a:gd name="T100" fmla="*/ 24 w 326"/>
              <a:gd name="T101" fmla="*/ 126 h 185"/>
              <a:gd name="T102" fmla="*/ 24 w 326"/>
              <a:gd name="T103" fmla="*/ 122 h 185"/>
              <a:gd name="T104" fmla="*/ 27 w 326"/>
              <a:gd name="T105" fmla="*/ 121 h 185"/>
              <a:gd name="T106" fmla="*/ 25 w 326"/>
              <a:gd name="T107" fmla="*/ 116 h 185"/>
              <a:gd name="T108" fmla="*/ 25 w 326"/>
              <a:gd name="T109" fmla="*/ 112 h 185"/>
              <a:gd name="T110" fmla="*/ 28 w 326"/>
              <a:gd name="T111" fmla="*/ 108 h 185"/>
              <a:gd name="T112" fmla="*/ 30 w 326"/>
              <a:gd name="T113" fmla="*/ 110 h 185"/>
              <a:gd name="T114" fmla="*/ 33 w 326"/>
              <a:gd name="T115" fmla="*/ 108 h 185"/>
              <a:gd name="T116" fmla="*/ 32 w 326"/>
              <a:gd name="T117" fmla="*/ 67 h 185"/>
              <a:gd name="T118" fmla="*/ 2 w 326"/>
              <a:gd name="T119" fmla="*/ 55 h 185"/>
              <a:gd name="T120" fmla="*/ 0 w 326"/>
              <a:gd name="T121" fmla="*/ 52 h 185"/>
              <a:gd name="T122" fmla="*/ 1 w 326"/>
              <a:gd name="T123" fmla="*/ 47 h 185"/>
              <a:gd name="T124" fmla="*/ 159 w 326"/>
              <a:gd name="T125" fmla="*/ 0 h 1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326" h="185">
                <a:moveTo>
                  <a:pt x="248" y="93"/>
                </a:moveTo>
                <a:lnTo>
                  <a:pt x="250" y="94"/>
                </a:lnTo>
                <a:lnTo>
                  <a:pt x="251" y="95"/>
                </a:lnTo>
                <a:lnTo>
                  <a:pt x="253" y="98"/>
                </a:lnTo>
                <a:lnTo>
                  <a:pt x="253" y="138"/>
                </a:lnTo>
                <a:lnTo>
                  <a:pt x="249" y="148"/>
                </a:lnTo>
                <a:lnTo>
                  <a:pt x="239" y="157"/>
                </a:lnTo>
                <a:lnTo>
                  <a:pt x="225" y="163"/>
                </a:lnTo>
                <a:lnTo>
                  <a:pt x="207" y="168"/>
                </a:lnTo>
                <a:lnTo>
                  <a:pt x="185" y="171"/>
                </a:lnTo>
                <a:lnTo>
                  <a:pt x="163" y="172"/>
                </a:lnTo>
                <a:lnTo>
                  <a:pt x="142" y="171"/>
                </a:lnTo>
                <a:lnTo>
                  <a:pt x="120" y="168"/>
                </a:lnTo>
                <a:lnTo>
                  <a:pt x="102" y="163"/>
                </a:lnTo>
                <a:lnTo>
                  <a:pt x="87" y="157"/>
                </a:lnTo>
                <a:lnTo>
                  <a:pt x="78" y="148"/>
                </a:lnTo>
                <a:lnTo>
                  <a:pt x="74" y="138"/>
                </a:lnTo>
                <a:lnTo>
                  <a:pt x="74" y="99"/>
                </a:lnTo>
                <a:lnTo>
                  <a:pt x="75" y="97"/>
                </a:lnTo>
                <a:lnTo>
                  <a:pt x="76" y="94"/>
                </a:lnTo>
                <a:lnTo>
                  <a:pt x="79" y="93"/>
                </a:lnTo>
                <a:lnTo>
                  <a:pt x="82" y="94"/>
                </a:lnTo>
                <a:lnTo>
                  <a:pt x="158" y="125"/>
                </a:lnTo>
                <a:lnTo>
                  <a:pt x="163" y="126"/>
                </a:lnTo>
                <a:lnTo>
                  <a:pt x="168" y="125"/>
                </a:lnTo>
                <a:lnTo>
                  <a:pt x="245" y="93"/>
                </a:lnTo>
                <a:lnTo>
                  <a:pt x="248" y="93"/>
                </a:lnTo>
                <a:close/>
                <a:moveTo>
                  <a:pt x="163" y="0"/>
                </a:moveTo>
                <a:lnTo>
                  <a:pt x="167" y="0"/>
                </a:lnTo>
                <a:lnTo>
                  <a:pt x="322" y="46"/>
                </a:lnTo>
                <a:lnTo>
                  <a:pt x="324" y="47"/>
                </a:lnTo>
                <a:lnTo>
                  <a:pt x="326" y="50"/>
                </a:lnTo>
                <a:lnTo>
                  <a:pt x="326" y="52"/>
                </a:lnTo>
                <a:lnTo>
                  <a:pt x="324" y="53"/>
                </a:lnTo>
                <a:lnTo>
                  <a:pt x="323" y="55"/>
                </a:lnTo>
                <a:lnTo>
                  <a:pt x="168" y="120"/>
                </a:lnTo>
                <a:lnTo>
                  <a:pt x="163" y="121"/>
                </a:lnTo>
                <a:lnTo>
                  <a:pt x="157" y="120"/>
                </a:lnTo>
                <a:lnTo>
                  <a:pt x="43" y="72"/>
                </a:lnTo>
                <a:lnTo>
                  <a:pt x="42" y="72"/>
                </a:lnTo>
                <a:lnTo>
                  <a:pt x="39" y="74"/>
                </a:lnTo>
                <a:lnTo>
                  <a:pt x="39" y="75"/>
                </a:lnTo>
                <a:lnTo>
                  <a:pt x="39" y="110"/>
                </a:lnTo>
                <a:lnTo>
                  <a:pt x="39" y="110"/>
                </a:lnTo>
                <a:lnTo>
                  <a:pt x="41" y="111"/>
                </a:lnTo>
                <a:lnTo>
                  <a:pt x="42" y="110"/>
                </a:lnTo>
                <a:lnTo>
                  <a:pt x="43" y="110"/>
                </a:lnTo>
                <a:lnTo>
                  <a:pt x="45" y="110"/>
                </a:lnTo>
                <a:lnTo>
                  <a:pt x="45" y="111"/>
                </a:lnTo>
                <a:lnTo>
                  <a:pt x="46" y="112"/>
                </a:lnTo>
                <a:lnTo>
                  <a:pt x="46" y="115"/>
                </a:lnTo>
                <a:lnTo>
                  <a:pt x="46" y="116"/>
                </a:lnTo>
                <a:lnTo>
                  <a:pt x="46" y="120"/>
                </a:lnTo>
                <a:lnTo>
                  <a:pt x="45" y="122"/>
                </a:lnTo>
                <a:lnTo>
                  <a:pt x="45" y="124"/>
                </a:lnTo>
                <a:lnTo>
                  <a:pt x="46" y="124"/>
                </a:lnTo>
                <a:lnTo>
                  <a:pt x="47" y="125"/>
                </a:lnTo>
                <a:lnTo>
                  <a:pt x="46" y="126"/>
                </a:lnTo>
                <a:lnTo>
                  <a:pt x="45" y="127"/>
                </a:lnTo>
                <a:lnTo>
                  <a:pt x="45" y="127"/>
                </a:lnTo>
                <a:lnTo>
                  <a:pt x="50" y="138"/>
                </a:lnTo>
                <a:lnTo>
                  <a:pt x="52" y="149"/>
                </a:lnTo>
                <a:lnTo>
                  <a:pt x="52" y="161"/>
                </a:lnTo>
                <a:lnTo>
                  <a:pt x="50" y="171"/>
                </a:lnTo>
                <a:lnTo>
                  <a:pt x="42" y="180"/>
                </a:lnTo>
                <a:lnTo>
                  <a:pt x="42" y="181"/>
                </a:lnTo>
                <a:lnTo>
                  <a:pt x="42" y="180"/>
                </a:lnTo>
                <a:lnTo>
                  <a:pt x="42" y="175"/>
                </a:lnTo>
                <a:lnTo>
                  <a:pt x="42" y="172"/>
                </a:lnTo>
                <a:lnTo>
                  <a:pt x="42" y="171"/>
                </a:lnTo>
                <a:lnTo>
                  <a:pt x="42" y="171"/>
                </a:lnTo>
                <a:lnTo>
                  <a:pt x="41" y="172"/>
                </a:lnTo>
                <a:lnTo>
                  <a:pt x="41" y="175"/>
                </a:lnTo>
                <a:lnTo>
                  <a:pt x="39" y="179"/>
                </a:lnTo>
                <a:lnTo>
                  <a:pt x="37" y="182"/>
                </a:lnTo>
                <a:lnTo>
                  <a:pt x="36" y="185"/>
                </a:lnTo>
                <a:lnTo>
                  <a:pt x="34" y="185"/>
                </a:lnTo>
                <a:lnTo>
                  <a:pt x="34" y="185"/>
                </a:lnTo>
                <a:lnTo>
                  <a:pt x="33" y="173"/>
                </a:lnTo>
                <a:lnTo>
                  <a:pt x="33" y="170"/>
                </a:lnTo>
                <a:lnTo>
                  <a:pt x="33" y="168"/>
                </a:lnTo>
                <a:lnTo>
                  <a:pt x="32" y="167"/>
                </a:lnTo>
                <a:lnTo>
                  <a:pt x="32" y="168"/>
                </a:lnTo>
                <a:lnTo>
                  <a:pt x="32" y="171"/>
                </a:lnTo>
                <a:lnTo>
                  <a:pt x="32" y="179"/>
                </a:lnTo>
                <a:lnTo>
                  <a:pt x="30" y="179"/>
                </a:lnTo>
                <a:lnTo>
                  <a:pt x="30" y="180"/>
                </a:lnTo>
                <a:lnTo>
                  <a:pt x="30" y="179"/>
                </a:lnTo>
                <a:lnTo>
                  <a:pt x="29" y="175"/>
                </a:lnTo>
                <a:lnTo>
                  <a:pt x="29" y="172"/>
                </a:lnTo>
                <a:lnTo>
                  <a:pt x="28" y="172"/>
                </a:lnTo>
                <a:lnTo>
                  <a:pt x="28" y="172"/>
                </a:lnTo>
                <a:lnTo>
                  <a:pt x="28" y="175"/>
                </a:lnTo>
                <a:lnTo>
                  <a:pt x="28" y="180"/>
                </a:lnTo>
                <a:lnTo>
                  <a:pt x="28" y="181"/>
                </a:lnTo>
                <a:lnTo>
                  <a:pt x="28" y="181"/>
                </a:lnTo>
                <a:lnTo>
                  <a:pt x="19" y="170"/>
                </a:lnTo>
                <a:lnTo>
                  <a:pt x="16" y="157"/>
                </a:lnTo>
                <a:lnTo>
                  <a:pt x="19" y="141"/>
                </a:lnTo>
                <a:lnTo>
                  <a:pt x="25" y="127"/>
                </a:lnTo>
                <a:lnTo>
                  <a:pt x="25" y="126"/>
                </a:lnTo>
                <a:lnTo>
                  <a:pt x="24" y="126"/>
                </a:lnTo>
                <a:lnTo>
                  <a:pt x="24" y="124"/>
                </a:lnTo>
                <a:lnTo>
                  <a:pt x="24" y="122"/>
                </a:lnTo>
                <a:lnTo>
                  <a:pt x="25" y="122"/>
                </a:lnTo>
                <a:lnTo>
                  <a:pt x="27" y="121"/>
                </a:lnTo>
                <a:lnTo>
                  <a:pt x="25" y="118"/>
                </a:lnTo>
                <a:lnTo>
                  <a:pt x="25" y="116"/>
                </a:lnTo>
                <a:lnTo>
                  <a:pt x="25" y="113"/>
                </a:lnTo>
                <a:lnTo>
                  <a:pt x="25" y="112"/>
                </a:lnTo>
                <a:lnTo>
                  <a:pt x="27" y="110"/>
                </a:lnTo>
                <a:lnTo>
                  <a:pt x="28" y="108"/>
                </a:lnTo>
                <a:lnTo>
                  <a:pt x="30" y="108"/>
                </a:lnTo>
                <a:lnTo>
                  <a:pt x="30" y="110"/>
                </a:lnTo>
                <a:lnTo>
                  <a:pt x="32" y="108"/>
                </a:lnTo>
                <a:lnTo>
                  <a:pt x="33" y="108"/>
                </a:lnTo>
                <a:lnTo>
                  <a:pt x="33" y="70"/>
                </a:lnTo>
                <a:lnTo>
                  <a:pt x="32" y="67"/>
                </a:lnTo>
                <a:lnTo>
                  <a:pt x="30" y="66"/>
                </a:lnTo>
                <a:lnTo>
                  <a:pt x="2" y="55"/>
                </a:lnTo>
                <a:lnTo>
                  <a:pt x="1" y="53"/>
                </a:lnTo>
                <a:lnTo>
                  <a:pt x="0" y="52"/>
                </a:lnTo>
                <a:lnTo>
                  <a:pt x="0" y="50"/>
                </a:lnTo>
                <a:lnTo>
                  <a:pt x="1" y="47"/>
                </a:lnTo>
                <a:lnTo>
                  <a:pt x="4" y="46"/>
                </a:lnTo>
                <a:lnTo>
                  <a:pt x="159" y="0"/>
                </a:lnTo>
                <a:lnTo>
                  <a:pt x="163" y="0"/>
                </a:lnTo>
                <a:close/>
              </a:path>
            </a:pathLst>
          </a:custGeom>
          <a:solidFill>
            <a:schemeClr val="bg1">
              <a:alpha val="10000"/>
            </a:schemeClr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pPr defTabSz="914400">
              <a:defRPr/>
            </a:pPr>
            <a:endParaRPr lang="zh-CN" altLang="en-US" sz="1800">
              <a:solidFill>
                <a:srgbClr val="000000"/>
              </a:solidFill>
              <a:latin typeface="微软雅黑" panose="020B0503020204020204" pitchFamily="34" charset="-122"/>
            </a:endParaRPr>
          </a:p>
        </p:txBody>
      </p:sp>
      <p:sp>
        <p:nvSpPr>
          <p:cNvPr id="21" name="Freeform 345"/>
          <p:cNvSpPr>
            <a:spLocks noEditPoints="1"/>
          </p:cNvSpPr>
          <p:nvPr userDrawn="1"/>
        </p:nvSpPr>
        <p:spPr bwMode="auto">
          <a:xfrm rot="19951744">
            <a:off x="485337" y="1535222"/>
            <a:ext cx="2166226" cy="3066048"/>
          </a:xfrm>
          <a:custGeom>
            <a:avLst/>
            <a:gdLst>
              <a:gd name="T0" fmla="*/ 190 w 195"/>
              <a:gd name="T1" fmla="*/ 163 h 276"/>
              <a:gd name="T2" fmla="*/ 195 w 195"/>
              <a:gd name="T3" fmla="*/ 174 h 276"/>
              <a:gd name="T4" fmla="*/ 192 w 195"/>
              <a:gd name="T5" fmla="*/ 180 h 276"/>
              <a:gd name="T6" fmla="*/ 105 w 195"/>
              <a:gd name="T7" fmla="*/ 212 h 276"/>
              <a:gd name="T8" fmla="*/ 98 w 195"/>
              <a:gd name="T9" fmla="*/ 202 h 276"/>
              <a:gd name="T10" fmla="*/ 101 w 195"/>
              <a:gd name="T11" fmla="*/ 195 h 276"/>
              <a:gd name="T12" fmla="*/ 187 w 195"/>
              <a:gd name="T13" fmla="*/ 160 h 276"/>
              <a:gd name="T14" fmla="*/ 20 w 195"/>
              <a:gd name="T15" fmla="*/ 147 h 276"/>
              <a:gd name="T16" fmla="*/ 15 w 195"/>
              <a:gd name="T17" fmla="*/ 157 h 276"/>
              <a:gd name="T18" fmla="*/ 20 w 195"/>
              <a:gd name="T19" fmla="*/ 168 h 276"/>
              <a:gd name="T20" fmla="*/ 32 w 195"/>
              <a:gd name="T21" fmla="*/ 169 h 276"/>
              <a:gd name="T22" fmla="*/ 40 w 195"/>
              <a:gd name="T23" fmla="*/ 161 h 276"/>
              <a:gd name="T24" fmla="*/ 37 w 195"/>
              <a:gd name="T25" fmla="*/ 150 h 276"/>
              <a:gd name="T26" fmla="*/ 27 w 195"/>
              <a:gd name="T27" fmla="*/ 145 h 276"/>
              <a:gd name="T28" fmla="*/ 102 w 195"/>
              <a:gd name="T29" fmla="*/ 2 h 276"/>
              <a:gd name="T30" fmla="*/ 105 w 195"/>
              <a:gd name="T31" fmla="*/ 12 h 276"/>
              <a:gd name="T32" fmla="*/ 100 w 195"/>
              <a:gd name="T33" fmla="*/ 14 h 276"/>
              <a:gd name="T34" fmla="*/ 151 w 195"/>
              <a:gd name="T35" fmla="*/ 146 h 276"/>
              <a:gd name="T36" fmla="*/ 148 w 195"/>
              <a:gd name="T37" fmla="*/ 149 h 276"/>
              <a:gd name="T38" fmla="*/ 147 w 195"/>
              <a:gd name="T39" fmla="*/ 151 h 276"/>
              <a:gd name="T40" fmla="*/ 148 w 195"/>
              <a:gd name="T41" fmla="*/ 160 h 276"/>
              <a:gd name="T42" fmla="*/ 144 w 195"/>
              <a:gd name="T43" fmla="*/ 166 h 276"/>
              <a:gd name="T44" fmla="*/ 129 w 195"/>
              <a:gd name="T45" fmla="*/ 169 h 276"/>
              <a:gd name="T46" fmla="*/ 124 w 195"/>
              <a:gd name="T47" fmla="*/ 161 h 276"/>
              <a:gd name="T48" fmla="*/ 120 w 195"/>
              <a:gd name="T49" fmla="*/ 160 h 276"/>
              <a:gd name="T50" fmla="*/ 118 w 195"/>
              <a:gd name="T51" fmla="*/ 160 h 276"/>
              <a:gd name="T52" fmla="*/ 91 w 195"/>
              <a:gd name="T53" fmla="*/ 97 h 276"/>
              <a:gd name="T54" fmla="*/ 84 w 195"/>
              <a:gd name="T55" fmla="*/ 97 h 276"/>
              <a:gd name="T56" fmla="*/ 52 w 195"/>
              <a:gd name="T57" fmla="*/ 136 h 276"/>
              <a:gd name="T58" fmla="*/ 55 w 195"/>
              <a:gd name="T59" fmla="*/ 151 h 276"/>
              <a:gd name="T60" fmla="*/ 52 w 195"/>
              <a:gd name="T61" fmla="*/ 170 h 276"/>
              <a:gd name="T62" fmla="*/ 46 w 195"/>
              <a:gd name="T63" fmla="*/ 180 h 276"/>
              <a:gd name="T64" fmla="*/ 59 w 195"/>
              <a:gd name="T65" fmla="*/ 216 h 276"/>
              <a:gd name="T66" fmla="*/ 87 w 195"/>
              <a:gd name="T67" fmla="*/ 243 h 276"/>
              <a:gd name="T68" fmla="*/ 185 w 195"/>
              <a:gd name="T69" fmla="*/ 244 h 276"/>
              <a:gd name="T70" fmla="*/ 193 w 195"/>
              <a:gd name="T71" fmla="*/ 256 h 276"/>
              <a:gd name="T72" fmla="*/ 189 w 195"/>
              <a:gd name="T73" fmla="*/ 274 h 276"/>
              <a:gd name="T74" fmla="*/ 22 w 195"/>
              <a:gd name="T75" fmla="*/ 276 h 276"/>
              <a:gd name="T76" fmla="*/ 12 w 195"/>
              <a:gd name="T77" fmla="*/ 270 h 276"/>
              <a:gd name="T78" fmla="*/ 12 w 195"/>
              <a:gd name="T79" fmla="*/ 251 h 276"/>
              <a:gd name="T80" fmla="*/ 22 w 195"/>
              <a:gd name="T81" fmla="*/ 244 h 276"/>
              <a:gd name="T82" fmla="*/ 29 w 195"/>
              <a:gd name="T83" fmla="*/ 241 h 276"/>
              <a:gd name="T84" fmla="*/ 17 w 195"/>
              <a:gd name="T85" fmla="*/ 210 h 276"/>
              <a:gd name="T86" fmla="*/ 8 w 195"/>
              <a:gd name="T87" fmla="*/ 177 h 276"/>
              <a:gd name="T88" fmla="*/ 0 w 195"/>
              <a:gd name="T89" fmla="*/ 157 h 276"/>
              <a:gd name="T90" fmla="*/ 15 w 195"/>
              <a:gd name="T91" fmla="*/ 131 h 276"/>
              <a:gd name="T92" fmla="*/ 38 w 195"/>
              <a:gd name="T93" fmla="*/ 91 h 276"/>
              <a:gd name="T94" fmla="*/ 75 w 195"/>
              <a:gd name="T95" fmla="*/ 62 h 276"/>
              <a:gd name="T96" fmla="*/ 65 w 195"/>
              <a:gd name="T97" fmla="*/ 31 h 276"/>
              <a:gd name="T98" fmla="*/ 61 w 195"/>
              <a:gd name="T99" fmla="*/ 30 h 276"/>
              <a:gd name="T100" fmla="*/ 56 w 195"/>
              <a:gd name="T101" fmla="*/ 31 h 276"/>
              <a:gd name="T102" fmla="*/ 52 w 195"/>
              <a:gd name="T103" fmla="*/ 20 h 276"/>
              <a:gd name="T104" fmla="*/ 59 w 195"/>
              <a:gd name="T105" fmla="*/ 16 h 276"/>
              <a:gd name="T106" fmla="*/ 101 w 195"/>
              <a:gd name="T107" fmla="*/ 0 h 2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195" h="276">
                <a:moveTo>
                  <a:pt x="187" y="160"/>
                </a:moveTo>
                <a:lnTo>
                  <a:pt x="189" y="161"/>
                </a:lnTo>
                <a:lnTo>
                  <a:pt x="190" y="163"/>
                </a:lnTo>
                <a:lnTo>
                  <a:pt x="193" y="165"/>
                </a:lnTo>
                <a:lnTo>
                  <a:pt x="195" y="172"/>
                </a:lnTo>
                <a:lnTo>
                  <a:pt x="195" y="174"/>
                </a:lnTo>
                <a:lnTo>
                  <a:pt x="195" y="177"/>
                </a:lnTo>
                <a:lnTo>
                  <a:pt x="193" y="178"/>
                </a:lnTo>
                <a:lnTo>
                  <a:pt x="192" y="180"/>
                </a:lnTo>
                <a:lnTo>
                  <a:pt x="110" y="212"/>
                </a:lnTo>
                <a:lnTo>
                  <a:pt x="107" y="212"/>
                </a:lnTo>
                <a:lnTo>
                  <a:pt x="105" y="212"/>
                </a:lnTo>
                <a:lnTo>
                  <a:pt x="103" y="211"/>
                </a:lnTo>
                <a:lnTo>
                  <a:pt x="101" y="209"/>
                </a:lnTo>
                <a:lnTo>
                  <a:pt x="98" y="202"/>
                </a:lnTo>
                <a:lnTo>
                  <a:pt x="98" y="200"/>
                </a:lnTo>
                <a:lnTo>
                  <a:pt x="98" y="197"/>
                </a:lnTo>
                <a:lnTo>
                  <a:pt x="101" y="195"/>
                </a:lnTo>
                <a:lnTo>
                  <a:pt x="102" y="193"/>
                </a:lnTo>
                <a:lnTo>
                  <a:pt x="184" y="161"/>
                </a:lnTo>
                <a:lnTo>
                  <a:pt x="187" y="160"/>
                </a:lnTo>
                <a:close/>
                <a:moveTo>
                  <a:pt x="27" y="145"/>
                </a:moveTo>
                <a:lnTo>
                  <a:pt x="23" y="145"/>
                </a:lnTo>
                <a:lnTo>
                  <a:pt x="20" y="147"/>
                </a:lnTo>
                <a:lnTo>
                  <a:pt x="17" y="150"/>
                </a:lnTo>
                <a:lnTo>
                  <a:pt x="15" y="154"/>
                </a:lnTo>
                <a:lnTo>
                  <a:pt x="15" y="157"/>
                </a:lnTo>
                <a:lnTo>
                  <a:pt x="15" y="161"/>
                </a:lnTo>
                <a:lnTo>
                  <a:pt x="17" y="165"/>
                </a:lnTo>
                <a:lnTo>
                  <a:pt x="20" y="168"/>
                </a:lnTo>
                <a:lnTo>
                  <a:pt x="23" y="169"/>
                </a:lnTo>
                <a:lnTo>
                  <a:pt x="27" y="170"/>
                </a:lnTo>
                <a:lnTo>
                  <a:pt x="32" y="169"/>
                </a:lnTo>
                <a:lnTo>
                  <a:pt x="35" y="168"/>
                </a:lnTo>
                <a:lnTo>
                  <a:pt x="37" y="165"/>
                </a:lnTo>
                <a:lnTo>
                  <a:pt x="40" y="161"/>
                </a:lnTo>
                <a:lnTo>
                  <a:pt x="40" y="157"/>
                </a:lnTo>
                <a:lnTo>
                  <a:pt x="40" y="154"/>
                </a:lnTo>
                <a:lnTo>
                  <a:pt x="37" y="150"/>
                </a:lnTo>
                <a:lnTo>
                  <a:pt x="35" y="147"/>
                </a:lnTo>
                <a:lnTo>
                  <a:pt x="32" y="145"/>
                </a:lnTo>
                <a:lnTo>
                  <a:pt x="27" y="145"/>
                </a:lnTo>
                <a:close/>
                <a:moveTo>
                  <a:pt x="101" y="0"/>
                </a:moveTo>
                <a:lnTo>
                  <a:pt x="102" y="0"/>
                </a:lnTo>
                <a:lnTo>
                  <a:pt x="102" y="2"/>
                </a:lnTo>
                <a:lnTo>
                  <a:pt x="106" y="9"/>
                </a:lnTo>
                <a:lnTo>
                  <a:pt x="106" y="11"/>
                </a:lnTo>
                <a:lnTo>
                  <a:pt x="105" y="12"/>
                </a:lnTo>
                <a:lnTo>
                  <a:pt x="103" y="13"/>
                </a:lnTo>
                <a:lnTo>
                  <a:pt x="101" y="14"/>
                </a:lnTo>
                <a:lnTo>
                  <a:pt x="100" y="14"/>
                </a:lnTo>
                <a:lnTo>
                  <a:pt x="100" y="16"/>
                </a:lnTo>
                <a:lnTo>
                  <a:pt x="100" y="18"/>
                </a:lnTo>
                <a:lnTo>
                  <a:pt x="151" y="146"/>
                </a:lnTo>
                <a:lnTo>
                  <a:pt x="151" y="147"/>
                </a:lnTo>
                <a:lnTo>
                  <a:pt x="149" y="149"/>
                </a:lnTo>
                <a:lnTo>
                  <a:pt x="148" y="149"/>
                </a:lnTo>
                <a:lnTo>
                  <a:pt x="148" y="150"/>
                </a:lnTo>
                <a:lnTo>
                  <a:pt x="147" y="150"/>
                </a:lnTo>
                <a:lnTo>
                  <a:pt x="147" y="151"/>
                </a:lnTo>
                <a:lnTo>
                  <a:pt x="147" y="152"/>
                </a:lnTo>
                <a:lnTo>
                  <a:pt x="148" y="157"/>
                </a:lnTo>
                <a:lnTo>
                  <a:pt x="148" y="160"/>
                </a:lnTo>
                <a:lnTo>
                  <a:pt x="148" y="163"/>
                </a:lnTo>
                <a:lnTo>
                  <a:pt x="147" y="164"/>
                </a:lnTo>
                <a:lnTo>
                  <a:pt x="144" y="166"/>
                </a:lnTo>
                <a:lnTo>
                  <a:pt x="134" y="169"/>
                </a:lnTo>
                <a:lnTo>
                  <a:pt x="132" y="170"/>
                </a:lnTo>
                <a:lnTo>
                  <a:pt x="129" y="169"/>
                </a:lnTo>
                <a:lnTo>
                  <a:pt x="128" y="168"/>
                </a:lnTo>
                <a:lnTo>
                  <a:pt x="125" y="165"/>
                </a:lnTo>
                <a:lnTo>
                  <a:pt x="124" y="161"/>
                </a:lnTo>
                <a:lnTo>
                  <a:pt x="124" y="161"/>
                </a:lnTo>
                <a:lnTo>
                  <a:pt x="123" y="160"/>
                </a:lnTo>
                <a:lnTo>
                  <a:pt x="120" y="160"/>
                </a:lnTo>
                <a:lnTo>
                  <a:pt x="120" y="160"/>
                </a:lnTo>
                <a:lnTo>
                  <a:pt x="119" y="161"/>
                </a:lnTo>
                <a:lnTo>
                  <a:pt x="118" y="160"/>
                </a:lnTo>
                <a:lnTo>
                  <a:pt x="116" y="159"/>
                </a:lnTo>
                <a:lnTo>
                  <a:pt x="93" y="100"/>
                </a:lnTo>
                <a:lnTo>
                  <a:pt x="91" y="97"/>
                </a:lnTo>
                <a:lnTo>
                  <a:pt x="89" y="96"/>
                </a:lnTo>
                <a:lnTo>
                  <a:pt x="87" y="96"/>
                </a:lnTo>
                <a:lnTo>
                  <a:pt x="84" y="97"/>
                </a:lnTo>
                <a:lnTo>
                  <a:pt x="70" y="108"/>
                </a:lnTo>
                <a:lnTo>
                  <a:pt x="60" y="120"/>
                </a:lnTo>
                <a:lnTo>
                  <a:pt x="52" y="136"/>
                </a:lnTo>
                <a:lnTo>
                  <a:pt x="51" y="140"/>
                </a:lnTo>
                <a:lnTo>
                  <a:pt x="52" y="145"/>
                </a:lnTo>
                <a:lnTo>
                  <a:pt x="55" y="151"/>
                </a:lnTo>
                <a:lnTo>
                  <a:pt x="55" y="157"/>
                </a:lnTo>
                <a:lnTo>
                  <a:pt x="55" y="164"/>
                </a:lnTo>
                <a:lnTo>
                  <a:pt x="52" y="170"/>
                </a:lnTo>
                <a:lnTo>
                  <a:pt x="49" y="175"/>
                </a:lnTo>
                <a:lnTo>
                  <a:pt x="47" y="178"/>
                </a:lnTo>
                <a:lnTo>
                  <a:pt x="46" y="180"/>
                </a:lnTo>
                <a:lnTo>
                  <a:pt x="46" y="184"/>
                </a:lnTo>
                <a:lnTo>
                  <a:pt x="51" y="201"/>
                </a:lnTo>
                <a:lnTo>
                  <a:pt x="59" y="216"/>
                </a:lnTo>
                <a:lnTo>
                  <a:pt x="69" y="230"/>
                </a:lnTo>
                <a:lnTo>
                  <a:pt x="83" y="242"/>
                </a:lnTo>
                <a:lnTo>
                  <a:pt x="87" y="243"/>
                </a:lnTo>
                <a:lnTo>
                  <a:pt x="89" y="244"/>
                </a:lnTo>
                <a:lnTo>
                  <a:pt x="181" y="244"/>
                </a:lnTo>
                <a:lnTo>
                  <a:pt x="185" y="244"/>
                </a:lnTo>
                <a:lnTo>
                  <a:pt x="189" y="247"/>
                </a:lnTo>
                <a:lnTo>
                  <a:pt x="192" y="251"/>
                </a:lnTo>
                <a:lnTo>
                  <a:pt x="193" y="256"/>
                </a:lnTo>
                <a:lnTo>
                  <a:pt x="193" y="265"/>
                </a:lnTo>
                <a:lnTo>
                  <a:pt x="192" y="270"/>
                </a:lnTo>
                <a:lnTo>
                  <a:pt x="189" y="274"/>
                </a:lnTo>
                <a:lnTo>
                  <a:pt x="185" y="276"/>
                </a:lnTo>
                <a:lnTo>
                  <a:pt x="181" y="276"/>
                </a:lnTo>
                <a:lnTo>
                  <a:pt x="22" y="276"/>
                </a:lnTo>
                <a:lnTo>
                  <a:pt x="18" y="276"/>
                </a:lnTo>
                <a:lnTo>
                  <a:pt x="14" y="274"/>
                </a:lnTo>
                <a:lnTo>
                  <a:pt x="12" y="270"/>
                </a:lnTo>
                <a:lnTo>
                  <a:pt x="10" y="265"/>
                </a:lnTo>
                <a:lnTo>
                  <a:pt x="10" y="256"/>
                </a:lnTo>
                <a:lnTo>
                  <a:pt x="12" y="251"/>
                </a:lnTo>
                <a:lnTo>
                  <a:pt x="14" y="247"/>
                </a:lnTo>
                <a:lnTo>
                  <a:pt x="18" y="244"/>
                </a:lnTo>
                <a:lnTo>
                  <a:pt x="22" y="244"/>
                </a:lnTo>
                <a:lnTo>
                  <a:pt x="24" y="244"/>
                </a:lnTo>
                <a:lnTo>
                  <a:pt x="27" y="243"/>
                </a:lnTo>
                <a:lnTo>
                  <a:pt x="29" y="241"/>
                </a:lnTo>
                <a:lnTo>
                  <a:pt x="29" y="238"/>
                </a:lnTo>
                <a:lnTo>
                  <a:pt x="28" y="235"/>
                </a:lnTo>
                <a:lnTo>
                  <a:pt x="17" y="210"/>
                </a:lnTo>
                <a:lnTo>
                  <a:pt x="10" y="183"/>
                </a:lnTo>
                <a:lnTo>
                  <a:pt x="9" y="179"/>
                </a:lnTo>
                <a:lnTo>
                  <a:pt x="8" y="177"/>
                </a:lnTo>
                <a:lnTo>
                  <a:pt x="4" y="170"/>
                </a:lnTo>
                <a:lnTo>
                  <a:pt x="0" y="164"/>
                </a:lnTo>
                <a:lnTo>
                  <a:pt x="0" y="157"/>
                </a:lnTo>
                <a:lnTo>
                  <a:pt x="3" y="143"/>
                </a:lnTo>
                <a:lnTo>
                  <a:pt x="13" y="133"/>
                </a:lnTo>
                <a:lnTo>
                  <a:pt x="15" y="131"/>
                </a:lnTo>
                <a:lnTo>
                  <a:pt x="17" y="128"/>
                </a:lnTo>
                <a:lnTo>
                  <a:pt x="27" y="109"/>
                </a:lnTo>
                <a:lnTo>
                  <a:pt x="38" y="91"/>
                </a:lnTo>
                <a:lnTo>
                  <a:pt x="54" y="76"/>
                </a:lnTo>
                <a:lnTo>
                  <a:pt x="73" y="63"/>
                </a:lnTo>
                <a:lnTo>
                  <a:pt x="75" y="62"/>
                </a:lnTo>
                <a:lnTo>
                  <a:pt x="75" y="59"/>
                </a:lnTo>
                <a:lnTo>
                  <a:pt x="75" y="57"/>
                </a:lnTo>
                <a:lnTo>
                  <a:pt x="65" y="31"/>
                </a:lnTo>
                <a:lnTo>
                  <a:pt x="65" y="30"/>
                </a:lnTo>
                <a:lnTo>
                  <a:pt x="64" y="30"/>
                </a:lnTo>
                <a:lnTo>
                  <a:pt x="61" y="30"/>
                </a:lnTo>
                <a:lnTo>
                  <a:pt x="59" y="31"/>
                </a:lnTo>
                <a:lnTo>
                  <a:pt x="58" y="31"/>
                </a:lnTo>
                <a:lnTo>
                  <a:pt x="56" y="31"/>
                </a:lnTo>
                <a:lnTo>
                  <a:pt x="55" y="30"/>
                </a:lnTo>
                <a:lnTo>
                  <a:pt x="52" y="22"/>
                </a:lnTo>
                <a:lnTo>
                  <a:pt x="52" y="20"/>
                </a:lnTo>
                <a:lnTo>
                  <a:pt x="52" y="18"/>
                </a:lnTo>
                <a:lnTo>
                  <a:pt x="54" y="18"/>
                </a:lnTo>
                <a:lnTo>
                  <a:pt x="59" y="16"/>
                </a:lnTo>
                <a:lnTo>
                  <a:pt x="93" y="2"/>
                </a:lnTo>
                <a:lnTo>
                  <a:pt x="98" y="0"/>
                </a:lnTo>
                <a:lnTo>
                  <a:pt x="101" y="0"/>
                </a:lnTo>
                <a:close/>
              </a:path>
            </a:pathLst>
          </a:custGeom>
          <a:solidFill>
            <a:schemeClr val="bg1">
              <a:alpha val="10000"/>
            </a:schemeClr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pPr defTabSz="914400">
              <a:defRPr/>
            </a:pPr>
            <a:endParaRPr lang="zh-CN" altLang="en-US" sz="1800">
              <a:solidFill>
                <a:srgbClr val="000000"/>
              </a:solidFill>
              <a:latin typeface="微软雅黑" panose="020B0503020204020204" pitchFamily="34" charset="-122"/>
            </a:endParaRPr>
          </a:p>
        </p:txBody>
      </p:sp>
      <p:sp>
        <p:nvSpPr>
          <p:cNvPr id="22" name="Freeform 387"/>
          <p:cNvSpPr>
            <a:spLocks noEditPoints="1"/>
          </p:cNvSpPr>
          <p:nvPr userDrawn="1"/>
        </p:nvSpPr>
        <p:spPr bwMode="auto">
          <a:xfrm rot="1888595">
            <a:off x="2442159" y="392103"/>
            <a:ext cx="1572202" cy="2081915"/>
          </a:xfrm>
          <a:custGeom>
            <a:avLst/>
            <a:gdLst>
              <a:gd name="T0" fmla="*/ 68 w 219"/>
              <a:gd name="T1" fmla="*/ 188 h 290"/>
              <a:gd name="T2" fmla="*/ 108 w 219"/>
              <a:gd name="T3" fmla="*/ 177 h 290"/>
              <a:gd name="T4" fmla="*/ 114 w 219"/>
              <a:gd name="T5" fmla="*/ 174 h 290"/>
              <a:gd name="T6" fmla="*/ 168 w 219"/>
              <a:gd name="T7" fmla="*/ 174 h 290"/>
              <a:gd name="T8" fmla="*/ 52 w 219"/>
              <a:gd name="T9" fmla="*/ 172 h 290"/>
              <a:gd name="T10" fmla="*/ 100 w 219"/>
              <a:gd name="T11" fmla="*/ 170 h 290"/>
              <a:gd name="T12" fmla="*/ 52 w 219"/>
              <a:gd name="T13" fmla="*/ 117 h 290"/>
              <a:gd name="T14" fmla="*/ 44 w 219"/>
              <a:gd name="T15" fmla="*/ 168 h 290"/>
              <a:gd name="T16" fmla="*/ 53 w 219"/>
              <a:gd name="T17" fmla="*/ 118 h 290"/>
              <a:gd name="T18" fmla="*/ 89 w 219"/>
              <a:gd name="T19" fmla="*/ 138 h 290"/>
              <a:gd name="T20" fmla="*/ 137 w 219"/>
              <a:gd name="T21" fmla="*/ 145 h 290"/>
              <a:gd name="T22" fmla="*/ 150 w 219"/>
              <a:gd name="T23" fmla="*/ 141 h 290"/>
              <a:gd name="T24" fmla="*/ 175 w 219"/>
              <a:gd name="T25" fmla="*/ 169 h 290"/>
              <a:gd name="T26" fmla="*/ 172 w 219"/>
              <a:gd name="T27" fmla="*/ 114 h 290"/>
              <a:gd name="T28" fmla="*/ 31 w 219"/>
              <a:gd name="T29" fmla="*/ 152 h 290"/>
              <a:gd name="T30" fmla="*/ 43 w 219"/>
              <a:gd name="T31" fmla="*/ 112 h 290"/>
              <a:gd name="T32" fmla="*/ 115 w 219"/>
              <a:gd name="T33" fmla="*/ 109 h 290"/>
              <a:gd name="T34" fmla="*/ 164 w 219"/>
              <a:gd name="T35" fmla="*/ 112 h 290"/>
              <a:gd name="T36" fmla="*/ 73 w 219"/>
              <a:gd name="T37" fmla="*/ 83 h 290"/>
              <a:gd name="T38" fmla="*/ 83 w 219"/>
              <a:gd name="T39" fmla="*/ 131 h 290"/>
              <a:gd name="T40" fmla="*/ 77 w 219"/>
              <a:gd name="T41" fmla="*/ 82 h 290"/>
              <a:gd name="T42" fmla="*/ 175 w 219"/>
              <a:gd name="T43" fmla="*/ 108 h 290"/>
              <a:gd name="T44" fmla="*/ 196 w 219"/>
              <a:gd name="T45" fmla="*/ 90 h 290"/>
              <a:gd name="T46" fmla="*/ 82 w 219"/>
              <a:gd name="T47" fmla="*/ 77 h 290"/>
              <a:gd name="T48" fmla="*/ 129 w 219"/>
              <a:gd name="T49" fmla="*/ 85 h 290"/>
              <a:gd name="T50" fmla="*/ 174 w 219"/>
              <a:gd name="T51" fmla="*/ 51 h 290"/>
              <a:gd name="T52" fmla="*/ 156 w 219"/>
              <a:gd name="T53" fmla="*/ 96 h 290"/>
              <a:gd name="T54" fmla="*/ 178 w 219"/>
              <a:gd name="T55" fmla="*/ 77 h 290"/>
              <a:gd name="T56" fmla="*/ 43 w 219"/>
              <a:gd name="T57" fmla="*/ 51 h 290"/>
              <a:gd name="T58" fmla="*/ 49 w 219"/>
              <a:gd name="T59" fmla="*/ 104 h 290"/>
              <a:gd name="T60" fmla="*/ 184 w 219"/>
              <a:gd name="T61" fmla="*/ 41 h 290"/>
              <a:gd name="T62" fmla="*/ 202 w 219"/>
              <a:gd name="T63" fmla="*/ 89 h 290"/>
              <a:gd name="T64" fmla="*/ 112 w 219"/>
              <a:gd name="T65" fmla="*/ 205 h 290"/>
              <a:gd name="T66" fmla="*/ 41 w 219"/>
              <a:gd name="T67" fmla="*/ 183 h 290"/>
              <a:gd name="T68" fmla="*/ 137 w 219"/>
              <a:gd name="T69" fmla="*/ 209 h 290"/>
              <a:gd name="T70" fmla="*/ 201 w 219"/>
              <a:gd name="T71" fmla="*/ 64 h 290"/>
              <a:gd name="T72" fmla="*/ 118 w 219"/>
              <a:gd name="T73" fmla="*/ 49 h 290"/>
              <a:gd name="T74" fmla="*/ 138 w 219"/>
              <a:gd name="T75" fmla="*/ 76 h 290"/>
              <a:gd name="T76" fmla="*/ 92 w 219"/>
              <a:gd name="T77" fmla="*/ 23 h 290"/>
              <a:gd name="T78" fmla="*/ 75 w 219"/>
              <a:gd name="T79" fmla="*/ 71 h 290"/>
              <a:gd name="T80" fmla="*/ 95 w 219"/>
              <a:gd name="T81" fmla="*/ 23 h 290"/>
              <a:gd name="T82" fmla="*/ 110 w 219"/>
              <a:gd name="T83" fmla="*/ 43 h 290"/>
              <a:gd name="T84" fmla="*/ 151 w 219"/>
              <a:gd name="T85" fmla="*/ 32 h 290"/>
              <a:gd name="T86" fmla="*/ 219 w 219"/>
              <a:gd name="T87" fmla="*/ 12 h 290"/>
              <a:gd name="T88" fmla="*/ 195 w 219"/>
              <a:gd name="T89" fmla="*/ 30 h 290"/>
              <a:gd name="T90" fmla="*/ 219 w 219"/>
              <a:gd name="T91" fmla="*/ 101 h 290"/>
              <a:gd name="T92" fmla="*/ 118 w 219"/>
              <a:gd name="T93" fmla="*/ 219 h 290"/>
              <a:gd name="T94" fmla="*/ 126 w 219"/>
              <a:gd name="T95" fmla="*/ 243 h 290"/>
              <a:gd name="T96" fmla="*/ 118 w 219"/>
              <a:gd name="T97" fmla="*/ 266 h 290"/>
              <a:gd name="T98" fmla="*/ 183 w 219"/>
              <a:gd name="T99" fmla="*/ 290 h 290"/>
              <a:gd name="T100" fmla="*/ 77 w 219"/>
              <a:gd name="T101" fmla="*/ 269 h 290"/>
              <a:gd name="T102" fmla="*/ 95 w 219"/>
              <a:gd name="T103" fmla="*/ 251 h 290"/>
              <a:gd name="T104" fmla="*/ 103 w 219"/>
              <a:gd name="T105" fmla="*/ 220 h 290"/>
              <a:gd name="T106" fmla="*/ 30 w 219"/>
              <a:gd name="T107" fmla="*/ 193 h 290"/>
              <a:gd name="T108" fmla="*/ 20 w 219"/>
              <a:gd name="T109" fmla="*/ 219 h 290"/>
              <a:gd name="T110" fmla="*/ 13 w 219"/>
              <a:gd name="T111" fmla="*/ 188 h 290"/>
              <a:gd name="T112" fmla="*/ 37 w 219"/>
              <a:gd name="T113" fmla="*/ 173 h 290"/>
              <a:gd name="T114" fmla="*/ 62 w 219"/>
              <a:gd name="T115" fmla="*/ 27 h 290"/>
              <a:gd name="T116" fmla="*/ 177 w 219"/>
              <a:gd name="T117" fmla="*/ 39 h 290"/>
              <a:gd name="T118" fmla="*/ 192 w 219"/>
              <a:gd name="T119" fmla="*/ 6 h 2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219" h="290">
                <a:moveTo>
                  <a:pt x="106" y="175"/>
                </a:moveTo>
                <a:lnTo>
                  <a:pt x="104" y="175"/>
                </a:lnTo>
                <a:lnTo>
                  <a:pt x="87" y="183"/>
                </a:lnTo>
                <a:lnTo>
                  <a:pt x="68" y="187"/>
                </a:lnTo>
                <a:lnTo>
                  <a:pt x="68" y="187"/>
                </a:lnTo>
                <a:lnTo>
                  <a:pt x="67" y="188"/>
                </a:lnTo>
                <a:lnTo>
                  <a:pt x="68" y="188"/>
                </a:lnTo>
                <a:lnTo>
                  <a:pt x="90" y="196"/>
                </a:lnTo>
                <a:lnTo>
                  <a:pt x="113" y="198"/>
                </a:lnTo>
                <a:lnTo>
                  <a:pt x="114" y="198"/>
                </a:lnTo>
                <a:lnTo>
                  <a:pt x="115" y="196"/>
                </a:lnTo>
                <a:lnTo>
                  <a:pt x="115" y="195"/>
                </a:lnTo>
                <a:lnTo>
                  <a:pt x="113" y="186"/>
                </a:lnTo>
                <a:lnTo>
                  <a:pt x="108" y="177"/>
                </a:lnTo>
                <a:lnTo>
                  <a:pt x="108" y="177"/>
                </a:lnTo>
                <a:lnTo>
                  <a:pt x="106" y="175"/>
                </a:lnTo>
                <a:close/>
                <a:moveTo>
                  <a:pt x="142" y="150"/>
                </a:moveTo>
                <a:lnTo>
                  <a:pt x="141" y="150"/>
                </a:lnTo>
                <a:lnTo>
                  <a:pt x="115" y="170"/>
                </a:lnTo>
                <a:lnTo>
                  <a:pt x="114" y="172"/>
                </a:lnTo>
                <a:lnTo>
                  <a:pt x="114" y="174"/>
                </a:lnTo>
                <a:lnTo>
                  <a:pt x="123" y="195"/>
                </a:lnTo>
                <a:lnTo>
                  <a:pt x="124" y="197"/>
                </a:lnTo>
                <a:lnTo>
                  <a:pt x="126" y="197"/>
                </a:lnTo>
                <a:lnTo>
                  <a:pt x="147" y="189"/>
                </a:lnTo>
                <a:lnTo>
                  <a:pt x="168" y="177"/>
                </a:lnTo>
                <a:lnTo>
                  <a:pt x="168" y="175"/>
                </a:lnTo>
                <a:lnTo>
                  <a:pt x="168" y="174"/>
                </a:lnTo>
                <a:lnTo>
                  <a:pt x="168" y="173"/>
                </a:lnTo>
                <a:lnTo>
                  <a:pt x="145" y="150"/>
                </a:lnTo>
                <a:lnTo>
                  <a:pt x="143" y="150"/>
                </a:lnTo>
                <a:lnTo>
                  <a:pt x="142" y="150"/>
                </a:lnTo>
                <a:close/>
                <a:moveTo>
                  <a:pt x="81" y="143"/>
                </a:moveTo>
                <a:lnTo>
                  <a:pt x="80" y="143"/>
                </a:lnTo>
                <a:lnTo>
                  <a:pt x="52" y="172"/>
                </a:lnTo>
                <a:lnTo>
                  <a:pt x="52" y="174"/>
                </a:lnTo>
                <a:lnTo>
                  <a:pt x="52" y="175"/>
                </a:lnTo>
                <a:lnTo>
                  <a:pt x="53" y="177"/>
                </a:lnTo>
                <a:lnTo>
                  <a:pt x="64" y="179"/>
                </a:lnTo>
                <a:lnTo>
                  <a:pt x="77" y="179"/>
                </a:lnTo>
                <a:lnTo>
                  <a:pt x="90" y="175"/>
                </a:lnTo>
                <a:lnTo>
                  <a:pt x="100" y="170"/>
                </a:lnTo>
                <a:lnTo>
                  <a:pt x="101" y="169"/>
                </a:lnTo>
                <a:lnTo>
                  <a:pt x="103" y="168"/>
                </a:lnTo>
                <a:lnTo>
                  <a:pt x="101" y="166"/>
                </a:lnTo>
                <a:lnTo>
                  <a:pt x="85" y="143"/>
                </a:lnTo>
                <a:lnTo>
                  <a:pt x="83" y="143"/>
                </a:lnTo>
                <a:lnTo>
                  <a:pt x="81" y="143"/>
                </a:lnTo>
                <a:close/>
                <a:moveTo>
                  <a:pt x="52" y="117"/>
                </a:moveTo>
                <a:lnTo>
                  <a:pt x="50" y="118"/>
                </a:lnTo>
                <a:lnTo>
                  <a:pt x="49" y="119"/>
                </a:lnTo>
                <a:lnTo>
                  <a:pt x="44" y="129"/>
                </a:lnTo>
                <a:lnTo>
                  <a:pt x="40" y="142"/>
                </a:lnTo>
                <a:lnTo>
                  <a:pt x="40" y="155"/>
                </a:lnTo>
                <a:lnTo>
                  <a:pt x="43" y="166"/>
                </a:lnTo>
                <a:lnTo>
                  <a:pt x="44" y="168"/>
                </a:lnTo>
                <a:lnTo>
                  <a:pt x="45" y="168"/>
                </a:lnTo>
                <a:lnTo>
                  <a:pt x="48" y="168"/>
                </a:lnTo>
                <a:lnTo>
                  <a:pt x="76" y="140"/>
                </a:lnTo>
                <a:lnTo>
                  <a:pt x="76" y="138"/>
                </a:lnTo>
                <a:lnTo>
                  <a:pt x="76" y="136"/>
                </a:lnTo>
                <a:lnTo>
                  <a:pt x="76" y="135"/>
                </a:lnTo>
                <a:lnTo>
                  <a:pt x="53" y="118"/>
                </a:lnTo>
                <a:lnTo>
                  <a:pt x="52" y="117"/>
                </a:lnTo>
                <a:close/>
                <a:moveTo>
                  <a:pt x="110" y="115"/>
                </a:moveTo>
                <a:lnTo>
                  <a:pt x="109" y="115"/>
                </a:lnTo>
                <a:lnTo>
                  <a:pt x="108" y="117"/>
                </a:lnTo>
                <a:lnTo>
                  <a:pt x="89" y="135"/>
                </a:lnTo>
                <a:lnTo>
                  <a:pt x="89" y="136"/>
                </a:lnTo>
                <a:lnTo>
                  <a:pt x="89" y="138"/>
                </a:lnTo>
                <a:lnTo>
                  <a:pt x="89" y="140"/>
                </a:lnTo>
                <a:lnTo>
                  <a:pt x="108" y="164"/>
                </a:lnTo>
                <a:lnTo>
                  <a:pt x="109" y="164"/>
                </a:lnTo>
                <a:lnTo>
                  <a:pt x="110" y="165"/>
                </a:lnTo>
                <a:lnTo>
                  <a:pt x="112" y="164"/>
                </a:lnTo>
                <a:lnTo>
                  <a:pt x="136" y="146"/>
                </a:lnTo>
                <a:lnTo>
                  <a:pt x="137" y="145"/>
                </a:lnTo>
                <a:lnTo>
                  <a:pt x="137" y="142"/>
                </a:lnTo>
                <a:lnTo>
                  <a:pt x="136" y="141"/>
                </a:lnTo>
                <a:lnTo>
                  <a:pt x="112" y="117"/>
                </a:lnTo>
                <a:lnTo>
                  <a:pt x="110" y="115"/>
                </a:lnTo>
                <a:close/>
                <a:moveTo>
                  <a:pt x="172" y="114"/>
                </a:moveTo>
                <a:lnTo>
                  <a:pt x="169" y="115"/>
                </a:lnTo>
                <a:lnTo>
                  <a:pt x="150" y="141"/>
                </a:lnTo>
                <a:lnTo>
                  <a:pt x="149" y="142"/>
                </a:lnTo>
                <a:lnTo>
                  <a:pt x="149" y="145"/>
                </a:lnTo>
                <a:lnTo>
                  <a:pt x="150" y="146"/>
                </a:lnTo>
                <a:lnTo>
                  <a:pt x="172" y="168"/>
                </a:lnTo>
                <a:lnTo>
                  <a:pt x="173" y="169"/>
                </a:lnTo>
                <a:lnTo>
                  <a:pt x="174" y="169"/>
                </a:lnTo>
                <a:lnTo>
                  <a:pt x="175" y="169"/>
                </a:lnTo>
                <a:lnTo>
                  <a:pt x="177" y="168"/>
                </a:lnTo>
                <a:lnTo>
                  <a:pt x="189" y="149"/>
                </a:lnTo>
                <a:lnTo>
                  <a:pt x="196" y="127"/>
                </a:lnTo>
                <a:lnTo>
                  <a:pt x="196" y="124"/>
                </a:lnTo>
                <a:lnTo>
                  <a:pt x="195" y="123"/>
                </a:lnTo>
                <a:lnTo>
                  <a:pt x="173" y="114"/>
                </a:lnTo>
                <a:lnTo>
                  <a:pt x="172" y="114"/>
                </a:lnTo>
                <a:close/>
                <a:moveTo>
                  <a:pt x="25" y="104"/>
                </a:moveTo>
                <a:lnTo>
                  <a:pt x="23" y="104"/>
                </a:lnTo>
                <a:lnTo>
                  <a:pt x="21" y="105"/>
                </a:lnTo>
                <a:lnTo>
                  <a:pt x="21" y="106"/>
                </a:lnTo>
                <a:lnTo>
                  <a:pt x="23" y="129"/>
                </a:lnTo>
                <a:lnTo>
                  <a:pt x="31" y="151"/>
                </a:lnTo>
                <a:lnTo>
                  <a:pt x="31" y="152"/>
                </a:lnTo>
                <a:lnTo>
                  <a:pt x="32" y="151"/>
                </a:lnTo>
                <a:lnTo>
                  <a:pt x="32" y="151"/>
                </a:lnTo>
                <a:lnTo>
                  <a:pt x="36" y="132"/>
                </a:lnTo>
                <a:lnTo>
                  <a:pt x="44" y="115"/>
                </a:lnTo>
                <a:lnTo>
                  <a:pt x="44" y="113"/>
                </a:lnTo>
                <a:lnTo>
                  <a:pt x="43" y="112"/>
                </a:lnTo>
                <a:lnTo>
                  <a:pt x="43" y="112"/>
                </a:lnTo>
                <a:lnTo>
                  <a:pt x="34" y="106"/>
                </a:lnTo>
                <a:lnTo>
                  <a:pt x="25" y="104"/>
                </a:lnTo>
                <a:close/>
                <a:moveTo>
                  <a:pt x="137" y="89"/>
                </a:moveTo>
                <a:lnTo>
                  <a:pt x="136" y="89"/>
                </a:lnTo>
                <a:lnTo>
                  <a:pt x="135" y="90"/>
                </a:lnTo>
                <a:lnTo>
                  <a:pt x="117" y="108"/>
                </a:lnTo>
                <a:lnTo>
                  <a:pt x="115" y="109"/>
                </a:lnTo>
                <a:lnTo>
                  <a:pt x="115" y="110"/>
                </a:lnTo>
                <a:lnTo>
                  <a:pt x="117" y="112"/>
                </a:lnTo>
                <a:lnTo>
                  <a:pt x="141" y="137"/>
                </a:lnTo>
                <a:lnTo>
                  <a:pt x="142" y="137"/>
                </a:lnTo>
                <a:lnTo>
                  <a:pt x="145" y="137"/>
                </a:lnTo>
                <a:lnTo>
                  <a:pt x="164" y="113"/>
                </a:lnTo>
                <a:lnTo>
                  <a:pt x="164" y="112"/>
                </a:lnTo>
                <a:lnTo>
                  <a:pt x="164" y="109"/>
                </a:lnTo>
                <a:lnTo>
                  <a:pt x="163" y="109"/>
                </a:lnTo>
                <a:lnTo>
                  <a:pt x="138" y="90"/>
                </a:lnTo>
                <a:lnTo>
                  <a:pt x="137" y="89"/>
                </a:lnTo>
                <a:close/>
                <a:moveTo>
                  <a:pt x="77" y="82"/>
                </a:moveTo>
                <a:lnTo>
                  <a:pt x="75" y="82"/>
                </a:lnTo>
                <a:lnTo>
                  <a:pt x="73" y="83"/>
                </a:lnTo>
                <a:lnTo>
                  <a:pt x="55" y="108"/>
                </a:lnTo>
                <a:lnTo>
                  <a:pt x="54" y="109"/>
                </a:lnTo>
                <a:lnTo>
                  <a:pt x="55" y="110"/>
                </a:lnTo>
                <a:lnTo>
                  <a:pt x="55" y="112"/>
                </a:lnTo>
                <a:lnTo>
                  <a:pt x="80" y="131"/>
                </a:lnTo>
                <a:lnTo>
                  <a:pt x="81" y="131"/>
                </a:lnTo>
                <a:lnTo>
                  <a:pt x="83" y="131"/>
                </a:lnTo>
                <a:lnTo>
                  <a:pt x="85" y="131"/>
                </a:lnTo>
                <a:lnTo>
                  <a:pt x="103" y="112"/>
                </a:lnTo>
                <a:lnTo>
                  <a:pt x="104" y="110"/>
                </a:lnTo>
                <a:lnTo>
                  <a:pt x="104" y="109"/>
                </a:lnTo>
                <a:lnTo>
                  <a:pt x="103" y="108"/>
                </a:lnTo>
                <a:lnTo>
                  <a:pt x="78" y="83"/>
                </a:lnTo>
                <a:lnTo>
                  <a:pt x="77" y="82"/>
                </a:lnTo>
                <a:close/>
                <a:moveTo>
                  <a:pt x="187" y="68"/>
                </a:moveTo>
                <a:lnTo>
                  <a:pt x="186" y="68"/>
                </a:lnTo>
                <a:lnTo>
                  <a:pt x="186" y="69"/>
                </a:lnTo>
                <a:lnTo>
                  <a:pt x="183" y="87"/>
                </a:lnTo>
                <a:lnTo>
                  <a:pt x="175" y="105"/>
                </a:lnTo>
                <a:lnTo>
                  <a:pt x="175" y="106"/>
                </a:lnTo>
                <a:lnTo>
                  <a:pt x="175" y="108"/>
                </a:lnTo>
                <a:lnTo>
                  <a:pt x="177" y="109"/>
                </a:lnTo>
                <a:lnTo>
                  <a:pt x="186" y="113"/>
                </a:lnTo>
                <a:lnTo>
                  <a:pt x="195" y="117"/>
                </a:lnTo>
                <a:lnTo>
                  <a:pt x="196" y="117"/>
                </a:lnTo>
                <a:lnTo>
                  <a:pt x="197" y="115"/>
                </a:lnTo>
                <a:lnTo>
                  <a:pt x="197" y="114"/>
                </a:lnTo>
                <a:lnTo>
                  <a:pt x="196" y="90"/>
                </a:lnTo>
                <a:lnTo>
                  <a:pt x="187" y="68"/>
                </a:lnTo>
                <a:lnTo>
                  <a:pt x="187" y="68"/>
                </a:lnTo>
                <a:close/>
                <a:moveTo>
                  <a:pt x="108" y="55"/>
                </a:moveTo>
                <a:lnTo>
                  <a:pt x="106" y="55"/>
                </a:lnTo>
                <a:lnTo>
                  <a:pt x="82" y="74"/>
                </a:lnTo>
                <a:lnTo>
                  <a:pt x="82" y="76"/>
                </a:lnTo>
                <a:lnTo>
                  <a:pt x="82" y="77"/>
                </a:lnTo>
                <a:lnTo>
                  <a:pt x="82" y="77"/>
                </a:lnTo>
                <a:lnTo>
                  <a:pt x="82" y="78"/>
                </a:lnTo>
                <a:lnTo>
                  <a:pt x="108" y="103"/>
                </a:lnTo>
                <a:lnTo>
                  <a:pt x="109" y="104"/>
                </a:lnTo>
                <a:lnTo>
                  <a:pt x="110" y="104"/>
                </a:lnTo>
                <a:lnTo>
                  <a:pt x="112" y="103"/>
                </a:lnTo>
                <a:lnTo>
                  <a:pt x="129" y="85"/>
                </a:lnTo>
                <a:lnTo>
                  <a:pt x="131" y="83"/>
                </a:lnTo>
                <a:lnTo>
                  <a:pt x="131" y="82"/>
                </a:lnTo>
                <a:lnTo>
                  <a:pt x="129" y="81"/>
                </a:lnTo>
                <a:lnTo>
                  <a:pt x="110" y="57"/>
                </a:lnTo>
                <a:lnTo>
                  <a:pt x="109" y="55"/>
                </a:lnTo>
                <a:lnTo>
                  <a:pt x="108" y="55"/>
                </a:lnTo>
                <a:close/>
                <a:moveTo>
                  <a:pt x="174" y="51"/>
                </a:moveTo>
                <a:lnTo>
                  <a:pt x="173" y="51"/>
                </a:lnTo>
                <a:lnTo>
                  <a:pt x="172" y="53"/>
                </a:lnTo>
                <a:lnTo>
                  <a:pt x="143" y="81"/>
                </a:lnTo>
                <a:lnTo>
                  <a:pt x="142" y="83"/>
                </a:lnTo>
                <a:lnTo>
                  <a:pt x="145" y="86"/>
                </a:lnTo>
                <a:lnTo>
                  <a:pt x="150" y="91"/>
                </a:lnTo>
                <a:lnTo>
                  <a:pt x="156" y="96"/>
                </a:lnTo>
                <a:lnTo>
                  <a:pt x="161" y="100"/>
                </a:lnTo>
                <a:lnTo>
                  <a:pt x="165" y="103"/>
                </a:lnTo>
                <a:lnTo>
                  <a:pt x="166" y="103"/>
                </a:lnTo>
                <a:lnTo>
                  <a:pt x="169" y="103"/>
                </a:lnTo>
                <a:lnTo>
                  <a:pt x="170" y="101"/>
                </a:lnTo>
                <a:lnTo>
                  <a:pt x="174" y="90"/>
                </a:lnTo>
                <a:lnTo>
                  <a:pt x="178" y="77"/>
                </a:lnTo>
                <a:lnTo>
                  <a:pt x="179" y="64"/>
                </a:lnTo>
                <a:lnTo>
                  <a:pt x="177" y="53"/>
                </a:lnTo>
                <a:lnTo>
                  <a:pt x="175" y="53"/>
                </a:lnTo>
                <a:lnTo>
                  <a:pt x="174" y="51"/>
                </a:lnTo>
                <a:close/>
                <a:moveTo>
                  <a:pt x="45" y="51"/>
                </a:moveTo>
                <a:lnTo>
                  <a:pt x="44" y="51"/>
                </a:lnTo>
                <a:lnTo>
                  <a:pt x="43" y="51"/>
                </a:lnTo>
                <a:lnTo>
                  <a:pt x="30" y="72"/>
                </a:lnTo>
                <a:lnTo>
                  <a:pt x="22" y="94"/>
                </a:lnTo>
                <a:lnTo>
                  <a:pt x="22" y="95"/>
                </a:lnTo>
                <a:lnTo>
                  <a:pt x="25" y="96"/>
                </a:lnTo>
                <a:lnTo>
                  <a:pt x="45" y="105"/>
                </a:lnTo>
                <a:lnTo>
                  <a:pt x="48" y="105"/>
                </a:lnTo>
                <a:lnTo>
                  <a:pt x="49" y="104"/>
                </a:lnTo>
                <a:lnTo>
                  <a:pt x="69" y="78"/>
                </a:lnTo>
                <a:lnTo>
                  <a:pt x="69" y="77"/>
                </a:lnTo>
                <a:lnTo>
                  <a:pt x="69" y="76"/>
                </a:lnTo>
                <a:lnTo>
                  <a:pt x="69" y="74"/>
                </a:lnTo>
                <a:lnTo>
                  <a:pt x="46" y="51"/>
                </a:lnTo>
                <a:lnTo>
                  <a:pt x="45" y="51"/>
                </a:lnTo>
                <a:close/>
                <a:moveTo>
                  <a:pt x="184" y="41"/>
                </a:moveTo>
                <a:lnTo>
                  <a:pt x="183" y="41"/>
                </a:lnTo>
                <a:lnTo>
                  <a:pt x="182" y="43"/>
                </a:lnTo>
                <a:lnTo>
                  <a:pt x="181" y="43"/>
                </a:lnTo>
                <a:lnTo>
                  <a:pt x="181" y="45"/>
                </a:lnTo>
                <a:lnTo>
                  <a:pt x="181" y="48"/>
                </a:lnTo>
                <a:lnTo>
                  <a:pt x="195" y="67"/>
                </a:lnTo>
                <a:lnTo>
                  <a:pt x="202" y="89"/>
                </a:lnTo>
                <a:lnTo>
                  <a:pt x="205" y="112"/>
                </a:lnTo>
                <a:lnTo>
                  <a:pt x="201" y="135"/>
                </a:lnTo>
                <a:lnTo>
                  <a:pt x="192" y="158"/>
                </a:lnTo>
                <a:lnTo>
                  <a:pt x="177" y="177"/>
                </a:lnTo>
                <a:lnTo>
                  <a:pt x="158" y="192"/>
                </a:lnTo>
                <a:lnTo>
                  <a:pt x="136" y="201"/>
                </a:lnTo>
                <a:lnTo>
                  <a:pt x="112" y="205"/>
                </a:lnTo>
                <a:lnTo>
                  <a:pt x="89" y="203"/>
                </a:lnTo>
                <a:lnTo>
                  <a:pt x="67" y="195"/>
                </a:lnTo>
                <a:lnTo>
                  <a:pt x="46" y="182"/>
                </a:lnTo>
                <a:lnTo>
                  <a:pt x="44" y="181"/>
                </a:lnTo>
                <a:lnTo>
                  <a:pt x="43" y="182"/>
                </a:lnTo>
                <a:lnTo>
                  <a:pt x="41" y="183"/>
                </a:lnTo>
                <a:lnTo>
                  <a:pt x="41" y="183"/>
                </a:lnTo>
                <a:lnTo>
                  <a:pt x="40" y="184"/>
                </a:lnTo>
                <a:lnTo>
                  <a:pt x="41" y="186"/>
                </a:lnTo>
                <a:lnTo>
                  <a:pt x="41" y="187"/>
                </a:lnTo>
                <a:lnTo>
                  <a:pt x="63" y="201"/>
                </a:lnTo>
                <a:lnTo>
                  <a:pt x="87" y="210"/>
                </a:lnTo>
                <a:lnTo>
                  <a:pt x="113" y="212"/>
                </a:lnTo>
                <a:lnTo>
                  <a:pt x="137" y="209"/>
                </a:lnTo>
                <a:lnTo>
                  <a:pt x="160" y="198"/>
                </a:lnTo>
                <a:lnTo>
                  <a:pt x="182" y="182"/>
                </a:lnTo>
                <a:lnTo>
                  <a:pt x="198" y="161"/>
                </a:lnTo>
                <a:lnTo>
                  <a:pt x="207" y="138"/>
                </a:lnTo>
                <a:lnTo>
                  <a:pt x="211" y="113"/>
                </a:lnTo>
                <a:lnTo>
                  <a:pt x="209" y="89"/>
                </a:lnTo>
                <a:lnTo>
                  <a:pt x="201" y="64"/>
                </a:lnTo>
                <a:lnTo>
                  <a:pt x="186" y="43"/>
                </a:lnTo>
                <a:lnTo>
                  <a:pt x="186" y="41"/>
                </a:lnTo>
                <a:lnTo>
                  <a:pt x="184" y="41"/>
                </a:lnTo>
                <a:close/>
                <a:moveTo>
                  <a:pt x="155" y="40"/>
                </a:moveTo>
                <a:lnTo>
                  <a:pt x="142" y="41"/>
                </a:lnTo>
                <a:lnTo>
                  <a:pt x="129" y="45"/>
                </a:lnTo>
                <a:lnTo>
                  <a:pt x="118" y="49"/>
                </a:lnTo>
                <a:lnTo>
                  <a:pt x="117" y="50"/>
                </a:lnTo>
                <a:lnTo>
                  <a:pt x="117" y="53"/>
                </a:lnTo>
                <a:lnTo>
                  <a:pt x="117" y="54"/>
                </a:lnTo>
                <a:lnTo>
                  <a:pt x="135" y="76"/>
                </a:lnTo>
                <a:lnTo>
                  <a:pt x="136" y="77"/>
                </a:lnTo>
                <a:lnTo>
                  <a:pt x="137" y="77"/>
                </a:lnTo>
                <a:lnTo>
                  <a:pt x="138" y="76"/>
                </a:lnTo>
                <a:lnTo>
                  <a:pt x="166" y="48"/>
                </a:lnTo>
                <a:lnTo>
                  <a:pt x="168" y="46"/>
                </a:lnTo>
                <a:lnTo>
                  <a:pt x="168" y="45"/>
                </a:lnTo>
                <a:lnTo>
                  <a:pt x="166" y="44"/>
                </a:lnTo>
                <a:lnTo>
                  <a:pt x="166" y="43"/>
                </a:lnTo>
                <a:lnTo>
                  <a:pt x="155" y="40"/>
                </a:lnTo>
                <a:close/>
                <a:moveTo>
                  <a:pt x="92" y="23"/>
                </a:moveTo>
                <a:lnTo>
                  <a:pt x="71" y="30"/>
                </a:lnTo>
                <a:lnTo>
                  <a:pt x="52" y="43"/>
                </a:lnTo>
                <a:lnTo>
                  <a:pt x="50" y="44"/>
                </a:lnTo>
                <a:lnTo>
                  <a:pt x="50" y="46"/>
                </a:lnTo>
                <a:lnTo>
                  <a:pt x="52" y="48"/>
                </a:lnTo>
                <a:lnTo>
                  <a:pt x="73" y="69"/>
                </a:lnTo>
                <a:lnTo>
                  <a:pt x="75" y="71"/>
                </a:lnTo>
                <a:lnTo>
                  <a:pt x="77" y="71"/>
                </a:lnTo>
                <a:lnTo>
                  <a:pt x="78" y="69"/>
                </a:lnTo>
                <a:lnTo>
                  <a:pt x="104" y="50"/>
                </a:lnTo>
                <a:lnTo>
                  <a:pt x="105" y="48"/>
                </a:lnTo>
                <a:lnTo>
                  <a:pt x="105" y="46"/>
                </a:lnTo>
                <a:lnTo>
                  <a:pt x="96" y="25"/>
                </a:lnTo>
                <a:lnTo>
                  <a:pt x="95" y="23"/>
                </a:lnTo>
                <a:lnTo>
                  <a:pt x="92" y="23"/>
                </a:lnTo>
                <a:close/>
                <a:moveTo>
                  <a:pt x="105" y="22"/>
                </a:moveTo>
                <a:lnTo>
                  <a:pt x="104" y="22"/>
                </a:lnTo>
                <a:lnTo>
                  <a:pt x="103" y="23"/>
                </a:lnTo>
                <a:lnTo>
                  <a:pt x="103" y="25"/>
                </a:lnTo>
                <a:lnTo>
                  <a:pt x="106" y="34"/>
                </a:lnTo>
                <a:lnTo>
                  <a:pt x="110" y="43"/>
                </a:lnTo>
                <a:lnTo>
                  <a:pt x="112" y="44"/>
                </a:lnTo>
                <a:lnTo>
                  <a:pt x="113" y="44"/>
                </a:lnTo>
                <a:lnTo>
                  <a:pt x="114" y="44"/>
                </a:lnTo>
                <a:lnTo>
                  <a:pt x="132" y="36"/>
                </a:lnTo>
                <a:lnTo>
                  <a:pt x="150" y="34"/>
                </a:lnTo>
                <a:lnTo>
                  <a:pt x="151" y="34"/>
                </a:lnTo>
                <a:lnTo>
                  <a:pt x="151" y="32"/>
                </a:lnTo>
                <a:lnTo>
                  <a:pt x="151" y="32"/>
                </a:lnTo>
                <a:lnTo>
                  <a:pt x="129" y="23"/>
                </a:lnTo>
                <a:lnTo>
                  <a:pt x="105" y="22"/>
                </a:lnTo>
                <a:close/>
                <a:moveTo>
                  <a:pt x="198" y="0"/>
                </a:moveTo>
                <a:lnTo>
                  <a:pt x="207" y="0"/>
                </a:lnTo>
                <a:lnTo>
                  <a:pt x="214" y="6"/>
                </a:lnTo>
                <a:lnTo>
                  <a:pt x="219" y="12"/>
                </a:lnTo>
                <a:lnTo>
                  <a:pt x="219" y="21"/>
                </a:lnTo>
                <a:lnTo>
                  <a:pt x="214" y="27"/>
                </a:lnTo>
                <a:lnTo>
                  <a:pt x="210" y="31"/>
                </a:lnTo>
                <a:lnTo>
                  <a:pt x="206" y="32"/>
                </a:lnTo>
                <a:lnTo>
                  <a:pt x="201" y="32"/>
                </a:lnTo>
                <a:lnTo>
                  <a:pt x="196" y="31"/>
                </a:lnTo>
                <a:lnTo>
                  <a:pt x="195" y="30"/>
                </a:lnTo>
                <a:lnTo>
                  <a:pt x="193" y="31"/>
                </a:lnTo>
                <a:lnTo>
                  <a:pt x="191" y="34"/>
                </a:lnTo>
                <a:lnTo>
                  <a:pt x="189" y="35"/>
                </a:lnTo>
                <a:lnTo>
                  <a:pt x="191" y="37"/>
                </a:lnTo>
                <a:lnTo>
                  <a:pt x="205" y="57"/>
                </a:lnTo>
                <a:lnTo>
                  <a:pt x="214" y="78"/>
                </a:lnTo>
                <a:lnTo>
                  <a:pt x="219" y="101"/>
                </a:lnTo>
                <a:lnTo>
                  <a:pt x="218" y="124"/>
                </a:lnTo>
                <a:lnTo>
                  <a:pt x="212" y="147"/>
                </a:lnTo>
                <a:lnTo>
                  <a:pt x="202" y="168"/>
                </a:lnTo>
                <a:lnTo>
                  <a:pt x="187" y="187"/>
                </a:lnTo>
                <a:lnTo>
                  <a:pt x="165" y="203"/>
                </a:lnTo>
                <a:lnTo>
                  <a:pt x="142" y="214"/>
                </a:lnTo>
                <a:lnTo>
                  <a:pt x="118" y="219"/>
                </a:lnTo>
                <a:lnTo>
                  <a:pt x="115" y="220"/>
                </a:lnTo>
                <a:lnTo>
                  <a:pt x="115" y="221"/>
                </a:lnTo>
                <a:lnTo>
                  <a:pt x="115" y="225"/>
                </a:lnTo>
                <a:lnTo>
                  <a:pt x="115" y="228"/>
                </a:lnTo>
                <a:lnTo>
                  <a:pt x="117" y="228"/>
                </a:lnTo>
                <a:lnTo>
                  <a:pt x="123" y="234"/>
                </a:lnTo>
                <a:lnTo>
                  <a:pt x="126" y="243"/>
                </a:lnTo>
                <a:lnTo>
                  <a:pt x="123" y="251"/>
                </a:lnTo>
                <a:lnTo>
                  <a:pt x="117" y="257"/>
                </a:lnTo>
                <a:lnTo>
                  <a:pt x="115" y="257"/>
                </a:lnTo>
                <a:lnTo>
                  <a:pt x="115" y="260"/>
                </a:lnTo>
                <a:lnTo>
                  <a:pt x="115" y="264"/>
                </a:lnTo>
                <a:lnTo>
                  <a:pt x="115" y="265"/>
                </a:lnTo>
                <a:lnTo>
                  <a:pt x="118" y="266"/>
                </a:lnTo>
                <a:lnTo>
                  <a:pt x="141" y="269"/>
                </a:lnTo>
                <a:lnTo>
                  <a:pt x="164" y="275"/>
                </a:lnTo>
                <a:lnTo>
                  <a:pt x="184" y="285"/>
                </a:lnTo>
                <a:lnTo>
                  <a:pt x="186" y="287"/>
                </a:lnTo>
                <a:lnTo>
                  <a:pt x="186" y="288"/>
                </a:lnTo>
                <a:lnTo>
                  <a:pt x="184" y="290"/>
                </a:lnTo>
                <a:lnTo>
                  <a:pt x="183" y="290"/>
                </a:lnTo>
                <a:lnTo>
                  <a:pt x="35" y="290"/>
                </a:lnTo>
                <a:lnTo>
                  <a:pt x="34" y="290"/>
                </a:lnTo>
                <a:lnTo>
                  <a:pt x="32" y="288"/>
                </a:lnTo>
                <a:lnTo>
                  <a:pt x="32" y="287"/>
                </a:lnTo>
                <a:lnTo>
                  <a:pt x="34" y="285"/>
                </a:lnTo>
                <a:lnTo>
                  <a:pt x="55" y="275"/>
                </a:lnTo>
                <a:lnTo>
                  <a:pt x="77" y="269"/>
                </a:lnTo>
                <a:lnTo>
                  <a:pt x="100" y="266"/>
                </a:lnTo>
                <a:lnTo>
                  <a:pt x="103" y="265"/>
                </a:lnTo>
                <a:lnTo>
                  <a:pt x="104" y="264"/>
                </a:lnTo>
                <a:lnTo>
                  <a:pt x="104" y="260"/>
                </a:lnTo>
                <a:lnTo>
                  <a:pt x="103" y="257"/>
                </a:lnTo>
                <a:lnTo>
                  <a:pt x="101" y="257"/>
                </a:lnTo>
                <a:lnTo>
                  <a:pt x="95" y="251"/>
                </a:lnTo>
                <a:lnTo>
                  <a:pt x="94" y="243"/>
                </a:lnTo>
                <a:lnTo>
                  <a:pt x="95" y="234"/>
                </a:lnTo>
                <a:lnTo>
                  <a:pt x="101" y="228"/>
                </a:lnTo>
                <a:lnTo>
                  <a:pt x="103" y="228"/>
                </a:lnTo>
                <a:lnTo>
                  <a:pt x="104" y="225"/>
                </a:lnTo>
                <a:lnTo>
                  <a:pt x="104" y="221"/>
                </a:lnTo>
                <a:lnTo>
                  <a:pt x="103" y="220"/>
                </a:lnTo>
                <a:lnTo>
                  <a:pt x="101" y="219"/>
                </a:lnTo>
                <a:lnTo>
                  <a:pt x="78" y="215"/>
                </a:lnTo>
                <a:lnTo>
                  <a:pt x="57" y="206"/>
                </a:lnTo>
                <a:lnTo>
                  <a:pt x="36" y="192"/>
                </a:lnTo>
                <a:lnTo>
                  <a:pt x="35" y="191"/>
                </a:lnTo>
                <a:lnTo>
                  <a:pt x="32" y="192"/>
                </a:lnTo>
                <a:lnTo>
                  <a:pt x="30" y="193"/>
                </a:lnTo>
                <a:lnTo>
                  <a:pt x="30" y="196"/>
                </a:lnTo>
                <a:lnTo>
                  <a:pt x="30" y="197"/>
                </a:lnTo>
                <a:lnTo>
                  <a:pt x="31" y="202"/>
                </a:lnTo>
                <a:lnTo>
                  <a:pt x="31" y="206"/>
                </a:lnTo>
                <a:lnTo>
                  <a:pt x="30" y="211"/>
                </a:lnTo>
                <a:lnTo>
                  <a:pt x="27" y="215"/>
                </a:lnTo>
                <a:lnTo>
                  <a:pt x="20" y="219"/>
                </a:lnTo>
                <a:lnTo>
                  <a:pt x="12" y="219"/>
                </a:lnTo>
                <a:lnTo>
                  <a:pt x="4" y="215"/>
                </a:lnTo>
                <a:lnTo>
                  <a:pt x="0" y="207"/>
                </a:lnTo>
                <a:lnTo>
                  <a:pt x="0" y="200"/>
                </a:lnTo>
                <a:lnTo>
                  <a:pt x="4" y="192"/>
                </a:lnTo>
                <a:lnTo>
                  <a:pt x="8" y="189"/>
                </a:lnTo>
                <a:lnTo>
                  <a:pt x="13" y="188"/>
                </a:lnTo>
                <a:lnTo>
                  <a:pt x="17" y="188"/>
                </a:lnTo>
                <a:lnTo>
                  <a:pt x="22" y="189"/>
                </a:lnTo>
                <a:lnTo>
                  <a:pt x="23" y="189"/>
                </a:lnTo>
                <a:lnTo>
                  <a:pt x="26" y="189"/>
                </a:lnTo>
                <a:lnTo>
                  <a:pt x="37" y="177"/>
                </a:lnTo>
                <a:lnTo>
                  <a:pt x="39" y="175"/>
                </a:lnTo>
                <a:lnTo>
                  <a:pt x="37" y="173"/>
                </a:lnTo>
                <a:lnTo>
                  <a:pt x="25" y="152"/>
                </a:lnTo>
                <a:lnTo>
                  <a:pt x="16" y="131"/>
                </a:lnTo>
                <a:lnTo>
                  <a:pt x="14" y="108"/>
                </a:lnTo>
                <a:lnTo>
                  <a:pt x="18" y="83"/>
                </a:lnTo>
                <a:lnTo>
                  <a:pt x="27" y="62"/>
                </a:lnTo>
                <a:lnTo>
                  <a:pt x="43" y="43"/>
                </a:lnTo>
                <a:lnTo>
                  <a:pt x="62" y="27"/>
                </a:lnTo>
                <a:lnTo>
                  <a:pt x="85" y="18"/>
                </a:lnTo>
                <a:lnTo>
                  <a:pt x="108" y="14"/>
                </a:lnTo>
                <a:lnTo>
                  <a:pt x="131" y="17"/>
                </a:lnTo>
                <a:lnTo>
                  <a:pt x="152" y="25"/>
                </a:lnTo>
                <a:lnTo>
                  <a:pt x="172" y="39"/>
                </a:lnTo>
                <a:lnTo>
                  <a:pt x="174" y="39"/>
                </a:lnTo>
                <a:lnTo>
                  <a:pt x="177" y="39"/>
                </a:lnTo>
                <a:lnTo>
                  <a:pt x="188" y="26"/>
                </a:lnTo>
                <a:lnTo>
                  <a:pt x="189" y="25"/>
                </a:lnTo>
                <a:lnTo>
                  <a:pt x="188" y="23"/>
                </a:lnTo>
                <a:lnTo>
                  <a:pt x="187" y="18"/>
                </a:lnTo>
                <a:lnTo>
                  <a:pt x="187" y="13"/>
                </a:lnTo>
                <a:lnTo>
                  <a:pt x="188" y="9"/>
                </a:lnTo>
                <a:lnTo>
                  <a:pt x="192" y="6"/>
                </a:lnTo>
                <a:lnTo>
                  <a:pt x="198" y="0"/>
                </a:lnTo>
                <a:close/>
              </a:path>
            </a:pathLst>
          </a:custGeom>
          <a:solidFill>
            <a:schemeClr val="bg1">
              <a:alpha val="10000"/>
            </a:schemeClr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pPr defTabSz="914400">
              <a:defRPr/>
            </a:pPr>
            <a:endParaRPr lang="zh-CN" altLang="en-US" sz="1800">
              <a:solidFill>
                <a:srgbClr val="000000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2" name="图片 1" descr="傲梦LOGO蓝蓝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9966960" y="189230"/>
            <a:ext cx="1746885" cy="493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21740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Layout" Target="../slideLayouts/slideLayout4.xml"/><Relationship Id="rId3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465875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89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08001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76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4796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1.xml"/><Relationship Id="rId1" Type="http://schemas.openxmlformats.org/officeDocument/2006/relationships/tags" Target="../tags/tag1.xml"/><Relationship Id="rId2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uogu.org/problemnew/show/P1048" TargetMode="External"/><Relationship Id="rId4" Type="http://schemas.openxmlformats.org/officeDocument/2006/relationships/hyperlink" Target="https://www.luogu.org/problemnew/show/P1616" TargetMode="External"/><Relationship Id="rId5" Type="http://schemas.openxmlformats.org/officeDocument/2006/relationships/hyperlink" Target="https://www.luogu.org/problemnew/show/P1164" TargetMode="External"/><Relationship Id="rId6" Type="http://schemas.openxmlformats.org/officeDocument/2006/relationships/hyperlink" Target="https://www.luogu.org/problemnew/show/P1064" TargetMode="External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>
            <p:custDataLst>
              <p:tags r:id="rId2"/>
            </p:custDataLst>
          </p:nvPr>
        </p:nvSpPr>
        <p:spPr>
          <a:xfrm>
            <a:off x="2351809" y="2890839"/>
            <a:ext cx="7893050" cy="89376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背包问题初步</a:t>
            </a:r>
            <a:endParaRPr lang="zh-CN" alt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68417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18708" y="880278"/>
            <a:ext cx="21723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smtClean="0"/>
              <a:t>0-1</a:t>
            </a:r>
            <a:r>
              <a:rPr lang="zh-CN" altLang="en-US" sz="2800" b="1" dirty="0" smtClean="0"/>
              <a:t>背包问题</a:t>
            </a:r>
            <a:endParaRPr lang="en-US" sz="28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695418" y="1413772"/>
            <a:ext cx="10632557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有</a:t>
            </a:r>
            <a:r>
              <a:rPr lang="en-US" altLang="zh-CN" dirty="0" smtClean="0"/>
              <a:t>n</a:t>
            </a:r>
            <a:r>
              <a:rPr lang="zh-CN" altLang="en-US" dirty="0" smtClean="0"/>
              <a:t>中物品，每种只有一个。第</a:t>
            </a:r>
            <a:r>
              <a:rPr lang="en-US" altLang="zh-CN" dirty="0" err="1" smtClean="0"/>
              <a:t>i</a:t>
            </a:r>
            <a:r>
              <a:rPr lang="zh-CN" altLang="en-US" dirty="0" smtClean="0"/>
              <a:t>种物品的体积为</a:t>
            </a:r>
            <a:r>
              <a:rPr lang="en-US" altLang="zh-CN" dirty="0"/>
              <a:t>V</a:t>
            </a:r>
            <a:r>
              <a:rPr lang="en-US" altLang="zh-CN" dirty="0" smtClean="0"/>
              <a:t>i</a:t>
            </a:r>
            <a:r>
              <a:rPr lang="zh-CN" altLang="en-US" dirty="0" smtClean="0"/>
              <a:t>，价值为</a:t>
            </a:r>
            <a:r>
              <a:rPr lang="en-US" altLang="zh-CN" dirty="0" smtClean="0"/>
              <a:t>Wi</a:t>
            </a:r>
            <a:r>
              <a:rPr lang="zh-CN" altLang="en-US" dirty="0" smtClean="0"/>
              <a:t>。选一些物品装进容量为</a:t>
            </a:r>
            <a:r>
              <a:rPr lang="en-US" altLang="zh-CN" dirty="0" smtClean="0"/>
              <a:t>C</a:t>
            </a:r>
            <a:r>
              <a:rPr lang="zh-CN" altLang="en-US" dirty="0" smtClean="0"/>
              <a:t>的背包中，使得背包内的物品在总体积不超过</a:t>
            </a:r>
            <a:r>
              <a:rPr lang="en-US" altLang="zh-CN" dirty="0" smtClean="0"/>
              <a:t>C</a:t>
            </a:r>
            <a:r>
              <a:rPr lang="zh-CN" altLang="en-US" dirty="0" smtClean="0"/>
              <a:t>的前提下价值尽可能的大，问最大的价值是多少？其中</a:t>
            </a:r>
            <a:r>
              <a:rPr lang="en-US" altLang="zh-CN" dirty="0" smtClean="0"/>
              <a:t>1&lt;=n&lt;=100</a:t>
            </a:r>
            <a:r>
              <a:rPr lang="zh-CN" altLang="en-US" dirty="0" smtClean="0"/>
              <a:t>，</a:t>
            </a:r>
            <a:r>
              <a:rPr lang="en-US" altLang="zh-CN" dirty="0" smtClean="0"/>
              <a:t>1&lt;=Vi&lt;=C&lt;=10000</a:t>
            </a:r>
            <a:r>
              <a:rPr lang="zh-CN" altLang="en-US" dirty="0" smtClean="0"/>
              <a:t>，</a:t>
            </a:r>
            <a:r>
              <a:rPr lang="en-US" altLang="zh-CN" dirty="0" smtClean="0"/>
              <a:t>1&lt;=Wi&lt;=10000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样例输入数据：</a:t>
            </a:r>
            <a:endParaRPr lang="en-US" altLang="zh-CN" dirty="0" smtClean="0"/>
          </a:p>
          <a:p>
            <a:r>
              <a:rPr lang="en-US" altLang="zh-CN" dirty="0" smtClean="0"/>
              <a:t>N = 3, C = 10, V = {4, 5, 6}, W = {4, 5, 6}</a:t>
            </a:r>
            <a:endParaRPr lang="en-US" altLang="zh-CN" dirty="0"/>
          </a:p>
          <a:p>
            <a:endParaRPr lang="en-US" altLang="zh-CN" dirty="0" smtClean="0"/>
          </a:p>
          <a:p>
            <a:r>
              <a:rPr lang="zh-CN" altLang="en-US" dirty="0" smtClean="0"/>
              <a:t>样例输出数据：</a:t>
            </a:r>
            <a:endParaRPr lang="en-US" altLang="zh-CN" dirty="0" smtClean="0"/>
          </a:p>
          <a:p>
            <a:r>
              <a:rPr lang="en-US" altLang="zh-CN" dirty="0" smtClean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15373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18708" y="829339"/>
            <a:ext cx="21723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smtClean="0"/>
              <a:t>0-1</a:t>
            </a:r>
            <a:r>
              <a:rPr lang="zh-CN" altLang="en-US" sz="2800" b="1" dirty="0" smtClean="0"/>
              <a:t>背包问题</a:t>
            </a:r>
            <a:endParaRPr lang="en-US" sz="28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818708" y="1403498"/>
            <a:ext cx="10632557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首先考虑暴力求解的方法，总状态为</a:t>
            </a:r>
            <a:r>
              <a:rPr lang="en-US" altLang="zh-CN" dirty="0" smtClean="0"/>
              <a:t>2^N</a:t>
            </a:r>
            <a:r>
              <a:rPr lang="zh-CN" altLang="en-US" dirty="0" smtClean="0"/>
              <a:t>个，我们来枚举所有的可能情况。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我们用递归的方式来求解，设</a:t>
            </a:r>
            <a:r>
              <a:rPr lang="en-US" altLang="zh-CN" dirty="0" smtClean="0"/>
              <a:t>d(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, j)</a:t>
            </a:r>
            <a:r>
              <a:rPr lang="zh-CN" altLang="en-US" dirty="0" smtClean="0"/>
              <a:t>表示当前还剩第</a:t>
            </a:r>
            <a:r>
              <a:rPr lang="en-US" altLang="zh-CN" dirty="0" smtClean="0"/>
              <a:t>1~i</a:t>
            </a:r>
            <a:r>
              <a:rPr lang="zh-CN" altLang="en-US" dirty="0" smtClean="0"/>
              <a:t>个物品未选，同时背包剩余容量为</a:t>
            </a:r>
            <a:r>
              <a:rPr lang="en-US" altLang="zh-CN" dirty="0" smtClean="0"/>
              <a:t>j</a:t>
            </a:r>
            <a:r>
              <a:rPr lang="zh-CN" altLang="en-US" dirty="0" smtClean="0"/>
              <a:t>的情况。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当我们选择到第</a:t>
            </a:r>
            <a:r>
              <a:rPr lang="en-US" altLang="zh-CN" dirty="0" err="1" smtClean="0"/>
              <a:t>i</a:t>
            </a:r>
            <a:r>
              <a:rPr lang="zh-CN" altLang="en-US" dirty="0" smtClean="0"/>
              <a:t>个物品时，有两种可能，选择或者不选择，显然我们需要计算这两种可能情况中的最大价值。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故：</a:t>
            </a:r>
            <a:endParaRPr lang="en-US" altLang="zh-CN" dirty="0"/>
          </a:p>
          <a:p>
            <a:endParaRPr lang="en-US" altLang="zh-CN" dirty="0" smtClean="0"/>
          </a:p>
          <a:p>
            <a:r>
              <a:rPr lang="zh-CN" altLang="en-US" dirty="0" smtClean="0"/>
              <a:t>于是可以写出以下的程序：</a:t>
            </a:r>
            <a:endParaRPr lang="en-US" altLang="zh-CN" dirty="0" smtClean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1523187" y="4360336"/>
                <a:ext cx="661514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charset="0"/>
                        </a:rPr>
                        <m:t>𝑑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charset="0"/>
                            </a:rPr>
                            <m:t>𝑖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charset="0"/>
                            </a:rPr>
                            <m:t>,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charset="0"/>
                            </a:rPr>
                            <m:t>𝑗</m:t>
                          </m:r>
                        </m:e>
                      </m:d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rgbClr val="FF0000"/>
                          </a:solidFill>
                          <a:latin typeface="Cambria Math" charset="0"/>
                        </a:rPr>
                        <m:t>max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charset="0"/>
                        </a:rPr>
                        <m:t>⁡(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charset="0"/>
                        </a:rPr>
                        <m:t>𝑑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charset="0"/>
                            </a:rPr>
                            <m:t>𝑖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charset="0"/>
                            </a:rPr>
                            <m:t>−1, 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charset="0"/>
                            </a:rPr>
                            <m:t>𝑗</m:t>
                          </m:r>
                        </m:e>
                      </m:d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charset="0"/>
                        </a:rPr>
                        <m:t>,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charset="0"/>
                        </a:rPr>
                        <m:t>𝑑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charset="0"/>
                            </a:rPr>
                            <m:t>𝑖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charset="0"/>
                            </a:rPr>
                            <m:t>−1,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charset="0"/>
                            </a:rPr>
                            <m:t>𝑗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charset="0"/>
                            </a:rPr>
                            <m:t>−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charset="0"/>
                            </a:rPr>
                            <m:t>𝑣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charset="0"/>
                                </a:rPr>
                                <m:t>𝑖</m:t>
                              </m:r>
                            </m:e>
                          </m:d>
                        </m:e>
                      </m:d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charset="0"/>
                        </a:rPr>
                        <m:t>𝑤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charset="0"/>
                            </a:rPr>
                            <m:t>𝑖</m:t>
                          </m:r>
                        </m:e>
                      </m:d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3187" y="4360336"/>
                <a:ext cx="6615144" cy="369332"/>
              </a:xfrm>
              <a:prstGeom prst="rect">
                <a:avLst/>
              </a:prstGeom>
              <a:blipFill rotWithShape="0">
                <a:blip r:embed="rId3"/>
                <a:stretch>
                  <a:fillRect l="-553" t="-137705" r="-1106" b="-1786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61145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18708" y="829339"/>
            <a:ext cx="21723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smtClean="0"/>
              <a:t>0-1</a:t>
            </a:r>
            <a:r>
              <a:rPr lang="zh-CN" altLang="en-US" sz="2800" b="1" dirty="0" smtClean="0"/>
              <a:t>背包问题</a:t>
            </a:r>
            <a:endParaRPr lang="en-US" sz="2800" b="1" dirty="0"/>
          </a:p>
        </p:txBody>
      </p:sp>
      <p:sp>
        <p:nvSpPr>
          <p:cNvPr id="6" name="TextBox 5"/>
          <p:cNvSpPr txBox="1"/>
          <p:nvPr/>
        </p:nvSpPr>
        <p:spPr>
          <a:xfrm flipH="1">
            <a:off x="818707" y="4967653"/>
            <a:ext cx="104794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</a:rPr>
              <a:t>注：其中</a:t>
            </a:r>
            <a:r>
              <a:rPr lang="en-US" altLang="zh-CN" dirty="0" err="1" smtClean="0">
                <a:solidFill>
                  <a:srgbClr val="FF0000"/>
                </a:solidFill>
              </a:rPr>
              <a:t>i</a:t>
            </a:r>
            <a:r>
              <a:rPr lang="zh-CN" altLang="en-US" dirty="0" smtClean="0">
                <a:solidFill>
                  <a:srgbClr val="FF0000"/>
                </a:solidFill>
              </a:rPr>
              <a:t>所代表的含义为标号第</a:t>
            </a:r>
            <a:r>
              <a:rPr lang="en-US" altLang="zh-CN" dirty="0" smtClean="0">
                <a:solidFill>
                  <a:srgbClr val="FF0000"/>
                </a:solidFill>
              </a:rPr>
              <a:t>1</a:t>
            </a:r>
            <a:r>
              <a:rPr lang="zh-CN" altLang="en-US" dirty="0" smtClean="0">
                <a:solidFill>
                  <a:srgbClr val="FF0000"/>
                </a:solidFill>
              </a:rPr>
              <a:t>～</a:t>
            </a:r>
            <a:r>
              <a:rPr lang="en-US" altLang="zh-CN" dirty="0" err="1" smtClean="0">
                <a:solidFill>
                  <a:srgbClr val="FF0000"/>
                </a:solidFill>
              </a:rPr>
              <a:t>i</a:t>
            </a:r>
            <a:r>
              <a:rPr lang="zh-CN" altLang="en-US" dirty="0" smtClean="0">
                <a:solidFill>
                  <a:srgbClr val="FF0000"/>
                </a:solidFill>
              </a:rPr>
              <a:t>个物品可以选择，</a:t>
            </a:r>
            <a:r>
              <a:rPr lang="en-US" altLang="zh-CN" dirty="0" err="1" smtClean="0">
                <a:solidFill>
                  <a:srgbClr val="FF0000"/>
                </a:solidFill>
              </a:rPr>
              <a:t>i</a:t>
            </a:r>
            <a:r>
              <a:rPr lang="zh-CN" altLang="en-US" dirty="0" smtClean="0">
                <a:solidFill>
                  <a:srgbClr val="FF0000"/>
                </a:solidFill>
              </a:rPr>
              <a:t>为</a:t>
            </a:r>
            <a:r>
              <a:rPr lang="en-US" altLang="zh-CN" dirty="0" smtClean="0">
                <a:solidFill>
                  <a:srgbClr val="FF0000"/>
                </a:solidFill>
              </a:rPr>
              <a:t>0</a:t>
            </a:r>
            <a:r>
              <a:rPr lang="zh-CN" altLang="en-US" dirty="0" smtClean="0">
                <a:solidFill>
                  <a:srgbClr val="FF0000"/>
                </a:solidFill>
              </a:rPr>
              <a:t>时表示没有物品可以选择。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707" y="1648175"/>
            <a:ext cx="8443826" cy="3023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8530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18708" y="829339"/>
            <a:ext cx="21723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smtClean="0"/>
              <a:t>0-1</a:t>
            </a:r>
            <a:r>
              <a:rPr lang="zh-CN" altLang="en-US" sz="2800" b="1" dirty="0" smtClean="0"/>
              <a:t>背包问题</a:t>
            </a:r>
            <a:endParaRPr lang="en-US" sz="28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818708" y="1403498"/>
            <a:ext cx="106325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回顾之前动态规划讲过的内容。同样的，我们写出的递归程序包含着大量的重复计算，总状态甚至是</a:t>
            </a:r>
            <a:r>
              <a:rPr lang="en-US" altLang="zh-CN" dirty="0" smtClean="0"/>
              <a:t>2^N</a:t>
            </a:r>
            <a:r>
              <a:rPr lang="zh-CN" altLang="en-US" dirty="0" smtClean="0"/>
              <a:t>个。我们也可以用同样的办法进行记忆化搜索</a:t>
            </a:r>
            <a:r>
              <a:rPr lang="en-US" altLang="zh-CN" dirty="0" smtClean="0"/>
              <a:t>——</a:t>
            </a:r>
            <a:r>
              <a:rPr lang="zh-CN" altLang="en-US" dirty="0" smtClean="0"/>
              <a:t>把每个状态的最值保存下来。修改之前的程序如下：</a:t>
            </a:r>
            <a:endParaRPr lang="en-US" altLang="zh-CN" dirty="0" smtClean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708" y="2654766"/>
            <a:ext cx="10058400" cy="3163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94737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18708" y="829339"/>
            <a:ext cx="21723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smtClean="0"/>
              <a:t>0-1</a:t>
            </a:r>
            <a:r>
              <a:rPr lang="zh-CN" altLang="en-US" sz="2800" b="1" dirty="0" smtClean="0"/>
              <a:t>背包问题</a:t>
            </a:r>
            <a:endParaRPr lang="en-US" sz="28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818708" y="1403498"/>
            <a:ext cx="1063255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 smtClean="0"/>
              <a:t>dp</a:t>
            </a:r>
            <a:r>
              <a:rPr lang="en-US" altLang="zh-CN" dirty="0" smtClean="0"/>
              <a:t>[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][j]</a:t>
            </a:r>
            <a:r>
              <a:rPr lang="zh-CN" altLang="en-US" dirty="0" smtClean="0"/>
              <a:t>的含义和</a:t>
            </a:r>
            <a:r>
              <a:rPr lang="en-US" altLang="zh-CN" dirty="0" err="1" smtClean="0"/>
              <a:t>dfs</a:t>
            </a:r>
            <a:r>
              <a:rPr lang="en-US" altLang="zh-CN" dirty="0" smtClean="0"/>
              <a:t>(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, j)</a:t>
            </a:r>
            <a:r>
              <a:rPr lang="zh-CN" altLang="en-US" dirty="0" smtClean="0"/>
              <a:t>的含义是一样的，只不过是把当前状态用一个二维数组进行保存，如果计算过有值了之后，就不需要重新计算了。这样总共的状态就减少到了</a:t>
            </a:r>
            <a:r>
              <a:rPr lang="en-US" altLang="zh-CN" dirty="0" smtClean="0"/>
              <a:t>N</a:t>
            </a:r>
            <a:r>
              <a:rPr lang="zh-CN" altLang="en-US" dirty="0" smtClean="0"/>
              <a:t>*</a:t>
            </a:r>
            <a:r>
              <a:rPr lang="en-US" altLang="zh-CN" dirty="0" smtClean="0"/>
              <a:t>C</a:t>
            </a:r>
            <a:r>
              <a:rPr lang="zh-CN" altLang="en-US" dirty="0" smtClean="0"/>
              <a:t>个，显然的时间复杂度为</a:t>
            </a:r>
            <a:r>
              <a:rPr lang="en-US" altLang="zh-CN" dirty="0" smtClean="0"/>
              <a:t>O(NC)</a:t>
            </a:r>
            <a:r>
              <a:rPr lang="zh-CN" altLang="en-US" dirty="0" smtClean="0"/>
              <a:t>，空间复杂度也为</a:t>
            </a:r>
            <a:r>
              <a:rPr lang="en-US" altLang="zh-CN" dirty="0" smtClean="0"/>
              <a:t>O(NC)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我们成功的使用了动态规划的思想，利用记忆化搜索来实现，讲复杂度降到了</a:t>
            </a:r>
            <a:r>
              <a:rPr lang="en-US" altLang="zh-CN" dirty="0" smtClean="0"/>
              <a:t>O(NC)</a:t>
            </a:r>
            <a:r>
              <a:rPr lang="zh-CN" altLang="en-US" dirty="0" smtClean="0"/>
              <a:t>。那我们能够使用递推的方式来实现</a:t>
            </a:r>
            <a:r>
              <a:rPr lang="en-US" altLang="zh-CN" dirty="0" smtClean="0"/>
              <a:t>0-1</a:t>
            </a:r>
            <a:r>
              <a:rPr lang="zh-CN" altLang="en-US" dirty="0" smtClean="0"/>
              <a:t>背包的动态规划算法吗？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观察我们的状态转移方程：</a:t>
            </a:r>
            <a:endParaRPr lang="en-US" altLang="zh-CN" dirty="0" smtClean="0"/>
          </a:p>
          <a:p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 err="1" smtClean="0"/>
              <a:t>i</a:t>
            </a:r>
            <a:r>
              <a:rPr lang="zh-CN" altLang="en-US" dirty="0" smtClean="0"/>
              <a:t>总是从上一个位置</a:t>
            </a:r>
            <a:r>
              <a:rPr lang="en-US" altLang="zh-CN" dirty="0" smtClean="0"/>
              <a:t>i-1</a:t>
            </a:r>
            <a:r>
              <a:rPr lang="zh-CN" altLang="en-US" dirty="0" smtClean="0"/>
              <a:t>计算出来的，也就是说把前</a:t>
            </a:r>
            <a:r>
              <a:rPr lang="en-US" altLang="zh-CN" dirty="0" err="1" smtClean="0"/>
              <a:t>i</a:t>
            </a:r>
            <a:r>
              <a:rPr lang="zh-CN" altLang="en-US" dirty="0" smtClean="0"/>
              <a:t>个物品决策好（装或不装）之后的容量为</a:t>
            </a:r>
            <a:r>
              <a:rPr lang="en-US" altLang="zh-CN" dirty="0" smtClean="0"/>
              <a:t>j</a:t>
            </a:r>
            <a:r>
              <a:rPr lang="zh-CN" altLang="en-US" dirty="0" smtClean="0"/>
              <a:t>的背包的最大值（最优解）。那么这里面蕴含着了天然的递推顺序。可以写出如下程序：</a:t>
            </a:r>
            <a:endParaRPr lang="en-US" altLang="zh-CN" dirty="0" smtClean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4554254" y="4013202"/>
                <a:ext cx="661514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charset="0"/>
                        </a:rPr>
                        <m:t>𝑑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charset="0"/>
                            </a:rPr>
                            <m:t>𝑖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charset="0"/>
                            </a:rPr>
                            <m:t>,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charset="0"/>
                            </a:rPr>
                            <m:t>𝑗</m:t>
                          </m:r>
                        </m:e>
                      </m:d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rgbClr val="FF0000"/>
                          </a:solidFill>
                          <a:latin typeface="Cambria Math" charset="0"/>
                        </a:rPr>
                        <m:t>max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charset="0"/>
                        </a:rPr>
                        <m:t>⁡(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charset="0"/>
                        </a:rPr>
                        <m:t>𝑑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charset="0"/>
                            </a:rPr>
                            <m:t>𝑖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charset="0"/>
                            </a:rPr>
                            <m:t>−1, 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charset="0"/>
                            </a:rPr>
                            <m:t>𝑗</m:t>
                          </m:r>
                        </m:e>
                      </m:d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charset="0"/>
                        </a:rPr>
                        <m:t>,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charset="0"/>
                        </a:rPr>
                        <m:t>𝑑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charset="0"/>
                            </a:rPr>
                            <m:t>𝑖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charset="0"/>
                            </a:rPr>
                            <m:t>−1,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charset="0"/>
                            </a:rPr>
                            <m:t>𝑗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charset="0"/>
                            </a:rPr>
                            <m:t>−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charset="0"/>
                            </a:rPr>
                            <m:t>𝑣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charset="0"/>
                                </a:rPr>
                                <m:t>𝑖</m:t>
                              </m:r>
                            </m:e>
                          </m:d>
                        </m:e>
                      </m:d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charset="0"/>
                        </a:rPr>
                        <m:t>𝑤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charset="0"/>
                            </a:rPr>
                            <m:t>𝑖</m:t>
                          </m:r>
                        </m:e>
                      </m:d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4254" y="4013202"/>
                <a:ext cx="6615144" cy="369332"/>
              </a:xfrm>
              <a:prstGeom prst="rect">
                <a:avLst/>
              </a:prstGeom>
              <a:blipFill rotWithShape="0">
                <a:blip r:embed="rId3"/>
                <a:stretch>
                  <a:fillRect l="-553" t="-137705" r="-1198" b="-1786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7601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18708" y="829339"/>
            <a:ext cx="21723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smtClean="0"/>
              <a:t>0-1</a:t>
            </a:r>
            <a:r>
              <a:rPr lang="zh-CN" altLang="en-US" sz="2800" b="1" dirty="0" smtClean="0"/>
              <a:t>背包问题</a:t>
            </a:r>
            <a:endParaRPr lang="en-US" sz="2800" b="1" dirty="0"/>
          </a:p>
        </p:txBody>
      </p:sp>
      <p:sp>
        <p:nvSpPr>
          <p:cNvPr id="6" name="TextBox 5"/>
          <p:cNvSpPr txBox="1"/>
          <p:nvPr/>
        </p:nvSpPr>
        <p:spPr>
          <a:xfrm flipH="1">
            <a:off x="818707" y="3889141"/>
            <a:ext cx="1047940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初始化把</a:t>
            </a:r>
            <a:r>
              <a:rPr lang="en-US" altLang="zh-CN" dirty="0" err="1" smtClean="0"/>
              <a:t>dp</a:t>
            </a:r>
            <a:r>
              <a:rPr lang="zh-CN" altLang="en-US" dirty="0" smtClean="0"/>
              <a:t>数组中所有的元素置</a:t>
            </a:r>
            <a:r>
              <a:rPr lang="en-US" altLang="zh-CN" dirty="0" smtClean="0"/>
              <a:t>0</a:t>
            </a:r>
            <a:r>
              <a:rPr lang="zh-CN" altLang="en-US" dirty="0" smtClean="0"/>
              <a:t>，和之前一样，要注意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=0</a:t>
            </a:r>
            <a:r>
              <a:rPr lang="zh-CN" altLang="en-US" dirty="0" smtClean="0"/>
              <a:t>表示的是一个物品也没有选择的时候，所以</a:t>
            </a:r>
            <a:r>
              <a:rPr lang="en-US" altLang="zh-CN" dirty="0" err="1" smtClean="0"/>
              <a:t>i</a:t>
            </a:r>
            <a:r>
              <a:rPr lang="zh-CN" altLang="en-US" dirty="0" smtClean="0"/>
              <a:t>要从</a:t>
            </a:r>
            <a:r>
              <a:rPr lang="en-US" altLang="zh-CN" dirty="0" smtClean="0"/>
              <a:t>1</a:t>
            </a:r>
            <a:r>
              <a:rPr lang="zh-CN" altLang="en-US" dirty="0" smtClean="0"/>
              <a:t>开始枚举（此处强调是</a:t>
            </a:r>
            <a:r>
              <a:rPr lang="en-US" altLang="zh-CN" dirty="0" err="1" smtClean="0"/>
              <a:t>i</a:t>
            </a:r>
            <a:r>
              <a:rPr lang="zh-CN" altLang="en-US" dirty="0" smtClean="0"/>
              <a:t>的枚举起点，而不是物品选择的顺序），方便起见，</a:t>
            </a:r>
            <a:r>
              <a:rPr lang="en-US" altLang="zh-CN" dirty="0" smtClean="0"/>
              <a:t>c</a:t>
            </a:r>
            <a:r>
              <a:rPr lang="zh-CN" altLang="en-US" dirty="0" smtClean="0"/>
              <a:t>和</a:t>
            </a:r>
            <a:r>
              <a:rPr lang="en-US" altLang="zh-CN" dirty="0" smtClean="0"/>
              <a:t>w</a:t>
            </a:r>
            <a:r>
              <a:rPr lang="zh-CN" altLang="en-US" dirty="0" smtClean="0"/>
              <a:t>数组也从</a:t>
            </a:r>
            <a:r>
              <a:rPr lang="en-US" altLang="zh-CN" dirty="0" smtClean="0"/>
              <a:t>1</a:t>
            </a:r>
            <a:r>
              <a:rPr lang="zh-CN" altLang="en-US" dirty="0" smtClean="0"/>
              <a:t>开始保存。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707" y="1352560"/>
            <a:ext cx="7901960" cy="2535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958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18708" y="829339"/>
            <a:ext cx="21723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/>
              <a:t>0-1</a:t>
            </a:r>
            <a:r>
              <a:rPr lang="zh-CN" altLang="en-US" sz="2800" b="1" dirty="0"/>
              <a:t>背包问题</a:t>
            </a:r>
            <a:endParaRPr lang="en-US" sz="28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818708" y="1403498"/>
            <a:ext cx="1063255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zh-CN" altLang="en-US" dirty="0" smtClean="0"/>
              <a:t>我们来看看</a:t>
            </a:r>
            <a:r>
              <a:rPr lang="en-US" altLang="zh-CN" dirty="0" err="1" smtClean="0"/>
              <a:t>dp</a:t>
            </a:r>
            <a:r>
              <a:rPr lang="zh-CN" altLang="en-US" dirty="0" smtClean="0"/>
              <a:t>数组到底是怎么变化的：</a:t>
            </a:r>
            <a:endParaRPr lang="en-US" altLang="zh-CN" dirty="0" smtClean="0"/>
          </a:p>
          <a:p>
            <a:pPr latinLnBrk="1"/>
            <a:r>
              <a:rPr lang="zh-CN" altLang="en-US" dirty="0" smtClean="0"/>
              <a:t>对于样例有：</a:t>
            </a:r>
            <a:endParaRPr lang="en-US" altLang="zh-CN" dirty="0" smtClean="0"/>
          </a:p>
          <a:p>
            <a:pPr latinLnBrk="1"/>
            <a:endParaRPr lang="en-US" altLang="zh-CN" dirty="0"/>
          </a:p>
          <a:p>
            <a:pPr latinLnBrk="1"/>
            <a:endParaRPr lang="en-US" altLang="zh-CN" dirty="0" smtClean="0"/>
          </a:p>
          <a:p>
            <a:pPr latinLnBrk="1"/>
            <a:endParaRPr lang="en-US" altLang="zh-CN" dirty="0"/>
          </a:p>
          <a:p>
            <a:pPr latinLnBrk="1"/>
            <a:endParaRPr lang="en-US" altLang="zh-CN" dirty="0" smtClean="0"/>
          </a:p>
          <a:p>
            <a:pPr latinLnBrk="1"/>
            <a:endParaRPr lang="en-US" altLang="zh-CN" dirty="0"/>
          </a:p>
          <a:p>
            <a:pPr latinLnBrk="1"/>
            <a:endParaRPr lang="en-US" altLang="zh-CN" dirty="0" smtClean="0"/>
          </a:p>
          <a:p>
            <a:pPr latinLnBrk="1"/>
            <a:endParaRPr lang="en-US" altLang="zh-CN" dirty="0" smtClean="0"/>
          </a:p>
          <a:p>
            <a:pPr latinLnBrk="1"/>
            <a:r>
              <a:rPr lang="zh-CN" altLang="en-US" dirty="0" smtClean="0"/>
              <a:t>故最终答案为</a:t>
            </a:r>
            <a:r>
              <a:rPr lang="en-US" altLang="zh-CN" dirty="0" err="1" smtClean="0"/>
              <a:t>dp</a:t>
            </a:r>
            <a:r>
              <a:rPr lang="en-US" altLang="zh-CN" dirty="0" smtClean="0"/>
              <a:t>[3][10] = </a:t>
            </a:r>
            <a:r>
              <a:rPr lang="en-US" altLang="zh-CN" dirty="0"/>
              <a:t>1</a:t>
            </a:r>
            <a:r>
              <a:rPr lang="en-US" altLang="zh-CN" dirty="0" smtClean="0"/>
              <a:t>0</a:t>
            </a:r>
            <a:r>
              <a:rPr lang="zh-CN" altLang="en-US" dirty="0" smtClean="0"/>
              <a:t>。即表示</a:t>
            </a:r>
            <a:r>
              <a:rPr lang="en-US" altLang="zh-CN" dirty="0" smtClean="0"/>
              <a:t>3</a:t>
            </a:r>
            <a:r>
              <a:rPr lang="zh-CN" altLang="en-US" dirty="0" smtClean="0"/>
              <a:t>个物品都选择完毕，装容量为</a:t>
            </a:r>
            <a:r>
              <a:rPr lang="en-US" altLang="zh-CN" dirty="0"/>
              <a:t>1</a:t>
            </a:r>
            <a:r>
              <a:rPr lang="en-US" altLang="zh-CN" dirty="0" smtClean="0"/>
              <a:t>0</a:t>
            </a:r>
            <a:r>
              <a:rPr lang="zh-CN" altLang="en-US" dirty="0" smtClean="0"/>
              <a:t>的背包的价值最大值。</a:t>
            </a:r>
            <a:endParaRPr lang="en-US" altLang="zh-CN" dirty="0" smtClean="0"/>
          </a:p>
          <a:p>
            <a:pPr latinLnBrk="1"/>
            <a:r>
              <a:rPr lang="zh-CN" altLang="en-US" dirty="0" smtClean="0">
                <a:solidFill>
                  <a:srgbClr val="FF0000"/>
                </a:solidFill>
              </a:rPr>
              <a:t>注：根据状态转移方程，每一行的值都是由上一行的值计算出来的。</a:t>
            </a:r>
            <a:endParaRPr lang="en-US" altLang="zh-CN" dirty="0">
              <a:solidFill>
                <a:srgbClr val="FF0000"/>
              </a:solidFill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7837740"/>
              </p:ext>
            </p:extLst>
          </p:nvPr>
        </p:nvGraphicFramePr>
        <p:xfrm>
          <a:off x="2070988" y="2391422"/>
          <a:ext cx="8127996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7333"/>
                <a:gridCol w="677333"/>
                <a:gridCol w="677333"/>
                <a:gridCol w="677333"/>
                <a:gridCol w="677333"/>
                <a:gridCol w="677333"/>
                <a:gridCol w="677333"/>
                <a:gridCol w="677333"/>
                <a:gridCol w="677333"/>
                <a:gridCol w="677333"/>
                <a:gridCol w="677333"/>
                <a:gridCol w="677333"/>
              </a:tblGrid>
              <a:tr h="370840">
                <a:tc>
                  <a:txBody>
                    <a:bodyPr/>
                    <a:lstStyle/>
                    <a:p>
                      <a:pPr algn="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10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0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4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9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10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6725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5963548"/>
              </p:ext>
            </p:extLst>
          </p:nvPr>
        </p:nvGraphicFramePr>
        <p:xfrm>
          <a:off x="2070988" y="3106921"/>
          <a:ext cx="8127996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7333"/>
                <a:gridCol w="677333"/>
                <a:gridCol w="677333"/>
                <a:gridCol w="677333"/>
                <a:gridCol w="677333"/>
                <a:gridCol w="677333"/>
                <a:gridCol w="677333"/>
                <a:gridCol w="677333"/>
                <a:gridCol w="677333"/>
                <a:gridCol w="677333"/>
                <a:gridCol w="677333"/>
                <a:gridCol w="677333"/>
              </a:tblGrid>
              <a:tr h="370840">
                <a:tc>
                  <a:txBody>
                    <a:bodyPr/>
                    <a:lstStyle/>
                    <a:p>
                      <a:pPr algn="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10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0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4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9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10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18708" y="829339"/>
            <a:ext cx="21723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/>
              <a:t>0-1</a:t>
            </a:r>
            <a:r>
              <a:rPr lang="zh-CN" altLang="en-US" sz="2800" b="1" dirty="0"/>
              <a:t>背包问题</a:t>
            </a:r>
            <a:endParaRPr lang="en-US" sz="28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818708" y="1403498"/>
            <a:ext cx="10632557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zh-CN" altLang="en-US" dirty="0" smtClean="0"/>
              <a:t>此处还可以对</a:t>
            </a:r>
            <a:r>
              <a:rPr lang="en-US" altLang="zh-CN" dirty="0" err="1" smtClean="0"/>
              <a:t>dp</a:t>
            </a:r>
            <a:r>
              <a:rPr lang="zh-CN" altLang="en-US" dirty="0" smtClean="0"/>
              <a:t>二维数组进行空间优化，降到一维。观察刚才的表格，每一个</a:t>
            </a:r>
            <a:r>
              <a:rPr lang="en-US" altLang="zh-CN" dirty="0" err="1" smtClean="0"/>
              <a:t>i</a:t>
            </a:r>
            <a:r>
              <a:rPr lang="zh-CN" altLang="en-US" dirty="0" smtClean="0"/>
              <a:t>都是由它上一行的值计算出来的，并且这些计算的是在</a:t>
            </a:r>
            <a:r>
              <a:rPr lang="en-US" altLang="zh-CN" dirty="0" smtClean="0"/>
              <a:t>j</a:t>
            </a:r>
            <a:r>
              <a:rPr lang="zh-CN" altLang="en-US" dirty="0" smtClean="0"/>
              <a:t>列的左边（包含</a:t>
            </a:r>
            <a:r>
              <a:rPr lang="en-US" altLang="zh-CN" dirty="0" smtClean="0"/>
              <a:t>j</a:t>
            </a:r>
            <a:r>
              <a:rPr lang="zh-CN" altLang="en-US" dirty="0" smtClean="0"/>
              <a:t>）。若我们从右往左计算，每次计算的值都是由左边的值进行计算了，所以把</a:t>
            </a:r>
            <a:r>
              <a:rPr lang="en-US" altLang="zh-CN" dirty="0" err="1" smtClean="0"/>
              <a:t>dp</a:t>
            </a:r>
            <a:r>
              <a:rPr lang="zh-CN" altLang="en-US" dirty="0" smtClean="0"/>
              <a:t>数组改成一维后，每次从右往左覆盖，一定能保证正确性：</a:t>
            </a:r>
            <a:endParaRPr lang="en-US" altLang="zh-CN" dirty="0" smtClean="0"/>
          </a:p>
          <a:p>
            <a:pPr latinLnBrk="1"/>
            <a:endParaRPr lang="en-US" altLang="zh-CN" dirty="0"/>
          </a:p>
          <a:p>
            <a:pPr latinLnBrk="1"/>
            <a:endParaRPr lang="en-US" altLang="zh-CN" dirty="0" smtClean="0"/>
          </a:p>
          <a:p>
            <a:pPr latinLnBrk="1"/>
            <a:endParaRPr lang="en-US" altLang="zh-CN" dirty="0"/>
          </a:p>
          <a:p>
            <a:pPr latinLnBrk="1"/>
            <a:endParaRPr lang="en-US" altLang="zh-CN" dirty="0" smtClean="0"/>
          </a:p>
          <a:p>
            <a:pPr latinLnBrk="1"/>
            <a:endParaRPr lang="en-US" altLang="zh-CN" dirty="0"/>
          </a:p>
          <a:p>
            <a:pPr latinLnBrk="1"/>
            <a:endParaRPr lang="en-US" altLang="zh-CN" dirty="0" smtClean="0"/>
          </a:p>
          <a:p>
            <a:pPr latinLnBrk="1"/>
            <a:endParaRPr lang="en-US" altLang="zh-CN" dirty="0" smtClean="0"/>
          </a:p>
          <a:p>
            <a:pPr latinLnBrk="1"/>
            <a:r>
              <a:rPr lang="zh-CN" altLang="en-US" dirty="0" smtClean="0"/>
              <a:t>一维数组中保存的是绿色箭头的部分，在计算</a:t>
            </a:r>
            <a:r>
              <a:rPr lang="en-US" altLang="zh-CN" dirty="0" err="1" smtClean="0"/>
              <a:t>dp</a:t>
            </a:r>
            <a:r>
              <a:rPr lang="en-US" altLang="zh-CN" dirty="0" smtClean="0"/>
              <a:t>[2][5]</a:t>
            </a:r>
            <a:r>
              <a:rPr lang="zh-CN" altLang="en-US" dirty="0" smtClean="0"/>
              <a:t>时，是由</a:t>
            </a:r>
            <a:r>
              <a:rPr lang="en-US" altLang="zh-CN" dirty="0" err="1" smtClean="0"/>
              <a:t>dp</a:t>
            </a:r>
            <a:r>
              <a:rPr lang="en-US" altLang="zh-CN" dirty="0" smtClean="0"/>
              <a:t>[1][5]</a:t>
            </a:r>
            <a:r>
              <a:rPr lang="zh-CN" altLang="en-US" dirty="0" smtClean="0"/>
              <a:t>和</a:t>
            </a:r>
            <a:r>
              <a:rPr lang="en-US" altLang="zh-CN" dirty="0" err="1" smtClean="0"/>
              <a:t>dp</a:t>
            </a:r>
            <a:r>
              <a:rPr lang="en-US" altLang="zh-CN" dirty="0" smtClean="0"/>
              <a:t>[1][5</a:t>
            </a:r>
            <a:r>
              <a:rPr lang="zh-CN" altLang="en-US" dirty="0" smtClean="0"/>
              <a:t> </a:t>
            </a:r>
            <a:r>
              <a:rPr lang="en-US" altLang="zh-CN" dirty="0" smtClean="0"/>
              <a:t>-</a:t>
            </a:r>
            <a:r>
              <a:rPr lang="zh-CN" altLang="en-US" dirty="0" smtClean="0"/>
              <a:t> </a:t>
            </a:r>
            <a:r>
              <a:rPr lang="en-US" altLang="zh-CN" dirty="0" smtClean="0"/>
              <a:t>5] + w[2]</a:t>
            </a:r>
            <a:r>
              <a:rPr lang="zh-CN" altLang="en-US" dirty="0" smtClean="0"/>
              <a:t>进行计算的，所以答案是正确的，代码如下：</a:t>
            </a:r>
            <a:endParaRPr lang="en-US" altLang="zh-CN" dirty="0">
              <a:solidFill>
                <a:srgbClr val="FF0000"/>
              </a:solidFill>
            </a:endParaRPr>
          </a:p>
        </p:txBody>
      </p:sp>
      <p:cxnSp>
        <p:nvCxnSpPr>
          <p:cNvPr id="6" name="Straight Arrow Connector 5"/>
          <p:cNvCxnSpPr/>
          <p:nvPr/>
        </p:nvCxnSpPr>
        <p:spPr>
          <a:xfrm flipH="1">
            <a:off x="2070985" y="3656634"/>
            <a:ext cx="8128002" cy="966"/>
          </a:xfrm>
          <a:prstGeom prst="straightConnector1">
            <a:avLst/>
          </a:prstGeom>
          <a:ln w="63500">
            <a:solidFill>
              <a:srgbClr val="F57D4D">
                <a:alpha val="67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H="1">
            <a:off x="2070984" y="4034021"/>
            <a:ext cx="4736213" cy="966"/>
          </a:xfrm>
          <a:prstGeom prst="straightConnector1">
            <a:avLst/>
          </a:prstGeom>
          <a:ln w="63500">
            <a:solidFill>
              <a:srgbClr val="92D050">
                <a:alpha val="67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H="1">
            <a:off x="6807197" y="4411408"/>
            <a:ext cx="3391789" cy="8192"/>
          </a:xfrm>
          <a:prstGeom prst="straightConnector1">
            <a:avLst/>
          </a:prstGeom>
          <a:ln w="63500">
            <a:solidFill>
              <a:srgbClr val="92D050">
                <a:alpha val="67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H="1">
            <a:off x="6807200" y="4034021"/>
            <a:ext cx="3391786" cy="0"/>
          </a:xfrm>
          <a:prstGeom prst="straightConnector1">
            <a:avLst/>
          </a:prstGeom>
          <a:ln w="63500">
            <a:solidFill>
              <a:srgbClr val="F46B34">
                <a:alpha val="67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6504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18708" y="829339"/>
            <a:ext cx="21723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smtClean="0"/>
              <a:t>0-1</a:t>
            </a:r>
            <a:r>
              <a:rPr lang="zh-CN" altLang="en-US" sz="2800" b="1" dirty="0" smtClean="0"/>
              <a:t>背包问题</a:t>
            </a:r>
            <a:endParaRPr lang="en-US" sz="2800" b="1" dirty="0"/>
          </a:p>
        </p:txBody>
      </p:sp>
      <p:sp>
        <p:nvSpPr>
          <p:cNvPr id="6" name="TextBox 5"/>
          <p:cNvSpPr txBox="1"/>
          <p:nvPr/>
        </p:nvSpPr>
        <p:spPr>
          <a:xfrm flipH="1">
            <a:off x="818707" y="3949038"/>
            <a:ext cx="104794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</a:rPr>
              <a:t>注：</a:t>
            </a:r>
            <a:r>
              <a:rPr lang="en-US" altLang="zh-CN" dirty="0" smtClean="0">
                <a:solidFill>
                  <a:srgbClr val="FF0000"/>
                </a:solidFill>
              </a:rPr>
              <a:t>j</a:t>
            </a:r>
            <a:r>
              <a:rPr lang="zh-CN" altLang="en-US" dirty="0" smtClean="0">
                <a:solidFill>
                  <a:srgbClr val="FF0000"/>
                </a:solidFill>
              </a:rPr>
              <a:t>的枚举方向至关重要，保证了一维数组结果的正确性。这种优化空间方法也叫做滚动数组。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707" y="1614169"/>
            <a:ext cx="7063760" cy="2073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2041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18708" y="829339"/>
            <a:ext cx="21723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smtClean="0"/>
              <a:t>0-1</a:t>
            </a:r>
            <a:r>
              <a:rPr lang="zh-CN" altLang="en-US" sz="2800" b="1" dirty="0" smtClean="0"/>
              <a:t>背包问题</a:t>
            </a:r>
            <a:endParaRPr lang="en-US" sz="28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818708" y="1403498"/>
            <a:ext cx="10632557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综上所述，我们成功解决了</a:t>
            </a:r>
            <a:r>
              <a:rPr lang="en-US" altLang="zh-CN" dirty="0" smtClean="0"/>
              <a:t>0-1</a:t>
            </a:r>
            <a:r>
              <a:rPr lang="zh-CN" altLang="en-US" dirty="0" smtClean="0"/>
              <a:t>背包问题，并且使用了一维数组进行优化。此处有两点值得讨论的地方：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首先使用滚动数组确实优化了空间，但是却丢失了之前的信息，无法打印出方案来（选第几个物品的方案），所以要根据题目要求，谨慎使用。</a:t>
            </a:r>
            <a:endParaRPr lang="en-US" altLang="zh-CN" dirty="0"/>
          </a:p>
          <a:p>
            <a:r>
              <a:rPr lang="zh-CN" altLang="en-US" dirty="0" smtClean="0"/>
              <a:t>其次我们来讨论</a:t>
            </a:r>
            <a:r>
              <a:rPr lang="en-US" altLang="zh-CN" dirty="0" err="1" smtClean="0"/>
              <a:t>dp</a:t>
            </a:r>
            <a:r>
              <a:rPr lang="zh-CN" altLang="en-US" dirty="0" smtClean="0"/>
              <a:t>数组的初始化问题，有</a:t>
            </a:r>
            <a:r>
              <a:rPr lang="zh-CN" altLang="en-US" dirty="0" smtClean="0">
                <a:solidFill>
                  <a:srgbClr val="FF0000"/>
                </a:solidFill>
              </a:rPr>
              <a:t>两种不同的</a:t>
            </a:r>
            <a:r>
              <a:rPr lang="en-US" altLang="zh-CN" dirty="0" smtClean="0">
                <a:solidFill>
                  <a:srgbClr val="FF0000"/>
                </a:solidFill>
              </a:rPr>
              <a:t>0-1</a:t>
            </a:r>
            <a:r>
              <a:rPr lang="zh-CN" altLang="en-US" dirty="0" smtClean="0">
                <a:solidFill>
                  <a:srgbClr val="FF0000"/>
                </a:solidFill>
              </a:rPr>
              <a:t>背包问题</a:t>
            </a:r>
            <a:r>
              <a:rPr lang="zh-CN" altLang="en-US" dirty="0" smtClean="0"/>
              <a:t>：</a:t>
            </a:r>
            <a:endParaRPr lang="en-US" altLang="zh-CN" dirty="0" smtClean="0"/>
          </a:p>
          <a:p>
            <a:r>
              <a:rPr lang="en-US" altLang="zh-CN" dirty="0" smtClean="0"/>
              <a:t>1</a:t>
            </a:r>
            <a:r>
              <a:rPr lang="zh-CN" altLang="en-US" dirty="0" smtClean="0"/>
              <a:t>、尽可能的装，装多少算多少。</a:t>
            </a:r>
            <a:endParaRPr lang="en-US" altLang="zh-CN" dirty="0" smtClean="0"/>
          </a:p>
          <a:p>
            <a:r>
              <a:rPr lang="en-US" altLang="zh-CN" dirty="0" smtClean="0"/>
              <a:t>2</a:t>
            </a:r>
            <a:r>
              <a:rPr lang="zh-CN" altLang="en-US" dirty="0" smtClean="0"/>
              <a:t>、必须恰好装满（比如用不同硬币组合出固定的钱数）。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>
                <a:solidFill>
                  <a:srgbClr val="FF0000"/>
                </a:solidFill>
              </a:rPr>
              <a:t>第一种将所有元素置</a:t>
            </a:r>
            <a:r>
              <a:rPr lang="en-US" altLang="zh-CN" dirty="0" smtClean="0">
                <a:solidFill>
                  <a:srgbClr val="FF0000"/>
                </a:solidFill>
              </a:rPr>
              <a:t>0</a:t>
            </a:r>
            <a:r>
              <a:rPr lang="zh-CN" altLang="en-US" dirty="0" smtClean="0"/>
              <a:t>（实际上只需要第一行和第一列为</a:t>
            </a:r>
            <a:r>
              <a:rPr lang="en-US" altLang="zh-CN" dirty="0" smtClean="0"/>
              <a:t>0</a:t>
            </a:r>
            <a:r>
              <a:rPr lang="zh-CN" altLang="en-US" dirty="0" smtClean="0"/>
              <a:t>就可以了），因为每一种状态都是合法的。</a:t>
            </a:r>
            <a:endParaRPr lang="en-US" altLang="zh-CN" dirty="0" smtClean="0"/>
          </a:p>
          <a:p>
            <a:r>
              <a:rPr lang="zh-CN" altLang="en-US" dirty="0" smtClean="0">
                <a:solidFill>
                  <a:srgbClr val="FF0000"/>
                </a:solidFill>
              </a:rPr>
              <a:t>第二种需要将除了</a:t>
            </a:r>
            <a:r>
              <a:rPr lang="en-US" altLang="zh-CN" dirty="0" err="1" smtClean="0">
                <a:solidFill>
                  <a:srgbClr val="FF0000"/>
                </a:solidFill>
              </a:rPr>
              <a:t>dp</a:t>
            </a:r>
            <a:r>
              <a:rPr lang="en-US" altLang="zh-CN" dirty="0" smtClean="0">
                <a:solidFill>
                  <a:srgbClr val="FF0000"/>
                </a:solidFill>
              </a:rPr>
              <a:t>[0][0]</a:t>
            </a:r>
            <a:r>
              <a:rPr lang="zh-CN" altLang="en-US" dirty="0" smtClean="0">
                <a:solidFill>
                  <a:srgbClr val="FF0000"/>
                </a:solidFill>
              </a:rPr>
              <a:t>（一维为</a:t>
            </a:r>
            <a:r>
              <a:rPr lang="en-US" altLang="zh-CN" dirty="0" err="1" smtClean="0">
                <a:solidFill>
                  <a:srgbClr val="FF0000"/>
                </a:solidFill>
              </a:rPr>
              <a:t>dp</a:t>
            </a:r>
            <a:r>
              <a:rPr lang="en-US" altLang="zh-CN" dirty="0" smtClean="0">
                <a:solidFill>
                  <a:srgbClr val="FF0000"/>
                </a:solidFill>
              </a:rPr>
              <a:t>[0]</a:t>
            </a:r>
            <a:r>
              <a:rPr lang="zh-CN" altLang="en-US" dirty="0" smtClean="0">
                <a:solidFill>
                  <a:srgbClr val="FF0000"/>
                </a:solidFill>
              </a:rPr>
              <a:t>）之外的所有元素置</a:t>
            </a:r>
            <a:r>
              <a:rPr lang="en-US" altLang="zh-CN" dirty="0" smtClean="0">
                <a:solidFill>
                  <a:srgbClr val="FF0000"/>
                </a:solidFill>
              </a:rPr>
              <a:t>-INF</a:t>
            </a:r>
            <a:r>
              <a:rPr lang="zh-CN" altLang="en-US" dirty="0" smtClean="0"/>
              <a:t>，因为一开始只有背包容量为</a:t>
            </a:r>
            <a:r>
              <a:rPr lang="en-US" altLang="zh-CN" dirty="0" smtClean="0"/>
              <a:t>0</a:t>
            </a:r>
            <a:r>
              <a:rPr lang="zh-CN" altLang="en-US" dirty="0" smtClean="0"/>
              <a:t>什么都不选的状态是合法的，此时</a:t>
            </a:r>
            <a:r>
              <a:rPr lang="en-US" altLang="zh-CN" dirty="0" err="1" smtClean="0"/>
              <a:t>dp</a:t>
            </a:r>
            <a:r>
              <a:rPr lang="en-US" altLang="zh-CN" dirty="0" smtClean="0"/>
              <a:t>[0][0] = 0</a:t>
            </a:r>
            <a:r>
              <a:rPr lang="zh-CN" altLang="en-US" dirty="0" smtClean="0"/>
              <a:t>。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572732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18708" y="829339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/>
              <a:t>完全背包问题</a:t>
            </a:r>
            <a:endParaRPr lang="en-US" sz="28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818708" y="1403498"/>
            <a:ext cx="106325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完全背包问题和</a:t>
            </a:r>
            <a:r>
              <a:rPr lang="en-US" altLang="zh-CN" dirty="0" smtClean="0"/>
              <a:t>0-1</a:t>
            </a:r>
            <a:r>
              <a:rPr lang="zh-CN" altLang="en-US" dirty="0" smtClean="0"/>
              <a:t>背包问题的区别在于，每一个物品都有无限个可以选择。则可以定义如下的递推式：</a:t>
            </a:r>
            <a:endParaRPr lang="en-US" altLang="zh-CN" dirty="0" smtClean="0"/>
          </a:p>
        </p:txBody>
      </p:sp>
      <p:sp>
        <p:nvSpPr>
          <p:cNvPr id="6" name="TextBox 5"/>
          <p:cNvSpPr txBox="1"/>
          <p:nvPr/>
        </p:nvSpPr>
        <p:spPr>
          <a:xfrm>
            <a:off x="818707" y="3271271"/>
            <a:ext cx="106325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这里多出来一个循环变量，故写成递推的话代码如下：</a:t>
            </a:r>
            <a:endParaRPr lang="en-US" altLang="zh-CN" dirty="0" smtClean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707" y="3732936"/>
            <a:ext cx="10058400" cy="258591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2226767" y="2266675"/>
                <a:ext cx="7816435" cy="97661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𝑑𝑝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𝑖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𝑗</m:t>
                          </m:r>
                        </m:e>
                      </m:d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= </m:t>
                      </m:r>
                      <m:d>
                        <m:dPr>
                          <m:begChr m:val="{"/>
                          <m:endChr m:val=""/>
                          <m:ctrlPr>
                            <a:rPr lang="mr-IN" sz="18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mr-IN" sz="1800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</m:ctrlPr>
                            </m:eqArrPr>
                            <m:e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0                                                                                                        </m:t>
                              </m:r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𝑖</m:t>
                              </m:r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=0</m:t>
                              </m:r>
                            </m:e>
                            <m:e>
                              <m:func>
                                <m:funcPr>
                                  <m:ctrlPr>
                                    <a:rPr lang="en-US" sz="1800" b="0" i="1" smtClean="0">
                                      <a:solidFill>
                                        <a:schemeClr val="tx1"/>
                                      </a:solidFill>
                                      <a:latin typeface="Cambria Math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1800" b="0" i="0" smtClean="0">
                                      <a:solidFill>
                                        <a:schemeClr val="tx1"/>
                                      </a:solidFill>
                                      <a:latin typeface="Cambria Math" charset="0"/>
                                    </a:rPr>
                                    <m:t>max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charset="0"/>
                                        </a:rPr>
                                        <m:t>𝑑𝑝</m:t>
                                      </m:r>
                                      <m:d>
                                        <m:dPr>
                                          <m:begChr m:val="["/>
                                          <m:endChr m:val="]"/>
                                          <m:ctrlPr>
                                            <a:rPr lang="en-US" sz="18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18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sz="18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charset="0"/>
                                            </a:rPr>
                                            <m:t>−1</m:t>
                                          </m:r>
                                        </m:e>
                                      </m:d>
                                      <m:d>
                                        <m:dPr>
                                          <m:begChr m:val="["/>
                                          <m:endChr m:val="]"/>
                                          <m:ctrlPr>
                                            <a:rPr lang="en-US" sz="18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18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charset="0"/>
                                            </a:rPr>
                                            <m:t>𝑗</m:t>
                                          </m:r>
                                          <m:r>
                                            <a:rPr lang="en-US" sz="18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sz="18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charset="0"/>
                                            </a:rPr>
                                            <m:t>𝑘</m:t>
                                          </m:r>
                                          <m:r>
                                            <a:rPr lang="en-US" sz="18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charset="0"/>
                                              <a:ea typeface="Cambria Math" charset="0"/>
                                              <a:cs typeface="Cambria Math" charset="0"/>
                                            </a:rPr>
                                            <m:t>×</m:t>
                                          </m:r>
                                          <m:r>
                                            <a:rPr lang="en-US" sz="18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charset="0"/>
                                              <a:ea typeface="Cambria Math" charset="0"/>
                                              <a:cs typeface="Cambria Math" charset="0"/>
                                            </a:rPr>
                                            <m:t>𝑣</m:t>
                                          </m:r>
                                          <m:d>
                                            <m:dPr>
                                              <m:begChr m:val="["/>
                                              <m:endChr m:val="]"/>
                                              <m:ctrlPr>
                                                <a:rPr lang="en-US" sz="1800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charset="0"/>
                                                  <a:ea typeface="Cambria Math" charset="0"/>
                                                  <a:cs typeface="Cambria Math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sz="1800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charset="0"/>
                                                  <a:ea typeface="Cambria Math" charset="0"/>
                                                  <a:cs typeface="Cambria Math" charset="0"/>
                                                </a:rPr>
                                                <m:t>𝑖</m:t>
                                              </m:r>
                                            </m:e>
                                          </m:d>
                                        </m:e>
                                      </m:d>
                                      <m:r>
                                        <a:rPr lang="en-US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charset="0"/>
                                          <a:ea typeface="Cambria Math" charset="0"/>
                                          <a:cs typeface="Cambria Math" charset="0"/>
                                        </a:rPr>
                                        <m:t>+</m:t>
                                      </m:r>
                                      <m:r>
                                        <a:rPr lang="en-US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charset="0"/>
                                          <a:ea typeface="Cambria Math" charset="0"/>
                                          <a:cs typeface="Cambria Math" charset="0"/>
                                        </a:rPr>
                                        <m:t>𝑘</m:t>
                                      </m:r>
                                      <m:r>
                                        <a:rPr lang="en-US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charset="0"/>
                                          <a:ea typeface="Cambria Math" charset="0"/>
                                          <a:cs typeface="Cambria Math" charset="0"/>
                                        </a:rPr>
                                        <m:t>×</m:t>
                                      </m:r>
                                      <m:r>
                                        <a:rPr lang="en-US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charset="0"/>
                                          <a:ea typeface="Cambria Math" charset="0"/>
                                          <a:cs typeface="Cambria Math" charset="0"/>
                                        </a:rPr>
                                        <m:t>𝑤</m:t>
                                      </m:r>
                                      <m:d>
                                        <m:dPr>
                                          <m:begChr m:val="["/>
                                          <m:endChr m:val="]"/>
                                          <m:ctrlPr>
                                            <a:rPr lang="en-US" sz="18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charset="0"/>
                                              <a:ea typeface="Cambria Math" charset="0"/>
                                              <a:cs typeface="Cambria Math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18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charset="0"/>
                                              <a:ea typeface="Cambria Math" charset="0"/>
                                              <a:cs typeface="Cambria Math" charset="0"/>
                                            </a:rPr>
                                            <m:t>𝑖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</m:func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 0≤</m:t>
                              </m:r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𝑘</m:t>
                              </m:r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≤</m:t>
                              </m:r>
                              <m:d>
                                <m:dPr>
                                  <m:begChr m:val="⌊"/>
                                  <m:endChr m:val="⌋"/>
                                  <m:ctrlPr>
                                    <a:rPr lang="en-US" sz="1800" b="0" i="1" smtClean="0">
                                      <a:solidFill>
                                        <a:schemeClr val="tx1"/>
                                      </a:solidFill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charset="0"/>
                                          <a:ea typeface="Cambria Math" charset="0"/>
                                          <a:cs typeface="Cambria Math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charset="0"/>
                                          <a:ea typeface="Cambria Math" charset="0"/>
                                          <a:cs typeface="Cambria Math" charset="0"/>
                                        </a:rPr>
                                        <m:t>𝑗</m:t>
                                      </m:r>
                                    </m:num>
                                    <m:den>
                                      <m:r>
                                        <a:rPr lang="en-US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charset="0"/>
                                          <a:ea typeface="Cambria Math" charset="0"/>
                                          <a:cs typeface="Cambria Math" charset="0"/>
                                        </a:rPr>
                                        <m:t>𝑣</m:t>
                                      </m:r>
                                      <m:d>
                                        <m:dPr>
                                          <m:begChr m:val="["/>
                                          <m:endChr m:val="]"/>
                                          <m:ctrlPr>
                                            <a:rPr lang="en-US" sz="18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charset="0"/>
                                              <a:ea typeface="Cambria Math" charset="0"/>
                                              <a:cs typeface="Cambria Math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18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charset="0"/>
                                              <a:ea typeface="Cambria Math" charset="0"/>
                                              <a:cs typeface="Cambria Math" charset="0"/>
                                            </a:rPr>
                                            <m:t>𝑖</m:t>
                                          </m:r>
                                        </m:e>
                                      </m:d>
                                    </m:den>
                                  </m:f>
                                </m:e>
                              </m:d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  1≤</m:t>
                              </m:r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𝑖</m:t>
                              </m:r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≤</m:t>
                              </m:r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𝑛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6767" y="2266675"/>
                <a:ext cx="7816435" cy="976614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614639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18708" y="829339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/>
              <a:t>完全背包问题</a:t>
            </a:r>
            <a:endParaRPr lang="en-US" sz="28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818704" y="2329173"/>
            <a:ext cx="1063255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观察这个递推式可以发现：</a:t>
            </a:r>
            <a:endParaRPr lang="en-US" altLang="zh-CN" dirty="0" smtClean="0"/>
          </a:p>
          <a:p>
            <a:r>
              <a:rPr lang="en-US" altLang="zh-CN" dirty="0" smtClean="0"/>
              <a:t>1</a:t>
            </a:r>
            <a:r>
              <a:rPr lang="zh-CN" altLang="en-US" dirty="0" smtClean="0"/>
              <a:t>、</a:t>
            </a:r>
            <a:r>
              <a:rPr lang="en-US" altLang="zh-CN" dirty="0" smtClean="0"/>
              <a:t>k</a:t>
            </a:r>
            <a:r>
              <a:rPr lang="zh-CN" altLang="en-US" dirty="0" smtClean="0"/>
              <a:t> </a:t>
            </a:r>
            <a:r>
              <a:rPr lang="en-US" altLang="zh-CN" dirty="0" smtClean="0"/>
              <a:t>=</a:t>
            </a:r>
            <a:r>
              <a:rPr lang="zh-CN" altLang="en-US" dirty="0" smtClean="0"/>
              <a:t> </a:t>
            </a:r>
            <a:r>
              <a:rPr lang="en-US" altLang="zh-CN" dirty="0" smtClean="0"/>
              <a:t>0</a:t>
            </a:r>
            <a:r>
              <a:rPr lang="zh-CN" altLang="en-US" dirty="0" smtClean="0"/>
              <a:t>时，</a:t>
            </a:r>
            <a:r>
              <a:rPr lang="en-US" altLang="zh-CN" dirty="0" err="1" smtClean="0"/>
              <a:t>dp</a:t>
            </a:r>
            <a:r>
              <a:rPr lang="en-US" altLang="zh-CN" dirty="0" smtClean="0"/>
              <a:t>[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][j] = </a:t>
            </a:r>
            <a:r>
              <a:rPr lang="en-US" altLang="zh-CN" dirty="0" err="1" smtClean="0"/>
              <a:t>dp</a:t>
            </a:r>
            <a:r>
              <a:rPr lang="en-US" altLang="zh-CN" dirty="0" smtClean="0"/>
              <a:t>[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 </a:t>
            </a:r>
            <a:r>
              <a:rPr lang="mr-IN" altLang="zh-CN" dirty="0" smtClean="0"/>
              <a:t>–</a:t>
            </a:r>
            <a:r>
              <a:rPr lang="en-US" altLang="zh-CN" dirty="0" smtClean="0"/>
              <a:t> 1][j]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en-US" altLang="zh-CN" dirty="0" smtClean="0"/>
              <a:t>2</a:t>
            </a:r>
            <a:r>
              <a:rPr lang="zh-CN" altLang="en-US" dirty="0" smtClean="0"/>
              <a:t>、其他情况下，即至少选择一个第</a:t>
            </a:r>
            <a:r>
              <a:rPr lang="en-US" altLang="zh-CN" dirty="0" err="1" smtClean="0"/>
              <a:t>i</a:t>
            </a:r>
            <a:r>
              <a:rPr lang="zh-CN" altLang="en-US" dirty="0" smtClean="0"/>
              <a:t>个物品到背包中的情况，可以根据以下公式进行推导，得到最终的递推式。</a:t>
            </a:r>
            <a:r>
              <a:rPr lang="zh-CN" altLang="en-US" dirty="0" smtClean="0">
                <a:solidFill>
                  <a:srgbClr val="FF0000"/>
                </a:solidFill>
              </a:rPr>
              <a:t>注意红色的部分</a:t>
            </a:r>
            <a:r>
              <a:rPr lang="zh-CN" altLang="en-US" dirty="0" smtClean="0"/>
              <a:t>。</a:t>
            </a:r>
            <a:endParaRPr lang="en-US" altLang="zh-CN" dirty="0" smtClean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2226766" y="1352559"/>
                <a:ext cx="7816435" cy="97661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charset="0"/>
                        </a:rPr>
                        <m:t>𝑑𝑝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800" b="0" i="1" smtClean="0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charset="0"/>
                            </a:rPr>
                            <m:t>𝑖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1800" b="0" i="1" smtClean="0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charset="0"/>
                            </a:rPr>
                            <m:t>𝑗</m:t>
                          </m:r>
                        </m:e>
                      </m:d>
                      <m:r>
                        <a:rPr lang="en-US" sz="1800" b="0" i="1" smtClean="0">
                          <a:latin typeface="Cambria Math" charset="0"/>
                        </a:rPr>
                        <m:t>= </m:t>
                      </m:r>
                      <m:d>
                        <m:dPr>
                          <m:begChr m:val="{"/>
                          <m:endChr m:val=""/>
                          <m:ctrlPr>
                            <a:rPr lang="mr-IN" sz="1800" b="0" i="1" smtClean="0">
                              <a:latin typeface="Cambria Math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mr-IN" sz="1800" b="0" i="1" smtClean="0">
                                  <a:latin typeface="Cambria Math" charset="0"/>
                                </a:rPr>
                              </m:ctrlPr>
                            </m:eqArrPr>
                            <m:e>
                              <m:r>
                                <a:rPr lang="en-US" sz="1800" b="0" i="1" smtClean="0">
                                  <a:latin typeface="Cambria Math" charset="0"/>
                                </a:rPr>
                                <m:t>0                                                                                                        </m:t>
                              </m:r>
                              <m:r>
                                <a:rPr lang="en-US" sz="1800" b="0" i="1" smtClean="0">
                                  <a:latin typeface="Cambria Math" charset="0"/>
                                </a:rPr>
                                <m:t>𝑖</m:t>
                              </m:r>
                              <m:r>
                                <a:rPr lang="en-US" sz="1800" b="0" i="1" smtClean="0">
                                  <a:latin typeface="Cambria Math" charset="0"/>
                                </a:rPr>
                                <m:t>=0</m:t>
                              </m:r>
                            </m:e>
                            <m:e>
                              <m:func>
                                <m:funcPr>
                                  <m:ctrlPr>
                                    <a:rPr lang="en-US" sz="1800" b="0" i="1" smtClean="0">
                                      <a:latin typeface="Cambria Math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1800" b="0" i="0" smtClean="0">
                                      <a:latin typeface="Cambria Math" charset="0"/>
                                    </a:rPr>
                                    <m:t>max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sz="1800" b="0" i="1" smtClean="0">
                                          <a:latin typeface="Cambria Math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800" b="0" i="1" smtClean="0">
                                          <a:latin typeface="Cambria Math" charset="0"/>
                                        </a:rPr>
                                        <m:t>𝑑𝑝</m:t>
                                      </m:r>
                                      <m:d>
                                        <m:dPr>
                                          <m:begChr m:val="["/>
                                          <m:endChr m:val="]"/>
                                          <m:ctrlPr>
                                            <a:rPr lang="en-US" sz="1800" b="0" i="1" smtClean="0">
                                              <a:latin typeface="Cambria Math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1800" b="0" i="1" smtClean="0">
                                              <a:latin typeface="Cambria Math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sz="1800" b="0" i="1" smtClean="0">
                                              <a:latin typeface="Cambria Math" charset="0"/>
                                            </a:rPr>
                                            <m:t>−1</m:t>
                                          </m:r>
                                        </m:e>
                                      </m:d>
                                      <m:d>
                                        <m:dPr>
                                          <m:begChr m:val="["/>
                                          <m:endChr m:val="]"/>
                                          <m:ctrlPr>
                                            <a:rPr lang="en-US" sz="1800" b="0" i="1" smtClean="0">
                                              <a:latin typeface="Cambria Math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1800" b="0" i="1" smtClean="0">
                                              <a:latin typeface="Cambria Math" charset="0"/>
                                            </a:rPr>
                                            <m:t>𝑗</m:t>
                                          </m:r>
                                          <m:r>
                                            <a:rPr lang="en-US" sz="1800" b="0" i="1" smtClean="0">
                                              <a:latin typeface="Cambria Math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sz="1800" b="0" i="1" smtClean="0">
                                              <a:latin typeface="Cambria Math" charset="0"/>
                                            </a:rPr>
                                            <m:t>𝑘</m:t>
                                          </m:r>
                                          <m:r>
                                            <a:rPr lang="en-US" sz="1800" b="0" i="1" smtClean="0">
                                              <a:latin typeface="Cambria Math" charset="0"/>
                                              <a:ea typeface="Cambria Math" charset="0"/>
                                              <a:cs typeface="Cambria Math" charset="0"/>
                                            </a:rPr>
                                            <m:t>×</m:t>
                                          </m:r>
                                          <m:r>
                                            <a:rPr lang="en-US" sz="1800" b="0" i="1" smtClean="0">
                                              <a:latin typeface="Cambria Math" charset="0"/>
                                              <a:ea typeface="Cambria Math" charset="0"/>
                                              <a:cs typeface="Cambria Math" charset="0"/>
                                            </a:rPr>
                                            <m:t>𝑣</m:t>
                                          </m:r>
                                          <m:d>
                                            <m:dPr>
                                              <m:begChr m:val="["/>
                                              <m:endChr m:val="]"/>
                                              <m:ctrlPr>
                                                <a:rPr lang="en-US" sz="1800" b="0" i="1" smtClean="0">
                                                  <a:latin typeface="Cambria Math" charset="0"/>
                                                  <a:ea typeface="Cambria Math" charset="0"/>
                                                  <a:cs typeface="Cambria Math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sz="1800" b="0" i="1" smtClean="0">
                                                  <a:latin typeface="Cambria Math" charset="0"/>
                                                  <a:ea typeface="Cambria Math" charset="0"/>
                                                  <a:cs typeface="Cambria Math" charset="0"/>
                                                </a:rPr>
                                                <m:t>𝑖</m:t>
                                              </m:r>
                                            </m:e>
                                          </m:d>
                                        </m:e>
                                      </m:d>
                                      <m:r>
                                        <a:rPr lang="en-US" sz="1800" b="0" i="1" smtClean="0">
                                          <a:latin typeface="Cambria Math" charset="0"/>
                                          <a:ea typeface="Cambria Math" charset="0"/>
                                          <a:cs typeface="Cambria Math" charset="0"/>
                                        </a:rPr>
                                        <m:t>+</m:t>
                                      </m:r>
                                      <m:r>
                                        <a:rPr lang="en-US" sz="1800" b="0" i="1" smtClean="0">
                                          <a:latin typeface="Cambria Math" charset="0"/>
                                          <a:ea typeface="Cambria Math" charset="0"/>
                                          <a:cs typeface="Cambria Math" charset="0"/>
                                        </a:rPr>
                                        <m:t>𝑘</m:t>
                                      </m:r>
                                      <m:r>
                                        <a:rPr lang="en-US" sz="1800" b="0" i="1" smtClean="0">
                                          <a:latin typeface="Cambria Math" charset="0"/>
                                          <a:ea typeface="Cambria Math" charset="0"/>
                                          <a:cs typeface="Cambria Math" charset="0"/>
                                        </a:rPr>
                                        <m:t>×</m:t>
                                      </m:r>
                                      <m:r>
                                        <a:rPr lang="en-US" sz="1800" b="0" i="1" smtClean="0">
                                          <a:latin typeface="Cambria Math" charset="0"/>
                                          <a:ea typeface="Cambria Math" charset="0"/>
                                          <a:cs typeface="Cambria Math" charset="0"/>
                                        </a:rPr>
                                        <m:t>𝑤</m:t>
                                      </m:r>
                                      <m:d>
                                        <m:dPr>
                                          <m:begChr m:val="["/>
                                          <m:endChr m:val="]"/>
                                          <m:ctrlPr>
                                            <a:rPr lang="en-US" sz="1800" b="0" i="1" smtClean="0">
                                              <a:latin typeface="Cambria Math" charset="0"/>
                                              <a:ea typeface="Cambria Math" charset="0"/>
                                              <a:cs typeface="Cambria Math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1800" b="0" i="1" smtClean="0">
                                              <a:latin typeface="Cambria Math" charset="0"/>
                                              <a:ea typeface="Cambria Math" charset="0"/>
                                              <a:cs typeface="Cambria Math" charset="0"/>
                                            </a:rPr>
                                            <m:t>𝑖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</m:func>
                              <m:r>
                                <a:rPr lang="en-US" sz="18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 0≤</m:t>
                              </m:r>
                              <m:r>
                                <a:rPr lang="en-US" sz="18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𝑘</m:t>
                              </m:r>
                              <m:r>
                                <a:rPr lang="en-US" sz="18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≤</m:t>
                              </m:r>
                              <m:d>
                                <m:dPr>
                                  <m:begChr m:val="⌊"/>
                                  <m:endChr m:val="⌋"/>
                                  <m:ctrlPr>
                                    <a:rPr lang="en-US" sz="1800" b="0" i="1" smtClean="0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1800" b="0" i="1" smtClean="0">
                                          <a:latin typeface="Cambria Math" charset="0"/>
                                          <a:ea typeface="Cambria Math" charset="0"/>
                                          <a:cs typeface="Cambria Math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1800" b="0" i="1" smtClean="0">
                                          <a:latin typeface="Cambria Math" charset="0"/>
                                          <a:ea typeface="Cambria Math" charset="0"/>
                                          <a:cs typeface="Cambria Math" charset="0"/>
                                        </a:rPr>
                                        <m:t>𝑗</m:t>
                                      </m:r>
                                    </m:num>
                                    <m:den>
                                      <m:r>
                                        <a:rPr lang="en-US" sz="1800" b="0" i="1" smtClean="0">
                                          <a:latin typeface="Cambria Math" charset="0"/>
                                          <a:ea typeface="Cambria Math" charset="0"/>
                                          <a:cs typeface="Cambria Math" charset="0"/>
                                        </a:rPr>
                                        <m:t>𝑣</m:t>
                                      </m:r>
                                      <m:d>
                                        <m:dPr>
                                          <m:begChr m:val="["/>
                                          <m:endChr m:val="]"/>
                                          <m:ctrlPr>
                                            <a:rPr lang="en-US" sz="1800" b="0" i="1" smtClean="0">
                                              <a:latin typeface="Cambria Math" charset="0"/>
                                              <a:ea typeface="Cambria Math" charset="0"/>
                                              <a:cs typeface="Cambria Math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1800" b="0" i="1" smtClean="0">
                                              <a:latin typeface="Cambria Math" charset="0"/>
                                              <a:ea typeface="Cambria Math" charset="0"/>
                                              <a:cs typeface="Cambria Math" charset="0"/>
                                            </a:rPr>
                                            <m:t>𝑖</m:t>
                                          </m:r>
                                        </m:e>
                                      </m:d>
                                    </m:den>
                                  </m:f>
                                </m:e>
                              </m:d>
                              <m:r>
                                <a:rPr lang="en-US" sz="18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  1≤</m:t>
                              </m:r>
                              <m:r>
                                <a:rPr lang="en-US" sz="18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𝑖</m:t>
                              </m:r>
                              <m:r>
                                <a:rPr lang="en-US" sz="18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≤</m:t>
                              </m:r>
                              <m:r>
                                <a:rPr lang="en-US" sz="18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𝑛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6766" y="1352559"/>
                <a:ext cx="7816435" cy="976614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810237" y="4064000"/>
                <a:ext cx="10886570" cy="19819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dirty="0" smtClean="0">
                          <a:latin typeface="Cambria Math" charset="0"/>
                        </a:rPr>
                        <m:t>𝑑𝑝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800" b="0" i="1" dirty="0" smtClean="0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sz="1800" b="0" i="1" dirty="0" err="1" smtClean="0">
                              <a:latin typeface="Cambria Math" charset="0"/>
                            </a:rPr>
                            <m:t>𝑖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1800" b="0" i="1" dirty="0" smtClean="0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sz="1800" b="0" i="1" dirty="0" smtClean="0">
                              <a:latin typeface="Cambria Math" charset="0"/>
                            </a:rPr>
                            <m:t>𝑗</m:t>
                          </m:r>
                        </m:e>
                      </m:d>
                      <m:r>
                        <a:rPr lang="en-US" sz="1800" b="0" i="1" dirty="0" smtClean="0">
                          <a:latin typeface="Cambria Math" charset="0"/>
                        </a:rPr>
                        <m:t>=</m:t>
                      </m:r>
                      <m:func>
                        <m:funcPr>
                          <m:ctrlPr>
                            <a:rPr lang="en-US" sz="1800" b="0" i="1" dirty="0" smtClean="0">
                              <a:latin typeface="Cambria Math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800" b="0" i="0" dirty="0" smtClean="0">
                              <a:latin typeface="Cambria Math" charset="0"/>
                            </a:rPr>
                            <m:t>max</m:t>
                          </m:r>
                        </m:fName>
                        <m:e>
                          <m:d>
                            <m:dPr>
                              <m:ctrlPr>
                                <a:rPr lang="en-US" sz="1800" b="0" i="1" dirty="0" smtClean="0">
                                  <a:latin typeface="Cambria Math" charset="0"/>
                                </a:rPr>
                              </m:ctrlPr>
                            </m:dPr>
                            <m:e>
                              <m:r>
                                <a:rPr lang="en-US" sz="1800" b="0" i="1" dirty="0" smtClean="0">
                                  <a:latin typeface="Cambria Math" charset="0"/>
                                </a:rPr>
                                <m:t>𝑑𝑝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1800" b="0" i="1" dirty="0" smtClean="0">
                                      <a:latin typeface="Cambria Math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800" b="0" i="1" dirty="0" smtClean="0">
                                      <a:latin typeface="Cambria Math" charset="0"/>
                                    </a:rPr>
                                    <m:t>𝑖</m:t>
                                  </m:r>
                                  <m:r>
                                    <a:rPr lang="en-US" sz="1800" b="0" i="1" dirty="0" smtClean="0">
                                      <a:latin typeface="Cambria Math" charset="0"/>
                                    </a:rPr>
                                    <m:t>−1</m:t>
                                  </m:r>
                                </m:e>
                              </m:d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1800" b="0" i="1" dirty="0" smtClean="0">
                                      <a:latin typeface="Cambria Math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800" b="0" i="1" dirty="0" smtClean="0">
                                      <a:latin typeface="Cambria Math" charset="0"/>
                                    </a:rPr>
                                    <m:t>𝑗</m:t>
                                  </m:r>
                                  <m:r>
                                    <a:rPr lang="en-US" sz="1800" b="0" i="1" dirty="0" smtClean="0">
                                      <a:latin typeface="Cambria Math" charset="0"/>
                                    </a:rPr>
                                    <m:t>−</m:t>
                                  </m:r>
                                  <m:r>
                                    <a:rPr lang="en-US" sz="1800" b="0" i="1" dirty="0" smtClean="0">
                                      <a:latin typeface="Cambria Math" charset="0"/>
                                    </a:rPr>
                                    <m:t>𝑘</m:t>
                                  </m:r>
                                  <m:r>
                                    <a:rPr lang="en-US" sz="1800" b="0" i="1" dirty="0" smtClean="0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×</m:t>
                                  </m:r>
                                  <m:r>
                                    <a:rPr lang="en-US" sz="1800" b="0" i="1" dirty="0" smtClean="0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𝑣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sz="1800" b="0" i="1" dirty="0" smtClean="0">
                                          <a:latin typeface="Cambria Math" charset="0"/>
                                          <a:ea typeface="Cambria Math" charset="0"/>
                                          <a:cs typeface="Cambria Math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800" b="0" i="1" dirty="0" smtClean="0">
                                          <a:latin typeface="Cambria Math" charset="0"/>
                                          <a:ea typeface="Cambria Math" charset="0"/>
                                          <a:cs typeface="Cambria Math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</m:e>
                              </m:d>
                              <m:r>
                                <a:rPr lang="en-US" sz="1800" b="0" i="1" dirty="0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+</m:t>
                              </m:r>
                              <m:r>
                                <a:rPr lang="en-US" sz="1800" b="0" i="1" dirty="0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𝑘</m:t>
                              </m:r>
                              <m:r>
                                <a:rPr lang="en-US" sz="1800" b="0" i="1" dirty="0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×</m:t>
                              </m:r>
                              <m:r>
                                <a:rPr lang="en-US" sz="1800" b="0" i="1" dirty="0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𝑤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1800" b="0" i="1" dirty="0" smtClean="0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800" b="0" i="1" dirty="0" smtClean="0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𝑖</m:t>
                                  </m:r>
                                </m:e>
                              </m:d>
                            </m:e>
                          </m:d>
                        </m:e>
                      </m:func>
                      <m:r>
                        <a:rPr lang="en-US" sz="18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,  0≤</m:t>
                      </m:r>
                      <m:r>
                        <a:rPr lang="en-US" sz="18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𝑘</m:t>
                      </m:r>
                      <m:r>
                        <a:rPr lang="en-US" sz="18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≤</m:t>
                      </m:r>
                      <m:d>
                        <m:dPr>
                          <m:begChr m:val="⌊"/>
                          <m:endChr m:val="⌋"/>
                          <m:ctrlPr>
                            <a:rPr lang="en-US" sz="18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800" b="0" i="1" dirty="0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</m:ctrlPr>
                            </m:fPr>
                            <m:num>
                              <m:r>
                                <a:rPr lang="en-US" sz="1800" b="0" i="1" dirty="0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𝑗</m:t>
                              </m:r>
                            </m:num>
                            <m:den>
                              <m:r>
                                <a:rPr lang="en-US" sz="1800" b="0" i="1" dirty="0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𝑣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1800" b="0" i="1" dirty="0" smtClean="0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800" b="0" i="1" dirty="0" smtClean="0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𝑖</m:t>
                                  </m:r>
                                </m:e>
                              </m:d>
                            </m:den>
                          </m:f>
                        </m:e>
                      </m:d>
                    </m:oMath>
                    <m:oMath xmlns:m="http://schemas.openxmlformats.org/officeDocument/2006/math">
                      <m:r>
                        <a:rPr lang="en-US" sz="18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unc>
                        <m:funcPr>
                          <m:ctrlPr>
                            <a:rPr lang="en-US" sz="18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800" b="0" i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max</m:t>
                          </m:r>
                        </m:fName>
                        <m:e>
                          <m:d>
                            <m:dPr>
                              <m:ctrlPr>
                                <a:rPr lang="en-US" sz="18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</m:ctrlPr>
                            </m:dPr>
                            <m:e>
                              <m:r>
                                <a:rPr lang="en-US" sz="18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𝑑𝑝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1800" b="0" i="1" smtClean="0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800" b="0" i="1" smtClean="0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𝑖</m:t>
                                  </m:r>
                                  <m:r>
                                    <a:rPr lang="en-US" sz="1800" b="0" i="1" smtClean="0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−1</m:t>
                                  </m:r>
                                </m:e>
                              </m:d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1800" b="0" i="1" smtClean="0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800" b="0" i="1" smtClean="0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𝑗</m:t>
                                  </m:r>
                                </m:e>
                              </m:d>
                              <m:r>
                                <a:rPr lang="en-US" sz="18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,</m:t>
                              </m:r>
                              <m:func>
                                <m:funcPr>
                                  <m:ctrlPr>
                                    <a:rPr lang="en-US" sz="1800" b="0" i="1" smtClean="0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1800" b="0" i="0" smtClean="0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max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sz="1800" b="0" i="1" smtClean="0">
                                          <a:latin typeface="Cambria Math" charset="0"/>
                                          <a:ea typeface="Cambria Math" charset="0"/>
                                          <a:cs typeface="Cambria Math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800" b="0" i="1" smtClean="0">
                                          <a:latin typeface="Cambria Math" charset="0"/>
                                          <a:ea typeface="Cambria Math" charset="0"/>
                                          <a:cs typeface="Cambria Math" charset="0"/>
                                        </a:rPr>
                                        <m:t>𝑑𝑝</m:t>
                                      </m:r>
                                      <m:d>
                                        <m:dPr>
                                          <m:begChr m:val="["/>
                                          <m:endChr m:val="]"/>
                                          <m:ctrlPr>
                                            <a:rPr lang="en-US" sz="1800" b="0" i="1" smtClean="0">
                                              <a:latin typeface="Cambria Math" charset="0"/>
                                              <a:ea typeface="Cambria Math" charset="0"/>
                                              <a:cs typeface="Cambria Math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1800" b="0" i="1" smtClean="0">
                                              <a:latin typeface="Cambria Math" charset="0"/>
                                              <a:ea typeface="Cambria Math" charset="0"/>
                                              <a:cs typeface="Cambria Math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sz="1800" b="0" i="1" smtClean="0">
                                              <a:latin typeface="Cambria Math" charset="0"/>
                                              <a:ea typeface="Cambria Math" charset="0"/>
                                              <a:cs typeface="Cambria Math" charset="0"/>
                                            </a:rPr>
                                            <m:t>−1</m:t>
                                          </m:r>
                                        </m:e>
                                      </m:d>
                                      <m:d>
                                        <m:dPr>
                                          <m:begChr m:val="["/>
                                          <m:endChr m:val="]"/>
                                          <m:ctrlPr>
                                            <a:rPr lang="en-US" sz="1800" b="0" i="1" smtClean="0">
                                              <a:latin typeface="Cambria Math" charset="0"/>
                                              <a:ea typeface="Cambria Math" charset="0"/>
                                              <a:cs typeface="Cambria Math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1800" b="0" i="1" smtClean="0">
                                              <a:latin typeface="Cambria Math" charset="0"/>
                                              <a:ea typeface="Cambria Math" charset="0"/>
                                              <a:cs typeface="Cambria Math" charset="0"/>
                                            </a:rPr>
                                            <m:t>𝑗</m:t>
                                          </m:r>
                                          <m:r>
                                            <a:rPr lang="en-US" sz="1800" b="0" i="1" smtClean="0">
                                              <a:latin typeface="Cambria Math" charset="0"/>
                                              <a:ea typeface="Cambria Math" charset="0"/>
                                              <a:cs typeface="Cambria Math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sz="1800" b="0" i="1" smtClean="0">
                                              <a:latin typeface="Cambria Math" charset="0"/>
                                              <a:ea typeface="Cambria Math" charset="0"/>
                                              <a:cs typeface="Cambria Math" charset="0"/>
                                            </a:rPr>
                                            <m:t>𝑘</m:t>
                                          </m:r>
                                          <m:r>
                                            <a:rPr lang="en-US" sz="1800" b="0" i="1" smtClean="0">
                                              <a:latin typeface="Cambria Math" charset="0"/>
                                              <a:ea typeface="Cambria Math" charset="0"/>
                                              <a:cs typeface="Cambria Math" charset="0"/>
                                            </a:rPr>
                                            <m:t>×</m:t>
                                          </m:r>
                                          <m:r>
                                            <a:rPr lang="en-US" sz="1800" b="0" i="1" smtClean="0">
                                              <a:latin typeface="Cambria Math" charset="0"/>
                                              <a:ea typeface="Cambria Math" charset="0"/>
                                              <a:cs typeface="Cambria Math" charset="0"/>
                                            </a:rPr>
                                            <m:t>𝑣</m:t>
                                          </m:r>
                                          <m:d>
                                            <m:dPr>
                                              <m:begChr m:val="["/>
                                              <m:endChr m:val="]"/>
                                              <m:ctrlPr>
                                                <a:rPr lang="en-US" sz="1800" b="0" i="1" smtClean="0">
                                                  <a:latin typeface="Cambria Math" charset="0"/>
                                                  <a:ea typeface="Cambria Math" charset="0"/>
                                                  <a:cs typeface="Cambria Math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sz="1800" b="0" i="1" smtClean="0">
                                                  <a:latin typeface="Cambria Math" charset="0"/>
                                                  <a:ea typeface="Cambria Math" charset="0"/>
                                                  <a:cs typeface="Cambria Math" charset="0"/>
                                                </a:rPr>
                                                <m:t>𝑖</m:t>
                                              </m:r>
                                            </m:e>
                                          </m:d>
                                        </m:e>
                                      </m:d>
                                      <m:r>
                                        <a:rPr lang="en-US" sz="1800" b="0" i="1" smtClean="0">
                                          <a:latin typeface="Cambria Math" charset="0"/>
                                          <a:ea typeface="Cambria Math" charset="0"/>
                                          <a:cs typeface="Cambria Math" charset="0"/>
                                        </a:rPr>
                                        <m:t>+</m:t>
                                      </m:r>
                                      <m:r>
                                        <a:rPr lang="en-US" sz="1800" b="0" i="1" smtClean="0">
                                          <a:latin typeface="Cambria Math" charset="0"/>
                                          <a:ea typeface="Cambria Math" charset="0"/>
                                          <a:cs typeface="Cambria Math" charset="0"/>
                                        </a:rPr>
                                        <m:t>𝑘</m:t>
                                      </m:r>
                                      <m:r>
                                        <a:rPr lang="en-US" sz="1800" b="0" i="1" smtClean="0">
                                          <a:latin typeface="Cambria Math" charset="0"/>
                                          <a:ea typeface="Cambria Math" charset="0"/>
                                          <a:cs typeface="Cambria Math" charset="0"/>
                                        </a:rPr>
                                        <m:t>×</m:t>
                                      </m:r>
                                      <m:r>
                                        <a:rPr lang="en-US" sz="1800" b="0" i="1" smtClean="0">
                                          <a:latin typeface="Cambria Math" charset="0"/>
                                          <a:ea typeface="Cambria Math" charset="0"/>
                                          <a:cs typeface="Cambria Math" charset="0"/>
                                        </a:rPr>
                                        <m:t>𝑤</m:t>
                                      </m:r>
                                      <m:d>
                                        <m:dPr>
                                          <m:begChr m:val="["/>
                                          <m:endChr m:val="]"/>
                                          <m:ctrlPr>
                                            <a:rPr lang="en-US" sz="1800" b="0" i="1" smtClean="0">
                                              <a:latin typeface="Cambria Math" charset="0"/>
                                              <a:ea typeface="Cambria Math" charset="0"/>
                                              <a:cs typeface="Cambria Math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1800" b="0" i="1" smtClean="0">
                                              <a:latin typeface="Cambria Math" charset="0"/>
                                              <a:ea typeface="Cambria Math" charset="0"/>
                                              <a:cs typeface="Cambria Math" charset="0"/>
                                            </a:rPr>
                                            <m:t>𝑖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</m:func>
                            </m:e>
                          </m:d>
                        </m:e>
                      </m:func>
                      <m:r>
                        <a:rPr lang="en-US" sz="18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,  1≤</m:t>
                      </m:r>
                      <m:r>
                        <a:rPr lang="en-US" sz="18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𝑘</m:t>
                      </m:r>
                      <m:r>
                        <a:rPr lang="en-US" sz="18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≤</m:t>
                      </m:r>
                      <m:d>
                        <m:dPr>
                          <m:begChr m:val="⌊"/>
                          <m:endChr m:val="⌋"/>
                          <m:ctrlPr>
                            <a:rPr lang="en-US" sz="18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8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</m:ctrlPr>
                            </m:fPr>
                            <m:num>
                              <m:r>
                                <a:rPr lang="en-US" sz="18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𝑗</m:t>
                              </m:r>
                            </m:num>
                            <m:den>
                              <m:r>
                                <a:rPr lang="en-US" sz="18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𝑣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1800" b="0" i="1" smtClean="0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800" b="0" i="1" smtClean="0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𝑖</m:t>
                                  </m:r>
                                </m:e>
                              </m:d>
                            </m:den>
                          </m:f>
                        </m:e>
                      </m:d>
                    </m:oMath>
                    <m:oMath xmlns:m="http://schemas.openxmlformats.org/officeDocument/2006/math">
                      <m:r>
                        <a:rPr lang="en-US" sz="18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1800" b="0" i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max</m:t>
                      </m:r>
                      <m:r>
                        <a:rPr lang="en-US" sz="18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⁡(</m:t>
                      </m:r>
                      <m:r>
                        <a:rPr lang="en-US" sz="18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𝑑𝑝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8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𝑖</m:t>
                          </m:r>
                          <m:r>
                            <a:rPr lang="en-US" sz="18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−1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18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𝑗</m:t>
                          </m:r>
                        </m:e>
                      </m:d>
                      <m:r>
                        <a:rPr lang="en-US" sz="18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,</m:t>
                      </m:r>
                      <m:func>
                        <m:funcPr>
                          <m:ctrlPr>
                            <a:rPr lang="en-US" sz="1800" b="0" i="1" smtClean="0">
                              <a:solidFill>
                                <a:srgbClr val="FF0000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800" b="0" i="0" smtClean="0">
                              <a:solidFill>
                                <a:srgbClr val="FF0000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max</m:t>
                          </m:r>
                        </m:fName>
                        <m:e>
                          <m:d>
                            <m:dPr>
                              <m:ctrlPr>
                                <a:rPr lang="en-US" sz="1800" b="0" i="1" smtClean="0">
                                  <a:solidFill>
                                    <a:srgbClr val="FF0000"/>
                                  </a:solidFill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</m:ctrlPr>
                            </m:dPr>
                            <m:e>
                              <m:r>
                                <a:rPr lang="en-US" sz="1800" b="0" i="1" smtClean="0">
                                  <a:solidFill>
                                    <a:srgbClr val="FF0000"/>
                                  </a:solidFill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𝑑𝑝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1800" b="0" i="1" smtClean="0">
                                      <a:solidFill>
                                        <a:srgbClr val="FF0000"/>
                                      </a:solidFill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800" b="0" i="1" smtClean="0">
                                      <a:solidFill>
                                        <a:srgbClr val="FF0000"/>
                                      </a:solidFill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𝑖</m:t>
                                  </m:r>
                                  <m:r>
                                    <a:rPr lang="en-US" sz="1800" b="0" i="1" smtClean="0">
                                      <a:solidFill>
                                        <a:srgbClr val="FF0000"/>
                                      </a:solidFill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−1</m:t>
                                  </m:r>
                                </m:e>
                              </m:d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1800" b="0" i="1" smtClean="0">
                                      <a:solidFill>
                                        <a:srgbClr val="FF0000"/>
                                      </a:solidFill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ctrlPr>
                                        <a:rPr lang="en-US" sz="18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charset="0"/>
                                          <a:ea typeface="Cambria Math" charset="0"/>
                                          <a:cs typeface="Cambria Math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8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charset="0"/>
                                          <a:ea typeface="Cambria Math" charset="0"/>
                                          <a:cs typeface="Cambria Math" charset="0"/>
                                        </a:rPr>
                                        <m:t>𝑗</m:t>
                                      </m:r>
                                      <m:r>
                                        <a:rPr lang="en-US" sz="18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charset="0"/>
                                          <a:ea typeface="Cambria Math" charset="0"/>
                                          <a:cs typeface="Cambria Math" charset="0"/>
                                        </a:rPr>
                                        <m:t>−</m:t>
                                      </m:r>
                                      <m:r>
                                        <a:rPr lang="en-US" sz="18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charset="0"/>
                                          <a:ea typeface="Cambria Math" charset="0"/>
                                          <a:cs typeface="Cambria Math" charset="0"/>
                                        </a:rPr>
                                        <m:t>𝑣</m:t>
                                      </m:r>
                                      <m:d>
                                        <m:dPr>
                                          <m:begChr m:val="["/>
                                          <m:endChr m:val="]"/>
                                          <m:ctrlPr>
                                            <a:rPr lang="en-US" sz="1800" b="0" i="1" smtClean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charset="0"/>
                                              <a:ea typeface="Cambria Math" charset="0"/>
                                              <a:cs typeface="Cambria Math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1800" b="0" i="1" smtClean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charset="0"/>
                                              <a:ea typeface="Cambria Math" charset="0"/>
                                              <a:cs typeface="Cambria Math" charset="0"/>
                                            </a:rPr>
                                            <m:t>𝑖</m:t>
                                          </m:r>
                                        </m:e>
                                      </m:d>
                                    </m:e>
                                  </m:d>
                                  <m:r>
                                    <a:rPr lang="en-US" sz="1800" b="0" i="1" smtClean="0">
                                      <a:solidFill>
                                        <a:srgbClr val="FF0000"/>
                                      </a:solidFill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−</m:t>
                                  </m:r>
                                  <m:d>
                                    <m:dPr>
                                      <m:ctrlPr>
                                        <a:rPr lang="en-US" sz="18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charset="0"/>
                                          <a:ea typeface="Cambria Math" charset="0"/>
                                          <a:cs typeface="Cambria Math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8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charset="0"/>
                                          <a:ea typeface="Cambria Math" charset="0"/>
                                          <a:cs typeface="Cambria Math" charset="0"/>
                                        </a:rPr>
                                        <m:t>𝑘</m:t>
                                      </m:r>
                                      <m:r>
                                        <a:rPr lang="en-US" sz="18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charset="0"/>
                                          <a:ea typeface="Cambria Math" charset="0"/>
                                          <a:cs typeface="Cambria Math" charset="0"/>
                                        </a:rPr>
                                        <m:t>−1</m:t>
                                      </m:r>
                                    </m:e>
                                  </m:d>
                                  <m:r>
                                    <a:rPr lang="en-US" sz="1800" b="0" i="1" smtClean="0">
                                      <a:solidFill>
                                        <a:srgbClr val="FF0000"/>
                                      </a:solidFill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×</m:t>
                                  </m:r>
                                  <m:r>
                                    <a:rPr lang="en-US" sz="1800" b="0" i="1" smtClean="0">
                                      <a:solidFill>
                                        <a:srgbClr val="FF0000"/>
                                      </a:solidFill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𝑣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sz="18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charset="0"/>
                                          <a:ea typeface="Cambria Math" charset="0"/>
                                          <a:cs typeface="Cambria Math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8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charset="0"/>
                                          <a:ea typeface="Cambria Math" charset="0"/>
                                          <a:cs typeface="Cambria Math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</m:e>
                              </m:d>
                              <m:r>
                                <a:rPr lang="en-US" sz="1800" b="0" i="1" smtClean="0">
                                  <a:solidFill>
                                    <a:srgbClr val="FF0000"/>
                                  </a:solidFill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+</m:t>
                              </m:r>
                              <m:d>
                                <m:dPr>
                                  <m:ctrlPr>
                                    <a:rPr lang="en-US" sz="1800" b="0" i="1" smtClean="0">
                                      <a:solidFill>
                                        <a:srgbClr val="FF0000"/>
                                      </a:solidFill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800" b="0" i="1" smtClean="0">
                                      <a:solidFill>
                                        <a:srgbClr val="FF0000"/>
                                      </a:solidFill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𝑘</m:t>
                                  </m:r>
                                  <m:r>
                                    <a:rPr lang="en-US" sz="1800" b="0" i="1" smtClean="0">
                                      <a:solidFill>
                                        <a:srgbClr val="FF0000"/>
                                      </a:solidFill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−1</m:t>
                                  </m:r>
                                </m:e>
                              </m:d>
                              <m:r>
                                <a:rPr lang="en-US" sz="1800" b="0" i="1" smtClean="0">
                                  <a:solidFill>
                                    <a:srgbClr val="FF0000"/>
                                  </a:solidFill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×</m:t>
                              </m:r>
                              <m:r>
                                <a:rPr lang="en-US" sz="1800" b="0" i="1" smtClean="0">
                                  <a:solidFill>
                                    <a:srgbClr val="FF0000"/>
                                  </a:solidFill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𝑤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1800" b="0" i="1" smtClean="0">
                                      <a:solidFill>
                                        <a:srgbClr val="FF0000"/>
                                      </a:solidFill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800" b="0" i="1" smtClean="0">
                                      <a:solidFill>
                                        <a:srgbClr val="FF0000"/>
                                      </a:solidFill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𝑖</m:t>
                                  </m:r>
                                </m:e>
                              </m:d>
                            </m:e>
                          </m:d>
                        </m:e>
                      </m:func>
                      <m:r>
                        <a:rPr lang="en-US" sz="18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,    </m:t>
                      </m:r>
                      <m:r>
                        <a:rPr lang="en-US" sz="1800" b="0" i="1" smtClean="0">
                          <a:solidFill>
                            <a:srgbClr val="FF0000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0≤(</m:t>
                      </m:r>
                      <m:r>
                        <a:rPr lang="en-US" sz="1800" b="0" i="1" smtClean="0">
                          <a:solidFill>
                            <a:srgbClr val="FF0000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𝑘</m:t>
                      </m:r>
                      <m:r>
                        <a:rPr lang="en-US" sz="1800" b="0" i="1" smtClean="0">
                          <a:solidFill>
                            <a:srgbClr val="FF0000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−1)≤</m:t>
                      </m:r>
                      <m:d>
                        <m:dPr>
                          <m:begChr m:val="⌊"/>
                          <m:endChr m:val="⌋"/>
                          <m:ctrlPr>
                            <a:rPr lang="en-US" sz="1800" b="0" i="1" smtClean="0">
                              <a:solidFill>
                                <a:srgbClr val="FF0000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800" b="0" i="1" smtClean="0">
                                  <a:solidFill>
                                    <a:srgbClr val="FF0000"/>
                                  </a:solidFill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</m:ctrlPr>
                            </m:fPr>
                            <m:num>
                              <m:r>
                                <a:rPr lang="en-US" sz="1800" b="0" i="1" smtClean="0">
                                  <a:solidFill>
                                    <a:srgbClr val="FF0000"/>
                                  </a:solidFill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𝑗</m:t>
                              </m:r>
                            </m:num>
                            <m:den>
                              <m:r>
                                <a:rPr lang="en-US" sz="1800" b="0" i="1" smtClean="0">
                                  <a:solidFill>
                                    <a:srgbClr val="FF0000"/>
                                  </a:solidFill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𝑣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1800" b="0" i="1" smtClean="0">
                                      <a:solidFill>
                                        <a:srgbClr val="FF0000"/>
                                      </a:solidFill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800" b="0" i="1" smtClean="0">
                                      <a:solidFill>
                                        <a:srgbClr val="FF0000"/>
                                      </a:solidFill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𝑖</m:t>
                                  </m:r>
                                </m:e>
                              </m:d>
                            </m:den>
                          </m:f>
                        </m:e>
                      </m:d>
                      <m:r>
                        <a:rPr lang="en-US" sz="1800" b="0" i="1" smtClean="0">
                          <a:solidFill>
                            <a:srgbClr val="FF0000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−1</m:t>
                      </m:r>
                    </m:oMath>
                    <m:oMath xmlns:m="http://schemas.openxmlformats.org/officeDocument/2006/math">
                      <m:r>
                        <a:rPr lang="en-US" sz="18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1800" b="0" i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max</m:t>
                      </m:r>
                      <m:r>
                        <a:rPr lang="en-US" sz="18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⁡(</m:t>
                      </m:r>
                      <m:r>
                        <a:rPr lang="en-US" sz="18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𝑑𝑝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8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𝑖</m:t>
                          </m:r>
                          <m:r>
                            <a:rPr lang="en-US" sz="18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−1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18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𝑗</m:t>
                          </m:r>
                        </m:e>
                      </m:d>
                      <m:r>
                        <a:rPr lang="en-US" sz="18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,</m:t>
                      </m:r>
                      <m:r>
                        <a:rPr lang="en-US" sz="1800" b="0" i="1" smtClean="0">
                          <a:solidFill>
                            <a:srgbClr val="FF0000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𝑑𝑝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800" b="0" i="1" smtClean="0">
                              <a:solidFill>
                                <a:srgbClr val="FF0000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solidFill>
                                <a:srgbClr val="FF0000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𝑖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1800" b="0" i="1" smtClean="0">
                              <a:solidFill>
                                <a:srgbClr val="FF0000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solidFill>
                                <a:srgbClr val="FF0000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𝑗</m:t>
                          </m:r>
                          <m:r>
                            <a:rPr lang="en-US" sz="1800" b="0" i="1" smtClean="0">
                              <a:solidFill>
                                <a:srgbClr val="FF0000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−</m:t>
                          </m:r>
                          <m:r>
                            <a:rPr lang="en-US" sz="1800" b="0" i="1" smtClean="0">
                              <a:solidFill>
                                <a:srgbClr val="FF0000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𝑣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1800" b="0" i="1" smtClean="0">
                                  <a:solidFill>
                                    <a:srgbClr val="FF0000"/>
                                  </a:solidFill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</m:ctrlPr>
                            </m:dPr>
                            <m:e>
                              <m:r>
                                <a:rPr lang="en-US" sz="1800" b="0" i="1" smtClean="0">
                                  <a:solidFill>
                                    <a:srgbClr val="FF0000"/>
                                  </a:solidFill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𝑖</m:t>
                              </m:r>
                            </m:e>
                          </m:d>
                        </m:e>
                      </m:d>
                      <m:r>
                        <a:rPr lang="en-US" sz="18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+</m:t>
                      </m:r>
                      <m:r>
                        <a:rPr lang="en-US" sz="18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𝑤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8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𝑖</m:t>
                          </m:r>
                        </m:e>
                      </m:d>
                      <m:r>
                        <a:rPr lang="en-US" sz="18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)</m:t>
                      </m:r>
                    </m:oMath>
                  </m:oMathPara>
                </a14:m>
                <a:endParaRPr lang="en-US" sz="1800" b="0" dirty="0" smtClean="0">
                  <a:ea typeface="Cambria Math" charset="0"/>
                  <a:cs typeface="Cambria Math" charset="0"/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237" y="4064000"/>
                <a:ext cx="10886570" cy="1981953"/>
              </a:xfrm>
              <a:prstGeom prst="rect">
                <a:avLst/>
              </a:prstGeom>
              <a:blipFill rotWithShape="0">
                <a:blip r:embed="rId4"/>
                <a:stretch>
                  <a:fillRect b="-23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62570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18708" y="829339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/>
              <a:t>完全背包问题</a:t>
            </a:r>
            <a:endParaRPr lang="en-US" sz="28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818704" y="2329173"/>
            <a:ext cx="106325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新的递推式如上，和</a:t>
            </a:r>
            <a:r>
              <a:rPr lang="en-US" altLang="zh-CN" dirty="0" smtClean="0"/>
              <a:t>0-1</a:t>
            </a:r>
            <a:r>
              <a:rPr lang="zh-CN" altLang="en-US" dirty="0" smtClean="0"/>
              <a:t>背包的差别只是红色部分的区别，代码如下：</a:t>
            </a:r>
            <a:endParaRPr lang="en-US" altLang="zh-CN" dirty="0" smtClean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3508461" y="1684541"/>
                <a:ext cx="5253041" cy="3126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dirty="0" smtClean="0">
                          <a:latin typeface="Cambria Math" charset="0"/>
                        </a:rPr>
                        <m:t>𝑑𝑝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800" b="0" i="1" dirty="0" smtClean="0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sz="1800" b="0" i="1" dirty="0" err="1" smtClean="0">
                              <a:latin typeface="Cambria Math" charset="0"/>
                            </a:rPr>
                            <m:t>𝑖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1800" b="0" i="1" dirty="0" smtClean="0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sz="1800" b="0" i="1" dirty="0" smtClean="0">
                              <a:latin typeface="Cambria Math" charset="0"/>
                            </a:rPr>
                            <m:t>𝑗</m:t>
                          </m:r>
                        </m:e>
                      </m:d>
                      <m:r>
                        <a:rPr lang="en-US" sz="18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1800" b="0" i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max</m:t>
                      </m:r>
                      <m:r>
                        <a:rPr lang="en-US" sz="18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⁡(</m:t>
                      </m:r>
                      <m:r>
                        <a:rPr lang="en-US" sz="18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𝑑𝑝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8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𝑖</m:t>
                          </m:r>
                          <m:r>
                            <a:rPr lang="en-US" sz="18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−1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18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𝑗</m:t>
                          </m:r>
                        </m:e>
                      </m:d>
                      <m:r>
                        <a:rPr lang="en-US" sz="18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,</m:t>
                      </m:r>
                      <m:r>
                        <a:rPr lang="en-US" sz="1800" b="0" i="1" smtClean="0">
                          <a:solidFill>
                            <a:srgbClr val="FF0000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𝑑𝑝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800" b="0" i="1" smtClean="0">
                              <a:solidFill>
                                <a:srgbClr val="FF0000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solidFill>
                                <a:srgbClr val="FF0000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𝑖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1800" b="0" i="1" smtClean="0">
                              <a:solidFill>
                                <a:srgbClr val="FF0000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solidFill>
                                <a:srgbClr val="FF0000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𝑗</m:t>
                          </m:r>
                          <m:r>
                            <a:rPr lang="en-US" sz="1800" b="0" i="1" smtClean="0">
                              <a:solidFill>
                                <a:srgbClr val="FF0000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−</m:t>
                          </m:r>
                          <m:r>
                            <a:rPr lang="en-US" sz="1800" b="0" i="1" smtClean="0">
                              <a:solidFill>
                                <a:srgbClr val="FF0000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𝑣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1800" b="0" i="1" smtClean="0">
                                  <a:solidFill>
                                    <a:srgbClr val="FF0000"/>
                                  </a:solidFill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</m:ctrlPr>
                            </m:dPr>
                            <m:e>
                              <m:r>
                                <a:rPr lang="en-US" sz="1800" b="0" i="1" smtClean="0">
                                  <a:solidFill>
                                    <a:srgbClr val="FF0000"/>
                                  </a:solidFill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𝑖</m:t>
                              </m:r>
                            </m:e>
                          </m:d>
                        </m:e>
                      </m:d>
                      <m:r>
                        <a:rPr lang="en-US" sz="18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+</m:t>
                      </m:r>
                      <m:r>
                        <a:rPr lang="en-US" sz="18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𝑤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8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𝑖</m:t>
                          </m:r>
                        </m:e>
                      </m:d>
                      <m:r>
                        <a:rPr lang="en-US" sz="18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)</m:t>
                      </m:r>
                    </m:oMath>
                  </m:oMathPara>
                </a14:m>
                <a:endParaRPr lang="en-US" sz="1800" b="0" dirty="0" smtClean="0">
                  <a:ea typeface="Cambria Math" charset="0"/>
                  <a:cs typeface="Cambria Math" charset="0"/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8461" y="1684541"/>
                <a:ext cx="5253041" cy="312650"/>
              </a:xfrm>
              <a:prstGeom prst="rect">
                <a:avLst/>
              </a:prstGeom>
              <a:blipFill rotWithShape="0">
                <a:blip r:embed="rId3"/>
                <a:stretch>
                  <a:fillRect t="-119231" b="-1519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704" y="2790838"/>
            <a:ext cx="8892563" cy="3169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82484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18708" y="829339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/>
              <a:t>完全背包问题</a:t>
            </a:r>
            <a:endParaRPr lang="en-US" sz="28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818708" y="1352559"/>
            <a:ext cx="1063255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写出最终的程序我们可以发现，我们同样可以使用滚动数组进行优化，而这次的顺序是从左往右进行递推的，我们用另一个样例数据进行说明。</a:t>
            </a:r>
            <a:endParaRPr lang="en-US" altLang="zh-CN" dirty="0" smtClean="0"/>
          </a:p>
          <a:p>
            <a:r>
              <a:rPr lang="en-US" altLang="zh-CN" dirty="0" smtClean="0"/>
              <a:t>N</a:t>
            </a:r>
            <a:r>
              <a:rPr lang="zh-CN" altLang="en-US" dirty="0" smtClean="0"/>
              <a:t> </a:t>
            </a:r>
            <a:r>
              <a:rPr lang="en-US" altLang="zh-CN" dirty="0" smtClean="0"/>
              <a:t>=</a:t>
            </a:r>
            <a:r>
              <a:rPr lang="zh-CN" altLang="en-US" dirty="0" smtClean="0"/>
              <a:t> </a:t>
            </a:r>
            <a:r>
              <a:rPr lang="en-US" altLang="zh-CN" dirty="0" smtClean="0"/>
              <a:t>4</a:t>
            </a:r>
            <a:r>
              <a:rPr lang="zh-CN" altLang="en-US" dirty="0" smtClean="0"/>
              <a:t>，</a:t>
            </a:r>
            <a:r>
              <a:rPr lang="en-US" altLang="zh-CN" dirty="0" smtClean="0"/>
              <a:t>C</a:t>
            </a:r>
            <a:r>
              <a:rPr lang="zh-CN" altLang="en-US" dirty="0" smtClean="0"/>
              <a:t> </a:t>
            </a:r>
            <a:r>
              <a:rPr lang="en-US" altLang="zh-CN" dirty="0" smtClean="0"/>
              <a:t>=</a:t>
            </a:r>
            <a:r>
              <a:rPr lang="zh-CN" altLang="en-US" dirty="0" smtClean="0"/>
              <a:t> </a:t>
            </a:r>
            <a:r>
              <a:rPr lang="en-US" altLang="zh-CN" dirty="0" smtClean="0"/>
              <a:t>10</a:t>
            </a:r>
            <a:r>
              <a:rPr lang="zh-CN" altLang="en-US" dirty="0" smtClean="0"/>
              <a:t>，</a:t>
            </a:r>
            <a:r>
              <a:rPr lang="en-US" altLang="zh-CN" dirty="0" smtClean="0"/>
              <a:t>V = {2, 3, 4, 7}</a:t>
            </a:r>
            <a:r>
              <a:rPr lang="zh-CN" altLang="en-US" dirty="0" smtClean="0"/>
              <a:t>，</a:t>
            </a:r>
            <a:r>
              <a:rPr lang="en-US" altLang="zh-CN" dirty="0" smtClean="0"/>
              <a:t>W = {1, 3, 7, 8}</a:t>
            </a:r>
          </a:p>
          <a:p>
            <a:r>
              <a:rPr lang="zh-CN" altLang="en-US" dirty="0" smtClean="0"/>
              <a:t>完全背包的</a:t>
            </a:r>
            <a:r>
              <a:rPr lang="en-US" altLang="zh-CN" dirty="0" err="1" smtClean="0"/>
              <a:t>dp</a:t>
            </a:r>
            <a:r>
              <a:rPr lang="zh-CN" altLang="en-US" dirty="0" smtClean="0"/>
              <a:t>数组变化如下：</a:t>
            </a:r>
            <a:endParaRPr lang="en-US" altLang="zh-CN" dirty="0" smtClean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76491"/>
              </p:ext>
            </p:extLst>
          </p:nvPr>
        </p:nvGraphicFramePr>
        <p:xfrm>
          <a:off x="2070988" y="2957305"/>
          <a:ext cx="8127996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7333"/>
                <a:gridCol w="677333"/>
                <a:gridCol w="677333"/>
                <a:gridCol w="677333"/>
                <a:gridCol w="677333"/>
                <a:gridCol w="677333"/>
                <a:gridCol w="677333"/>
                <a:gridCol w="677333"/>
                <a:gridCol w="677333"/>
                <a:gridCol w="677333"/>
                <a:gridCol w="677333"/>
                <a:gridCol w="677333"/>
              </a:tblGrid>
              <a:tr h="370840">
                <a:tc>
                  <a:txBody>
                    <a:bodyPr/>
                    <a:lstStyle/>
                    <a:p>
                      <a:pPr algn="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10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0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5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9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14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14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15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14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14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15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04361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18708" y="829339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/>
              <a:t>完全背包问题</a:t>
            </a:r>
            <a:endParaRPr lang="en-US" sz="28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818708" y="1352559"/>
            <a:ext cx="106325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这次我们需要先计算出第</a:t>
            </a:r>
            <a:r>
              <a:rPr lang="en-US" altLang="zh-CN" dirty="0" err="1" smtClean="0"/>
              <a:t>i</a:t>
            </a:r>
            <a:r>
              <a:rPr lang="zh-CN" altLang="en-US" dirty="0" smtClean="0"/>
              <a:t>行的</a:t>
            </a:r>
            <a:r>
              <a:rPr lang="en-US" altLang="zh-CN" dirty="0" smtClean="0"/>
              <a:t>j-v[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]</a:t>
            </a:r>
            <a:r>
              <a:rPr lang="zh-CN" altLang="en-US" dirty="0" smtClean="0"/>
              <a:t>项，并且保留第</a:t>
            </a:r>
            <a:r>
              <a:rPr lang="en-US" altLang="zh-CN" dirty="0" smtClean="0"/>
              <a:t>i-1</a:t>
            </a:r>
            <a:r>
              <a:rPr lang="zh-CN" altLang="en-US" dirty="0" smtClean="0"/>
              <a:t>行的</a:t>
            </a:r>
            <a:r>
              <a:rPr lang="en-US" altLang="zh-CN" dirty="0" smtClean="0"/>
              <a:t>j</a:t>
            </a:r>
            <a:r>
              <a:rPr lang="zh-CN" altLang="en-US" dirty="0" smtClean="0"/>
              <a:t>列右侧的数据，故从左往右的计算方式是正确的，一维数组保存的是当前绿色箭头的数据。</a:t>
            </a:r>
            <a:endParaRPr lang="en-US" altLang="zh-CN" dirty="0" smtClean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4034029"/>
              </p:ext>
            </p:extLst>
          </p:nvPr>
        </p:nvGraphicFramePr>
        <p:xfrm>
          <a:off x="2070988" y="2183556"/>
          <a:ext cx="8127996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7333"/>
                <a:gridCol w="677333"/>
                <a:gridCol w="677333"/>
                <a:gridCol w="677333"/>
                <a:gridCol w="677333"/>
                <a:gridCol w="677333"/>
                <a:gridCol w="677333"/>
                <a:gridCol w="677333"/>
                <a:gridCol w="677333"/>
                <a:gridCol w="677333"/>
                <a:gridCol w="677333"/>
                <a:gridCol w="677333"/>
              </a:tblGrid>
              <a:tr h="370840">
                <a:tc>
                  <a:txBody>
                    <a:bodyPr/>
                    <a:lstStyle/>
                    <a:p>
                      <a:pPr algn="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10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0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5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9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14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14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15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14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14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15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3" name="Straight Arrow Connector 2"/>
          <p:cNvCxnSpPr/>
          <p:nvPr/>
        </p:nvCxnSpPr>
        <p:spPr>
          <a:xfrm>
            <a:off x="2070988" y="2726267"/>
            <a:ext cx="8127996" cy="0"/>
          </a:xfrm>
          <a:prstGeom prst="straightConnector1">
            <a:avLst/>
          </a:prstGeom>
          <a:ln w="60325">
            <a:solidFill>
              <a:schemeClr val="accent1">
                <a:alpha val="67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2070988" y="3102954"/>
            <a:ext cx="4726627" cy="11182"/>
          </a:xfrm>
          <a:prstGeom prst="straightConnector1">
            <a:avLst/>
          </a:prstGeom>
          <a:ln w="60325">
            <a:solidFill>
              <a:schemeClr val="accent1">
                <a:alpha val="67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2070988" y="3473889"/>
            <a:ext cx="4726627" cy="19809"/>
          </a:xfrm>
          <a:prstGeom prst="straightConnector1">
            <a:avLst/>
          </a:prstGeom>
          <a:ln w="60325">
            <a:solidFill>
              <a:srgbClr val="92D050">
                <a:alpha val="67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6797615" y="3114136"/>
            <a:ext cx="3401369" cy="0"/>
          </a:xfrm>
          <a:prstGeom prst="straightConnector1">
            <a:avLst/>
          </a:prstGeom>
          <a:ln w="60325">
            <a:solidFill>
              <a:srgbClr val="92D050">
                <a:alpha val="67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18708" y="4640327"/>
            <a:ext cx="106325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根据递推式，</a:t>
            </a:r>
            <a:r>
              <a:rPr lang="en-US" altLang="zh-CN" dirty="0" err="1" smtClean="0"/>
              <a:t>dp</a:t>
            </a:r>
            <a:r>
              <a:rPr lang="en-US" altLang="zh-CN" dirty="0" smtClean="0"/>
              <a:t>[2][6]</a:t>
            </a:r>
            <a:r>
              <a:rPr lang="zh-CN" altLang="en-US" dirty="0" smtClean="0"/>
              <a:t> </a:t>
            </a:r>
            <a:r>
              <a:rPr lang="en-US" altLang="zh-CN" dirty="0" smtClean="0"/>
              <a:t>=</a:t>
            </a:r>
            <a:r>
              <a:rPr lang="zh-CN" altLang="en-US" dirty="0" smtClean="0"/>
              <a:t> </a:t>
            </a:r>
            <a:r>
              <a:rPr lang="en-US" altLang="zh-CN" dirty="0" smtClean="0"/>
              <a:t>max(</a:t>
            </a:r>
            <a:r>
              <a:rPr lang="en-US" altLang="zh-CN" dirty="0" err="1" smtClean="0"/>
              <a:t>dp</a:t>
            </a:r>
            <a:r>
              <a:rPr lang="en-US" altLang="zh-CN" dirty="0" smtClean="0"/>
              <a:t>[1][6], </a:t>
            </a:r>
            <a:r>
              <a:rPr lang="en-US" altLang="zh-CN" dirty="0" err="1" smtClean="0"/>
              <a:t>dp</a:t>
            </a:r>
            <a:r>
              <a:rPr lang="en-US" altLang="zh-CN" dirty="0" smtClean="0"/>
              <a:t>[2][6-v[2]] + w[2])</a:t>
            </a:r>
            <a:r>
              <a:rPr lang="zh-CN" altLang="en-US" dirty="0" smtClean="0"/>
              <a:t>，这里</a:t>
            </a:r>
            <a:r>
              <a:rPr lang="en-US" altLang="zh-CN" dirty="0" err="1" smtClean="0"/>
              <a:t>dp</a:t>
            </a:r>
            <a:r>
              <a:rPr lang="en-US" altLang="zh-CN" dirty="0" smtClean="0"/>
              <a:t>[2][3]</a:t>
            </a:r>
            <a:r>
              <a:rPr lang="zh-CN" altLang="en-US" dirty="0" smtClean="0"/>
              <a:t>在上次已经算出最优值了，当前的</a:t>
            </a:r>
            <a:r>
              <a:rPr lang="en-US" altLang="zh-CN" dirty="0" err="1" smtClean="0"/>
              <a:t>dp</a:t>
            </a:r>
            <a:r>
              <a:rPr lang="en-US" altLang="zh-CN" dirty="0" smtClean="0"/>
              <a:t>[2][6]</a:t>
            </a:r>
            <a:r>
              <a:rPr lang="zh-CN" altLang="en-US" dirty="0" smtClean="0"/>
              <a:t>也一定就是最优值。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1286087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18708" y="829339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/>
              <a:t>完全背包问题</a:t>
            </a:r>
            <a:endParaRPr lang="en-US" sz="28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818708" y="1352559"/>
            <a:ext cx="106325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完全背包问题的一维数组优化代码如下</a:t>
            </a:r>
            <a:r>
              <a:rPr lang="zh-CN" altLang="en-US" dirty="0"/>
              <a:t>：</a:t>
            </a:r>
            <a:endParaRPr lang="en-US" altLang="zh-CN" dirty="0" smtClean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708" y="1814224"/>
            <a:ext cx="9309100" cy="251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05749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18708" y="829339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/>
              <a:t>多重背包问题</a:t>
            </a:r>
            <a:endParaRPr lang="en-US" sz="28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818708" y="1352559"/>
            <a:ext cx="10632557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多重背包和前两个背包问题的区别在于，</a:t>
            </a:r>
            <a:r>
              <a:rPr lang="zh-CN" altLang="en-US" dirty="0" smtClean="0">
                <a:solidFill>
                  <a:srgbClr val="FF0000"/>
                </a:solidFill>
              </a:rPr>
              <a:t>每个物品是有个数上限的，不能无限取</a:t>
            </a:r>
            <a:r>
              <a:rPr lang="zh-CN" altLang="en-US" dirty="0" smtClean="0"/>
              <a:t>。对于这样的问题，我们可以</a:t>
            </a:r>
            <a:r>
              <a:rPr lang="zh-CN" altLang="en-US" dirty="0" smtClean="0">
                <a:solidFill>
                  <a:srgbClr val="FF0000"/>
                </a:solidFill>
              </a:rPr>
              <a:t>转化为</a:t>
            </a:r>
            <a:r>
              <a:rPr lang="en-US" altLang="zh-CN" dirty="0" smtClean="0">
                <a:solidFill>
                  <a:srgbClr val="FF0000"/>
                </a:solidFill>
              </a:rPr>
              <a:t>0-1</a:t>
            </a:r>
            <a:r>
              <a:rPr lang="zh-CN" altLang="en-US" dirty="0" smtClean="0">
                <a:solidFill>
                  <a:srgbClr val="FF0000"/>
                </a:solidFill>
              </a:rPr>
              <a:t>背包</a:t>
            </a:r>
            <a:r>
              <a:rPr lang="zh-CN" altLang="en-US" dirty="0" smtClean="0"/>
              <a:t>进行处理，把每个物品都拆分成多个上限为</a:t>
            </a:r>
            <a:r>
              <a:rPr lang="en-US" altLang="zh-CN" dirty="0" smtClean="0"/>
              <a:t>1</a:t>
            </a:r>
            <a:r>
              <a:rPr lang="zh-CN" altLang="en-US" dirty="0" smtClean="0"/>
              <a:t>的物品，这是就可以当作</a:t>
            </a:r>
            <a:r>
              <a:rPr lang="en-US" altLang="zh-CN" dirty="0" smtClean="0"/>
              <a:t>0-1</a:t>
            </a:r>
            <a:r>
              <a:rPr lang="zh-CN" altLang="en-US" dirty="0" smtClean="0"/>
              <a:t>背包处理了。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但是这样的复杂度是否过高了呢？如果物品的个数上限也很大，就无法计算了。这里我们引入二进制的思想，进行</a:t>
            </a:r>
            <a:r>
              <a:rPr lang="zh-CN" altLang="en-US" dirty="0" smtClean="0">
                <a:solidFill>
                  <a:srgbClr val="FF0000"/>
                </a:solidFill>
              </a:rPr>
              <a:t>二进制拆分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例如：第一种物品有</a:t>
            </a:r>
            <a:r>
              <a:rPr lang="en-US" altLang="zh-CN" dirty="0" smtClean="0"/>
              <a:t>13</a:t>
            </a:r>
            <a:r>
              <a:rPr lang="zh-CN" altLang="en-US" dirty="0" smtClean="0"/>
              <a:t>件，我们拆分成</a:t>
            </a:r>
            <a:r>
              <a:rPr lang="en-US" altLang="zh-CN" dirty="0" smtClean="0"/>
              <a:t>13 = </a:t>
            </a:r>
            <a:r>
              <a:rPr lang="en-US" altLang="zh-CN" smtClean="0"/>
              <a:t>1 + </a:t>
            </a:r>
            <a:r>
              <a:rPr lang="en-US" altLang="zh-CN" dirty="0" smtClean="0"/>
              <a:t>4 </a:t>
            </a:r>
            <a:r>
              <a:rPr lang="en-US" altLang="zh-CN" smtClean="0"/>
              <a:t>+ 8</a:t>
            </a:r>
            <a:r>
              <a:rPr lang="zh-CN" altLang="en-US" smtClean="0"/>
              <a:t>。</a:t>
            </a:r>
            <a:r>
              <a:rPr lang="zh-CN" altLang="en-US" dirty="0" smtClean="0"/>
              <a:t>前面分别是</a:t>
            </a:r>
            <a:r>
              <a:rPr lang="en-US" altLang="zh-CN" dirty="0" smtClean="0"/>
              <a:t>2</a:t>
            </a:r>
            <a:r>
              <a:rPr lang="zh-CN" altLang="en-US" dirty="0" smtClean="0"/>
              <a:t>的</a:t>
            </a:r>
            <a:r>
              <a:rPr lang="en-US" altLang="zh-CN" dirty="0" smtClean="0"/>
              <a:t>0</a:t>
            </a:r>
            <a:r>
              <a:rPr lang="zh-CN" altLang="en-US" dirty="0" smtClean="0"/>
              <a:t>，</a:t>
            </a:r>
            <a:r>
              <a:rPr lang="en-US" altLang="zh-CN" dirty="0" smtClean="0"/>
              <a:t>1</a:t>
            </a:r>
            <a:r>
              <a:rPr lang="zh-CN" altLang="en-US" dirty="0" smtClean="0"/>
              <a:t>，</a:t>
            </a:r>
            <a:r>
              <a:rPr lang="en-US" altLang="zh-CN" dirty="0" smtClean="0"/>
              <a:t>2</a:t>
            </a:r>
            <a:r>
              <a:rPr lang="zh-CN" altLang="en-US" dirty="0" smtClean="0"/>
              <a:t>次方。这样的话这</a:t>
            </a:r>
            <a:r>
              <a:rPr lang="en-US" altLang="zh-CN" dirty="0" smtClean="0"/>
              <a:t>4</a:t>
            </a:r>
            <a:r>
              <a:rPr lang="zh-CN" altLang="en-US" dirty="0" smtClean="0"/>
              <a:t>件产品可以组合出来所有</a:t>
            </a:r>
            <a:r>
              <a:rPr lang="en-US" altLang="zh-CN" dirty="0" smtClean="0"/>
              <a:t>13</a:t>
            </a:r>
            <a:r>
              <a:rPr lang="zh-CN" altLang="en-US" dirty="0" smtClean="0"/>
              <a:t>件物品一的选择情况，当然了我们需要把对应的价值计算出来。代码如下：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112676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18708" y="829339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/>
              <a:t>多重背包问题</a:t>
            </a:r>
            <a:endParaRPr lang="en-US" sz="2800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708" y="1352559"/>
            <a:ext cx="10058400" cy="2968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9943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18708" y="829339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/>
              <a:t>作业</a:t>
            </a:r>
            <a:endParaRPr lang="zh-CN" altLang="en-US" sz="2800" b="1" dirty="0"/>
          </a:p>
        </p:txBody>
      </p:sp>
      <p:sp>
        <p:nvSpPr>
          <p:cNvPr id="7" name="文本框 6"/>
          <p:cNvSpPr txBox="1"/>
          <p:nvPr/>
        </p:nvSpPr>
        <p:spPr>
          <a:xfrm>
            <a:off x="1058238" y="1541124"/>
            <a:ext cx="9852917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P1048 </a:t>
            </a:r>
            <a:r>
              <a:rPr lang="zh-CN" altLang="en-US" b="1" dirty="0"/>
              <a:t>采药</a:t>
            </a:r>
          </a:p>
          <a:p>
            <a:r>
              <a:rPr kumimoji="1" lang="en-US" altLang="zh-CN" dirty="0">
                <a:hlinkClick r:id="rId3"/>
              </a:rPr>
              <a:t>https://</a:t>
            </a:r>
            <a:r>
              <a:rPr kumimoji="1" lang="en-US" altLang="zh-CN" dirty="0" smtClean="0">
                <a:hlinkClick r:id="rId3"/>
              </a:rPr>
              <a:t>www.luogu.org/problemnew/show/P1048</a:t>
            </a:r>
            <a:endParaRPr kumimoji="1" lang="en-US" altLang="zh-CN" dirty="0" smtClean="0"/>
          </a:p>
          <a:p>
            <a:endParaRPr kumimoji="1" lang="en-US" altLang="zh-CN" dirty="0"/>
          </a:p>
          <a:p>
            <a:r>
              <a:rPr lang="en-US" altLang="zh-CN" b="1" dirty="0"/>
              <a:t>P1616 </a:t>
            </a:r>
            <a:r>
              <a:rPr lang="zh-CN" altLang="en-US" b="1" dirty="0"/>
              <a:t>疯狂的采药</a:t>
            </a:r>
          </a:p>
          <a:p>
            <a:r>
              <a:rPr kumimoji="1" lang="en-US" altLang="zh-CN" dirty="0">
                <a:hlinkClick r:id="rId4"/>
              </a:rPr>
              <a:t>https://</a:t>
            </a:r>
            <a:r>
              <a:rPr kumimoji="1" lang="en-US" altLang="zh-CN" dirty="0" smtClean="0">
                <a:hlinkClick r:id="rId4"/>
              </a:rPr>
              <a:t>www.luogu.org/problemnew/show/P1616</a:t>
            </a:r>
            <a:endParaRPr kumimoji="1" lang="en-US" altLang="zh-CN" dirty="0" smtClean="0"/>
          </a:p>
          <a:p>
            <a:endParaRPr kumimoji="1" lang="en-US" altLang="zh-CN" dirty="0"/>
          </a:p>
          <a:p>
            <a:r>
              <a:rPr lang="is-IS" altLang="zh-CN" b="1" dirty="0"/>
              <a:t>1164 </a:t>
            </a:r>
            <a:r>
              <a:rPr lang="zh-CN" altLang="is-IS" b="1" dirty="0"/>
              <a:t>小</a:t>
            </a:r>
            <a:r>
              <a:rPr lang="is-IS" altLang="zh-CN" b="1" dirty="0"/>
              <a:t>A</a:t>
            </a:r>
            <a:r>
              <a:rPr lang="zh-CN" altLang="is-IS" b="1" dirty="0"/>
              <a:t>点菜</a:t>
            </a:r>
          </a:p>
          <a:p>
            <a:r>
              <a:rPr kumimoji="1" lang="en-US" altLang="zh-CN" dirty="0">
                <a:hlinkClick r:id="rId5"/>
              </a:rPr>
              <a:t>https://</a:t>
            </a:r>
            <a:r>
              <a:rPr kumimoji="1" lang="en-US" altLang="zh-CN" dirty="0" smtClean="0">
                <a:hlinkClick r:id="rId5"/>
              </a:rPr>
              <a:t>www.luogu.org/problemnew/show/P1164</a:t>
            </a:r>
            <a:endParaRPr kumimoji="1" lang="en-US" altLang="zh-CN" dirty="0" smtClean="0"/>
          </a:p>
          <a:p>
            <a:endParaRPr kumimoji="1" lang="en-US" altLang="zh-CN" dirty="0"/>
          </a:p>
          <a:p>
            <a:r>
              <a:rPr lang="en-US" altLang="zh-CN" b="1" dirty="0"/>
              <a:t>P1064 </a:t>
            </a:r>
            <a:r>
              <a:rPr lang="zh-CN" altLang="en-US" b="1" dirty="0"/>
              <a:t>金明的预算方案</a:t>
            </a:r>
          </a:p>
          <a:p>
            <a:r>
              <a:rPr kumimoji="1" lang="en-US" altLang="zh-CN" dirty="0">
                <a:hlinkClick r:id="rId6"/>
              </a:rPr>
              <a:t>https://</a:t>
            </a:r>
            <a:r>
              <a:rPr kumimoji="1" lang="en-US" altLang="zh-CN" dirty="0" smtClean="0">
                <a:hlinkClick r:id="rId6"/>
              </a:rPr>
              <a:t>www.luogu.org/problemnew/show/P1064</a:t>
            </a:r>
            <a:endParaRPr kumimoji="1" lang="en-US" altLang="zh-CN" dirty="0" smtClean="0"/>
          </a:p>
          <a:p>
            <a:endParaRPr kumimoji="1" lang="en-US" altLang="zh-CN" dirty="0"/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040193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5、9、12、15、20、25、26、28、29"/>
  <p:tag name="KSO_WM_TEMPLATE_CATEGORY" val="custom"/>
  <p:tag name="KSO_WM_TEMPLATE_INDEX" val="160337"/>
  <p:tag name="KSO_WM_TAG_VERSION" val="1.0"/>
  <p:tag name="KSO_WM_SLIDE_ID" val="custom160337_1"/>
  <p:tag name="KSO_WM_SLIDE_INDEX" val="1"/>
  <p:tag name="KSO_WM_SLIDE_ITEM_CNT" val="2"/>
  <p:tag name="KSO_WM_SLIDE_LAYOUT" val="a_b"/>
  <p:tag name="KSO_WM_SLIDE_LAYOUT_CNT" val="1_1"/>
  <p:tag name="KSO_WM_SLIDE_TYPE" val="title"/>
  <p:tag name="KSO_WM_BEAUTIFY_FLAG" val="#wm#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337"/>
  <p:tag name="KSO_WM_UNIT_TYPE" val="a"/>
  <p:tag name="KSO_WM_UNIT_INDEX" val="1"/>
  <p:tag name="KSO_WM_UNIT_ID" val="custom160337_1*a*1"/>
  <p:tag name="KSO_WM_UNIT_CLEAR" val="1"/>
  <p:tag name="KSO_WM_UNIT_LAYERLEVEL" val="1"/>
  <p:tag name="KSO_WM_UNIT_VALUE" val="21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heme/theme1.xml><?xml version="1.0" encoding="utf-8"?>
<a:theme xmlns:a="http://schemas.openxmlformats.org/drawingml/2006/main" name="1_Office 主题">
  <a:themeElements>
    <a:clrScheme name="自定义 33">
      <a:dk1>
        <a:srgbClr val="000000"/>
      </a:dk1>
      <a:lt1>
        <a:srgbClr val="FFFFFF"/>
      </a:lt1>
      <a:dk2>
        <a:srgbClr val="000000"/>
      </a:dk2>
      <a:lt2>
        <a:srgbClr val="FEFEFE"/>
      </a:lt2>
      <a:accent1>
        <a:srgbClr val="F17700"/>
      </a:accent1>
      <a:accent2>
        <a:srgbClr val="DC2144"/>
      </a:accent2>
      <a:accent3>
        <a:srgbClr val="71CAE0"/>
      </a:accent3>
      <a:accent4>
        <a:srgbClr val="112D43"/>
      </a:accent4>
      <a:accent5>
        <a:srgbClr val="050F25"/>
      </a:accent5>
      <a:accent6>
        <a:srgbClr val="162D4E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主题">
  <a:themeElements>
    <a:clrScheme name="自定义 33">
      <a:dk1>
        <a:srgbClr val="000000"/>
      </a:dk1>
      <a:lt1>
        <a:srgbClr val="FFFFFF"/>
      </a:lt1>
      <a:dk2>
        <a:srgbClr val="000000"/>
      </a:dk2>
      <a:lt2>
        <a:srgbClr val="FEFEFE"/>
      </a:lt2>
      <a:accent1>
        <a:srgbClr val="F17700"/>
      </a:accent1>
      <a:accent2>
        <a:srgbClr val="DC2144"/>
      </a:accent2>
      <a:accent3>
        <a:srgbClr val="71CAE0"/>
      </a:accent3>
      <a:accent4>
        <a:srgbClr val="112D43"/>
      </a:accent4>
      <a:accent5>
        <a:srgbClr val="050F25"/>
      </a:accent5>
      <a:accent6>
        <a:srgbClr val="162D4E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Office 主题">
  <a:themeElements>
    <a:clrScheme name="自定义 33">
      <a:dk1>
        <a:srgbClr val="000000"/>
      </a:dk1>
      <a:lt1>
        <a:srgbClr val="FFFFFF"/>
      </a:lt1>
      <a:dk2>
        <a:srgbClr val="000000"/>
      </a:dk2>
      <a:lt2>
        <a:srgbClr val="FEFEFE"/>
      </a:lt2>
      <a:accent1>
        <a:srgbClr val="F17700"/>
      </a:accent1>
      <a:accent2>
        <a:srgbClr val="DC2144"/>
      </a:accent2>
      <a:accent3>
        <a:srgbClr val="71CAE0"/>
      </a:accent3>
      <a:accent4>
        <a:srgbClr val="112D43"/>
      </a:accent4>
      <a:accent5>
        <a:srgbClr val="050F25"/>
      </a:accent5>
      <a:accent6>
        <a:srgbClr val="162D4E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A000120141114A22KPBG</Template>
  <TotalTime>15978</TotalTime>
  <Words>6228</Words>
  <Application>Microsoft Macintosh PowerPoint</Application>
  <PresentationFormat>宽屏</PresentationFormat>
  <Paragraphs>504</Paragraphs>
  <Slides>20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20</vt:i4>
      </vt:variant>
    </vt:vector>
  </HeadingPairs>
  <TitlesOfParts>
    <vt:vector size="31" baseType="lpstr">
      <vt:lpstr>Calibri</vt:lpstr>
      <vt:lpstr>Cambria Math</vt:lpstr>
      <vt:lpstr>Century Gothic</vt:lpstr>
      <vt:lpstr>Mangal</vt:lpstr>
      <vt:lpstr>等线</vt:lpstr>
      <vt:lpstr>宋体</vt:lpstr>
      <vt:lpstr>微软雅黑</vt:lpstr>
      <vt:lpstr>Arial</vt:lpstr>
      <vt:lpstr>1_Office 主题</vt:lpstr>
      <vt:lpstr>2_Office 主题</vt:lpstr>
      <vt:lpstr>3_Office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15.0041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fdsa</dc:title>
  <dc:creator>admin</dc:creator>
  <cp:lastModifiedBy>934591874@qq.com</cp:lastModifiedBy>
  <cp:revision>1465</cp:revision>
  <dcterms:created xsi:type="dcterms:W3CDTF">2014-06-03T02:52:00Z</dcterms:created>
  <dcterms:modified xsi:type="dcterms:W3CDTF">2018-11-18T02:59:33Z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模板文件">
    <vt:lpwstr>A000120141114A22KPBG.pptx</vt:lpwstr>
  </property>
  <property fmtid="{D5CDD505-2E9C-101B-9397-08002B2CF9AE}" pid="3" name="标题">
    <vt:lpwstr>蓝色风格_A000120141114A22KPBG</vt:lpwstr>
  </property>
  <property fmtid="{D5CDD505-2E9C-101B-9397-08002B2CF9AE}" pid="4" name="关键字">
    <vt:lpwstr>PPT背景模板 商业科技 蓝 蓝色 宽屏 星光 闪烁 宽屏 V2007</vt:lpwstr>
  </property>
  <property fmtid="{D5CDD505-2E9C-101B-9397-08002B2CF9AE}" pid="5" name="KSOProductBuildVer">
    <vt:lpwstr>2052-10.1.0.6206</vt:lpwstr>
  </property>
  <property fmtid="{D5CDD505-2E9C-101B-9397-08002B2CF9AE}" pid="6" name="name">
    <vt:lpwstr>蓝色简约.pptx</vt:lpwstr>
  </property>
  <property fmtid="{D5CDD505-2E9C-101B-9397-08002B2CF9AE}" pid="7" name="fileid">
    <vt:lpwstr>861037</vt:lpwstr>
  </property>
  <property fmtid="{D5CDD505-2E9C-101B-9397-08002B2CF9AE}" pid="8" name="search_tags">
    <vt:lpwstr>PPT模板</vt:lpwstr>
  </property>
</Properties>
</file>